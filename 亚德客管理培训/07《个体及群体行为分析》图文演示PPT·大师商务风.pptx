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版面建议：大标题居中，底图用亚德客气缸、装配线实景照片，压深蓝色蒙版突出文字。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版面建议：放一面“难题墙”示意图并预留贴卡区照片，营造真刀真枪的实战氛围。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版面建议：画成六站路线图，上午三站下午三站，标注时间节点和茶歇位置。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版面建议：主视觉放少女与老妇双关图，旁配班长视角与员工视角的对比气泡框。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版面建议：四个坑画成一排陷阱图标，页底放“凭台账不凭印象”金句横幅。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版面建议：用四格时间轴呈现“首日迟到—贴标签—考核第二—萌生去意”的全过程。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版面建议：三标准画成三连问流程图，每问的箭头分别指向“查人”或“查事”。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版面建议：左右对比漫画：同一次设备故障，班长和员工各自的心里话对照。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版面建议：放一张94%对6%的大饼图做主视觉，冲击“问题多在系统不在人”。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版面建议：做成翻牌式版式，先亮案例卡，汇报完再点击翻开“底牌”揭晓真相。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版面建议：左右对比流程图，左侧“当众骂”红色箭头通向逆反离职，右侧“先揽责”绿色箭头通向改善，配氧化线挂具实拍照。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版面建议：一张“放错位置”对比图，同一颗螺丝放在刀刃上生锈、放进螺孔里锁紧，直观点题。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版面建议：四象限图，横轴“关注事—关注人”、纵轴“节奏快—节奏慢”，每个象限配一个车间人物漫画头像。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版面建议：页面主体放10题自测表（可扫码答题），旁边留四块空白吐槽区，现场贴组员大白纸拍照回放。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版面建议：四把钥匙图标各配一句口诀，做成可撕下的口袋卡样式，暗示“回去就能揣兜里用”。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版面建议：上半页放“岗位×能力”对照表，下半页放空白九宫格，留白让学员现场填自己组员名字。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版面建议：两张对比照片：老郑埋头单干vs全组围着他干等，配一条下滑的组产量折线。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版面建议：左右分栏人物画像对比，中间一行大字“不是谁不行，是不一样”，避免丑化任何一方。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版面建议：柱状图呈现离职原因排序，“不被尊重”一柱标红，叠加一条90天流失率曲线，数字放大。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版面建议：时间轴图“入职第1—45天”标出小周被冷落的关键节点，右侧列两条处理路径的结局对比。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版面建议：画“认知—情感—行为”三环互扣图，配质检例子的三格小漫画，红色箭头标注“改态度从行为下手”。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版面建议：左右对比图——左边“嘴上骂厂”、右边“一干八年”，中间画个拧巴的脑袋，突出“自我说圆”。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版面建议：放装配线扭矩枪实拍照片，时间轴呈现“全线吐槽→请陈师傅参与→两周变代言人”三步转变。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版面建议：中间画“满意度水箱”示意图，五根进水管对五来源，四个出水口对四出口，黄灯图标列预警信号。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版面建议：大字号突出“70%”“40%”两个数据，配一张员工背包离开车间、回头看班长的剪影插画。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版面建议：画“情绪传染链”示意：主管→班长→组员逐级传导，班长处画一个稳压器图标截断红色箭头。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版面建议：做成“五张土方子”卡片墙版式，每条配一个简笔图标（秒表、脚印、时钟、水阀、橡皮擦）。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版面建议：左右分屏对比“暴躁版vs沉稳版”两张情绪脸谱，下方放观察员记录表模板和倒计时提示。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版面建议：用一张摔工具的现场情景插画压题，五个要点按“情境→讨论→坑→反常识→依据”竖排流程呈现。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版面建议：画五层金字塔，每层右侧贴对应的车间实物小图标（工资条、劳保鞋、饭桌、奖章、编程屏）。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版面建议：左右对比图，左侧灭火器标“保健：灭火”，右侧发动机标“激励：点火”，各挂车间实例。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版面建议：拍一张贴满卡片的白板照片做背景，中间放“保健/激励”双筐分类板示意图。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版面建议：画成三个串联的电路开关图，任一开关断开灯就不亮，灯泡标“干劲”。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版面建议：天平图，两端各站一个工人，标注各自的“投入/产出”，天平倾斜配红色警示。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版面建议：时间轴图呈现“调价—放慢—反馈—核价”四步，配新老品单价对比小表格。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版面建议：四象限图，横轴“给/撤”，纵轴“好事/坏事”，四格各放一个车间小场景插画。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版面建议：大字放“5:1”做视觉中心，旁边配高低绩效团队对比柱状图。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版面建议：做成餐厅菜单样式，五大类各配小图标，右下角印“本菜单全部免费”。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版面建议：左侧放产量折线图(1万2跌到9千），右侧放阿强“心里账本”手绘示意。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版面建议：横向五级台阶流程图，每阶标阶段名和班长角色，风暴期用闪电图标提醒。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版面建议：左右对比图——左边拍墙上的规章制度照片，右边用手写便签墙呈现“心照不宣的规矩”，中间一个大问号。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版面建议：用四格漫画呈现“超产—冷落—表扬—更孤立”的剧情线，最后一格留白写“你来接”。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版面建议：上半页放阿希实验线段对比示意图，下半页放车间护目镜违章的情景照片，形成实验与现场的呼应。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版面建议：主视觉画拔河示意图，人数从1到8递增、力量条逐级缩短，直观呈现“人越多人均越少”。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版面建议：用柱状图展示1人、2人、3人、8人的人均出力数据(100%—93%—85%—49%)，红色箭头标注下滑趋势。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版面建议：拍四张车间实景照（签名交接单、产量白板、小队擂台榜、门口轮值表）做四宫格，一招配一图。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版面建议：画一把双刃剑示意图，左刃标“抱团干活”右刃标“抱团摸鱼”，剑柄写“班长握方向”。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版面建议：左侧放交接扯皮的情景图，右侧放“按机台包干+双签”的交接单实样，用红蓝两色区分新旧做法。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版面建议：放两张组织图对比——左边正式的班组架构图，右边用彩色连线画出老乡圈、师徒线等隐形关系网。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版面建议：放一张车间休息区的情景照片，用高亮圈标出“人群围着的那个人”，配三个识别问题做自查清单。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版面建议：五招画成2×2矩阵图（横轴“事情重要度”、纵轴“关系重要度”），五个招式各配一个车间小场景图标。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版面建议：三张场景卡做成扑克牌样式横排，旁边放答题表和倒计时钟面，突出“3分钟快测”的节奏感。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版面建议：左侧画“听清—听懂—听出弦外音”三层漏斗图，右侧配班长放下扳手面对员工倾听的实拍照片。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版面建议：左边汉堡包剖面图标注三层话术，右边BEST四步竖排流程箭头，底部红字加粗“批评单独谈、表扬当众讲”。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版面建议：谈话逐句还原做成对话气泡分镜（小何一侧、老袁一侧），BEST四步用色块在气泡旁标注，关键句黄色高亮。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版面建议：页面中央放大号观察员打分卡样表（三项各10分），角落放5分钟倒计时图标，底部留横线写开场句。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版面建议：左侧画老唐居中、7人连线的老乡圈关系图，右侧“常规做法vs反常识做法”红绿双色对比框。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版面建议：全天六模块画成一条地铁线路图，每站一个关键词图标，终点站标“明天的班前会”。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版面建议：四条情境线索做成“案发现场”档案卡钉在软木板风格背景上，右侧醒目框列任务、时间、评分规则。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版面建议：5-3-1做成三层金字塔卡片，底部放签名栏和“8月12日群回访”日期戳，背景用车间实景淡化图收尾。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2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120640"/>
            <a:ext cx="2926080" cy="2926080"/>
          </a:xfrm>
          <a:prstGeom prst="ellipse">
            <a:avLst/>
          </a:prstGeom>
          <a:solidFill>
            <a:srgbClr val="2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772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亚德客(AirTAC)班组长管理能力提升系列内训 · 大师商务风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6070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个体及群体行为分析——把人看懂，把班带顺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3520440"/>
            <a:ext cx="237744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10241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课程名：《个体及群体行为分析》，副题“把人看懂，把班带顺”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适用对象：车间班组长为主，兼顾少量中层管理者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时长安排：1天6小时，上午9:00-12:00，下午13:30-16:30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讲师寄语：不讲空理论，只给车间明天早班就能用的招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主办单位：亚德客(AirTAC)制造管理系列内训课程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开场任务：说说你现在最头疼的那个人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49079" y="347472"/>
            <a:ext cx="2185416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引入·团队任务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任务说明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每人用1分钟讲一件眼下带人最头疼的人和事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分组方式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跨车间混编，每组6-7人，现场推选组长并起组名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时间限制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组内轮流讲10分钟，每组代表上台汇报1分钟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产出要求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每组挑3个最真实的带人难题，写卡片贴上难题墙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汇报形式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组长上台念难题，讲师归类：识人/激励/群体/冲突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讲师承诺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今天六个模块逐一对上墙上难题，下课前当场验收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今天学什么：一张地图走完6小时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六个模块 · 上午三个 下午三个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上午 行为背后有原因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上午 读懂人的出厂设置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上午 态度、情绪与满意度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下午 让人愿意干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下午 群体的力量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下午 非正式群体、冲突与沟通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目标1：看懂行为背后的原因，少冤枉人、少看错人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目标2：识得出四种性格类型，会用不花钱的激励招数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目标3：带得动群体，治得了大锅饭，压得住班组冲突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上午9:00-12:00：知觉归因、性格能力、态度情绪（个体篇）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下午13:30-16:30：群体规律、激励实操、冲突沟通加结业大考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课堂约定：全天穿插断案和演练，手机静音，问题随时可以提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同一个车间，你俩看到的不是一回事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同一现场·两双眼睛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15500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0104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老王看到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80092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你看到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0104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设备转着
人在动
=正常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0092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料架乱
新人发呆
=隐患</a:t>
            </a:r>
          </a:p>
        </p:txBody>
      </p:sp>
      <p:sp>
        <p:nvSpPr>
          <p:cNvPr id="17" name="Oval 16"/>
          <p:cNvSpPr/>
          <p:nvPr/>
        </p:nvSpPr>
        <p:spPr>
          <a:xfrm>
            <a:off x="9276588" y="3890771"/>
            <a:ext cx="420624" cy="42062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知觉选择性：人的眼睛像手电筒，只照亮自己关心的那一块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车间实例：你盯交期和产量，员工盯计件单价和加班费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同一次排产调整，你看到的是救火，他看到的是这月钱少了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互动体验：少女与老妇双关图，同一张图两拨人看出两个样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管理启示：下结论之前，先问一句“你看到的情况是什么”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识人四大坑：第一印象能害死人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识人四大坑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482596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683764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537460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首因效应:第一眼定终身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3323844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525011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3378708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近因效应:只记最近一件事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4165091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4366259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4219955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晕轮效应:一好百好一坏百坏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5006340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5207507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5061203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刻板印象:贴标签看人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首因效应：头三天的表现，常常定了他在你心里的终身档案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近因效应：月底一次挂错料，盖住了他全年的稳定表现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晕轮效应：CNC技术好，就默认他带人、报数、纪律样样好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刻板印象：一提00后就想到娇气，一提老师傅就想到守旧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破解办法：评人凭台账记录说话，不凭脑子里的模糊印象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被第一印象耽误的CNC新人小林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6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经过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转折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点题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背景：CNC新人小林报到首日迟到40分钟，被贴“懒散”标签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经过：此后班长巡线只盯他的毛病，重要的活也故意绕开他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转折：三个月技能考核小林全组第二，班长第一反应是不敢信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代价：小林觉得干好干坏一个样，已经开始打听别厂的工价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讨论：你组里有没有被标签压住的人？他被贴的是什么标签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点题：印象三天形成，翻案要三个月，不如一开始就别乱贴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他为啥这么干：归因是门手艺活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7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归因三问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3689603"/>
            <a:ext cx="1417320" cy="82296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他为啥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这么干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942832" y="3314700"/>
            <a:ext cx="457200" cy="786383"/>
          </a:xfrm>
          <a:prstGeom prst="line">
            <a:avLst/>
          </a:prstGeom>
          <a:ln w="20320">
            <a:solidFill>
              <a:srgbClr val="6C75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00032" y="3012948"/>
            <a:ext cx="2048255" cy="60350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内因:态度、能力、性格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42832" y="4101083"/>
            <a:ext cx="457200" cy="1"/>
          </a:xfrm>
          <a:prstGeom prst="line">
            <a:avLst/>
          </a:prstGeom>
          <a:ln w="20320">
            <a:solidFill>
              <a:srgbClr val="6C75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00032" y="3799332"/>
            <a:ext cx="2048255" cy="60350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外因:设备、物料、家里有事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42832" y="4101083"/>
            <a:ext cx="457200" cy="786385"/>
          </a:xfrm>
          <a:prstGeom prst="line">
            <a:avLst/>
          </a:prstGeom>
          <a:ln w="20320">
            <a:solidFill>
              <a:srgbClr val="6C75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00032" y="4585716"/>
            <a:ext cx="2048255" cy="60350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判断依据:一贯性/普遍性/区别性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归因就是给行为找原因；原因找错了，后面的管法全跟着错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内因：态度、能力、责任心；外因：设备、来料、排产、家事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凯利三标准之一贯性：他是回回都这样，还是就出了这一回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区别性：他只在这台机、这道工序出事，还是干啥活都出事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一致性：别人干这活也出问题吗？全线都高就不是他一个人的事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车间练习：某工位废品率高，先过三标准，再定是人还是事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两大陷阱：看别人全是态度问题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8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两大归因陷阱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15500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0104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看别人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80092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看自己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0104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迟到=懒散
出错=不上心
(全怪人)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0092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迟到=堵车
出错=料不对
(全怪环境)</a:t>
            </a:r>
          </a:p>
        </p:txBody>
      </p:sp>
      <p:sp>
        <p:nvSpPr>
          <p:cNvPr id="17" name="Oval 16"/>
          <p:cNvSpPr/>
          <p:nvPr/>
        </p:nvSpPr>
        <p:spPr>
          <a:xfrm>
            <a:off x="9276588" y="3890771"/>
            <a:ext cx="420624" cy="42062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基本归因错误：看别人出错先怪态度，轮到自己就先怪环境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自利性偏差：干成了是我能干，干砸了是料太差、机器太旧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车间版：赶货期出错，先查排产、来料和设备，最后才谈态度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提醒：你越是技术骨干出身，越容易觉得“这点事都干不好”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口诀：对事严一分，对人宽一分；先问情况，再下判断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研究说：你冤枉下属的概率比想的高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9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数据说话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119786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778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4112" y="2194560"/>
            <a:ext cx="164756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1533" y="2212848"/>
            <a:ext cx="2079071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管理者认为问题在员工态度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3502152"/>
            <a:ext cx="3922775" cy="119786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778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3575304"/>
            <a:ext cx="164756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1533" y="3593592"/>
            <a:ext cx="2079071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实际纯属态度问题的比例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4882896"/>
            <a:ext cx="3922775" cy="119786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778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54112" y="4956048"/>
            <a:ext cx="164756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4倍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1533" y="4974336"/>
            <a:ext cx="2079071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冤枉下属后离职风险上升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琼斯与尼斯贝特研究：旁观者归因于性格的比例约是当事人两倍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管理调研：管理者对下属绩效问题的归因，超三成事后被证实误判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质量大师戴明测算：94%的绩效问题出在系统流程，仅6%在个人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结论：先假设是流程、设备、排产的问题，大概率不会冤枉人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用法：处理人之前，先花五分钟到现场还原当时的真实情况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现场断案：小王一周为啥迟到三次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10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案例卡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夜班小王本周迟到三次，分别为12、25、18分钟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各组用一贯性、区别性、一致性三标准判断内因外因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讨论8分钟，结论必须带理由，派代表30秒上台陈述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翻底牌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小王家距厂22公里，本月末班公交改点提前40分钟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数数几个组一上来就定性为态度问题，对照上页数据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带走一招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先过三标准，再找本人聊，最后才做处理决定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挂错三次料的小赵，该不该当众骂？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11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 w="1524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氧化线新人小赵一周挂错3次料，整挂件混色返工，当周不良率从1.2%冲到3.8%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FFF4DC"/>
          </a:solidFill>
          <a:ln w="1524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26A00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换你是班长，当场怎么处理？先别翻页，同桌两人讨论2分钟再亮答案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524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DE9DC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当众骂他“马虎不上心”，他更紧张错更多，还憋一肚子委屈想走人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先当众揽责：“是我没交代清楚”；再私下带他走一遍挂具编号和色标卡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揽责不丢面子：全组看到班长讲理，以后出错才敢报，不敢瞒</a:t>
            </a:r>
          </a:p>
        </p:txBody>
      </p:sp>
      <p:sp>
        <p:nvSpPr>
          <p:cNvPr id="20" name="Oval 19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E6F2E6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基本归因错误+自利性偏差：别人出错怪人品，自己出错怪环境；先查事，再看人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性格没有好坏，只有放错地方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12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性格是出厂设置：成年…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内向不等于不合群：话…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慢热不等于笨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班组长的活是排兵布阵…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忌拿自己当尺子：你风…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性格是出厂设置：成年基本定型，硬掰费力不讨好，班长的本事是善用不是改造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内向不等于不合群：话少的小陈盯氧化槽参数三年，批次事故为零，这叫沉得住气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慢热不等于笨：上手慢的人往往学得牢，首件检验、标准作业交给他最放心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班组长的活是排兵布阵：把人放到短处不碍事的工位，而不是把人改成你的样子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忌拿自己当尺子：你风风火火，别把慢性子都当磨洋工；他稳你急，正好互补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DISC四型：车间里就这四种人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13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DISC四象限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432303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 指挥型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快、要结果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41764" y="2432303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 影响型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热、爱表现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4311396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谨慎型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准、抠细节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41764" y="4311396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 稳健型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稳、怕变化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121408"/>
            <a:ext cx="3922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节奏快 ←→ 节奏慢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6126480"/>
            <a:ext cx="3922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对事 ←→ 对人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D指挥型：急脾气敢拍板，只要结果，像月底敢立军令状的机加组老周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I活泼型：自来熟爱热闹，就要舞台，他一到班前会，全场气氛立马活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S稳健型：老黄牛怕变动，就要安稳，十年不挪窝的装配线王姐就是典型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C严谨型：抠细节认数据，就要道理，质检老何一把卡尺一张记录表走天下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识别口诀：先听语速，快的偏D和I，慢的偏S和C；再听张口谈事还是谈人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对号入座：你自己是哪一型？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14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自测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10道题每题二选一，3分钟做完，哪个字母最多，哪个就是你的主导型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扎堆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同型坐一桌，5分钟吐槽“最受不了哪种人”，写上大白纸贴墙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每组1分钟念白纸，你会发现最受不了的，往往正是自己的对角型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对号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想想你组里谁是D谁是S，给每个组员猜一个型，下周回车间验证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提醒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没有纯型，人人都是混合色；测主导倾向可以，拿来贴死标签不行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老班长的四把钥匙：一型一个带法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15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四把钥匙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482596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683764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537460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D型:给挑战,别啰嗦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3323844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525011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3378708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I型:给舞台,别冷落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4165091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4366259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4219955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S型:给安全,别硬推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5006340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5207507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5061203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C型:给标准,别催急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带D型：交结果不管过程，赶货突击的担子给他挑，压得越重他越来劲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带I型：表扬要当众，批评要私下，让他带气氛、带新人、主持班前会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带S型：调岗换线提前三天打招呼，私下多问家里事，他最吃“被惦记”这一套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带C型：派活给数据给标准，别拍脑袋压他；他抬杠，多半是你没讲清依据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心得：话不投机半句多，多半不是人不行，是你没换成他那一型的说法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好钢用在刀刃上：能力要对岗位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16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能力拆四块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岗位对照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错配出废品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错配还赶人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能力拆四块：体力耐力、手上精细、协调沟通、学习上手，每人配比都不同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岗位对照：CNC要精细稳定，压铸要体力抗热，装配要节拍配合，质检要较真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错配出废品：手欠稳的去精车气缸筒，废品率翻倍；坐不住的盯氧化槽，早晚出事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错配还赶人：快手干慢活憋屈，慢手追节拍崩溃，不少离职单就是这么来的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工具：人岗匹配九宫格，横轴能力纵轴意愿，把全组名字摆进去盘一遍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手最巧的师傅，为啥带不好班？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17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他的做法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引出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案例：压铸标兵老郑单产全厂第一，提带班半年，组产量掉一成，走了仨人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他的做法：嫌人慢就自己上，活全揽，徒弟没活练没长进，还落一身埋怨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分析：技术能力不等于管人能力，手巧不代表会分活、会教人、会压场子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讨论：你刚提班长时踩过哪些同款坑？每桌说一个，3分钟后抽两桌分享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引出：换了岗位就换了能力要求，从“自己干得好”变成“让一群人干得好”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老师傅vs00后：不是谁不行，是不一样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18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不是谁不行,是不一样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15500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0104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老师傅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80092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00后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0104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要面子
认经验
盼尊重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0092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要意思
认道理
盼被看见</a:t>
            </a:r>
          </a:p>
        </p:txBody>
      </p:sp>
      <p:sp>
        <p:nvSpPr>
          <p:cNvPr id="17" name="Oval 16"/>
          <p:cNvSpPr/>
          <p:nvPr/>
        </p:nvSpPr>
        <p:spPr>
          <a:xfrm>
            <a:off x="9276588" y="3890771"/>
            <a:ext cx="420624" cy="42062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老师傅：重面子重资历，认吃苦耐劳；当众下不来台的批评，他能记你半年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00后：重公平重意义，要即时反馈；干得漂亮，当天就想听一句“可以啊”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根源：一个在物资紧缺里长大，一个在信息爆炸里长大，是环境差异不是人品问题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用法：派活讲清“为什么”，给老师傅面子，给00后说法，两头都顺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忌：开口就“我当年三班倒都没吭过声”，这话一出，00后心里已经在写离职单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数据：00后离职，真不是吃不了苦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19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调研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用法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调研：制造业新生代离职首因是“不被尊重、被呼来喝去”，占比超四成，钱排在其后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数据：新员工流失一半以上发生在入职90天内，第30—60天是最高危窗口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研究：盖洛普统计，觉得付出没被看见的员工，一年内想离职的概率高出约一倍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研究：对新人而言，当天一句具体表扬，留人效果强过年底多发的那点奖金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用法：新人头三个月每周单聊10分钟，只问三句：顺不顺？难在哪？要我帮啥？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入职45天就要走的小周，留得住吗？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20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 w="1524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装配线00后小周入职45天提离职：手不慢、活不差，就是没人搭理，天天拧同一颗螺丝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FFF4DC"/>
          </a:solidFill>
          <a:ln w="1524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26A00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他嘴上说“想换个环境”，真实原因是啥？留他值不值？两人一组议2分钟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524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DE9DC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谈加薪画大饼，求他撑过月底赶货；货一交他照走，还多寒了一层心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不先谈钱：请王师傅正式收他为徒，再派一件能露脸的活，比如首台样机装配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班前会点名表扬他装的样机，给足露脸机会，常常比加200块钱管用</a:t>
            </a:r>
          </a:p>
        </p:txBody>
      </p:sp>
      <p:sp>
        <p:nvSpPr>
          <p:cNvPr id="20" name="Oval 19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E6F2E6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代际差异+归属与尊重需求+人岗匹配：90天窗口期，留人先留心，岗位再微调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态度这东西：想的、感的、干的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21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态度三成分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903220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31043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958084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认知:他怎么想这份工作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3744468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3799331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情感:他干着爽不爽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4585716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4786883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4640579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行为:他实际怎么干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态度拆开就三样：想的（认知）、感的（情感）、干的（行为倾向），三根绳拧成一股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车间例：认知“质检就是找茬”→情感“见他就烦”→行为“送检敷衍、能瞒就瞒”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想改态度别光讲道理：道理只动“认知”，最慢；情感摸不着；行为最好下手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先让他干起来：让嫌5S麻烦的人当一周区域验收员，干顺了想法自己转弯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记住：嘴是最难说服的，手是最好改变的——行为一变，态度跟着变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认知失调：嘴上抱怨，身体诚实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22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认知失调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用法一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用法二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大忌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认知失调：想法和做法打架，人心里难受，总要编个说法把自己说圆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车间例：天天骂厂却干了八年不走，只好说服自己“厂里其实还行”，越干越认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用法一：请爱挑刺的老员工当带教师傅，他教新人“要守规程”，教着教着自己先信了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用法二：让反对新工艺的人上台讲试用数据，讲完那道坎他自己就迈过去了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大忌：只灌大道理不安排行为，他嘴上应付心里更拧；要给台阶，让行为先走一步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新扭矩枪推不动：装配线集体吐槽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23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实测节拍只慢0.5秒…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班长老方没开会硬压，…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两周后陈师傅逢人就夸…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门道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议一议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案例：装配二线换电动扭矩枪，全线吐槽“不如老气动枪顺手”，当周效率反降8%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实测节拍只慢0.5秒：表面是工具问题，实际是不信（认知）、心烦（情感）、故意慢用（行为）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班长老方没开会硬压，反而请吐槽最凶的陈师傅牵头调参数、改悬挂高度、定操作手法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两周后陈师傅逢人就夸新枪省胳膊，主动教全线用法，成了“新枪代言人”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门道：亲手参与=行为先变，认知失调逼着想法跟上——压服十次不如参与一次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议一议：你线上下次换设备、改工艺，第一个该拉谁进来一起干？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人心散了，队伍就难带了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24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满意度五来源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不满四出口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抱怨其实是好事：还肯…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怠工最贵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预警信号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班长动作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满意度五来源：活本身、钱袋子、工友伴、直属头儿、往上奔头，缺一样就漏气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不满四出口：走人（辞职）、开口（抱怨提意见）、怠工（磨洋工）、硬忍（装没事）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抱怨其实是好事：还肯开口说明还有指望；最怕的是突然不吭声的那种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怠工最贵：人在心走了，废品率从1.5%悄悄爬到3%，比辞职损失更大还难察觉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预警信号：请假变多、话变少、班后不合群、只干最低限度——中两条就亮黄灯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班长动作：每月跟每个人单聊10分钟，别等辞职单拍到桌上才想起谈心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盖洛普：员工离开的不是公司，是班长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25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盖洛普调研全球上万个…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辞职面谈高频词不是“…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现场自检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盖洛普调研全球上万个班组：员工敬业度差异，约70%由直属上级决定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数据：经常获得认可的员工，离职率比缺认可的低约40%，而认可几乎零成本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辞职面谈高频词不是“钱少”，是“跟班长处不来”——人进的是公司，离开的是班长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结论：留人第一责任人不是人事部，是每天跟他照面八小时的你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现场自检：上周你当面表扬过几个人？少于3人次，这一周先把课补上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情绪会传染：你一黑脸，全组低气压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26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情绪传染路径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9486900" y="2800624"/>
            <a:ext cx="0" cy="1346179"/>
          </a:xfrm>
          <a:prstGeom prst="line">
            <a:avLst/>
          </a:prstGeom>
          <a:ln w="22860">
            <a:solidFill>
              <a:srgbClr val="1B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28532" y="2526304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老师傅沉默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86900" y="4146803"/>
            <a:ext cx="1412199" cy="0"/>
          </a:xfrm>
          <a:prstGeom prst="line">
            <a:avLst/>
          </a:prstGeom>
          <a:ln w="22860">
            <a:solidFill>
              <a:srgbClr val="415A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240731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新人紧张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86900" y="4146803"/>
            <a:ext cx="0" cy="1346180"/>
          </a:xfrm>
          <a:prstGeom prst="line">
            <a:avLst/>
          </a:prstGeom>
          <a:ln w="22860">
            <a:solidFill>
              <a:srgbClr val="C9A2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28532" y="521866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效率下滑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8074700" y="4146803"/>
            <a:ext cx="1412200" cy="0"/>
          </a:xfrm>
          <a:prstGeom prst="line">
            <a:avLst/>
          </a:prstGeom>
          <a:ln w="22860">
            <a:solidFill>
              <a:srgbClr val="C056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16332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错漏增多</a:t>
            </a:r>
          </a:p>
        </p:txBody>
      </p:sp>
      <p:sp>
        <p:nvSpPr>
          <p:cNvPr id="19" name="Oval 18"/>
          <p:cNvSpPr/>
          <p:nvPr/>
        </p:nvSpPr>
        <p:spPr>
          <a:xfrm>
            <a:off x="8801100" y="3735323"/>
            <a:ext cx="1371600" cy="8229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班长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一张脸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带班是双份活：管产量质量，还得管全组心气——这叫情绪劳动，是本职不是额外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情绪会传染：负面情绪几分钟就能在小团队蔓延，班长一黑脸，1小时传遍全组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位置越高传染越猛：全组天天看你脸色猜风向，你叹口气，有人能琢磨半天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赶货期是放大器：你一急下属手抖，越催越错，不良率跟着你的情绪一起涨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定位：班组长是稳压器——上面的压力到你这要降压过滤，不能原样放大砸下去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老班长稳情绪的几个土办法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27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六秒法则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换场降温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分时发布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泄压有道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睡前清零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一句心得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六秒法则：火一上头先在心里数六秒再开口，第一句话决定事态往哪边走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换场降温：想发火先去料区或看板前走一圈，回来火气自然去掉一半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分时发布：坏消息别放班前会头五分钟讲，先派活定神，再讲问题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泄压有道：憋不住找同级班长或主管倒苦水，绝不冲下属撒气立威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睡前清零：当班的火不带进明天早班，交接本上写两行就翻篇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一句心得：你可以有情绪，但别拿情绪当管理工具——吼出来的服气全是装的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实战演练：月底赶货，雷全炸了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28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情境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7月30日夜班赶货，客诉退回一批电磁阀要连夜筛选，3号攻丝机又报警停机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分组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三人一组——班长、下属、观察员；班长先演“暴躁版”，再演“沉稳版”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演法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暴躁版拍桌催骂，沉稳版先定顺序再派活；每版3分钟，轮换角色共15分钟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观察员记录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两个版本之下，下属的表情、回话、动手速度差在哪里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复盘产出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全班票选沉稳版最管用的三句话，抄上白板，明天带回车间就能用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返工80件，大刘当场撂挑子怎么办？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29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 w="1524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电镀线12年老将大刘，因客诉镀层色差返工80件被当班点名，当场摔挂具吼“这活没法干”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FFF4DC"/>
          </a:solidFill>
          <a:ln w="1524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26A00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3分钟议：此刻你是班长，第一句话说什么？先处理心情还是先处理事情？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524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DE9DC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当场压回去“摔什么摔，记你一过”：面子上赢了，大刘寒了心，老员工全看在眼里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先不追责：带他离开现场倒杯水，说“活我安排人顶上”，隔天再单独谈返工原因</a:t>
            </a:r>
          </a:p>
        </p:txBody>
      </p:sp>
      <p:sp>
        <p:nvSpPr>
          <p:cNvPr id="20" name="Oval 19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E6F2E6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情绪上头时讲理是火上浇油；先带离防传染，等情绪落地再动认知——先情后理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马斯洛在车间：他现在缺哪一层？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30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马斯洛需求层次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3117" y="2121408"/>
            <a:ext cx="1647565" cy="704088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自我实现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78715" y="2935224"/>
            <a:ext cx="2216368" cy="704088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尊重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4314" y="3749039"/>
            <a:ext cx="2785170" cy="704088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归属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09913" y="4562856"/>
            <a:ext cx="3353973" cy="704088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5512" y="5376672"/>
            <a:ext cx="3922775" cy="704088"/>
          </a:xfrm>
          <a:prstGeom prst="roundRect">
            <a:avLst>
              <a:gd name="adj" fmla="val 1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需求五层从下往上：生存养家、安全稳定、归属圈子、尊重面子、成长奔头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车间对照下三层：计件工资加班费管生存；社保劳保、设备防护管安全；老乡圈、班组饭局管归属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车间对照上两层：技师称号、当众表扬、被人请教手艺给面子；学CNC编程、竞聘线长给奔头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关键：每个人卡的层不一样，激励不能一刀切——缺哪层补哪层，补错层等于白花钱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例：王师傅不缺钱缺面子，让他带徒评“金牌技师”；00后小周先要到手的钱和说得上话的伙伴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提醒：底下几层没垫稳就谈理想是画饼——吃不饱谈奉献，人家只当你在忽悠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双因素：发了钱没人谢，不发全骂你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31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双因素理论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15500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0104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保健因素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80092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激励因素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0104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工资、环境
关系、制度
↓
没有会骂
有了不谢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0092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认可、成长
成就、责任
↓
真正让人
多干的东西</a:t>
            </a:r>
          </a:p>
        </p:txBody>
      </p:sp>
      <p:sp>
        <p:nvSpPr>
          <p:cNvPr id="17" name="Oval 16"/>
          <p:cNvSpPr/>
          <p:nvPr/>
        </p:nvSpPr>
        <p:spPr>
          <a:xfrm>
            <a:off x="9276588" y="3890771"/>
            <a:ext cx="420624" cy="42062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保健因素：工资、高温费、班车食堂、制度公平，只能消除不满，生不出干劲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激励因素：被认可、学到手艺、干成了事、有奔头，这些才让人主动往前冲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车间铁证：高温费年年发没人谢，晚发三天全线骂——这就是典型保健因素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误区：只会加钱激励，300元奖金第一次真香，第三次就成了理所当然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结论：钱要给够、给得公平；但想让人玩命干，还得靠认可和成长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自检：把你手里常用的招列出来，哪些只能“止骂”，哪些真能“生劲”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排一排：这些招是保健还是激励？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32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发卡片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每组20张招数卡——发高温费、当众表扬、调宿舍、让带徒弟、评优等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归类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10分钟内把20招分进“保健”“激励”两个筐，贴上白板全班对比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争议辩论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计件单价上调算哪类？正反方各讲2分钟，拿车间实情说理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揭示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单价上调是保健——不调要炸锅，调了没人谢；多数组九成招都是保健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每组圈出3个一直被浪费的激励招，写清楚明天回车间怎么用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期望理论：他心里在算三笔账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33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期望理论三笔账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113690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第一笔账:我努力,干得出来吗?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386316" y="3276600"/>
            <a:ext cx="201168" cy="237744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25512" y="3532632"/>
            <a:ext cx="3922775" cy="113690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第二笔账:干出来,有回报吗?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386316" y="4687823"/>
            <a:ext cx="201168" cy="237744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25512" y="4943856"/>
            <a:ext cx="3922775" cy="113690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第三笔账:这回报,我稀罕吗?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第一笔：我拼命干，干得成吗？刀具磨损没人换、程序没人教，答案是干不成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第二笔：干成了，有回报吗？上月答应的赶货奖金没兑现，这笔账当场断掉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第三笔：回报对我的味吗？老张要现钱，小李想学CNC编程，给反了等于白给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三笔账断任何一笔，人就躺平；先别骂他懒，像查电路一样逐笔排查断点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班长三动作：配足工具教到会、承诺的一分不少兑现、奖励投其所好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公平理论：不患寡而患不均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34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公平理论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66860" y="5760720"/>
            <a:ext cx="640080" cy="201168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9230868" y="5120640"/>
            <a:ext cx="512064" cy="658368"/>
          </a:xfrm>
          <a:prstGeom prst="triangl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1180000">
            <a:off x="7839334" y="5056632"/>
            <a:ext cx="3295131" cy="8229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67356" y="4535424"/>
            <a:ext cx="1371600" cy="749808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我的付出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我的回报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34843" y="4096512"/>
            <a:ext cx="1371600" cy="749808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他的付出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他的回报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139696"/>
            <a:ext cx="3922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人心里都有一杆秤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人不只算绝对值，更爱跟身边人比：比隔壁机台少拿50元，比什么都刺激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比的是投入产出比：他加班多拿200我服气；活一样他却多拿50我不服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计件第一雷：同工不同价——新老品价差混乱、借调帮工时单价含糊不清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觉得不公平的三反应：磨洋工少投入、找班长讨说法、最狠的直接走人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班长防雷：分活、排班、报产量的规则上墙，当面讲清楚，不留暗箱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计件单价一调，全组炸了锅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35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后果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老韩向上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老韩向下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案例：装配线新品迷你气缸单价定0.38元，比老品0.45元低，工序反而更繁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后果：快手小周月收入反降300元，全组默契放慢，一周产量掉了15%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老韩向上：实测一周新品工时留数据，找IE和主任申请重新核价，不空喊冤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老韩向下：讲清核价流程和回复时间，过渡期新老品轮流排，不让一人独亏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讨论：单价你无权改，手里还有排班、派活、评优、向上反馈四张牌，怎么打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强化四招：胡萝卜大棒都有讲究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36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强化四招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432303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正强化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干好给奖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41764" y="2432303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负强化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干好免罚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4311396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惩罚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干坏挨罚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41764" y="4311396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消退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干坏没人理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121408"/>
            <a:ext cx="3922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给好处 ←→ 给坏处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6126480"/>
            <a:ext cx="3922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想让他多干 ←→ 想让他少干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正强化：干得好马上给好处——当众表扬、优先挑活，这行为他会一直重复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负强化：连续一个月自检零漏检，就撤掉全检加严盯，他会拼命保持达标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惩罚：罚款通报只能止错，生不出干劲，还容易结仇，慎用少用留证据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消退：对故意抬杠刷存在感的行为不接招不给戏，没了观众自然消停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火候三条：表扬要及时、要具体到哪件事、要当众；隔月再夸等于白夸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研究：表扬批评有个黄金配比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37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黄金配比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1888236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778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4112" y="2194560"/>
            <a:ext cx="1647565" cy="17419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5:1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1533" y="2212848"/>
            <a:ext cx="2079071" cy="1705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高绩效班组表扬:批评黄金配比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4192524"/>
            <a:ext cx="3922775" cy="1888236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778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4265676"/>
            <a:ext cx="1647565" cy="17419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1周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1533" y="4283964"/>
            <a:ext cx="2079071" cy="1705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被表扬后干劲维持的时长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研究发现：高绩效团队正负反馈约5比1，低绩效团队不到1比1，骂多必垮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盖洛普调查：一周内被认可过的员工，敬业度显著更高，离职意愿明显更低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数据：行为发生当天给反馈，改变效果是攒到月度总结再说的好几倍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结论一句话：批评不过夜，表扬不过班；攒到月会一起说，等于没说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自检作业：明天揣个本子，记自己一天说了几句表扬、几句批评，算算比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零成本激励菜单：不花钱的30招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38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给面子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给头衔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给露脸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给小权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给成长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给面子：班前会点名表扬讲具体事——“昨晚王姐三小时抢完500件气缸”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给头衔：让他带徒弟、当质量把关员，“师傅”两个字比200元奖金还好使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给露脸：领导巡线让他讲自己工位，改善提案贴他照片，喜报发到家属群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给小权：排班先选、好活先挑、他调好的那台设备挂名“阿强机”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给成长：新设备优先让他学、外训名额优先推、帮他张罗考技师证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心得：钱是公司的，班长做不了主；面子和机会是班长给的，管够管饱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快手阿强突然慢下来，背后有本账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39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 w="1524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CNC快手阿强，月产量从1万2千件掉到9千，质量没降人没迟到，就是不冲 一打听：上月起他免费带两个新人，新人废品还算进他机台，收入反降了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FFF4DC"/>
          </a:solidFill>
          <a:ln w="1524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26A00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5分钟：阿强心里这本账是怎么算的？换你是班长，第一步先干什么？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524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DE9DC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约谈施压定指标1万1，他觉得多干多吃亏，索性躺平9千保底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不催产量，请他牵头编CNC新人上岗标准、当带教教头，带教工时单独计酬</a:t>
            </a:r>
          </a:p>
        </p:txBody>
      </p:sp>
      <p:sp>
        <p:nvSpPr>
          <p:cNvPr id="20" name="Oval 19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E6F2E6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公平理论：投入涨回报降必收工；尊重需求加正强化，名分给足劲自己回来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新班组磨合：五个阶段一个都躲不过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40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群体发展五阶段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4618634"/>
            <a:ext cx="693115" cy="1187805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组建期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10067" y="4028617"/>
            <a:ext cx="693115" cy="1777822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风暴期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4622" y="3438601"/>
            <a:ext cx="693115" cy="2367838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规范期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9177" y="2848584"/>
            <a:ext cx="693115" cy="2957855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3732" y="2258568"/>
            <a:ext cx="693115" cy="3547872"/>
          </a:xfrm>
          <a:prstGeom prst="roundRect">
            <a:avLst>
              <a:gd name="adj" fmla="val 1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调整期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组建期：客客气气互相试探，班长当保姆——立规矩、教流程、多说多带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风暴期：抢好活、争师傅、顶撞你，吵架是正常工序，硬压只会转入地下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规范期：磨出默契了，班长当裁判——把好做法定成班组的明规矩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执行期：不用盯也转得顺，班长当教练——放手交活，自己抓改善带新人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调整期：老人调走新人进来，班组回炉重新磨合，别指望一步到位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判断：刚合并三个月的乙班天天摩擦？正常，它在风暴期，稳住别慌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班组潜规则：墙上没写的才最管用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41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群体规范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分工不同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好规范要扶正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坏规范要破掉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班长第一步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群体规范：没人宣布、人人照办的行事标准，比墙上的制度更贴身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分工不同：明规矩管纪律考勤，潜规则管干活节奏、人心和“该出多少活”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车间例子：装配线新人手快超产，老员工递个眼色“别冒尖”，他立马放慢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好规范要扶正：互相搭把手、下班顺手做5S、有问题当班说清不过夜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坏规范要破掉：集体压产量、报喜不报忧、欺生排外、坏料悄悄往下传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班长第一步：先摸清自己班组有哪几条“墙上没写的规矩”，再谈管理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新人小吴被孤立：因为他干得太快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42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事发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潜规则作怪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班长早会当众硬表扬“…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参考解法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背景：包装线新人小吴，入职第3周，小时产量比全组平均高出两成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事发：老员工吃饭不叫他、交接不搭话、借工具装没听见，集体冷落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潜规则作怪：大家怕他把产量摸高，月底定额跟着上调，全组都吃亏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班长早会当众硬表扬“都向小吴学习”，等于把他架在火上，孤立更狠了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讨论：换你怎么办？提示：先动定额这个根，再谈要不要表扬个人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参考解法：找核心老员工私聊定额顾虑，向上争取“超产暂不调基数”过渡期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从众：三人成虎，车间也一样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43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阿希实验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实验里约75%的人至…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从众是双刃剑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阿希还发现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破法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阿希实验：线段长短明摆着，仍有约三成人跟着大伙报错答案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实验里约75%的人至少跟错过一次——不是眼瞎，是怕和大伙不一样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车间版：王师傅打磨不戴护目镜，仨月后全工位新人都学会了不戴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从众是双刃剑：违章会传染，戴手套、随手5S这些好习惯同样会传染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阿希还发现：只要有一个人说真话，从众出错率立刻降到约四分之一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破法：先争取一位有威信的老师傅带头做对，别一上来跟全组硬碰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林格曼效应：人越多，越没人出力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44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林格曼效应:人均出力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25512" y="2651760"/>
            <a:ext cx="774953" cy="304495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42632" y="2340864"/>
            <a:ext cx="11407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5751576"/>
            <a:ext cx="123215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4786" y="2864906"/>
            <a:ext cx="774953" cy="283180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1906" y="2554010"/>
            <a:ext cx="11407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93%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6186" y="5751576"/>
            <a:ext cx="123215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24060" y="3108502"/>
            <a:ext cx="774953" cy="258820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1180" y="2797606"/>
            <a:ext cx="11407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5460" y="5751576"/>
            <a:ext cx="123215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73334" y="4204685"/>
            <a:ext cx="774953" cy="1492026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90454" y="3893789"/>
            <a:ext cx="11407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49%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44734" y="5751576"/>
            <a:ext cx="123215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8人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71232" y="5696712"/>
            <a:ext cx="3831335" cy="0"/>
          </a:xfrm>
          <a:prstGeom prst="line">
            <a:avLst/>
          </a:prstGeom>
          <a:ln w="15240">
            <a:solidFill>
              <a:srgbClr val="6C75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拉绳实验：一个人拉出100%的力，8个人一起拉，人均只剩一半不到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学名“社会惰化”：人一多，个人就悄悄少出力，是人性不是品德问题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车间版一：公共区5S没人扫，设备周边卫生“大家的活”等于没人的活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车间版二：交接检查你等我、我靠你，大锅指标挂在墙上没人真上心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根源就两条：出力多少看不见，偷懒不用付任何代价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现场盘点：写下你班组三件“大家一起负责”的活，多半正在被惰化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数据：责任一到人，效率立刻涨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45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责任到人前后的达成率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26780" y="3611581"/>
            <a:ext cx="822960" cy="208513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3900" y="3300685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8179" y="5751576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大锅考核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24059" y="2651760"/>
            <a:ext cx="822960" cy="3044952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1180" y="23408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5459" y="5751576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责任到人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71232" y="5696712"/>
            <a:ext cx="3831335" cy="0"/>
          </a:xfrm>
          <a:prstGeom prst="line">
            <a:avLst/>
          </a:prstGeom>
          <a:ln w="15240">
            <a:solidFill>
              <a:srgbClr val="6C75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林格曼实测：1人出力100%，2人降到93%，3人85%，8人只剩49%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拉塔内鼓掌实验：6人一起喊，人均音量只有一个人独自喊的约36%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后续研究结论：个人贡献能被单独识别、单独考核，惰化基本消失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一句话：看得见、算得清、有人对账的活，才有人认真干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明天就用：公共区卫生按区域包干到人、贴上名字，先试一周看变化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治大锅饭的四个土招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46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治大锅饭四招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482596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683764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537460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活分到人,签字认领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3323844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525011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3378708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量化到件,看板公示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4165091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4366259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4219955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互检互签,连环担责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5006340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5207507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5061203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轮流当家,人人坐庄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活到人：交接清单只签个人名字不签组名，谁签字谁负责到底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数上墙：白板贴个人小时产量和不良数，每两小时更新一次，不藏着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小组化：8人大组拆成两三个3人小队，周产量打擂台，输队请豆浆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轮值表：公共活排轮岗表贴班组门口，当班责任人姓名用红笔标出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配套一句：数上墙只比进步不搞羞辱，末位帮扶，别把白板变批斗台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老班长心得：不是人懒，是活的设计让人有机会懒；改设计，别光骂人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凝聚力双刃剑：抱团干活还是抱团摸鱼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47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凝聚力就是班组抱团的…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凝聚力高+目标一致=…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凝聚力高+目标跑偏=…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提凝聚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掰方向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凝聚力就是班组抱团的那股劲儿；劲儿本身不分好坏，关键看往哪使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凝聚力高+目标一致=王牌班组：赶货顶得上，新人有人带，交接不扯皮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凝聚力高+目标跑偏=集体磨洋工：统一口径压产量，谁干得快挤兑谁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车间例子：某压铸班月底连夜救急单是抱团，集体隐瞒漏检也是抱团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提凝聚：一起啃下一张急单、打一场硬仗，比三顿聚餐都管用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掰方向：班组指标与个人计件、评优挂钩，让“组好”真正等于“我好”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两个班互相甩锅，罚全组有用吗？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48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 w="1524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压铸甲乙两班共用6台压铸机，交接全靠口头，上月漏检飞边件11起 客诉2起，甲班老郑怪乙班留尾活，乙班小马怪甲班没交清，谁也不认账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FFF4DC"/>
          </a:solidFill>
          <a:ln w="1524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26A00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罚全组各200元管用吗？换你怎么把这11起漏检压下去？讨论6分钟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524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DE9DC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开会讲团结+两班连坐罚款：责任还是大锅，照旧甩锅还添怨气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不追旧账，反手“拆锅”：按机台包干到人，交接单逐台签个人名字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再加双签点检：接班当面验、双方签，发现前班问题当场记录即免责</a:t>
            </a:r>
          </a:p>
        </p:txBody>
      </p:sp>
      <p:sp>
        <p:nvSpPr>
          <p:cNvPr id="20" name="Oval 19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E6F2E6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社会惰化：责任到组等于没人负责；签字到人惰化即消，双签满月便长成新的群体规范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霍桑实验：车间里藏着另一张组织图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49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车间里的另一张图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9486900" y="2800624"/>
            <a:ext cx="0" cy="1346179"/>
          </a:xfrm>
          <a:prstGeom prst="line">
            <a:avLst/>
          </a:prstGeom>
          <a:ln w="22860">
            <a:solidFill>
              <a:srgbClr val="1B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28532" y="2526304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老乡圈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486900" y="3730811"/>
            <a:ext cx="1343081" cy="415992"/>
          </a:xfrm>
          <a:prstGeom prst="line">
            <a:avLst/>
          </a:prstGeom>
          <a:ln w="22860">
            <a:solidFill>
              <a:srgbClr val="415A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71613" y="3456491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烟友圈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86900" y="4146803"/>
            <a:ext cx="830069" cy="1089083"/>
          </a:xfrm>
          <a:prstGeom prst="line">
            <a:avLst/>
          </a:prstGeom>
          <a:ln w="22860">
            <a:solidFill>
              <a:srgbClr val="C9A2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58601" y="4961566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牌友圈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8656830" y="4146803"/>
            <a:ext cx="830070" cy="1089083"/>
          </a:xfrm>
          <a:prstGeom prst="line">
            <a:avLst/>
          </a:prstGeom>
          <a:ln w="22860">
            <a:solidFill>
              <a:srgbClr val="C056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98462" y="4961566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师徒线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8143818" y="3730811"/>
            <a:ext cx="1343082" cy="415992"/>
          </a:xfrm>
          <a:prstGeom prst="line">
            <a:avLst/>
          </a:prstGeom>
          <a:ln w="2286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85450" y="3456491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同期入职</a:t>
            </a:r>
          </a:p>
        </p:txBody>
      </p:sp>
      <p:sp>
        <p:nvSpPr>
          <p:cNvPr id="21" name="Oval 20"/>
          <p:cNvSpPr/>
          <p:nvPr/>
        </p:nvSpPr>
        <p:spPr>
          <a:xfrm>
            <a:off x="8801100" y="3735323"/>
            <a:ext cx="1371600" cy="8229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地下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霍桑实验(1924—1932)：灯光调亮调暗产量都涨，起作用的是“被关注”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更大发现：工人自发结成小圈子，私定产量标准，谁冒尖谁挨挤兑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亚德客版非正式组织：老乡圈、师徒线、牌友群、一起抽烟的烟友帮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它决定真实的干活节奏、消息传播速度和舆论风向，比排班表还灵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例：调岗通知还没发文，烟友帮里头天晚上就传遍了，还带三个版本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班长的态度：不打压（压不散）、不无视（会失控），看见它、借上力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找到你班组里的地下班长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50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找地下班长的信号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9486900" y="2800624"/>
            <a:ext cx="0" cy="1346179"/>
          </a:xfrm>
          <a:prstGeom prst="line">
            <a:avLst/>
          </a:prstGeom>
          <a:ln w="22860">
            <a:solidFill>
              <a:srgbClr val="1B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28532" y="2526304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大家听他的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86900" y="4146803"/>
            <a:ext cx="1412199" cy="0"/>
          </a:xfrm>
          <a:prstGeom prst="line">
            <a:avLst/>
          </a:prstGeom>
          <a:ln w="22860">
            <a:solidFill>
              <a:srgbClr val="415A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240731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消息他先知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86900" y="4146803"/>
            <a:ext cx="0" cy="1346180"/>
          </a:xfrm>
          <a:prstGeom prst="line">
            <a:avLst/>
          </a:prstGeom>
          <a:ln w="22860">
            <a:solidFill>
              <a:srgbClr val="C9A2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28532" y="521866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吃饭围着坐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8074700" y="4146803"/>
            <a:ext cx="1412200" cy="0"/>
          </a:xfrm>
          <a:prstGeom prst="line">
            <a:avLst/>
          </a:prstGeom>
          <a:ln w="22860">
            <a:solidFill>
              <a:srgbClr val="C056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16332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他停手全停</a:t>
            </a:r>
          </a:p>
        </p:txBody>
      </p:sp>
      <p:sp>
        <p:nvSpPr>
          <p:cNvPr id="19" name="Oval 18"/>
          <p:cNvSpPr/>
          <p:nvPr/>
        </p:nvSpPr>
        <p:spPr>
          <a:xfrm>
            <a:off x="8801100" y="3735323"/>
            <a:ext cx="1371600" cy="8229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意见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识别三看：休息时大家围着谁坐、聚餐谁张罗、有事大家先问谁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再补一看：他一句“这活不行”顶你三次开会，那八成就是他了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借力：新政策落地前，先私下给他吹吹风、探口风，请他帮你带节奏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给位：请他牵头当安全员、带新人、管工会发物资，给面子也给名分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红线：他带头顶牛时，单独谈利害讲透，绝不当众掰手腕、伤他面子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心得：搞定一个地下班长等于搞定一群人；硬掰断他，群龙无首更乱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吵架五招：不是只有忍和干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51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冲突五式(托马斯-基尔曼)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432303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我赢你输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41764" y="2432303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合作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双赢最优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4311396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回避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都不碰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41764" y="4311396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迁就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你赢我让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121408"/>
            <a:ext cx="3922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不顾对方 ←→ 顾对方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6126480"/>
            <a:ext cx="3922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坚持自己 ←→ 放弃自己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0028" y="4018787"/>
            <a:ext cx="1333743" cy="475488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 w="25400">
            <a:solidFill>
              <a:srgbClr val="FCF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折中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冲突不可怕：憋着才出大事，吵对了反而把真问题摆上台面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托马斯-基尔曼五招：争（硬顶）、让（退步）、躲（缓缓再说）、合（一起解）、折中（各让半步）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出招前先看两条：这事有多急多大？这个人以后还要不要长期共事？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安全质量必须“争”：镀液浓度超标，再老的师傅来说情也得当场停线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鸡毛小事可以“躲”：两人为工具柜钥匙拌两句嘴，冷一天自己就散了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排班、单价这类大事用“合”：把人和问题分开，对事要狠、对人客气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自查一下：常年只会“忍（让躲）”和“干（争）”的班长，班里积怨最多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测一测：你遇冲突先出哪一招？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52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快测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5道情境选择题，3分钟独立作答，当场算出你的惯用招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场景卡三选一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两班抢天车吊模具、师徒当众翻脸、计件单价争议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小组任务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每张卡选一招并讲清理由，还要说明为啥不用另外四招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每组2分钟亮招，讲师逐一点评“这招用在这儿的坑在哪”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常见发现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多数班长惯用回避，小摩擦拖三周，拖成两拨人对立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记住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测的不是对错，是让你看见自己下意识的“惯性出招”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会听的班长，消息比谁都灵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53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听的三层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例：嚷“这活没法干”…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坏习惯自查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三个招式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场景铁律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好处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听的三层：听清他说了啥、听懂他为啥这么说、听出他没敢说的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例：嚷“这活没法干”的，多半不是嫌活难，是嫌单价低或受了委屈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坏习惯自查：边听边想怎么反驳、听半截就打断、眼睛盯着报表手机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三个招式：放下手里活看着他；复述确认“你是说……对吧”；先听完再表态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场景铁律：员工提离职，先听满十分钟，连“再想想”都别急着说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好处：会听的班长，机器要坏、人心要散，消息永远早到半个月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汉堡包与BEST：批评人不结仇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54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汉堡包反馈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9832" y="2711196"/>
            <a:ext cx="3374135" cy="822960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先肯定:说具体的好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99832" y="3643884"/>
            <a:ext cx="3374135" cy="9144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再批评:只对事给改法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99832" y="4668012"/>
            <a:ext cx="3374135" cy="822960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后鼓励:表达信任期待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汉堡包三层：先真心肯定、中间指具体问题、最后鼓励给出路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BEST四步：B摆行为、E讲后果、S征求他的想法、T定改进时限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关键：说事实不贴标签，“本周迟到3次”能谈，“你就是懒”只会点火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例：装配线漏装密封圈，谈“这批漏了6件”，别谈“你心不在焉”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场合铁律：批评单独关门谈，表扬当着全班讲，反过来就是结仇配方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火候：自己气头上别开谈，先消气半小时，再心平气和地关门说事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怼老师傅：一场没撕破脸的批评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55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193906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705317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777816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760181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难点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289227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361726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344091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小何第一步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3873137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3945636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3928001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第二步摆行为讲后果：…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457046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529545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511910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第三步征想法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040956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113455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095820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25512" y="5624866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6E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35240" y="5697365"/>
            <a:ext cx="310896" cy="310896"/>
          </a:xfrm>
          <a:prstGeom prst="ellipse">
            <a:avLst/>
          </a:prstGeom>
          <a:solidFill>
            <a:srgbClr val="1B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5864" y="5679730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案情：20年工龄的老袁，精车缸筒后跳过去毛刺工序直接流转，被巡检抓个现行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难点：老袁手艺全班第一，当众驳他会撂挑子；装没看见，规矩当天就破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小何第一步：下班后单独请进工具间，先请教“这批筒子光洁度咋这么稳”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第二步摆行为讲后果：“跳了去毛刺，装配端卡死3件，到客户手里可能漏气”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第三步征想法：老袁抱怨赶货时工序冗余，小何顺势请他牵头提优化建议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结局：老袁次日主动追回流出品补检，还带着徒弟改了一副去毛刺夹具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讨论：换你来谈，最可能在哪一步谈崩？当众点名？还是先扣钱再谈话？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开口练：把这顿批评当场说出来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56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任务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每轮5分钟，互换角色再来一轮，亲身体会被批评是什么滋味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装配线小郑连续三天漏检O型圈，被下道工序一次退回27件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两人一组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一人用BEST当班长开谈，一人演小郑，允许顶嘴找借口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85616"/>
            <a:ext cx="4796028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邻组派观察员持卡打分：贴标签了吗？听他回应了吗？定改进了吗？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每人写下一句自己最顺口的开场白，存进手机备忘录明天就用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" y="4892040"/>
            <a:ext cx="4796028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讲师抽3人当堂示范，全班挑毛病：哪句是事实，哪句是标签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老唐一句话，七个人跟着请假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57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 w="1524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月底赶货，CNC区两班倒改三班两倒，老乡圈头儿老唐放话“这班没法上” 次日7名同乡操作工齐交病假条，12台机床停了5台，交期只剩6天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FFF4DC"/>
          </a:solidFill>
          <a:ln w="1524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26A00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处分老唐？挨个谈话拆散老乡圈？还是退回旧排班？各组给方案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524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DE9DC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开大会硬推班表、按旷工处理带头人——对抗升级，老唐真带人辞职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不查病假条，当晚单独登门请教老唐，请他牵头修改排班方案再试行</a:t>
            </a:r>
          </a:p>
        </p:txBody>
      </p:sp>
      <p:sp>
        <p:nvSpPr>
          <p:cNvPr id="20" name="Oval 19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E6F2E6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霍桑实验：非正式组织能量大过制度；大事用合作，借地下班长的力别硬碰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一页串全天：六个模块一条线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总结运用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58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六模块一条线</a:t>
            </a:r>
          </a:p>
        </p:txBody>
      </p:sp>
      <p:sp>
        <p:nvSpPr>
          <p:cNvPr id="11" name="Chevron 10"/>
          <p:cNvSpPr/>
          <p:nvPr/>
        </p:nvSpPr>
        <p:spPr>
          <a:xfrm>
            <a:off x="7525512" y="3712463"/>
            <a:ext cx="691895" cy="777240"/>
          </a:xfrm>
          <a:prstGeom prst="chevron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知觉归因</a:t>
            </a:r>
          </a:p>
        </p:txBody>
      </p:sp>
      <p:sp>
        <p:nvSpPr>
          <p:cNvPr id="12" name="Chevron 11"/>
          <p:cNvSpPr/>
          <p:nvPr/>
        </p:nvSpPr>
        <p:spPr>
          <a:xfrm>
            <a:off x="7988808" y="3712463"/>
            <a:ext cx="691895" cy="777240"/>
          </a:xfrm>
          <a:prstGeom prst="chevron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个性差异</a:t>
            </a:r>
          </a:p>
        </p:txBody>
      </p:sp>
      <p:sp>
        <p:nvSpPr>
          <p:cNvPr id="13" name="Chevron 12"/>
          <p:cNvSpPr/>
          <p:nvPr/>
        </p:nvSpPr>
        <p:spPr>
          <a:xfrm>
            <a:off x="8452104" y="3712463"/>
            <a:ext cx="691895" cy="777240"/>
          </a:xfrm>
          <a:prstGeom prst="chevron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态度情绪</a:t>
            </a:r>
          </a:p>
        </p:txBody>
      </p:sp>
      <p:sp>
        <p:nvSpPr>
          <p:cNvPr id="14" name="Chevron 13"/>
          <p:cNvSpPr/>
          <p:nvPr/>
        </p:nvSpPr>
        <p:spPr>
          <a:xfrm>
            <a:off x="8915400" y="3712463"/>
            <a:ext cx="691895" cy="777240"/>
          </a:xfrm>
          <a:prstGeom prst="chevron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激励</a:t>
            </a:r>
          </a:p>
        </p:txBody>
      </p:sp>
      <p:sp>
        <p:nvSpPr>
          <p:cNvPr id="15" name="Chevron 14"/>
          <p:cNvSpPr/>
          <p:nvPr/>
        </p:nvSpPr>
        <p:spPr>
          <a:xfrm>
            <a:off x="9378696" y="3712463"/>
            <a:ext cx="691895" cy="777240"/>
          </a:xfrm>
          <a:prstGeom prst="chevr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群体</a:t>
            </a:r>
          </a:p>
        </p:txBody>
      </p:sp>
      <p:sp>
        <p:nvSpPr>
          <p:cNvPr id="16" name="Chevron 15"/>
          <p:cNvSpPr/>
          <p:nvPr/>
        </p:nvSpPr>
        <p:spPr>
          <a:xfrm>
            <a:off x="9841991" y="3712463"/>
            <a:ext cx="691895" cy="777240"/>
          </a:xfrm>
          <a:prstGeom prst="chevron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冲突沟通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一条主线：先看懂行为、再找对原因、最后用对招，顺序不能乱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个体篇：识人防四坑、归因别全怪态度、DISC一型一个带法、情绪会传染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群体篇：激励算好三笔账、责任到人治惰化、潜规则要引导、冲突五招批评两法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抢答串联：大屏滚动关键词，抢答“这词讲了啥、明天咋用”，答对贴星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落地提示：回去先用两招——批评前先过“归因三问”，班前会加一条零成本表扬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一句话记全天：行为背后都有账；班长管的不只是活，更是人心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终极大考：救活三车间乙班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55303" y="347472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结业检验·团队任务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59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情境1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三车间乙班16人：6名十年以上老师傅带10名00后新人，月底赶货连上两周晚班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情境2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气缸装配废品率由1.9%翻到3.8%，返工件堆满料架，客户投诉2起，交期只剩7天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情境3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上月计件单价下调5%，安徽老乡圈私下约好“卡着产量干”，两名新人已交离职单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情境4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班长老赵连日黑脸，班前会全是训话，昨天当众骂哭新人小孟，老师傅冷眼旁观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按原组6-8人讨论，限时20分钟，写出3条病根诊断+三步行动方案（分先后）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每组5分钟上台，每条对策必须点名所用理论，如“公平理论”“BEST谈话”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6772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4788" y="5125212"/>
            <a:ext cx="347472" cy="347472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1988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7B1FA2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1988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各组互评占40分、讲师占60分，最佳方案组现场颁奖，方案拍照发进学习群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10424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531行动计划：别让今天白学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1691640" cy="1371600"/>
          </a:xfrm>
          <a:prstGeom prst="roundRect">
            <a:avLst>
              <a:gd name="adj" fmla="val 14000"/>
            </a:avLst>
          </a:prstGeom>
          <a:noFill/>
          <a:ln w="254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99232"/>
            <a:ext cx="1691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个收获写下来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148840"/>
            <a:ext cx="1691640" cy="1371600"/>
          </a:xfrm>
          <a:prstGeom prst="roundRect">
            <a:avLst>
              <a:gd name="adj" fmla="val 14000"/>
            </a:avLst>
          </a:prstGeom>
          <a:noFill/>
          <a:ln w="254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28600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999232"/>
            <a:ext cx="1691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个应用下周就试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148840"/>
            <a:ext cx="1691640" cy="1371600"/>
          </a:xfrm>
          <a:prstGeom prst="roundRect">
            <a:avLst>
              <a:gd name="adj" fmla="val 14000"/>
            </a:avLst>
          </a:prstGeom>
          <a:noFill/>
          <a:ln w="254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99232"/>
            <a:ext cx="1691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个行动明早就做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写5个收获  </a:t>
            </a:r>
            <a:r>
              <a:rPr sz="16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今天最戳你的5个点，不许抄PPT标题，要用自己的话写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选3个应用  </a:t>
            </a:r>
            <a:r>
              <a:rPr sz="16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两周内要在班组真用的3招，写清对谁用、什么场合用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6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定1个立刻行动：明天班前会就做的一件事，如公开表扬一名新员工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6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同组两两互签当见证人，一个月后微信群晒执行结果，互相盯着落地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讲师承诺  </a:t>
            </a:r>
            <a:r>
              <a:rPr sz="16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一个月后群里逐组回访，531做到的组下期课优先上台分享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结束语  </a:t>
            </a:r>
            <a:r>
              <a:rPr sz="16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管理是练出来的，不是听出来的——明天早上，车间见真章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4465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