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版面建议：深色底配放大镜与指纹元素，右侧放亚德客气缸、电磁阀产品实拍照，营造“破案”氛围。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版面建议：放一张贴满便利贴的大白纸照片示意，配倒计时“8分钟”大号数字。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版面建议：画一条“破案流程”横向路线图，上午下午两段用不同颜色，标出六个模块站点。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版面建议：大字号公式居中，下方画两根柱子（标准1%对现状2.5%)标红中间的差距。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版面建议：左边放一页真实SOP或图纸公差截图，右边放两人争执的漫画形成对比。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版面建议：整页做成盘点表模板（三行空格+五个维度图标），学员照着填即可。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版面建议：三个色块横排（红救火/黄防火/绿理想），各配一个小图标，底部放占比自测条。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版面建议：放一张缸筒实物照居中，三支箭头分别指向红黄绿三类问题标签。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版面建议：黑底大字“没有问题，才是最大的问题”，下方配捂住眼睛/耳朵/嘴巴的三猴图示。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版面建议：做成四宫格巡检卡片（数据/现场/人脸/记录各配图标），可直接打印给学员揣兜里。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版面建议：画一个雷达屏示意图，四个象限各放一个信号源图标，配车间实拍小图。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版面建议：左侧放“月月零问题”的假报表截图，右侧放批退单照片，形成强烈反差。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版面建议：做一张5W2H七格填空表，左列问号、右列留白，可直接当现场练习模板。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版面建议：左右对比版式，左边灰色气泡放原话，右边绿色表格放改写后四要素。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版面建议：三个并排图标（脚印、手掌、眼睛）配一张班长蹲在装配工位看实物的照片。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版面建议：配老师傅摸机床手部特写照片，四步流程用“摸—听—看—问”箭头串起来。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版面建议：上方一根“总不良2.5%”粗柱，下方分层后长短悬殊的柱状图，突出反差。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版面建议：整页放模拟数据表样张加一张空白分层统计表，供各组照着现场填。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版面建议：用红叉与绿勾两栏对照，红栏放三句错误示范，绿栏放对应的差距式改写。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版面建议：画一台“翻译机”示意图，左进牢骚气泡、右出数据卡片，直观呈现转化。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版面建议：左右对比图——左边“开会喊口号”漫画配持平的不良率曲线，右边一张分层记录表配83%集中的柱状图。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版面建议：整页放一张4M1E鱼骨图大样，鱼头写“MA缸漏气2.5%”，五根大骨各挂1-2条车间实例小骨。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版面建议：上半页三步流程图，下半页“错误示范×正确示范”三组红绿对照小卡片。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版面建议：放演练规则清单+一张空白4M1E鱼骨图模板，右下角计时器图标标注“10分钟”。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版面建议：画一个五级下钻的阶梯图，从“机器停了”逐级钻到“没装过滤网”，最底层标红“根因”。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版面建议：三个大红叉配三句禁忌，底部横幅放大口诀“问过程别问罪，查系统别查人”。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版面建议：做成竖排“审讯记录”式四问四答时间轴，最后一格盖红色“结案”印章，附断刀次数前后对比小图。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版面建议：画2×2对比表格（是/不是×现象/差异），配一张“缩小包围圈”的同心圆示意图。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版面建议：画两台机床对调刀具的示意图，箭头交叉，配大字标语“一次只换一个变量”。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版面建议：三招验证法做成三宫格图标（仪表、交换箭头、台账），底部放一行验证计划表样例。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版面建议：画一张三岔路口示意图，三条岔路各配一句红色警示语，右下角放“71%”大字数据块。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版面建议：左右分栏对比“批评小赵”与“追查变更点”两条路径的结果，配一张CNC断刀照片。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版面建议：四规则做成四张扑克牌样式横排，下方用一条“发散→收敛”时间轴标出10分钟+5分钟。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版面建议：大字倒计时“3:00”占半版，旁边放两个真假难辨的相似接头实物对比照。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版面建议：左侧缩略鱼骨图、右侧树状系统图，中间一个掉头箭头，标注“往回追/往前推”。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版面建议：放一张4列×4行的打分表格截图，总分列用色块突出第一名。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版面建议：整版放四条对策的打分对比条形图，“换治具”一条用醒目色标出冠军。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版面建议：画一座五级金字塔，防呆在塔尖发光，“口头提醒”在塔底配裂纹效果。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版面建议：三张现场实拍照片并排（错高料盒、编号刀片槽、格子交接本），配手写体标注。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版面建议：E、C、R、S做成四个带箭头的台阶依次下行，每级配一个车间小图标（剪刀/合并/换位/魔术棒）。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版面建议：左右对比图——左边“罚款单+辞职信”，右边“小陆戴着‘试错员’袖章指出错点”的漫画。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版面建议：一个上坡滚动的PDCA圆环图，坡上垫一块写着“标准化”的楔子，防止圆环下滑。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版面建议：双轮爬楼梯示意图——PDCA轮往上滚一级，SDCA楔子立刻卡住，台阶上标“漏气率0.6%”。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版面建议：放一张真实感的执行表样例，用红笔圈出“责任人：李芳”“完成日：7月18日”两个格子。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版面建议：前后两张整改单照片对比——“电镀全体”版打红叉，“名字+日期”看板版打绿勾。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版面建议：折线趋势图示例——标出对策实施日的竖虚线、目标横线，曲线从2.5%降到0.6%。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版面建议：配一张老班长蹲在装配线旁看操作的现场照片，旁边大字排出“三天、七天、三周”口诀。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版面建议：车间平面示意图，三线一个绿色对勾，两条箭头把对勾“复制”到一线二线。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版面建议：四步纵向流程图（目标→结果→差异→行动），底部横条红底白字写“复盘不追责”。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版面建议：天平图——左盘“10分钟保养”，右盘“停线4小时+延迟交货”，配海因里希1:29:300金字塔小图。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版面建议：放一张A3六栏空白模板手绘图，左半问题右半对策，箭头从左贯到右。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版面建议：整页放A3样张实拍图，逐栏贴上今天工具的页码标签(P13、P17、P22、P36)。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版面建议：横向四段破案流程图，每段泳道下方挂对应工具图标，像地铁线路图。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版面建议：五个坑画成一条路上的五个塌陷警示牌，行车路线从左下通向右上的“结案”。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版面建议：左右对比漫画——空着手上楼挨批vs夹着一页A3上楼获批，配经理原话大字。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版面建议：场景做成大字号翻牌卡片版式，右上角放各组积分榜，营造抢答氛围。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版面建议：左边20根刺的密集鱼骨图打红叉，右边只留2根粗刺的鱼骨图打绿钩，强对比。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版面建议：整页一张六步路线长图，每步挂工具名和页码书签，做成可撕下带走的样式。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版面建议：做成卷宗封面版式，盖“结业大考”红章，正中放40:00倒计时大数字。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版面建议：承诺卡做成实物卡片样式放页面中央，留出手写空白区，底部放结束语大字。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版面建议：做成作业任务单表格版式，三部分分值用25/35/40的条形块直观标出。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1D4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0"/>
            <a:ext cx="3108960" cy="3108960"/>
          </a:xfrm>
          <a:prstGeom prst="ellipse">
            <a:avLst/>
          </a:prstGeom>
          <a:solidFill>
            <a:srgbClr val="1D4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940000">
            <a:off x="8229600" y="5852160"/>
            <a:ext cx="4572000" cy="54864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229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亚德客(AirTAC)班组长管理能力提升系列内训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607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问题分析与解决——班组长的破案课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520440"/>
            <a:ext cx="2377440" cy="914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课程名称：问题分析与解决（班组长实战版）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副标题：像老刑警破案一样，破车间里的案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适用对象：车间班组长为主，少量中层管理者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课程时长：1天6小时，上午下午各3小时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讲师承诺：不灌鸡汤不背理论，今天学的招明天早班就能用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主办：亚德客(AirTAC)班组长系列内训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先吐苦水：你班组那个‘老大难’是谁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49079" y="347472"/>
            <a:ext cx="2185416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引入·团队任务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任务说明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每人说一个“反复发生、始终没根治”的老大难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按车间混编，每组6-7人，先推选一名组长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举例引路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漏气退货、CNC断刀、新人装错件、月底赶货乱套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组内轮流吐苦水加讨论，共8分钟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组长上台1分钟，讲最典型的一个和它折磨你们多久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写上大白纸贴墙，全天当“活靶子”用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1344" y="4937760"/>
            <a:ext cx="82296" cy="1005840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45936" y="5257800"/>
            <a:ext cx="365760" cy="365760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2809C"/>
                </a:solidFill>
                <a:latin typeface="Microsoft YaHei"/>
                <a:ea typeface="Microsoft YaHei"/>
                <a:cs typeface="Microsoft YaHei"/>
              </a:rPr>
              <a:t>讲师提示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下午会用工具把这些问题挨个回炉重审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今天一天，把‘救火队长’练成‘破案高手’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课程地图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六个模块 · 上午三个 下午三个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139696"/>
            <a:ext cx="82296" cy="52882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230374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94560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上午 问题意识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814828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2814828"/>
            <a:ext cx="82296" cy="528827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2905506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869692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上午 把问题说清楚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489960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489960"/>
            <a:ext cx="82296" cy="528827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3580637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544824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上午 找到真凶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165091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165091"/>
            <a:ext cx="82296" cy="528827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" y="4255769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219955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下午 选对药方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840224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840224"/>
            <a:ext cx="82296" cy="528827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560" y="4930901"/>
            <a:ext cx="347472" cy="347472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895087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下午 干出结果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515356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5515356"/>
            <a:ext cx="82296" cy="528827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1560" y="5606033"/>
            <a:ext cx="347472" cy="347472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570219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下午 工具串联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课程目标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会描述问题、会找真凶、会定对策、会固化成果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上午9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00-12:00：模块一至三，从发现问题到锁定真凶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下午13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30-16:30：模块四至六，从开药方到全案串联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工具清单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5W2H、分层法、鱼骨图、5Why、决策矩阵、PDCA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结业大考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小组用全套工具，完整走一个亚德客真实案例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课堂规则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少讲理论多动手，案例随时可以打断提问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问题不是麻烦，是差距：一条公式讲明白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问题公式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67712"/>
            <a:ext cx="3157728" cy="1133856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应有标准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4967" y="2359152"/>
            <a:ext cx="56692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1896" y="2267712"/>
            <a:ext cx="3157728" cy="1133856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当前现状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9623" y="2359152"/>
            <a:ext cx="56692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6551" y="2267712"/>
            <a:ext cx="3157728" cy="1133856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问题(差距)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说不清标准,就说不清问题;量化差距,问题自然现形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一条公式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问题=标准（应有状态）-现状（实际状态）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不良率标准1%，本月实际2.5%，这1.5%就是问题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麻烦是情绪，问题是差距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先量差距，再谈情绪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感觉不到差距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不等于没有问题，只说明你没量过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现场提问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你班组的标准写在哪？谁能马上报出三条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没有标准，你连‘出事了’都不知道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没标准的滑坡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797813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没标准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47872" y="2942081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175253"/>
            <a:ext cx="5577840" cy="797813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看不出差距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47872" y="3977639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210812"/>
            <a:ext cx="5577840" cy="797813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以为没问题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547872" y="5013197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5246369"/>
            <a:ext cx="5577840" cy="797813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小病拖成大病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标准四来源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SOP作业书、图纸公差、不良率目标、5S基准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亚德客例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缸筒内径公差、端盖锁紧扭矩、镀层厚度下限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没标准的班组，问题靠吵架定义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嗓门大的说了算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标准模糊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新员工只能“看着办”，做错了还觉得冤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班组长基本功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标准挂嘴边、贴墙上、写进交接本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两分钟盘点：你班组有多少看不见的差距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6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讲师抽3人分享，现场用公式判定算不算“问题”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每人独立写3条“现状和标准有差距”的地方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提示维度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质量、效率、安全、士气、5S现场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独立盘点2分钟，同桌互换点评2分钟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互评焦点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对方哪一条最该先动手解决，为什么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常见结果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一个班组两分钟能盘出十几条看不见的差距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三类问题：救火的、防火的、想更好的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7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42615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42615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903220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恢复原状型:救火,超标马上压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57599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657599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3918203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12463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防范潜在型:防火,隐患趁早拆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72583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672583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933187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27447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追求理想型:登高,好还要更好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恢复原状型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断刀、漏气、停机——火已经着了，先救火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防范潜在型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保养、点检、隐患——火苗还没起，先防火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追求理想型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节拍再快8秒、换模再省10分钟——主动进攻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班组长通病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天天救火没空防火，理想型连想都没想过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自检一问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你上周处理的事，三类各占几成？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同一根缸筒，三类问题你都遇得上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8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案发现场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CNC车间同一根气缸缸筒，三类问题齐上阵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恢复原状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内径超差批量报废48件，客户催货火烧眉毛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防范潜在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刀具寿命到临界没人盯，不改迟早再废一批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追求理想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同款缸筒单件节拍，能不能从52秒压到44秒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所谓老大难，常是三类问题叠在一起没拆开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启发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先救火止血，再防火断根，最后攻理想提效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‘我们班没问题’——这句话最吓人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9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哪种班组更危险?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2537460" cy="3904487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09060" y="2139696"/>
            <a:ext cx="2537460" cy="3904487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说"没问题"的班组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194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健康的班组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8"/>
            <a:ext cx="2080260" cy="3127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不是真没有
是看不见,或不敢报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7660" y="2761488"/>
            <a:ext cx="2080260" cy="3127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问题挂在看板上
人人敢报忧</a:t>
            </a:r>
          </a:p>
        </p:txBody>
      </p:sp>
      <p:sp>
        <p:nvSpPr>
          <p:cNvPr id="18" name="Oval 17"/>
          <p:cNvSpPr/>
          <p:nvPr/>
        </p:nvSpPr>
        <p:spPr>
          <a:xfrm>
            <a:off x="3424428" y="3854196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大野耐一名言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没有问题，才是最大的问题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看不见问题三原因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标准太松、干久麻木了、说了怕挨骂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漏气小批量没人报，三个月后被客户整批退货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报喜不报忧的班组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小毛病会被捂成大事故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班组长铁律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奖励报忧的人；打了报信的，以后没人报信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老班长交接班十分钟，专看这四样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10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一看数据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昨晚不良数、停机时长、产量差多少，先对数字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二看现场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铁屑堆哪了、地面油污、机器的声音和气味对不对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三看人脸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谁蔫了、谁烦了，人的状态也是设备信号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08476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08476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119372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082796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四看记录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677156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点检表“整齐得可疑”要警惕，太干净多半是补的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3808476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3808476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119372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082796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677156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亚德客装配车间干了15年的老班长口述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907024"/>
            <a:ext cx="11201400" cy="438912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71032"/>
            <a:ext cx="10789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数据、现场、人脸、记录，十分钟走一圈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班组长的问题雷达：四个信号源天天开机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四个信号源天天开机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57600" y="2725369"/>
            <a:ext cx="0" cy="1366570"/>
          </a:xfrm>
          <a:prstGeom prst="line">
            <a:avLst/>
          </a:prstGeom>
          <a:ln w="25400">
            <a:solidFill>
              <a:srgbClr val="1F6F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43276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数据看板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4091939"/>
            <a:ext cx="2008022" cy="0"/>
          </a:xfrm>
          <a:prstGeom prst="line">
            <a:avLst/>
          </a:prstGeom>
          <a:ln w="25400">
            <a:solidFill>
              <a:srgbClr val="E87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34102" y="379933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现场巡线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4091939"/>
            <a:ext cx="0" cy="1366571"/>
          </a:xfrm>
          <a:prstGeom prst="line">
            <a:avLst/>
          </a:prstGeom>
          <a:ln w="25400">
            <a:solidFill>
              <a:srgbClr val="2E9E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5165902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员工牢骚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649577" y="4091939"/>
            <a:ext cx="2008023" cy="0"/>
          </a:xfrm>
          <a:prstGeom prst="line">
            <a:avLst/>
          </a:prstGeom>
          <a:ln w="25400">
            <a:solidFill>
              <a:srgbClr val="8A5C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057" y="379933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下道工序</a:t>
            </a:r>
          </a:p>
        </p:txBody>
      </p:sp>
      <p:sp>
        <p:nvSpPr>
          <p:cNvPr id="20" name="Oval 19"/>
          <p:cNvSpPr/>
          <p:nvPr/>
        </p:nvSpPr>
        <p:spPr>
          <a:xfrm>
            <a:off x="2880360" y="3634739"/>
            <a:ext cx="1554480" cy="91440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雷达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数据信号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不良率、停机时长、返工数出现拐点，连涨三天就要警觉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现场信号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异响、异味、异常振动、跑冒滴漏，气动线上漏气声就是报警声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员工信号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抱怨变多、绕开规程操作、私下垫纸片改治具，都是问题苗头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下工序信号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装配退回机加件、质检挑剔突然变多，是上游出事的镜子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车间例子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CNC铁屑颜色发蓝、卷曲变样，就是转速或刀具出事的前兆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雷达天天开机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四个信号每天巡线扫一遍，别等月底看报表才知道出事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压铸老周月月‘零问题’，直到那批砂眼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12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压铸班长老周连报3个月“零问题”，这月一批缸盖砂眼批退2万件，损失8万多 追查发现：员工小李两周前就见过铸件冒砂眼，怕挨骂没吭声，模温异常也没人提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员工看见苗头为啥不吭声？你班里有没有“报喜不报忧”的风气？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开大会追责瞒报、罚小李两百；结果人人自保，问题全转入地下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班会第一问改成“这周发现啥问题”，报忧者当众表扬，报了坏消息不追责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丰田名言“没有问题才是最大的问题”；谷歌研究：心理安全感是高效团队第一要素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把‘又漏了’翻译成人话：5W2H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13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5W2H七连问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2715768" cy="86639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139696"/>
            <a:ext cx="82296" cy="866393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399157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94560"/>
            <a:ext cx="1938528" cy="756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What 啥问题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2139696"/>
            <a:ext cx="2715768" cy="86639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30752" y="2139696"/>
            <a:ext cx="82296" cy="866393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399157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2194560"/>
            <a:ext cx="1938528" cy="756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When 何时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152394"/>
            <a:ext cx="2715768" cy="86639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152394"/>
            <a:ext cx="82296" cy="866393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3411854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207258"/>
            <a:ext cx="1938528" cy="756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Where 何处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3152394"/>
            <a:ext cx="2715768" cy="86639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30752" y="3152394"/>
            <a:ext cx="82296" cy="866393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3411854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207258"/>
            <a:ext cx="1938528" cy="756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Who 谁遇到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165091"/>
            <a:ext cx="2715768" cy="86639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165091"/>
            <a:ext cx="82296" cy="866393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560" y="4424552"/>
            <a:ext cx="347472" cy="347472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219955"/>
            <a:ext cx="1938528" cy="756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Which 哪批哪台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30752" y="4165091"/>
            <a:ext cx="2715768" cy="86639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0752" y="4165091"/>
            <a:ext cx="82296" cy="866393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13632" y="4424552"/>
            <a:ext cx="347472" cy="347472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4219955"/>
            <a:ext cx="1938528" cy="756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How 如何发生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177790"/>
            <a:ext cx="2715768" cy="86639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5177790"/>
            <a:ext cx="82296" cy="866393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" y="5437250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5232653"/>
            <a:ext cx="1938528" cy="756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How much 多严重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七个问号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何事、何地、何时、何人、为何，加上如何发生、多严重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至少说清四件事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什么产品、哪道工序、从何时起、严重到什么程度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差描述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“最近漏气有点多”；好描述：“SC缸6月2日起测漏不良1%升到3%”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“多严重”必须带数字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多少件、多少钱、占产量百分之几，一个都不能少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现场练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每人用5W2H改写早上P2页吐槽墙上自己那个“老大难”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‘电磁阀又漏了’——改写前后差多远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14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22452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一句话的差距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2537460" cy="3355848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09060" y="2139696"/>
            <a:ext cx="2537460" cy="335584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改写前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194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改写后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8"/>
            <a:ext cx="208026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"电磁阀又漏了"
谁听谁迷糊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7660" y="2761488"/>
            <a:ext cx="208026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3号线SV阀,昨夜班起
气密不良1.9%,集中B工位</a:t>
            </a:r>
          </a:p>
        </p:txBody>
      </p:sp>
      <p:sp>
        <p:nvSpPr>
          <p:cNvPr id="18" name="Oval 17"/>
          <p:cNvSpPr/>
          <p:nvPr/>
        </p:nvSpPr>
        <p:spPr>
          <a:xfrm>
            <a:off x="3424428" y="3579876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72786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72786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原话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装配线反映“SV电磁阀最近老是测漏不过，是不是又是料的问题”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446934"/>
            <a:ext cx="4645152" cy="72786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446934"/>
            <a:ext cx="82296" cy="72786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492654"/>
            <a:ext cx="427939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改写第一句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SV系列阀6月1日起，测漏不良率由1.2%升到3.5%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321100"/>
            <a:ext cx="4645152" cy="72786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321100"/>
            <a:ext cx="82296" cy="72786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366820"/>
            <a:ext cx="427939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改写第二句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不良集中在夜班，且集中在阀体批号B0525的两个批次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195267"/>
            <a:ext cx="4645152" cy="72786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4195267"/>
            <a:ext cx="82296" cy="72786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240987"/>
            <a:ext cx="427939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改写第三句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白班同型号不良1.3%基本正常，漏点集中在阀体与端盖结合面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5069433"/>
            <a:ext cx="4645152" cy="72786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5069433"/>
            <a:ext cx="82296" cy="72786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5115153"/>
            <a:ext cx="427939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对比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原话让人想去查“人”，改写后方向立刻转向“批次加夜班条件”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925312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98464"/>
            <a:ext cx="10789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一句说清楚的问题描述，案子就已经破了一半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三现主义：现场、现物、现实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15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2" name="Hexagon 11"/>
          <p:cNvSpPr/>
          <p:nvPr/>
        </p:nvSpPr>
        <p:spPr>
          <a:xfrm>
            <a:off x="868680" y="2642615"/>
            <a:ext cx="5577840" cy="868680"/>
          </a:xfrm>
          <a:prstGeom prst="hexag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现场:去出事的地方</a:t>
            </a:r>
          </a:p>
        </p:txBody>
      </p:sp>
      <p:sp>
        <p:nvSpPr>
          <p:cNvPr id="13" name="Hexagon 12"/>
          <p:cNvSpPr/>
          <p:nvPr/>
        </p:nvSpPr>
        <p:spPr>
          <a:xfrm>
            <a:off x="868680" y="3657599"/>
            <a:ext cx="5577840" cy="868680"/>
          </a:xfrm>
          <a:prstGeom prst="hexagon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现物:摸出事的东西</a:t>
            </a:r>
          </a:p>
        </p:txBody>
      </p:sp>
      <p:sp>
        <p:nvSpPr>
          <p:cNvPr id="14" name="Hexagon 13"/>
          <p:cNvSpPr/>
          <p:nvPr/>
        </p:nvSpPr>
        <p:spPr>
          <a:xfrm>
            <a:off x="868680" y="4672583"/>
            <a:ext cx="5577840" cy="868680"/>
          </a:xfrm>
          <a:prstGeom prst="hexagon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现实:看当时的数据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现场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去出事的那个工位看，别坐办公室听转述，转一道嘴失真一分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现物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拿到漏气的那只缸、断掉的那把刀，不良品是最诚实的证人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现实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查当时的真实条件——参数、批号、班次，不听“大概、可能、差不多”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反例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有班长凭微信群一张照片断定是电镀挂伤，到现场一看是运输磕碰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顺口溜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脚到现场、手摸现物、眼盯现实，三现到齐再下结论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老师傅进车间：先摸机器，后开口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16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进门四步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先摸主轴油箱温度，再听切削声音，后看铁屑颜色，最后才问人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铁屑发蓝是过热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声音发尖是刀钝了——机器不会撒谎，人会紧张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问话用开放式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“当时你看到啥、听到啥”，别问“是不是你动了参数”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现场绝不当场批评人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当众骂过一次，下次出事就没人对你说真话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问完补一句“多亏你说了实话”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给下一次留着门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口述来源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CNC车间干了20年的设备维修老师傅王师傅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数据会说话，前提是你分过层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17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一分层,真凶就冒头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102222"/>
            <a:ext cx="1005840" cy="317633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2736462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12件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甲班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414016"/>
            <a:ext cx="1005840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04825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38件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乙班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128691"/>
            <a:ext cx="1005840" cy="2911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762931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11件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丙班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3419856"/>
            <a:ext cx="10515599" cy="0"/>
          </a:xfrm>
          <a:prstGeom prst="line">
            <a:avLst/>
          </a:prstGeom>
          <a:ln w="1778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层别法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把一堆总数按班次、机台、人员、批次、时段、模具切开来看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总数是糊涂账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总不良2.5%看不出名堂，分层之后真相自己冒头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装配漏气2.5%，一分层发现夜班B机台占了七成，方向立刻清楚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分层口诀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人、机、料、法、时，五把刀挨个切一遍，哪刀切出差异查哪刀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工具不用高级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白纸画表格、正字计数就够用，不非得电脑和表格软件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动手分一分：电镀麻点该按什么分层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18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每组发一张电镀外观不良模拟数据表，含班次、挂具号、槽位、来料批次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讨论8分钟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按四个维度各分一遍，看哪种分法切出的差异最大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每组在大白纸写出最想先查的一个层别，加一句话理由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各组代表1分钟发言，讲师追问“数据真的支持你吗”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你选的分层方式，就是你心里怀疑的方向——让数据替你验证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第一个坑：把对策当问题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19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509260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5509260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45491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错误示范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5006340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“问题是缺人手”“问题是没培训”“问题是设备太旧了”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627632"/>
            <a:ext cx="5509260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1627632"/>
            <a:ext cx="5509260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1451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1444" y="1901952"/>
            <a:ext cx="45491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这是把想要的对策倒过来说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496312"/>
            <a:ext cx="5006340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答案已经内定，别人的思路全被锁死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08476"/>
            <a:ext cx="5509260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08476"/>
            <a:ext cx="5509260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4119372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" y="4082796"/>
            <a:ext cx="45491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坑在哪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677156"/>
            <a:ext cx="5006340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一说“缺人”就只会去要人，真因可能是排产乱、动作浪费大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5060" y="3808476"/>
            <a:ext cx="5509260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5060" y="3808476"/>
            <a:ext cx="5509260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14516" y="4119372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1444" y="4082796"/>
            <a:ext cx="45491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1092" y="4677156"/>
            <a:ext cx="5006340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回到差距说话——哪个指标、离标准差多远，如换型45分钟超标20分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907024"/>
            <a:ext cx="11201400" cy="438912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71032"/>
            <a:ext cx="10789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问题描述里不许出现“缺、没、不给”这三种字眼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第二个坑：把抱怨当问题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20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抱怨长这样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“新员工就是不行”“采购的料越来越差”“设备科从来不管”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分辨法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抱怨带情绪、指向人；问题讲数据、指向差距，一听就能分开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转化三步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先说啥现象，再摆啥数据，最后算离标准差多远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“新员工不行”翻译成“新员工首月错件率4%，老员工只有0.5%”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班组长要当翻译机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把牢骚翻成数据；别当传声筒，把情绪往上传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10312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小蒋的漏气率翻三倍：先开会还是先数数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装配三线班长小蒋，MA气缸终检漏气不良从0.8%涨到2.5%，三天了没回头，主管电话已经打到线上，催他“赶紧想办法”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3分钟：如果你是小蒋，今晚第一件事干什么？每组说一条，写在白板上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马上开班前会，强调“认真装配、仔细检查”，全员签质量承诺书。坑：不知道漏在哪个工位、哪个批次，喊口号三天，数据纹丝不动，员工还觉得被冤枉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三天不开会、不批评任何人，先做一张记录表：每台漏气缸按班次、工位、密封圈批次、机台登记。第三天一看：漏气的83%集中在夜班3号工位、新批次密封圈上——会都不用开，问题自己浮出来了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三现主义+层别法：先到现场看现物，再按班次/工位/批次分层。用数据说话，别用嗓门说话；嗓门管三天，数据管到底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鱼骨图：把嫌疑人全押上堂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22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鱼骨图(4M1E):嫌疑人全押上堂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874873"/>
            <a:ext cx="9098280" cy="0"/>
          </a:xfrm>
          <a:prstGeom prst="line">
            <a:avLst/>
          </a:prstGeom>
          <a:ln w="44450">
            <a:solidFill>
              <a:srgbClr val="1F6F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966959" y="2417673"/>
            <a:ext cx="1371600" cy="9144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缸口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毛刺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508760" y="2190902"/>
            <a:ext cx="822960" cy="683971"/>
          </a:xfrm>
          <a:prstGeom prst="line">
            <a:avLst/>
          </a:prstGeom>
          <a:ln w="33020">
            <a:solidFill>
              <a:srgbClr val="1F6F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20824" y="1806854"/>
            <a:ext cx="621792" cy="402336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2874873"/>
            <a:ext cx="822960" cy="683971"/>
          </a:xfrm>
          <a:prstGeom prst="line">
            <a:avLst/>
          </a:prstGeom>
          <a:ln w="33020">
            <a:solidFill>
              <a:srgbClr val="E87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92424" y="3577132"/>
            <a:ext cx="621792" cy="402336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251960" y="2190902"/>
            <a:ext cx="822960" cy="683971"/>
          </a:xfrm>
          <a:prstGeom prst="line">
            <a:avLst/>
          </a:prstGeom>
          <a:ln w="33020">
            <a:solidFill>
              <a:srgbClr val="2E9E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64024" y="1806854"/>
            <a:ext cx="621792" cy="402336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23560" y="2874873"/>
            <a:ext cx="822960" cy="683971"/>
          </a:xfrm>
          <a:prstGeom prst="line">
            <a:avLst/>
          </a:prstGeom>
          <a:ln w="33020">
            <a:solidFill>
              <a:srgbClr val="8A5C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35624" y="3577132"/>
            <a:ext cx="621792" cy="402336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法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995160" y="2190902"/>
            <a:ext cx="822960" cy="683971"/>
          </a:xfrm>
          <a:prstGeom prst="line">
            <a:avLst/>
          </a:prstGeom>
          <a:ln w="33020">
            <a:solidFill>
              <a:srgbClr val="D856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07224" y="1806854"/>
            <a:ext cx="621792" cy="402336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05072"/>
            <a:ext cx="363626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005072"/>
            <a:ext cx="82296" cy="8321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4059935"/>
            <a:ext cx="3270504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破案先列嫌疑人名单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鱼头写清问题（如“MA缸漏气率2.5%”），鱼刺一排一排押上所有嫌疑人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4005072"/>
            <a:ext cx="363626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85488" y="4005072"/>
            <a:ext cx="82296" cy="832104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4944" y="4059935"/>
            <a:ext cx="3270504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大骨按4M1E分五类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人(Man)、机(Machine)、料(Material)、法(Method)、环(Environment)，一个都不能漏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8056" y="4005072"/>
            <a:ext cx="363626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8056" y="4005072"/>
            <a:ext cx="82296" cy="83210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7512" y="4059935"/>
            <a:ext cx="3270504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车间化举例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人—新员工顶岗；机—压装机压力漂移；料—密封圈批次换供应商；法—扭矩参数没更新；环—夜班车间温度低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83480"/>
            <a:ext cx="363626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83480"/>
            <a:ext cx="82296" cy="832104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5038344"/>
            <a:ext cx="3270504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亚德客经验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最容易漏的两根刺是“料”（原材料、密封圈换批次）和“法”（切削参数、压装参数悄悄改过）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85488" y="4983480"/>
            <a:ext cx="363626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85488" y="4983480"/>
            <a:ext cx="82296" cy="832104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4944" y="5038344"/>
            <a:ext cx="3270504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记住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鱼骨图上的每根刺都只是嫌疑人，不是罪犯——定罪要靠后面的现场验证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925312"/>
            <a:ext cx="11201400" cy="438912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防止办案只盯“人”这一根刺——员工最好骂，但机和料才常是真凶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鱼骨图三步画法，三个常见错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23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三步画法</a:t>
            </a:r>
          </a:p>
        </p:txBody>
      </p:sp>
      <p:sp>
        <p:nvSpPr>
          <p:cNvPr id="11" name="Chevron 10"/>
          <p:cNvSpPr/>
          <p:nvPr/>
        </p:nvSpPr>
        <p:spPr>
          <a:xfrm>
            <a:off x="777240" y="2354580"/>
            <a:ext cx="3627120" cy="960120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定鱼头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写清问题</a:t>
            </a:r>
          </a:p>
        </p:txBody>
      </p:sp>
      <p:sp>
        <p:nvSpPr>
          <p:cNvPr id="12" name="Chevron 11"/>
          <p:cNvSpPr/>
          <p:nvPr/>
        </p:nvSpPr>
        <p:spPr>
          <a:xfrm>
            <a:off x="4130040" y="2354580"/>
            <a:ext cx="3627120" cy="960120"/>
          </a:xfrm>
          <a:prstGeom prst="chevron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拉大骨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4M1E五类</a:t>
            </a:r>
          </a:p>
        </p:txBody>
      </p:sp>
      <p:sp>
        <p:nvSpPr>
          <p:cNvPr id="13" name="Chevron 12"/>
          <p:cNvSpPr/>
          <p:nvPr/>
        </p:nvSpPr>
        <p:spPr>
          <a:xfrm>
            <a:off x="7482840" y="2354580"/>
            <a:ext cx="3627120" cy="960120"/>
          </a:xfrm>
          <a:prstGeom prst="chevron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添小刺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具体嫌疑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第一步定问题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鱼头必须具体到“什么产品+什么缺陷+多严重”，如“SC63缸筒划伤，不良1.8%”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第二步分大骨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按人机料法环五路排查，每一路都逼自己问一句“这方面有没有嫌疑”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第三步追小骨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大骨往下追到“可以去现场查证”为止，如“刀具”追到“换刀周期由500件改成800件”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错1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鱼头笼统。写“质量不好”“效率低”，全车间的事都装得下，等于没写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错2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小骨写成对策。“加强培训”“提高责任心”是药方不是病因——刺上只许写“发生了什么变化”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错3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画完挂墙就完事。鱼骨图是排查清单不是装饰画，每根刺都要去现场打钩或划掉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小组开画：CNC断刀的鱼骨图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24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题目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精车工序车削缸筒，断刀从每周2次涨到每天3次，换刀停机拖累产量，操作工小李天天挨说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按桌6人一组，每组一张大白纸、一盒彩笔，选一名“主笔”、一名3分钟后汇报的“报案人”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10分钟开画，鱼头统一写“精车断刀由每周2次升至每天3次”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人机料法环五根大骨齐全，每根大骨至少2根小骨；小骨要具体，写“棒料换了供应商”，不许写“材料有问题”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互评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各组交换看图2分钟，圈出“最值得明天一早去现场查的那根刺”，并说出查证方法（测什么、查什么记录）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讲师点评重点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谁的鱼头最具体、谁把“料”和“法”挖得最深、谁不小心把对策写上了刺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5Why：像小孩一样追问到底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25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5Why追问链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为什么漏气?——密封圈划伤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47872" y="2734970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968142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为什么划伤?——装配有毛刺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47872" y="3563416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796588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为什么有毛刺?——去毛刺漏做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547872" y="4391863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625035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为什么漏做?——新人没人教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547872" y="5220309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453481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D85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为什么没人教?——上岗无清单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小孩问“为什么”能把大人问倒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班组长就用这股劲：对着现象连环追问，一层一层钻到根因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丰田经典例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机器停了→保险丝烧断（为啥？)→轴承润滑不足（为啥？)→油泵吸不上油（为啥？)→油泵轴磨损（为啥？)→没装过滤网，铁屑进了油泵。换保险丝只管三天，装过滤网管三年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车间版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气缸漏气→密封圈划伤→压装时刮到缸口毛刺→去毛刺工序漏做→新员工顶岗没人教这道工序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不迷信“5”这个数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问3次能动手改就停，问7次才到底就接着问——问到“能落实一条对策”为止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到底的标志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再往下问，答案就出了车间管辖范围（如“公司为啥选这家供应商”）——那就到此为止，往上报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每一层都要经得起反推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从根因往回念“因为A所以B”，念不通顺，说明中间跳步了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5Why三大禁忌：追到‘人’就停是大忌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26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忌1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追到“员工粗心”就收工。粗心不是终点站，接着问：为啥粗心也能装错？为啥错件能流到下一站？——追到防呆缺失、点检缺项才算到底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忌2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边问为什么边追责任。一开始算账，答案就会全推给最没背景的临时工和新员工，真相当场躲起来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忌3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坐在办公室里问。每问一层都要现场证据顶着：查记录、测数据、看现物，否则五个“为什么”就是五个“我猜”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车间对照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答“夜班王师傅打瞌睡”是死胡同；答“连上12天班+车间凌晨没有巡检提醒”才有对策可下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记住一句口诀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问过程别问罪，查系统别查人——人只是最后一环，系统才是案发现场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断刀5Why实录：从‘手潮’追到采购标准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27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从"手潮"追到标准缺失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断刀多,是小李手潮?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47872" y="2734970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968142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一问:负载突增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47872" y="3563416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796588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二问:棒料硬度超标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547872" y="4391863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625035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三问:进料没验硬度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547872" y="5220309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453481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D85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四问:检验标准缺这项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案发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精车断刀每天3次，机加主管第一反应是“小李手潮，换个老手”。班长老陈没换人，开始追问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一问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为啥断刀？——测切削电流，断刀前负载突增40%，不是操作手法问题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二问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为啥负载突增？——送检棒料，硬度HB241，超出工艺上限HB217，料太硬刀顶不住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三问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为啥超硬的料能上机？——查台账：这批是新供应商的货，进料时压根没验硬度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四问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为啥进料没验硬度？——翻检验规范：进料检验项目里只有尺寸和外观，从来就没写硬度这一项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结案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补进料硬度检验项+向供应商索赔，断刀回到每周1次。追到标准缺失，比骂操作工有用一百倍——骂人只能骂到下次断刀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是/不是对比法：真凶最怕对比(KT法）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28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是/不是对比:真凶最怕对比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39696"/>
            <a:ext cx="1804416" cy="62179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7960" y="2139696"/>
            <a:ext cx="1804416" cy="62179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是(出问题)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87240" y="2139696"/>
            <a:ext cx="1804416" cy="62179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不是(没事)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807208"/>
            <a:ext cx="1804416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何时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7960" y="2807208"/>
            <a:ext cx="1804416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本周起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7240" y="2807208"/>
            <a:ext cx="1804416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上周前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474720"/>
            <a:ext cx="180441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何机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7960" y="3474720"/>
            <a:ext cx="180441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3号机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7240" y="3474720"/>
            <a:ext cx="180441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1/2号机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142232"/>
            <a:ext cx="1804416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何料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7960" y="4142232"/>
            <a:ext cx="1804416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新批棒料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87240" y="4142232"/>
            <a:ext cx="1804416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旧批棒料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破案铁律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真凶必留痕迹——问题在哪出现、在哪不出现，一对比，凶手藏身的范围立刻缩小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四组对比问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①是什么/不是什么：漏气的是MA32，MA40为啥不漏？②哪里有/哪里没有：只3号压装机有，1、2号为啥没有？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③何时有/何时没有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6月10日以后才有，那天前后换了什么？④程度多大/多小：夜班2.5%、白班0.9%，差在哪？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车间实战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电镀麻点只出现在挂具下层工件——差异指向下层，一查是镀液循环泵下方流量不足，半天锁定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关键动作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找到“是”与“不是”的边界后，追问那条边界上“发生过什么变化”——换料、换人、改参数、修设备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与鱼骨图配合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鱼骨图列出全部嫌疑人，是/不是对比负责快速排除，剩下的才值得去现场验证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老师傅的土办法：换件对调，真相立现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29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换件对调法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686324"/>
            <a:ext cx="2454249" cy="96012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3号机的刀 → 1号机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0830" y="4404299"/>
            <a:ext cx="2454249" cy="96012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1号机的刀 → 3号机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743200" y="3029224"/>
            <a:ext cx="1828800" cy="292608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2743200" y="4747199"/>
            <a:ext cx="1828800" cy="292608"/>
          </a:xfrm>
          <a:prstGeom prst="lef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678423"/>
            <a:ext cx="5577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毛病跟刀走还是跟机走,一换便知;一次只换一个变量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572768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572768"/>
            <a:ext cx="82296" cy="55647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618488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机加车间设备组长口述绝活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嘴上吵三天，不如动手换一回——让问题自己招供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275549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2275549"/>
            <a:ext cx="82296" cy="556477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321269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疑刀具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A、B两台机把刀对调，问题跟着刀走就是刀的事，留在原机就是机床的事，两小时出结论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978331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978331"/>
            <a:ext cx="82296" cy="556477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3024051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疑人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换人不换机——老张去开那台“问题机”，问题还在，就还了操作工清白，接着查设备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681113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3681113"/>
            <a:ext cx="82296" cy="556477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3726833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疑料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留半批旧料做对照，新旧批次同机同人各干50件，数据一比，料的嫌疑当场坐实或洗清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383894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383894"/>
            <a:ext cx="82296" cy="556477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0336" y="4429614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铁规矩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一次只换一个变量！又换刀又换人，出了结果你也说不清是谁的功劳——换两个等于白换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086676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5086676"/>
            <a:ext cx="82296" cy="556477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5132396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换完必须记数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对调前后各数多少件、坏多少件，写在纸上；光凭“感觉好点了”不算破案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5789458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40880" y="5789458"/>
            <a:ext cx="82296" cy="556477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6" y="5835178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提醒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对调要挑不赶货的时段做，提前跟主管打招呼，别为了破案把交期搭进去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原因要验证：去现场，别拍脑瓜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30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铁规矩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没验证的原因只能叫猜想，猜想不许写进报告、不许下对策——冤案都是拍脑瓜拍出来的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每条疑因必须配一个验证法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能测的测一测（压力、硬度、扭矩），能换的换一换（对调试验），有账的查一查（点检表、换批记录、参数单）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验证三招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①现场复现——按怀疑的条件故意做一次，看坏不坏；②数据比对——分层对比好坏两边的差异；③对调试验——上一页的换件法，一次一个变量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怀疑“压装压力偏高压伤密封圈”，就把压力调回旧参数试压50件——漏气从2.5%落回0.7%，才算定案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判定标准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原因成立=条件在，问题就出现；条件撤，问题就消失。两头都对上，才够格叫根因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当天验不完不硬凑结论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列一张验证计划表——哪条疑因、怎么验、谁去验、哪天出结果，下班前定下来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找原因最容易走的三条岔路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三条岔路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42615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42615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903220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岔路一:拍脑袋定原因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57599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657599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3918203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12463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岔路二:追到人就收工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72583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672583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933187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27447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岔路三:嫌疑人只列一个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岔路1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跳过原因直奔对策——头痛医头，漏气就换密封圈，下个月照漏不误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岔路2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开会凑原因——谁嗓门大、谁资格老就听谁的，数据被晾在一边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岔路3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归罪于人——整改单写“操作工疏忽，下次注意”，等于什么都没查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扎心数据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某汽配集团抽查500张整改单，71%的对策栏只写着“加强教育培训”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质量界公认的85/15法则（戴明）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约85%的问题出在流程与系统，只有15%真怪个人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自检口诀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对策若离了“这个人”就失效，说明你抓的还不是真凶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老葛差点冤枉了操作工小赵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32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CNC班长老葛发现断刀从每周2次涨到每天3次，全出在小赵的3号机；小赵是计件新手，老葛认定他手快赶产量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换你是老葛，先找小赵谈话，还是先干别的？两分钟，组内说清理由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当班批评小赵、强令降进给：断刀没少，节拍反慢12%，小赵委屈想辞工，真凶还在线上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先不动人，先查“最近变了啥”：用是/不是对比锁定异常起点，揪出上周新进批次棒料硬度HB241、超出工艺上限HB217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是/不是对比法(KT法）：突发异常九成有变更点，先查料、机、法的变化，最后才看人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头脑风暴四规则：先要数量，别急着毙点子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33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头脑风暴四规则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150107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410711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不许批评,砖头后面拍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30752" y="3150107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3410711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数量优先,先要50个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65091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425695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欢迎搭车,踩着点子长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30752" y="4165091"/>
            <a:ext cx="82296" cy="86868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42569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异想天开,越野越好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规则一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不批评——点子再离谱也先记下来，评价一律留到收敛阶段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规则二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要数量——先凑够30条再论好坏，质量是从数量里泡出来的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规则三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搭便车——顺着别人的点子往下长，“接头涂色”能长出“做防错销”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规则四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越野越好——异想天开不扣分，防呆妙招常从“馊主意”里冒头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班组长最常犯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员工刚开口就来一句“这不行、早试过了”，三回之后没人再吭声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主持技巧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先发散10分钟只记不评，再花5分钟归类收敛；最闷的新员工先说，老师傅压轴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三分钟风暴：怎么让新员工装不错件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34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题目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装配线新员工频繁把两种外观相似的气管接头装反装错，上月客诉3起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3分钟内只准出点子、不准评价，谁说“这不行”全组罚做记录员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一人计时、一人执笔记满一张白纸，其余人轮流开炮不许冷场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每组至少15条，鼓励“馊主意”，比如“把两种接头做成两种颜色”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点评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各组圈出最“离谱”的一条，讲师当场示范怎么把它改造成防呆方案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落点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馊主意里常藏防呆的种子——“干脆让错件装不进去”往往就是最优解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对策系统图：一个根因，多条路打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35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一个根因,多条路打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34739"/>
            <a:ext cx="1554480" cy="9144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根因: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无硬度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进料检验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23160" y="3204972"/>
            <a:ext cx="502920" cy="886967"/>
          </a:xfrm>
          <a:prstGeom prst="line">
            <a:avLst/>
          </a:prstGeom>
          <a:ln w="2286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80" y="2862072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加抽检:每批测硬度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60" y="4091939"/>
            <a:ext cx="502920" cy="0"/>
          </a:xfrm>
          <a:prstGeom prst="line">
            <a:avLst/>
          </a:prstGeom>
          <a:ln w="2286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26080" y="3749039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要质保:供应商附报告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" y="4091939"/>
            <a:ext cx="502920" cy="886969"/>
          </a:xfrm>
          <a:prstGeom prst="line">
            <a:avLst/>
          </a:prstGeom>
          <a:ln w="2286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26080" y="4636008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先隔离:入库打标再放行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起点必须是验证过的根因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没验证就展开对策，等于给假凶开药方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逐层展开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根因→对策方向→具体动作，像树杈一样越分越细、越分越实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每个根因至少憋出3条对策再取舍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手里只有1条时，你其实没得选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对策要写到动作级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不写“加强管理”，要写“料架加隔板贴色标，周三前完成”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方向与鱼骨图正相反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鱼骨图从结果往回追原因，系统图从根因往前推手段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根因“棒料无硬度进料检验”→加抽检硬度/供应商附质保书/入库先打标隔离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决策矩阵：四把尺子挑对策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36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决策矩阵:四把尺子打分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39696"/>
            <a:ext cx="1060704" cy="62179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4248" y="2139696"/>
            <a:ext cx="1060704" cy="62179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9816" y="2139696"/>
            <a:ext cx="1060704" cy="62179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2139696"/>
            <a:ext cx="1060704" cy="62179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0952" y="2139696"/>
            <a:ext cx="1060704" cy="62179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807208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换治具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4248" y="2807208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99816" y="2807208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5384" y="2807208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0952" y="2807208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474720"/>
            <a:ext cx="106070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加强培训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3474720"/>
            <a:ext cx="106070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9816" y="3474720"/>
            <a:ext cx="106070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15384" y="3474720"/>
            <a:ext cx="106070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0952" y="3474720"/>
            <a:ext cx="106070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142232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加检验岗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84248" y="4142232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99816" y="4142232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4142232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0952" y="4142232"/>
            <a:ext cx="1060704" cy="621792"/>
          </a:xfrm>
          <a:prstGeom prst="rect">
            <a:avLst/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四把尺子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效果（能治多少）、成本（花多少钱）、难度（好不好干）、风险（有无副作用）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每条对策四维各打1—5分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效果分可加权乘2，按总分排座次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高分先干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低分不扔，写进备用清单，主方案不灵时随时顶上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分线原则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班组自己能干的当周排上；要花钱报批的写成一页计划找车间主任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提醒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打分是逼大家把理由吵明白，不是走形式；分差在1分以内的当场辩清楚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“换定位治具”效果5分成本3分，总分压过“加强培训”，先干它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漏气对策打分：换治具赢了“加强培训”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37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MA气缸装配线漏气率2.5%，根因已验证为端盖定位靠手感、易压偏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候选四条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加强培训、双人互检、更换定位治具、加装气密传感器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打分实况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培训效果仅2分（人会忘）；互检占人力成本1分；治具效果5分、成本3分，总分第一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传感器效果也是5分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但要报批花钱，列入二期；治具当周自制先上线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换治具加首件点检，三周后漏气率降到0.8%；培训只做治具用法交底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启发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直觉最爱选的“加强培训”，打完分常常垫底——尺子比感觉靠得住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“加强培训”是万能药？防呆才是硬招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38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对策强度阶梯:越右越硬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2542032" cy="603504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靠自觉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609088"/>
            <a:ext cx="2542032" cy="920496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靠培训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2292096"/>
            <a:ext cx="2542032" cy="1237488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靠警示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19" y="1975104"/>
            <a:ext cx="2542032" cy="155448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靠防呆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对策分五层，越靠前越硬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防呆&gt;工装夹具&gt;标准化&gt;培训&gt;口头提醒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铁律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凡是靠人“记住、小心、注意”撑着的对策，三个月内必反弹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防呆三档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最好装不上（物理防错）；装错就停机（自动检出）；错了马上报警（及时拦截）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亚德客身边例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气缸端盖加方向防呆销；左右接头分色标识；包装线扫码校验型号防混装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判断题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对策里出现“加强、提高、注意”字样，先打个问号，再想能不能升一层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老班长的三个土防呆，一分钱没花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39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三个土防呆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42615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42615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903220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异形定位销:装反插不进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57599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657599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3918203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12463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颜色分区:左蓝右红一眼辨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72583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672583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933187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27447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计数卡槽:少一件看得见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土招一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相似件坚决分开放，左右料盒故意一高一低，手一伸就知道拿的哪边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土招二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刀片用完必须插回带编号的槽位，空一格立马看出少了哪片、在谁手上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土招三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交接班本印好格子，温度、气压、异常一栏一格，想漏填都难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心得一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防呆不一定花钱，先动脑、再动手、最后才动钱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心得二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招灵不灵，让最笨的新人试三天，他不出错才算过关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心得三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土办法跑顺了再申请花钱升级，拿着数据去报，批准率高一倍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ECRS：取消、合并、重排、简化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40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ECRS四问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150107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410711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E 取消:这步能不干吗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30752" y="3150107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3410711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C 合并:两步能一起吗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65091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425695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R 重排:换个顺序更顺吗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30752" y="4165091"/>
            <a:ext cx="82296" cy="86868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42569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S 简化:能更省劲吗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E取消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这一步能不能干脆不干？如取消重复点数——最省钱的改善是“不干”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C合并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两步并一步，如气密检验并进装配末工位，不再单设一站省一个人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R重排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调顺序少跑腿，如把去毛刺挪到清洗之前，一趟料少搬八十米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S简化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工装、手势、表单能不能更傻瓜？三页记录并成一页勾选表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顺序别乱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先问能不能取消，取消不了再合并、重排，最后才轮到简化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车间口诀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砍掉的浪费不用管理，留下的步骤才值得优化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最笨的新人，是最好的防呆测试员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装配组长阿梅收了00后新人小陆，入职两周装错件11起，组里怨声一片 小陆总把MA缸两种密封圈装混，当月装配返工率从1.5%升到4.2%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换你是阿梅怎么办？罚、换人、还是另有高招？同桌两分钟先议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重考SOP再罚50元：小陆委屈提辞职，错件照旧，组里反倒更缺人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请小陆当“试错员”：他在哪出错，就在哪加防呆，错一处堵一处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两周堵出7处防呆点，料盒分色、治具加销，全组错件降到月均1起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防呆优先于培训：人必然会错，让系统兜底，“最笨的人”也装不错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PDCA：干活的圈，转起来才算数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42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PDCA循环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2139696"/>
            <a:ext cx="2231136" cy="1015166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 计划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3584356"/>
            <a:ext cx="2231136" cy="1015166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5029017"/>
            <a:ext cx="2231136" cy="1015166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检查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84356"/>
            <a:ext cx="2231136" cy="1015166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处置</a:t>
            </a:r>
          </a:p>
        </p:txBody>
      </p:sp>
      <p:sp>
        <p:nvSpPr>
          <p:cNvPr id="16" name="Right Arrow 15"/>
          <p:cNvSpPr/>
          <p:nvPr/>
        </p:nvSpPr>
        <p:spPr>
          <a:xfrm rot="2700000">
            <a:off x="4423097" y="2960682"/>
            <a:ext cx="512064" cy="219456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 rot="8100000">
            <a:off x="4423097" y="5003741"/>
            <a:ext cx="512064" cy="219456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 rot="13500000">
            <a:off x="2380038" y="5003741"/>
            <a:ext cx="512064" cy="219456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 rot="18900000">
            <a:off x="2380038" y="2960682"/>
            <a:ext cx="512064" cy="219456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9232" y="3634739"/>
            <a:ext cx="1316736" cy="914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转起来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才算数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PDCA=计划、执行、检查、处理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四步转一圈，问题水平上一个台阶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班组通病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P粗D猛——计划两句话就开干，C检查A总结基本等于没有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每条对策落笔时就定死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谁来查、哪天查、查哪个数，写进执行表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A有两条路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达标就固化进SOP，不达标就退回原因分析，别硬扛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小圈快转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每周五班后10分钟过一遍对策，胜过月底一次大总结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CNC换新牌号刀片，当场约定“下周三查断刀数”，别装完就忘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SDCA：守住标准，别让成果溜回去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43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SDCA循环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2139696"/>
            <a:ext cx="2231136" cy="1015166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 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3584356"/>
            <a:ext cx="2231136" cy="1015166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照做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5029017"/>
            <a:ext cx="2231136" cy="1015166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核查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84356"/>
            <a:ext cx="2231136" cy="1015166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纠偏</a:t>
            </a:r>
          </a:p>
        </p:txBody>
      </p:sp>
      <p:sp>
        <p:nvSpPr>
          <p:cNvPr id="16" name="Right Arrow 15"/>
          <p:cNvSpPr/>
          <p:nvPr/>
        </p:nvSpPr>
        <p:spPr>
          <a:xfrm rot="2700000">
            <a:off x="4423097" y="2960682"/>
            <a:ext cx="512064" cy="219456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 rot="8100000">
            <a:off x="4423097" y="5003741"/>
            <a:ext cx="512064" cy="219456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 rot="13500000">
            <a:off x="2380038" y="5003741"/>
            <a:ext cx="512064" cy="219456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 rot="18900000">
            <a:off x="2380038" y="2960682"/>
            <a:ext cx="512064" cy="219456"/>
          </a:xfrm>
          <a:prstGeom prst="right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9232" y="3634739"/>
            <a:ext cx="1316736" cy="914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守住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S是标准化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把改善成果写进SOP、点检表、交接班本，变成天天的动作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PDCA管改善往上爬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SDCA管维持守台阶，两个轮子交替着转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没有SDCA，三个月后问题原样回来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防呆销坏了没人知道，错件重来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班组长日常七成时间其实在做SDCA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点检、巡线、交接班，守标准就是守成果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电镀挂具改造后，把“挂钩间距25毫米点检”写进班前点检表，天天打勾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对策执行表：定人、定时、定标准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44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执行表三定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42615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42615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903220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定人:谁来做,签名认领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57599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657599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3918203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12463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定时:哪天完,写死日期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72583"/>
            <a:ext cx="557784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672583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933187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27447"/>
            <a:ext cx="480060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定标准:做到啥样算完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一事一行，四栏齐全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对策内容、责任人、完成日期、验收标准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责任人只许写名字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写“生产组”“大家”的，三周后保证一条没动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完成日期写到具体哪一天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“尽快”“月底前”都算没写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验收标准要量化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写“漏气率≤1%”，不许写“明显改善”“加强了”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贴上班组看板，班前会两分钟过一遍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到期问进度，超期当场问卡点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阀体漏气5条对策，王磊、李芳各领两条，组长自己领最难那条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电镀线的整改单，差点又变废纸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45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电镀线麻点不良2.8%，鱼骨图加5Why挖出根因，定了5条整改对策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两周后回头看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整改单压在组长抽屉里，5条对策一条都没人动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病根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责任人一栏全写“电镀全体”——人人有责，等于人人没责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一条对策一个名字一个日期，整张表放大贴上班组看板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班前会天天点名过进度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超期的当众问一句：卡在哪？要什么支援？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三周落地4条，麻点不良从2.8%降到1.4%，整整降了一半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效果确认：数据前后比，别说‘感觉好多了’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46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数据前后比,别说"感觉好多了"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414016"/>
            <a:ext cx="1005840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4825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整改前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178454"/>
            <a:ext cx="1005840" cy="241401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81269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0.6%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整改后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19856"/>
            <a:ext cx="10515599" cy="0"/>
          </a:xfrm>
          <a:prstGeom prst="line">
            <a:avLst/>
          </a:prstGeom>
          <a:ln w="1778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效果确认只认数据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改善前后各摆一组数，“感觉好多了”不算数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同口径对比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同产品、同班次、同统计方法，口径一变，比了也白比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至少连跟2到4周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防止刚好碰上好料好订单，只是碰巧变好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没达标别闷头加倍执行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退回原因分析那步：多半是根因没找对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漏气率前后比，只统计MA缸白班终检数据，统计口径一模一样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一张趋势图贴看板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画上目标线和对策实施日，胜过一页汇报稿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老班长的‘三天回头看’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47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对策落地第三天，必到现场走一圈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新方法走没走样，一眼看穿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专挑两个时段看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交接班前后、月底赶货时——最容易破功的当口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到场只看三样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动作照做没有、表单真填没填、治具工装还在不在用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08476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08476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119372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082796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发现走样先问难处再调对策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677156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八成是不顺手，不是人偷懒，别上来就压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3808476"/>
            <a:ext cx="3611879" cy="199796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3808476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119372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082796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心得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677156"/>
            <a:ext cx="3108959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对策夭折多在头一周；头一周盯住了，后面基本就活了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907024"/>
            <a:ext cx="11201400" cy="438912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71032"/>
            <a:ext cx="10789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三天看一回，七天定生死，三周成习惯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标准化与横向展开：好药方要抄给邻居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48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好药方抄给邻居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57600" y="2725369"/>
            <a:ext cx="0" cy="1366570"/>
          </a:xfrm>
          <a:prstGeom prst="line">
            <a:avLst/>
          </a:prstGeom>
          <a:ln w="25400">
            <a:solidFill>
              <a:srgbClr val="1F6F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43276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MA25线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4091939"/>
            <a:ext cx="2008022" cy="0"/>
          </a:xfrm>
          <a:prstGeom prst="line">
            <a:avLst/>
          </a:prstGeom>
          <a:ln w="25400">
            <a:solidFill>
              <a:srgbClr val="E87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34102" y="379933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MA32线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4091939"/>
            <a:ext cx="0" cy="1366571"/>
          </a:xfrm>
          <a:prstGeom prst="line">
            <a:avLst/>
          </a:prstGeom>
          <a:ln w="25400">
            <a:solidFill>
              <a:srgbClr val="2E9E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5165902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夜班同步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649577" y="4091939"/>
            <a:ext cx="2008023" cy="0"/>
          </a:xfrm>
          <a:prstGeom prst="line">
            <a:avLst/>
          </a:prstGeom>
          <a:ln w="25400">
            <a:solidFill>
              <a:srgbClr val="8A5C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057" y="379933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新人培训包</a:t>
            </a:r>
          </a:p>
        </p:txBody>
      </p:sp>
      <p:sp>
        <p:nvSpPr>
          <p:cNvPr id="20" name="Oval 19"/>
          <p:cNvSpPr/>
          <p:nvPr/>
        </p:nvSpPr>
        <p:spPr>
          <a:xfrm>
            <a:off x="2880360" y="3634739"/>
            <a:ext cx="1554480" cy="91440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漏气</a:t>
            </a:r>
          </a:p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固化三件套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改SOP、改点检表、培训到人——缺一样都算没固化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培训到人要签字确认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两班倒最容易漏夜班，夜班必须单独补讲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横向展开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同类工位、同类产品、同类设备，主动把药方抄过去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三线气缸治具防呆见效，一线二线同款治具两周内照着改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班组长互相串门是最便宜的复制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带着对策表去邻组，顺手讲十分钟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别等邻组摔进同一个坑再送药方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让别人先绕开，你就是车间的功臣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复盘四步：目标、结果、差异、行动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49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11" name="Chevron 10"/>
          <p:cNvSpPr/>
          <p:nvPr/>
        </p:nvSpPr>
        <p:spPr>
          <a:xfrm>
            <a:off x="777240" y="2354580"/>
            <a:ext cx="2720340" cy="960120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2" name="Chevron 11"/>
          <p:cNvSpPr/>
          <p:nvPr/>
        </p:nvSpPr>
        <p:spPr>
          <a:xfrm>
            <a:off x="3223260" y="2354580"/>
            <a:ext cx="2720340" cy="960120"/>
          </a:xfrm>
          <a:prstGeom prst="chevron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3" name="Chevron 12"/>
          <p:cNvSpPr/>
          <p:nvPr/>
        </p:nvSpPr>
        <p:spPr>
          <a:xfrm>
            <a:off x="5669280" y="2354580"/>
            <a:ext cx="2720340" cy="960120"/>
          </a:xfrm>
          <a:prstGeom prst="chevron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差异</a:t>
            </a:r>
          </a:p>
        </p:txBody>
      </p:sp>
      <p:sp>
        <p:nvSpPr>
          <p:cNvPr id="14" name="Chevron 13"/>
          <p:cNvSpPr/>
          <p:nvPr/>
        </p:nvSpPr>
        <p:spPr>
          <a:xfrm>
            <a:off x="8115300" y="2354580"/>
            <a:ext cx="2720340" cy="960120"/>
          </a:xfrm>
          <a:prstGeom prst="chevron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一比目标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当初军令状定的是降到多少，现在实际多少，差距多大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二摆结果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干成的、没干成的、干出意外的，全摆上桌，不藏不掖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三挖差异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为什么成、为什么没成，拿数据和现场证据讲，不拍脑瓜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四定行动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保留什么、改掉什么、下一步干什么，落到名字和日期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铁规矩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复盘不追责——一追责，下次没人说真话，复盘当场就死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漏气案目标1%实际0.6%，超额的原因也要挖，好经验才留得下来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月底赶货，老白该不该停那10分钟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50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月底赶货，装配班长老白的压装机当月已连闹3次小故障 交货只剩4天，老白盘算跳过每日10分钟保养，“等月初再补”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换你是老白，这10分钟停还是不停？各组一分钟表态并给理由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先赶货、保养月初补：第三天压装机大故障，停线4小时，货更完不成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越赶货越要保养：把保养卡进交接班10分钟，雷打不动，产量反而更稳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SDCA维持思想：标准动作破一次例就会破第二次，成果就是这样溜走的 海因里希法则：1起大事故背后有29起小故障、300个隐患，3次故障已是警报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一页纸讲完一个案子：A3/8D思想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A3一页纸六格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42615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42615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903220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背景与影响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2642615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30752" y="2642615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2903220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2697479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现状数据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657599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657599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3918203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12463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目标值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3657599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30752" y="3657599"/>
            <a:ext cx="82296" cy="86868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3918203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712463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原因分析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672583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672583"/>
            <a:ext cx="82296" cy="86868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560" y="4933187"/>
            <a:ext cx="347472" cy="347472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727447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对策与分工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30752" y="4672583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0752" y="4672583"/>
            <a:ext cx="82296" cy="868680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13632" y="4933187"/>
            <a:ext cx="347472" cy="347472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4727447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效果与固化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一页纸六栏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背景、现状、原因、对策、效果、固化，顺着念就是一部破案记录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A3精髓是逻辑连贯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上一栏推出下一栏，一眼看懂，不堆材料、不摆苦劳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8D思想三板斧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组小团队、先围堵止血、再挖根因防再发，一个都不能省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漏气件先全检拦住出货是围堵，同时追密封圈根因，两条腿一起走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班组版一页A4手写就行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字丑不丢人，逻辑断了才丢人；别搞成PPT大赛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漏气案的一页A3：从2.5%到0.6%全过程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52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漏气案全过程战果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414016"/>
            <a:ext cx="1005840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4825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改善前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178454"/>
            <a:ext cx="1005840" cy="241401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81269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0.6%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改善后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19856"/>
            <a:ext cx="10515599" cy="0"/>
          </a:xfrm>
          <a:prstGeom prst="line">
            <a:avLst/>
          </a:prstGeom>
          <a:ln w="1778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005072"/>
            <a:ext cx="3636264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05072"/>
            <a:ext cx="82296" cy="685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059935"/>
            <a:ext cx="327050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案卷回放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小蒋班MA25气缸漏气率2.5%，三周降到0.6%，全程就这一页A3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5488" y="4005072"/>
            <a:ext cx="3636264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5488" y="4005072"/>
            <a:ext cx="82296" cy="68580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4944" y="4059935"/>
            <a:ext cx="327050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左上问题栏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5W2H写清——夜班A线漏气2.5%，标准0.8%，差距1.7个点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8056" y="4005072"/>
            <a:ext cx="3636264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8056" y="4005072"/>
            <a:ext cx="82296" cy="6858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7512" y="4059935"/>
            <a:ext cx="327050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左中数据栏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层别法锁定夜班3号机占七成不良，柱状图一画范围立现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37176"/>
            <a:ext cx="3636264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837176"/>
            <a:ext cx="82296" cy="68580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4892040"/>
            <a:ext cx="327050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左下原因栏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鱼骨图押上全部嫌疑，5Why追到治具定位销磨损0.3毫米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5488" y="4837176"/>
            <a:ext cx="3636264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5488" y="4837176"/>
            <a:ext cx="82296" cy="68580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4944" y="4892040"/>
            <a:ext cx="327050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右上对策栏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决策矩阵打分，“换定位销加挡块防呆”赢了“加强培训”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8056" y="4837176"/>
            <a:ext cx="3636264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8056" y="4837176"/>
            <a:ext cx="82296" cy="685800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2040"/>
            <a:ext cx="327050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右中执行栏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执行表定人定时定标准，趋势图三周从2.5%滑到0.6%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669280"/>
            <a:ext cx="3636264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669280"/>
            <a:ext cx="82296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5724144"/>
            <a:ext cx="327050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右下固化栏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定位销列入月点检表，B线C线同款治具一并排查更换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全套工具怎么串：按破案流程对号入座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53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破案全流程,工具对号入座</a:t>
            </a:r>
          </a:p>
        </p:txBody>
      </p:sp>
      <p:sp>
        <p:nvSpPr>
          <p:cNvPr id="11" name="Chevron 10"/>
          <p:cNvSpPr/>
          <p:nvPr/>
        </p:nvSpPr>
        <p:spPr>
          <a:xfrm>
            <a:off x="777240" y="2354580"/>
            <a:ext cx="1813560" cy="960120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12" name="Chevron 11"/>
          <p:cNvSpPr/>
          <p:nvPr/>
        </p:nvSpPr>
        <p:spPr>
          <a:xfrm>
            <a:off x="2316480" y="2354580"/>
            <a:ext cx="1813560" cy="960120"/>
          </a:xfrm>
          <a:prstGeom prst="chevron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13" name="Chevron 12"/>
          <p:cNvSpPr/>
          <p:nvPr/>
        </p:nvSpPr>
        <p:spPr>
          <a:xfrm>
            <a:off x="3855720" y="2354580"/>
            <a:ext cx="1813560" cy="960120"/>
          </a:xfrm>
          <a:prstGeom prst="chevron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找因</a:t>
            </a:r>
          </a:p>
        </p:txBody>
      </p:sp>
      <p:sp>
        <p:nvSpPr>
          <p:cNvPr id="14" name="Chevron 13"/>
          <p:cNvSpPr/>
          <p:nvPr/>
        </p:nvSpPr>
        <p:spPr>
          <a:xfrm>
            <a:off x="5394959" y="2354580"/>
            <a:ext cx="1813560" cy="960120"/>
          </a:xfrm>
          <a:prstGeom prst="chevron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选策</a:t>
            </a:r>
          </a:p>
        </p:txBody>
      </p:sp>
      <p:sp>
        <p:nvSpPr>
          <p:cNvPr id="15" name="Chevron 14"/>
          <p:cNvSpPr/>
          <p:nvPr/>
        </p:nvSpPr>
        <p:spPr>
          <a:xfrm>
            <a:off x="6934200" y="2354580"/>
            <a:ext cx="1813560" cy="960120"/>
          </a:xfrm>
          <a:prstGeom prst="chevron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6" name="Chevron 15"/>
          <p:cNvSpPr/>
          <p:nvPr/>
        </p:nvSpPr>
        <p:spPr>
          <a:xfrm>
            <a:off x="8473440" y="2354580"/>
            <a:ext cx="1813560" cy="960120"/>
          </a:xfrm>
          <a:prstGeom prst="chevron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第一步发现问题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问题雷达四信号加差距公式，先知道“出事了”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第二步说清问题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5W2H写明白、三现主义到现场、层别法把数据切开看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第三步找真凶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鱼骨列嫌疑、5Why深挖、是/不是对比、现场验证定罪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第四步药方到固化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矩阵挑对策、防呆优先、执行表跟到底、SDCA守成果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工具为流程服务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流程一步不能少，工具挑着用，不必每个案子全家桶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两台CNC一台断刀一台正常，直接是/不是对比，半天锁定刀具批次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班组问题解决常见坑TOP5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54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常见坑TOP5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139696"/>
            <a:ext cx="82296" cy="66385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297887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94560"/>
            <a:ext cx="4800600" cy="5541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把对策当问题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949854"/>
            <a:ext cx="5577840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2949854"/>
            <a:ext cx="82296" cy="663854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3108045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004718"/>
            <a:ext cx="4800600" cy="5541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拍脑袋定原因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760012"/>
            <a:ext cx="5577840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760012"/>
            <a:ext cx="82296" cy="66385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3918203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14876"/>
            <a:ext cx="4800600" cy="5541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追到人就收工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570171"/>
            <a:ext cx="5577840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570171"/>
            <a:ext cx="82296" cy="663854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" y="4728362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625035"/>
            <a:ext cx="4800600" cy="5541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对策只靠培训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380329"/>
            <a:ext cx="5577840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5380329"/>
            <a:ext cx="82296" cy="663854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560" y="5538520"/>
            <a:ext cx="347472" cy="347472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435193"/>
            <a:ext cx="4800600" cy="5541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好转就散伙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坑1没说清就分析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爱因斯坦——救地球给我1小时，55分钟先用来定义问题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坑2原因不验证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朱兰研究表明约85%质量问题出在系统，拍脑瓜多半冤枉人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坑3对策只剩培训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艾宾浩斯曲线，培训内容一天后约七成被忘，防呆不吃记性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坑4执行没人跟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洛克目标研究，有责任人和期限的任务，完成率明显翻倍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坑5好转就散伙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戴明的斜坡球，不塞SDCA这块楔子，球一定滚回原点复发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自查口诀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说清、验证、防呆、跟人、固化，五关全过才算真破案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向上汇报不挨骂：带着方案说问题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55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汇报公式背下来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数据现状+已验证原因+两个方案+要的支持，四段一口气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别只带问题上楼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光倒苦水是甩锅式汇报，领导第一反应是先问你的责任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要资源就算清账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换定位治具投800元，每月省返工40工时，三周就回本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方案永远给两个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一稳一快，让领导做选择题，别让他替你做问答题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坏消息要趁早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当天报是提醒，拖三天是隐瞒，月底爆出来就是事故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口述实录·某制造部经理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“带方案的我当场批，只倒苦水的我先问责。”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快问快答：这个场面该掏哪件工具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56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玩法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讲师连报6个车间小场景，各小组举牌抢答该掏哪件工具，共10分钟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场景1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两台压铸机同料同模，一台砂眼一台没有——是/不是对比法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场景2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上周整改单三条至今没人动——执行表，定人定时定标准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场景3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新员工总把密封圈装反——防呆，改治具让装反就装不进去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场景4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阳极氧化色差只知“最近变多”——层别法，按槽按班切开数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计分规则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每题答对加2分，计入结业团队任务总分，答错不扣分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75564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阿芳画了20根刺的鱼骨图，为啥还没破案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57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电镀班长阿芳，活塞杆麻点不良3.2%，鱼骨图画满20根刺，两周零进展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刺越多越显认真吗？20条原因摆在桌上，下一步你先干哪件事？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20条全面整改撒胡椒面：人力摊薄、责任糊掉，没一条做透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忍痛砍到2条最可疑的，先去现场验证，证实一条再打一条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二八法则：八成不良出自两成原因；鱼骨图是筛子，不是装原因的筐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一张地图带回家：从发现问题到固化成果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总结运用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58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全套兵器串成线</a:t>
            </a:r>
          </a:p>
        </p:txBody>
      </p:sp>
      <p:sp>
        <p:nvSpPr>
          <p:cNvPr id="11" name="Chevron 10"/>
          <p:cNvSpPr/>
          <p:nvPr/>
        </p:nvSpPr>
        <p:spPr>
          <a:xfrm>
            <a:off x="777240" y="2354580"/>
            <a:ext cx="1813560" cy="960120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问题雷达</a:t>
            </a:r>
          </a:p>
        </p:txBody>
      </p:sp>
      <p:sp>
        <p:nvSpPr>
          <p:cNvPr id="12" name="Chevron 11"/>
          <p:cNvSpPr/>
          <p:nvPr/>
        </p:nvSpPr>
        <p:spPr>
          <a:xfrm>
            <a:off x="2316480" y="2354580"/>
            <a:ext cx="1813560" cy="960120"/>
          </a:xfrm>
          <a:prstGeom prst="chevron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5W2H</a:t>
            </a:r>
          </a:p>
        </p:txBody>
      </p:sp>
      <p:sp>
        <p:nvSpPr>
          <p:cNvPr id="13" name="Chevron 12"/>
          <p:cNvSpPr/>
          <p:nvPr/>
        </p:nvSpPr>
        <p:spPr>
          <a:xfrm>
            <a:off x="3855720" y="2354580"/>
            <a:ext cx="1813560" cy="960120"/>
          </a:xfrm>
          <a:prstGeom prst="chevron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鱼骨+5Why</a:t>
            </a:r>
          </a:p>
        </p:txBody>
      </p:sp>
      <p:sp>
        <p:nvSpPr>
          <p:cNvPr id="14" name="Chevron 13"/>
          <p:cNvSpPr/>
          <p:nvPr/>
        </p:nvSpPr>
        <p:spPr>
          <a:xfrm>
            <a:off x="5394959" y="2354580"/>
            <a:ext cx="1813560" cy="960120"/>
          </a:xfrm>
          <a:prstGeom prst="chevron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5" name="Chevron 14"/>
          <p:cNvSpPr/>
          <p:nvPr/>
        </p:nvSpPr>
        <p:spPr>
          <a:xfrm>
            <a:off x="6934200" y="2354580"/>
            <a:ext cx="1813560" cy="960120"/>
          </a:xfrm>
          <a:prstGeom prst="chevron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PDCA</a:t>
            </a:r>
          </a:p>
        </p:txBody>
      </p:sp>
      <p:sp>
        <p:nvSpPr>
          <p:cNvPr id="16" name="Chevron 15"/>
          <p:cNvSpPr/>
          <p:nvPr/>
        </p:nvSpPr>
        <p:spPr>
          <a:xfrm>
            <a:off x="8473440" y="2354580"/>
            <a:ext cx="1813560" cy="960120"/>
          </a:xfrm>
          <a:prstGeom prst="chevron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全流程六步图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发现→描述→找因→对策→执行→固化，一条线走到底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每步标配工具加讲义页码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找因翻P22鱼骨、P25五Why，回去随手能查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压箱话一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靠数据，别说“感觉好多了”，开口先报前后两个数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压箱话二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去现场，先摸机器后开口，坐在办公室里破不了案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压箱话三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防呆优先，“加强培训”只能排在对策清单的最后一位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明天就动手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挑上午P6盘点出的那个老大难，照着地图走第一步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结业大考：MA缸装配线不良率翻倍案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5303" y="347472"/>
            <a:ext cx="267919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结业检验·团队任务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59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案情1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MA25气缸装配线不良率三周内从1.1%升到2.8%，漏气和卡滞占八成，客户投诉两起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案情2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同期三件事撞在一起：4名新员工上岗、密封圈换了新供应商、月底赶货两班连转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案情3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组长小何开了两轮会，大家都咬定“新人手潮”，补训一轮后不良率纹丝不动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每组发分层数据表（按班次、工位、人员、缸径）和现场照片，内埋干扰信息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任务与分组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沿用全天原小组，限时40分钟，用全套工具走完发现到固化全流程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产出与汇报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每组交一页A3并上台汇报5分钟，讲师评分70%加组间互评30%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1344" y="4937760"/>
            <a:ext cx="82296" cy="1005840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45936" y="5257800"/>
            <a:ext cx="365760" cy="365760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2809C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描述清楚、原因有据、对策可行、固化到位各25分，快问快答积分另计入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9FB6CC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别让今天的笔记，躺在抽屉里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1737360" cy="1371600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个收获写下来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148840"/>
            <a:ext cx="1737360" cy="1371600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286000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个应用下周试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148840"/>
            <a:ext cx="1737360" cy="1371600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286000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个行动明早做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51560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现在就填行动承诺卡：写下回去要破的一个真问题，具体到工位或件号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承诺三要素 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问题是什么、第一步动作是什么、哪天完成，缺一张卡作废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示范 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MA20漏气1.9%；下周一先按机台分层数数；7月31日前出一页A3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两两结对互为监督人，交换电话，三周后互催进度、互看对方的A3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结束语 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问题不可怕，不解决问题才可怕；班组长的本事，是让问题只来一次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46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9FB6CC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回去交作业：用真功夫破你班组的真案子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61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两课合一份作业：《个体群体行为分析》加《问题分析与解决》共同完成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353415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88336"/>
            <a:ext cx="271119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第一部分25分：印象最深的一个理论、工具或模型，写清它为什么戳中你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2524" y="2615184"/>
            <a:ext cx="353415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252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5711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0892" y="2688336"/>
            <a:ext cx="271119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第二部分35分：一个亲身管理案例，写明背景、数据和你当下的核心问题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76472"/>
            <a:ext cx="353415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849624"/>
            <a:ext cx="271119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第三部分40分：用课上所学动手解决的过程与结果，务必附前后数据对比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2524" y="3776472"/>
            <a:ext cx="353415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252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5711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0892" y="3858768"/>
            <a:ext cx="271119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0892" y="4197096"/>
            <a:ext cx="27111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1至2页A4或5页以内PPT，手写拍照也收，数据和逻辑比排版重要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937760"/>
            <a:ext cx="353415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" y="5020056"/>
            <a:ext cx="271119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时限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5358384"/>
            <a:ext cx="27111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3周内交直属上级或HR培训组，优秀作业将在月度班组长例会展示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615184"/>
            <a:ext cx="3657600" cy="3703320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2743200"/>
            <a:ext cx="32552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评分结构(共100分)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02752" y="3360420"/>
            <a:ext cx="1243584" cy="77724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529583"/>
            <a:ext cx="92354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3547871"/>
            <a:ext cx="16733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理论工具/模型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4297679"/>
            <a:ext cx="1320393" cy="77724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4466843"/>
            <a:ext cx="100035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7737" y="4485131"/>
            <a:ext cx="159654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案例+核心问题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02752" y="5234940"/>
            <a:ext cx="1358798" cy="77724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5404103"/>
            <a:ext cx="103875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6142" y="5422392"/>
            <a:ext cx="155813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动手解决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