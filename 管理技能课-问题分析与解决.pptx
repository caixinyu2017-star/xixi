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3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56"/>
  </p:handout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  <p:sldId id="264" r:id="rIdSL9"/>
    <p:sldId id="265" r:id="rIdSL10"/>
    <p:sldId id="266" r:id="rIdSL11"/>
    <p:sldId id="267" r:id="rIdSL12"/>
    <p:sldId id="268" r:id="rIdSL13"/>
    <p:sldId id="269" r:id="rIdSL14"/>
    <p:sldId id="270" r:id="rIdSL15"/>
    <p:sldId id="271" r:id="rIdSL16"/>
    <p:sldId id="272" r:id="rIdSL17"/>
    <p:sldId id="273" r:id="rIdSL18"/>
    <p:sldId id="274" r:id="rIdSL19"/>
    <p:sldId id="275" r:id="rIdSL20"/>
    <p:sldId id="276" r:id="rIdSL21"/>
    <p:sldId id="277" r:id="rIdSL22"/>
    <p:sldId id="278" r:id="rIdSL23"/>
    <p:sldId id="279" r:id="rIdSL24"/>
    <p:sldId id="280" r:id="rIdSL25"/>
    <p:sldId id="281" r:id="rIdSL26"/>
    <p:sldId id="282" r:id="rIdSL27"/>
    <p:sldId id="283" r:id="rIdSL28"/>
    <p:sldId id="284" r:id="rIdSL29"/>
    <p:sldId id="285" r:id="rIdSL30"/>
    <p:sldId id="286" r:id="rIdSL31"/>
    <p:sldId id="287" r:id="rIdSL32"/>
    <p:sldId id="288" r:id="rIdSL33"/>
    <p:sldId id="289" r:id="rIdSL34"/>
    <p:sldId id="290" r:id="rIdSL35"/>
    <p:sldId id="291" r:id="rIdSL36"/>
    <p:sldId id="292" r:id="rIdSL37"/>
    <p:sldId id="293" r:id="rIdSL38"/>
    <p:sldId id="294" r:id="rIdSL39"/>
    <p:sldId id="295" r:id="rIdSL40"/>
    <p:sldId id="296" r:id="rIdSL41"/>
    <p:sldId id="297" r:id="rIdSL42"/>
    <p:sldId id="298" r:id="rIdSL43"/>
    <p:sldId id="299" r:id="rIdSL44"/>
    <p:sldId id="300" r:id="rIdSL45"/>
    <p:sldId id="301" r:id="rIdSL46"/>
    <p:sldId id="302" r:id="rIdSL47"/>
    <p:sldId id="303" r:id="rIdSL48"/>
    <p:sldId id="304" r:id="rIdSL49"/>
    <p:sldId id="305" r:id="rIdSL50"/>
    <p:sldId id="306" r:id="rIdSL51"/>
    <p:sldId id="307" r:id="rIdSL52"/>
    <p:sldId id="308" r:id="rIdSL53"/>
    <p:sldId id="309" r:id="rIdSL54"/>
    <p:sldId id="310" r:id="rIdSL55"/>
    <p:sldId id="311" r:id="rIdSL56"/>
    <p:sldId id="312" r:id="rIdSL57"/>
    <p:sldId id="313" r:id="rIdSL58"/>
    <p:sldId id="314" r:id="rIdSL59"/>
    <p:sldId id="315" r:id="rIdSL60"/>
  </p:sldIdLst>
  <p:sldSz cx="12192000" cy="6858000"/>
  <p:notesSz cx="6858000" cy="9144000"/>
  <p:custDataLst>
    <p:tags r:id="rId6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5148"/>
    <a:srgbClr val="D66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1" autoAdjust="0"/>
    <p:restoredTop sz="93909" autoAdjust="0"/>
  </p:normalViewPr>
  <p:slideViewPr>
    <p:cSldViewPr snapToGrid="0">
      <p:cViewPr varScale="1">
        <p:scale>
          <a:sx n="83" d="100"/>
          <a:sy n="83" d="100"/>
        </p:scale>
        <p:origin x="252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3" d="100"/>
        <a:sy n="1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gs" Target="tags/tag33.xml"/><Relationship Id="rId6" Type="http://schemas.openxmlformats.org/officeDocument/2006/relationships/slide" Target="slides/slide2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Relationship Id="rIdSL17" Type="http://schemas.openxmlformats.org/officeDocument/2006/relationships/slide" Target="slides/slide17.xml"/><Relationship Id="rIdSL18" Type="http://schemas.openxmlformats.org/officeDocument/2006/relationships/slide" Target="slides/slide18.xml"/><Relationship Id="rIdSL19" Type="http://schemas.openxmlformats.org/officeDocument/2006/relationships/slide" Target="slides/slide19.xml"/><Relationship Id="rIdSL20" Type="http://schemas.openxmlformats.org/officeDocument/2006/relationships/slide" Target="slides/slide20.xml"/><Relationship Id="rIdSL21" Type="http://schemas.openxmlformats.org/officeDocument/2006/relationships/slide" Target="slides/slide21.xml"/><Relationship Id="rIdSL22" Type="http://schemas.openxmlformats.org/officeDocument/2006/relationships/slide" Target="slides/slide22.xml"/><Relationship Id="rIdSL23" Type="http://schemas.openxmlformats.org/officeDocument/2006/relationships/slide" Target="slides/slide23.xml"/><Relationship Id="rIdSL24" Type="http://schemas.openxmlformats.org/officeDocument/2006/relationships/slide" Target="slides/slide24.xml"/><Relationship Id="rIdSL25" Type="http://schemas.openxmlformats.org/officeDocument/2006/relationships/slide" Target="slides/slide25.xml"/><Relationship Id="rIdSL26" Type="http://schemas.openxmlformats.org/officeDocument/2006/relationships/slide" Target="slides/slide26.xml"/><Relationship Id="rIdSL27" Type="http://schemas.openxmlformats.org/officeDocument/2006/relationships/slide" Target="slides/slide27.xml"/><Relationship Id="rIdSL28" Type="http://schemas.openxmlformats.org/officeDocument/2006/relationships/slide" Target="slides/slide28.xml"/><Relationship Id="rIdSL29" Type="http://schemas.openxmlformats.org/officeDocument/2006/relationships/slide" Target="slides/slide29.xml"/><Relationship Id="rIdSL30" Type="http://schemas.openxmlformats.org/officeDocument/2006/relationships/slide" Target="slides/slide30.xml"/><Relationship Id="rIdSL31" Type="http://schemas.openxmlformats.org/officeDocument/2006/relationships/slide" Target="slides/slide31.xml"/><Relationship Id="rIdSL32" Type="http://schemas.openxmlformats.org/officeDocument/2006/relationships/slide" Target="slides/slide32.xml"/><Relationship Id="rIdSL33" Type="http://schemas.openxmlformats.org/officeDocument/2006/relationships/slide" Target="slides/slide33.xml"/><Relationship Id="rIdSL34" Type="http://schemas.openxmlformats.org/officeDocument/2006/relationships/slide" Target="slides/slide34.xml"/><Relationship Id="rIdSL35" Type="http://schemas.openxmlformats.org/officeDocument/2006/relationships/slide" Target="slides/slide35.xml"/><Relationship Id="rIdSL36" Type="http://schemas.openxmlformats.org/officeDocument/2006/relationships/slide" Target="slides/slide36.xml"/><Relationship Id="rIdSL37" Type="http://schemas.openxmlformats.org/officeDocument/2006/relationships/slide" Target="slides/slide37.xml"/><Relationship Id="rIdSL38" Type="http://schemas.openxmlformats.org/officeDocument/2006/relationships/slide" Target="slides/slide38.xml"/><Relationship Id="rIdSL39" Type="http://schemas.openxmlformats.org/officeDocument/2006/relationships/slide" Target="slides/slide39.xml"/><Relationship Id="rIdSL40" Type="http://schemas.openxmlformats.org/officeDocument/2006/relationships/slide" Target="slides/slide40.xml"/><Relationship Id="rIdSL41" Type="http://schemas.openxmlformats.org/officeDocument/2006/relationships/slide" Target="slides/slide41.xml"/><Relationship Id="rIdSL42" Type="http://schemas.openxmlformats.org/officeDocument/2006/relationships/slide" Target="slides/slide42.xml"/><Relationship Id="rIdSL43" Type="http://schemas.openxmlformats.org/officeDocument/2006/relationships/slide" Target="slides/slide43.xml"/><Relationship Id="rIdSL44" Type="http://schemas.openxmlformats.org/officeDocument/2006/relationships/slide" Target="slides/slide44.xml"/><Relationship Id="rIdSL45" Type="http://schemas.openxmlformats.org/officeDocument/2006/relationships/slide" Target="slides/slide45.xml"/><Relationship Id="rIdSL46" Type="http://schemas.openxmlformats.org/officeDocument/2006/relationships/slide" Target="slides/slide46.xml"/><Relationship Id="rIdSL47" Type="http://schemas.openxmlformats.org/officeDocument/2006/relationships/slide" Target="slides/slide47.xml"/><Relationship Id="rIdSL48" Type="http://schemas.openxmlformats.org/officeDocument/2006/relationships/slide" Target="slides/slide48.xml"/><Relationship Id="rIdSL49" Type="http://schemas.openxmlformats.org/officeDocument/2006/relationships/slide" Target="slides/slide49.xml"/><Relationship Id="rIdSL50" Type="http://schemas.openxmlformats.org/officeDocument/2006/relationships/slide" Target="slides/slide50.xml"/><Relationship Id="rIdSL51" Type="http://schemas.openxmlformats.org/officeDocument/2006/relationships/slide" Target="slides/slide51.xml"/><Relationship Id="rIdSL52" Type="http://schemas.openxmlformats.org/officeDocument/2006/relationships/slide" Target="slides/slide52.xml"/><Relationship Id="rIdSL53" Type="http://schemas.openxmlformats.org/officeDocument/2006/relationships/slide" Target="slides/slide53.xml"/><Relationship Id="rIdSL54" Type="http://schemas.openxmlformats.org/officeDocument/2006/relationships/slide" Target="slides/slide54.xml"/><Relationship Id="rIdSL55" Type="http://schemas.openxmlformats.org/officeDocument/2006/relationships/slide" Target="slides/slide55.xml"/><Relationship Id="rIdSL56" Type="http://schemas.openxmlformats.org/officeDocument/2006/relationships/slide" Target="slides/slide56.xml"/><Relationship Id="rIdSL57" Type="http://schemas.openxmlformats.org/officeDocument/2006/relationships/slide" Target="slides/slide57.xml"/><Relationship Id="rIdSL58" Type="http://schemas.openxmlformats.org/officeDocument/2006/relationships/slide" Target="slides/slide58.xml"/><Relationship Id="rIdSL59" Type="http://schemas.openxmlformats.org/officeDocument/2006/relationships/slide" Target="slides/slide59.xml"/><Relationship Id="rIdSL60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错在第一步就把“对策”写成了“问题”。一旦问题被写成“需要增加全检”，</a:t>
            </a:r>
          </a:p>
          <a:p>
            <a:r>
              <a:rPr lang="zh-CN" altLang="en-US" sz="1200" dirty="0"/>
              <a:t>所有讨论就只剩下“怎么检”，再也没有人去问“为什么会不良”。</a:t>
            </a:r>
          </a:p>
          <a:p>
            <a:r>
              <a:rPr lang="zh-CN" altLang="en-US" sz="1200" dirty="0"/>
              <a:t>正确的第一步是把它写成可查的差距：“某产品密封不良，近两周 X 件，占比 Y%，标准 ≤Z%”。</a:t>
            </a:r>
          </a:p>
          <a:p>
            <a:r>
              <a:rPr lang="zh-CN" altLang="en-US" sz="1200" dirty="0"/>
              <a:t>反常识的一点：增加检验从来不是对策，它是把问题留在原地并为它付一笔长期的钱；</a:t>
            </a:r>
          </a:p>
          <a:p>
            <a:r>
              <a:rPr lang="zh-CN" altLang="en-US" sz="1200" dirty="0"/>
              <a:t>检验只减少流出，不减少发生——真正的对策必须让不良不发生。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问题不在执行，在选题：11 项平均用力，等于没有重点，而人的注意力是有限资源。</a:t>
            </a:r>
          </a:p>
          <a:p>
            <a:r>
              <a:rPr lang="zh-CN" altLang="en-US" sz="1200" dirty="0"/>
              <a:t>正确做法是先用柏拉图排序，只取累计占比 70%~80% 的前 2~3 项立项，其余全部挂起。</a:t>
            </a:r>
          </a:p>
          <a:p>
            <a:r>
              <a:rPr lang="zh-CN" altLang="en-US" sz="1200" dirty="0"/>
              <a:t>挂起不是放弃，是明确写上“本季度不做”——写出来，大家才不会假装在做。</a:t>
            </a:r>
          </a:p>
          <a:p>
            <a:r>
              <a:rPr lang="zh-CN" altLang="en-US" sz="1200" dirty="0"/>
              <a:t>反常识的一点：改善项目的数量和改善效果是负相关的；</a:t>
            </a:r>
          </a:p>
          <a:p>
            <a:r>
              <a:rPr lang="zh-CN" altLang="en-US" sz="1200" dirty="0"/>
              <a:t>一个季度只做透一件事的班组，一年后的水平通常远高于每季度做十件的班组。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收紧总指标救不了这个问题：只要还是看平均值，3 号机就仍然会被藏起来。</a:t>
            </a:r>
          </a:p>
          <a:p>
            <a:r>
              <a:rPr lang="zh-CN" altLang="en-US" sz="1200" dirty="0"/>
              <a:t>正确做法是把管控指标从“班组综合值”改成“单台最差值”——</a:t>
            </a:r>
          </a:p>
          <a:p>
            <a:r>
              <a:rPr lang="zh-CN" altLang="en-US" sz="1200" dirty="0"/>
              <a:t>任何一台机超过管控线就报警，而不是等综合值超线。</a:t>
            </a:r>
          </a:p>
          <a:p>
            <a:r>
              <a:rPr lang="zh-CN" altLang="en-US" sz="1200" dirty="0"/>
              <a:t>反常识的一点：综合指标越漂亮，越可能掩盖局部的严重恶化；</a:t>
            </a:r>
          </a:p>
          <a:p>
            <a:r>
              <a:rPr lang="zh-CN" altLang="en-US" sz="1200" dirty="0"/>
              <a:t>看板上真正该挂的不是平均值，而是分布——最好的那台和最差的那台各是多少。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凡是问到“责任心、态度、不认真”就停下的，都不是分析结束，是分析放弃了。</a:t>
            </a:r>
          </a:p>
          <a:p>
            <a:r>
              <a:rPr lang="zh-CN" altLang="en-US" sz="1200" dirty="0"/>
              <a:t>规则很简单：5Why 的答案里一旦出现人的态度，必须再问一句</a:t>
            </a:r>
          </a:p>
          <a:p>
            <a:r>
              <a:rPr lang="zh-CN" altLang="en-US" sz="1200" dirty="0"/>
              <a:t>“为什么这个岗位容易让人犯这个错”——把矛头从人转回系统，就能继续往下走。</a:t>
            </a:r>
          </a:p>
          <a:p>
            <a:r>
              <a:rPr lang="zh-CN" altLang="en-US" sz="1200" dirty="0"/>
              <a:t>这个案例的真因是两种相似零件无区分标识，对策是颜色区分＋料盒防错，成本几十元。</a:t>
            </a:r>
          </a:p>
          <a:p>
            <a:r>
              <a:rPr lang="zh-CN" altLang="en-US" sz="1200" dirty="0"/>
              <a:t>反常识的一点：越是看起来像“人的问题”，越可能是设计出来的问题。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相关不等于因果：刀具磨损与尺寸偏差确实相关，但它是被夹具凹坑放大的中间变量。</a:t>
            </a:r>
          </a:p>
          <a:p>
            <a:r>
              <a:rPr lang="zh-CN" altLang="en-US" sz="1200" dirty="0"/>
              <a:t>判定真因要过“能消除”这一关——换新刀后问题只减轻、不消失，就说明它不是唯一源头。</a:t>
            </a:r>
          </a:p>
          <a:p>
            <a:r>
              <a:rPr lang="zh-CN" altLang="en-US" sz="1200" dirty="0"/>
              <a:t>反常识的一点：老师傅说不出理由的直觉，往往是几百次经验压缩成的结论；</a:t>
            </a:r>
          </a:p>
          <a:p>
            <a:r>
              <a:rPr lang="zh-CN" altLang="en-US" sz="1200" dirty="0"/>
              <a:t>正确做法不是采信或否定，而是把它变成一个可验证的假设去测。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五条对策全部落在“强调”和“检查”两层，没有一条改变了物理条件，</a:t>
            </a:r>
          </a:p>
          <a:p>
            <a:r>
              <a:rPr lang="zh-CN" altLang="en-US" sz="1200" dirty="0"/>
              <a:t>所以它们的有效期等于推动力的持续时间——推动力一衰减，问题必然回来。</a:t>
            </a:r>
          </a:p>
          <a:p>
            <a:r>
              <a:rPr lang="zh-CN" altLang="en-US" sz="1200" dirty="0"/>
              <a:t>主任那个问题是检验对策层次的最好标准：一个不知情的新人还会不会犯这个错？</a:t>
            </a:r>
          </a:p>
          <a:p>
            <a:r>
              <a:rPr lang="zh-CN" altLang="en-US" sz="1200" dirty="0"/>
              <a:t>会 → 说明你改的是人，不是系统；不会 → 说明对策进入了防错层。</a:t>
            </a:r>
          </a:p>
          <a:p>
            <a:r>
              <a:rPr lang="zh-CN" altLang="en-US" sz="1200" dirty="0"/>
              <a:t>这个案例真正该做的是：相似零件颜色区分＋料盒防错，成本几十元，永久有效。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 userDrawn="1"/>
        </p:nvGrpSpPr>
        <p:grpSpPr>
          <a:xfrm>
            <a:off x="-1" y="0"/>
            <a:ext cx="12195175" cy="6858000"/>
            <a:chOff x="-1" y="0"/>
            <a:chExt cx="12195175" cy="6858000"/>
          </a:xfrm>
        </p:grpSpPr>
        <p:sp>
          <p:nvSpPr>
            <p:cNvPr id="22" name="Freeform: Shape 21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14" name="Freeform: Shape 13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: Shape 14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: Shape 15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0" name="Freeform: Shape 29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: Shape 28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32" name="Freeform: Shape 31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 userDrawn="1">
            <p:ph type="ctrTitle" hasCustomPrompt="1"/>
          </p:nvPr>
        </p:nvSpPr>
        <p:spPr>
          <a:xfrm>
            <a:off x="660400" y="1089026"/>
            <a:ext cx="5819774" cy="271600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 userDrawn="1">
            <p:ph type="subTitle" sz="quarter" idx="1" hasCustomPrompt="1"/>
          </p:nvPr>
        </p:nvSpPr>
        <p:spPr>
          <a:xfrm>
            <a:off x="660400" y="3970410"/>
            <a:ext cx="3441700" cy="706106"/>
          </a:xfrm>
          <a:prstGeom prst="round2DiagRect">
            <a:avLst>
              <a:gd name="adj1" fmla="val 0"/>
              <a:gd name="adj2" fmla="val 41007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8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0400" y="5032395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0399" y="5372121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t="-18520" b="-92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6" name="Group 5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Freeform: Shape 8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-3175" y="0"/>
            <a:ext cx="12195175" cy="6858000"/>
            <a:chOff x="-1" y="0"/>
            <a:chExt cx="12195175" cy="6858000"/>
          </a:xfrm>
        </p:grpSpPr>
        <p:sp>
          <p:nvSpPr>
            <p:cNvPr id="3" name="Freeform: Shape 2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Group 6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12" name="Freeform: Shape 11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: Shape 12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: Shape 13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9" name="Freeform: Shape 8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Freeform: Shape 9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146801" y="2147327"/>
            <a:ext cx="5372098" cy="110499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146801" y="3264170"/>
            <a:ext cx="5372098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3B38-FCD2-4D0A-90BC-740ACC7729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1" y="0"/>
            <a:ext cx="12195175" cy="6858000"/>
            <a:chOff x="-1" y="0"/>
            <a:chExt cx="12195175" cy="6858000"/>
          </a:xfrm>
        </p:grpSpPr>
        <p:sp>
          <p:nvSpPr>
            <p:cNvPr id="15" name="Freeform: Shape 14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6" name="Group 15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20" name="Freeform: Shape 19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" name="Freeform: Shape 16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Freeform: Shape 17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9" name="Freeform: Shape 18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2" y="1089025"/>
            <a:ext cx="5516056" cy="363420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72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180447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91976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B41BC-062A-4A37-98A7-A4093DA809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B6D7-9E7A-4D93-8915-FE4BCCB2A5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2DB480-9CDF-4800-882C-FE5483CB238B}" type="datetimeFigureOut">
              <a:rPr kumimoji="1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</a:fld>
            <a:endParaRPr kumimoji="1" lang="zh-CN" altLang="en-US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1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B71EDC-3402-4FF9-9F3C-2A94A9876D12}" type="slidenum">
              <a:rPr kumimoji="1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</a:fld>
            <a:endParaRPr kumimoji="1" lang="zh-CN" alt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Administrator/Desktop/微信图片_20250109153514.jpg微信图片_20250109153514"/>
          <p:cNvPicPr>
            <a:picLocks noChangeAspect="1"/>
          </p:cNvPicPr>
          <p:nvPr userDrawn="1"/>
        </p:nvPicPr>
        <p:blipFill rotWithShape="1">
          <a:blip r:embed="rId2"/>
          <a:srcRect l="-4212" t="10" r="26035" b="32602"/>
          <a:stretch>
            <a:fillRect/>
          </a:stretch>
        </p:blipFill>
        <p:spPr>
          <a:xfrm>
            <a:off x="7190105" y="1392555"/>
            <a:ext cx="5005070" cy="3354705"/>
          </a:xfrm>
          <a:prstGeom prst="rect">
            <a:avLst/>
          </a:prstGeom>
        </p:spPr>
      </p:pic>
      <p:sp>
        <p:nvSpPr>
          <p:cNvPr id="8" name="平行四边形 7"/>
          <p:cNvSpPr/>
          <p:nvPr userDrawn="1"/>
        </p:nvSpPr>
        <p:spPr>
          <a:xfrm>
            <a:off x="1043940" y="552448"/>
            <a:ext cx="9098280" cy="4876800"/>
          </a:xfrm>
          <a:prstGeom prst="parallelogram">
            <a:avLst>
              <a:gd name="adj" fmla="val 556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-7620" y="1390650"/>
            <a:ext cx="9601200" cy="3611880"/>
          </a:xfrm>
          <a:custGeom>
            <a:avLst/>
            <a:gdLst>
              <a:gd name="connsiteX0" fmla="*/ 0 w 9601200"/>
              <a:gd name="connsiteY0" fmla="*/ 0 h 3611880"/>
              <a:gd name="connsiteX1" fmla="*/ 9601200 w 9601200"/>
              <a:gd name="connsiteY1" fmla="*/ 0 h 3611880"/>
              <a:gd name="connsiteX2" fmla="*/ 7590177 w 9601200"/>
              <a:gd name="connsiteY2" fmla="*/ 3611880 h 3611880"/>
              <a:gd name="connsiteX3" fmla="*/ 0 w 9601200"/>
              <a:gd name="connsiteY3" fmla="*/ 3611880 h 361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01200" h="3611880">
                <a:moveTo>
                  <a:pt x="0" y="0"/>
                </a:moveTo>
                <a:lnTo>
                  <a:pt x="9601200" y="0"/>
                </a:lnTo>
                <a:lnTo>
                  <a:pt x="7590177" y="3611880"/>
                </a:lnTo>
                <a:lnTo>
                  <a:pt x="0" y="36118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7658100" y="4804410"/>
            <a:ext cx="4526280" cy="198120"/>
          </a:xfrm>
          <a:custGeom>
            <a:avLst/>
            <a:gdLst>
              <a:gd name="connsiteX0" fmla="*/ 114301 w 4526280"/>
              <a:gd name="connsiteY0" fmla="*/ 0 h 198120"/>
              <a:gd name="connsiteX1" fmla="*/ 4526280 w 4526280"/>
              <a:gd name="connsiteY1" fmla="*/ 0 h 198120"/>
              <a:gd name="connsiteX2" fmla="*/ 4526280 w 4526280"/>
              <a:gd name="connsiteY2" fmla="*/ 198120 h 198120"/>
              <a:gd name="connsiteX3" fmla="*/ 0 w 4526280"/>
              <a:gd name="connsiteY3" fmla="*/ 19812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6280" h="198120">
                <a:moveTo>
                  <a:pt x="114301" y="0"/>
                </a:moveTo>
                <a:lnTo>
                  <a:pt x="4526280" y="0"/>
                </a:lnTo>
                <a:lnTo>
                  <a:pt x="4526280" y="198120"/>
                </a:lnTo>
                <a:lnTo>
                  <a:pt x="0" y="1981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212080" y="1306830"/>
            <a:ext cx="6983095" cy="50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85600" y="274645"/>
            <a:ext cx="36576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274645"/>
            <a:ext cx="107696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5_rIdImg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13_rIdImg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05840" y="1133856"/>
            <a:ext cx="10177272" cy="1517904"/>
          </a:xfrm>
          <a:prstGeom prst="roundRect">
            <a:avLst>
              <a:gd name="adj" fmla="val 8000"/>
            </a:avLst>
          </a:prstGeom>
          <a:noFill/>
          <a:ln w="31750" cap="flat" cmpd="sng" algn="ctr">
            <a:solidFill>
              <a:srgbClr val="F5D349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" name="CoverTitle 3"/>
          <p:cNvSpPr/>
          <p:nvPr/>
        </p:nvSpPr>
        <p:spPr>
          <a:xfrm>
            <a:off x="1188720" y="1225296"/>
            <a:ext cx="9811512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44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sp>
        <p:nvSpPr>
          <p:cNvPr id="4" name="CoverSub 4"/>
          <p:cNvSpPr/>
          <p:nvPr/>
        </p:nvSpPr>
        <p:spPr>
          <a:xfrm>
            <a:off x="1188720" y="2084832"/>
            <a:ext cx="981151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 80% 的返工，是因为一开始就问错了问题</a:t>
            </a:r>
          </a:p>
        </p:txBody>
      </p:sp>
      <p:sp>
        <p:nvSpPr>
          <p:cNvPr id="5" name="Shape 5"/>
          <p:cNvSpPr/>
          <p:nvPr/>
        </p:nvSpPr>
        <p:spPr>
          <a:xfrm>
            <a:off x="1005840" y="2944368"/>
            <a:ext cx="2352294" cy="170078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6" name="CovHead 6"/>
          <p:cNvSpPr/>
          <p:nvPr/>
        </p:nvSpPr>
        <p:spPr>
          <a:xfrm>
            <a:off x="1005840" y="2944368"/>
            <a:ext cx="2352294" cy="42062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界定问题</a:t>
            </a:r>
          </a:p>
        </p:txBody>
      </p:sp>
      <p:sp>
        <p:nvSpPr>
          <p:cNvPr id="7" name="CovBody 7"/>
          <p:cNvSpPr/>
          <p:nvPr/>
        </p:nvSpPr>
        <p:spPr>
          <a:xfrm>
            <a:off x="1078992" y="3383280"/>
            <a:ext cx="220599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把“不良率高”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变成一个能查的问题</a:t>
            </a:r>
          </a:p>
        </p:txBody>
      </p:sp>
      <p:sp>
        <p:nvSpPr>
          <p:cNvPr id="8" name="Shape 8"/>
          <p:cNvSpPr/>
          <p:nvPr/>
        </p:nvSpPr>
        <p:spPr>
          <a:xfrm>
            <a:off x="3614166" y="2944368"/>
            <a:ext cx="2352294" cy="170078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9" name="CovHead 9"/>
          <p:cNvSpPr/>
          <p:nvPr/>
        </p:nvSpPr>
        <p:spPr>
          <a:xfrm>
            <a:off x="3614166" y="2944368"/>
            <a:ext cx="2352294" cy="42062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分析真因</a:t>
            </a:r>
          </a:p>
        </p:txBody>
      </p:sp>
      <p:sp>
        <p:nvSpPr>
          <p:cNvPr id="10" name="CovBody 10"/>
          <p:cNvSpPr/>
          <p:nvPr/>
        </p:nvSpPr>
        <p:spPr>
          <a:xfrm>
            <a:off x="3687318" y="3383280"/>
            <a:ext cx="220599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不是问五次是每一次都要能验证</a:t>
            </a:r>
          </a:p>
        </p:txBody>
      </p:sp>
      <p:sp>
        <p:nvSpPr>
          <p:cNvPr id="11" name="Shape 11"/>
          <p:cNvSpPr/>
          <p:nvPr/>
        </p:nvSpPr>
        <p:spPr>
          <a:xfrm>
            <a:off x="6222492" y="2944368"/>
            <a:ext cx="2352294" cy="170078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2" name="CovHead 12"/>
          <p:cNvSpPr/>
          <p:nvPr/>
        </p:nvSpPr>
        <p:spPr>
          <a:xfrm>
            <a:off x="6222492" y="2944368"/>
            <a:ext cx="2352294" cy="42062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制定对策</a:t>
            </a:r>
          </a:p>
        </p:txBody>
      </p:sp>
      <p:sp>
        <p:nvSpPr>
          <p:cNvPr id="13" name="CovBody 13"/>
          <p:cNvSpPr/>
          <p:nvPr/>
        </p:nvSpPr>
        <p:spPr>
          <a:xfrm>
            <a:off x="6295644" y="3383280"/>
            <a:ext cx="220599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好对策不靠自觉靠让错误做不出来</a:t>
            </a:r>
          </a:p>
        </p:txBody>
      </p:sp>
      <p:sp>
        <p:nvSpPr>
          <p:cNvPr id="14" name="Shape 14"/>
          <p:cNvSpPr/>
          <p:nvPr/>
        </p:nvSpPr>
        <p:spPr>
          <a:xfrm>
            <a:off x="8830818" y="2944368"/>
            <a:ext cx="2352294" cy="170078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ovHead 15"/>
          <p:cNvSpPr/>
          <p:nvPr/>
        </p:nvSpPr>
        <p:spPr>
          <a:xfrm>
            <a:off x="8830818" y="2944368"/>
            <a:ext cx="2352294" cy="42062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固化落地</a:t>
            </a:r>
          </a:p>
        </p:txBody>
      </p:sp>
      <p:sp>
        <p:nvSpPr>
          <p:cNvPr id="16" name="CovBody 16"/>
          <p:cNvSpPr/>
          <p:nvPr/>
        </p:nvSpPr>
        <p:spPr>
          <a:xfrm>
            <a:off x="8903970" y="3383280"/>
            <a:ext cx="220599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改善不反弹靠标准不靠热情</a:t>
            </a:r>
          </a:p>
        </p:txBody>
      </p:sp>
      <p:sp>
        <p:nvSpPr>
          <p:cNvPr id="17" name="CoverBy 17"/>
          <p:cNvSpPr/>
          <p:nvPr/>
        </p:nvSpPr>
        <p:spPr>
          <a:xfrm>
            <a:off x="1005840" y="4882896"/>
            <a:ext cx="101772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主讲：嘉兴大学商学院  蔡鑫宇（人才学博士、副教授、硕士生导师）</a:t>
            </a:r>
          </a:p>
        </p:txBody>
      </p:sp>
      <p:sp>
        <p:nvSpPr>
          <p:cNvPr id="18" name="CoverFoot 18"/>
          <p:cNvSpPr/>
          <p:nvPr/>
        </p:nvSpPr>
        <p:spPr>
          <a:xfrm>
            <a:off x="1005840" y="5413248"/>
            <a:ext cx="10177272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亚德客企业内训 ｜ 车间班组长 · 职能骨干　|　全日 6 小时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2"/>
          <p:cNvSpPr/>
          <p:nvPr/>
        </p:nvSpPr>
        <p:spPr>
          <a:xfrm>
            <a:off x="365760" y="38404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开场任务</a:t>
            </a:r>
          </a:p>
        </p:txBody>
      </p:sp>
      <p:sp>
        <p:nvSpPr>
          <p:cNvPr id="3" name="TTTitle 3"/>
          <p:cNvSpPr/>
          <p:nvPr/>
        </p:nvSpPr>
        <p:spPr>
          <a:xfrm>
            <a:off x="2340864" y="365760"/>
            <a:ext cx="9509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先说问题：你手上那个“反复解决、反复出现”的老问题是什么？</a:t>
            </a:r>
          </a:p>
        </p:txBody>
      </p:sp>
      <p:sp>
        <p:nvSpPr>
          <p:cNvPr id="4" name="Shape 4"/>
          <p:cNvSpPr/>
          <p:nvPr/>
        </p:nvSpPr>
        <p:spPr>
          <a:xfrm>
            <a:off x="365760" y="1060704"/>
            <a:ext cx="11475720" cy="96012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5" name="TTSitHead 5"/>
          <p:cNvSpPr/>
          <p:nvPr/>
        </p:nvSpPr>
        <p:spPr>
          <a:xfrm>
            <a:off x="365760" y="1060704"/>
            <a:ext cx="118872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  境</a:t>
            </a:r>
          </a:p>
        </p:txBody>
      </p:sp>
      <p:sp>
        <p:nvSpPr>
          <p:cNvPr id="6" name="TTSit 6"/>
          <p:cNvSpPr/>
          <p:nvPr/>
        </p:nvSpPr>
        <p:spPr>
          <a:xfrm>
            <a:off x="1682496" y="1097280"/>
            <a:ext cx="10049256" cy="8869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请每组用 8 分钟，各自说一件“已经改过至少两次、但过一段时间又回来”的现场问题。</a:t>
            </a:r>
          </a:p>
          <a:p>
            <a:pPr algn="l">
              <a:lnSpc>
                <a:spcPct val="106000"/>
              </a:lnSpc>
              <a:spcBef>
                <a:spcPts val="500"/>
              </a:spcBef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先只描述事实：什么时候发生、发生了几次、造成了什么后果。暂时不要说原因。</a:t>
            </a:r>
          </a:p>
        </p:txBody>
      </p:sp>
      <p:sp>
        <p:nvSpPr>
          <p:cNvPr id="7" name="Shape 7"/>
          <p:cNvSpPr/>
          <p:nvPr/>
        </p:nvSpPr>
        <p:spPr>
          <a:xfrm>
            <a:off x="365760" y="2185416"/>
            <a:ext cx="11475720" cy="4489704"/>
          </a:xfrm>
          <a:prstGeom prst="rect">
            <a:avLst/>
          </a:prstGeom>
          <a:solidFill>
            <a:srgbClr val="FFF7E8"/>
          </a:solidFill>
          <a:ln w="2222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8" name="TTHead 8"/>
          <p:cNvSpPr/>
          <p:nvPr/>
        </p:nvSpPr>
        <p:spPr>
          <a:xfrm>
            <a:off x="365760" y="2185416"/>
            <a:ext cx="11475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  队  任  务</a:t>
            </a:r>
          </a:p>
        </p:txBody>
      </p:sp>
      <p:sp>
        <p:nvSpPr>
          <p:cNvPr id="9" name="TTTasks 9"/>
          <p:cNvSpPr/>
          <p:nvPr/>
        </p:nvSpPr>
        <p:spPr>
          <a:xfrm>
            <a:off x="548640" y="2679192"/>
            <a:ext cx="11109960" cy="34838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这个问题是什么？用数据说：多少件、多少次、多少工时、多少钱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它第一次出现是什么时候？最近一次是什么时候？中间隔了多久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前两次你们是怎么改的？当时有效吗？多久之后又回来了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你现在认为的原因是什么？写在纸上——课程结束时我们再验一次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每组选 1 个最典型的，用 1 分钟讲给全班听</a:t>
            </a:r>
          </a:p>
        </p:txBody>
      </p:sp>
      <p:sp>
        <p:nvSpPr>
          <p:cNvPr id="10" name="TTScore 10"/>
          <p:cNvSpPr/>
          <p:nvPr/>
        </p:nvSpPr>
        <p:spPr>
          <a:xfrm>
            <a:off x="365760" y="6199632"/>
            <a:ext cx="1147572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产　出　</a:t>
            </a: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每组一张《老问题卡》，贴到墙上，全天课程围绕它展开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课程地图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解决问题的三个阶段，每个阶段都有人翻车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今天把三个阶段的坑一次讲透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10213848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10030968" cy="8321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最常见的翻车：把对策当问题、把原因当问题问题定义｜三类问题｜三现主义｜5W2H课题选定｜柏拉图｜目标设定｜查检与层别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3438144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1929384" y="3438144"/>
            <a:ext cx="10213848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19" name="CardBody 19"/>
          <p:cNvSpPr/>
          <p:nvPr/>
        </p:nvSpPr>
        <p:spPr>
          <a:xfrm>
            <a:off x="2020824" y="3822192"/>
            <a:ext cx="10030968" cy="8321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最常见的翻车：5Why 问到“员工不认真”就停了5Why 与陷阱｜鱼骨图 5M1E｜是/不是分析直方图｜散布图｜真因三条件｜现场再现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773168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773168"/>
            <a:ext cx="10213848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5157216"/>
            <a:ext cx="10030968" cy="8321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最常见的翻车：对策＝加人、加检查、加强调源流对策｜防错十原理｜对策评价矩阵SDCA 标准化｜水平展开｜A3 与 8D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6108192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75688" y="6108192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全天主线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不追求把问题分析得多漂亮，只追求这个问题以后不再回来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　界定问题：先问对问题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问题定义错了，后面所有的努力都是白费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212848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212848"/>
            <a:ext cx="1823314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有标准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615184"/>
            <a:ext cx="1731874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知道应该是什么样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74320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212848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212848"/>
            <a:ext cx="1823314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看现状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72738" y="2615184"/>
            <a:ext cx="1731874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实际是什么样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74320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212848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212848"/>
            <a:ext cx="1823314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测差距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0371" y="2615184"/>
            <a:ext cx="1731874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差多少用数据说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74320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212848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212848"/>
            <a:ext cx="1823314" cy="384048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定范围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68005" y="2615184"/>
            <a:ext cx="1731874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哪条线哪个班次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74320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212848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212848"/>
            <a:ext cx="1823314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定目标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65638" y="2615184"/>
            <a:ext cx="1731874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要改到什么程度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602736"/>
            <a:ext cx="4983480" cy="153619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602736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错误的问题描述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20824" y="3986784"/>
            <a:ext cx="4800600" cy="112471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“质量不好。”</a:t>
            </a:r>
          </a:p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“员工责任心差。”</a:t>
            </a:r>
          </a:p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“要加强巡检。”</a:t>
            </a:r>
          </a:p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——都没法查、没法验、没法结案。</a:t>
            </a:r>
          </a:p>
        </p:txBody>
      </p:sp>
      <p:sp>
        <p:nvSpPr>
          <p:cNvPr id="36" name="Shape 36"/>
          <p:cNvSpPr/>
          <p:nvPr/>
        </p:nvSpPr>
        <p:spPr>
          <a:xfrm>
            <a:off x="7159752" y="3602736"/>
            <a:ext cx="4983480" cy="153619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CardHead 37"/>
          <p:cNvSpPr/>
          <p:nvPr/>
        </p:nvSpPr>
        <p:spPr>
          <a:xfrm>
            <a:off x="7159752" y="3602736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正确的问题描述</a:t>
            </a:r>
          </a:p>
        </p:txBody>
      </p:sp>
      <p:sp>
        <p:nvSpPr>
          <p:cNvPr id="38" name="CardBody 38"/>
          <p:cNvSpPr/>
          <p:nvPr/>
        </p:nvSpPr>
        <p:spPr>
          <a:xfrm>
            <a:off x="7251192" y="3986784"/>
            <a:ext cx="4800600" cy="112471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“B 线 3 号机加工的 X 型阀体，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近两周内孔尺寸超差 42 件，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占本机总产出 1.8%，标准是 ≤0.5%。”</a:t>
            </a:r>
          </a:p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——可查、可验、可结案。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5212080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Banner 40"/>
          <p:cNvSpPr/>
          <p:nvPr/>
        </p:nvSpPr>
        <p:spPr>
          <a:xfrm>
            <a:off x="2075688" y="5212080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底层判断　</a:t>
            </a:r>
            <a:r>
              <a:rPr lang="zh-CN" altLang="en-US" sz="21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问题＝现状与标准之间可被测量的差距——测不出来的，都还不是问题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pic>
        <p:nvPicPr>
          <p:cNvPr id="12" name="Art 12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三类问题：你 90% 的时间花在了第一类上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越往后越值钱，越往前越紧急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31638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救火型　已经发生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275234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不良流出、设备停机、客户投诉、批量报废</a:t>
            </a:r>
            <a:b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特点：必须马上处理</a:t>
            </a:r>
            <a:b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代价：只能减少损失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31638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发现型　正在发生但没人报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275234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良率长期偏低、工时长期超标、隐性浪费</a:t>
            </a:r>
            <a:b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特点：需要主动去找</a:t>
            </a:r>
            <a:b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代价：不找就一直损失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31638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预测型　还没发生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275234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新品试制的风险、设备老化的趋势、人员流失的隐患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特点：需要预判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代价：不做迟早变第一类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413248"/>
            <a:ext cx="10213848" cy="10972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5413248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一个残酷的现实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797296"/>
            <a:ext cx="10030968" cy="6858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班组长每天忙的都是救火型，但真正拉开班组差距的是发现型和预测型。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如果你的一天全被救火占满，说明前两类问题一直没人做——明天还会烧。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三现主义：不到现场，你分析的都是想象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现场、现物、现实——丰田式问题解决的第一原则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3221736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39696"/>
            <a:ext cx="3221736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542032"/>
            <a:ext cx="3130296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到问题发生的那个地点去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5187696" y="269748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5425440" y="2139696"/>
            <a:ext cx="3221736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5425440" y="2139696"/>
            <a:ext cx="3221736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现物</a:t>
            </a:r>
          </a:p>
        </p:txBody>
      </p:sp>
      <p:sp>
        <p:nvSpPr>
          <p:cNvPr id="20" name="FlowBody 20"/>
          <p:cNvSpPr/>
          <p:nvPr/>
        </p:nvSpPr>
        <p:spPr>
          <a:xfrm>
            <a:off x="5471160" y="2542032"/>
            <a:ext cx="3130296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拿到那个出问题的实物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8683752" y="269748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8921496" y="2139696"/>
            <a:ext cx="3221736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8921496" y="2139696"/>
            <a:ext cx="3221736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</a:t>
            </a:r>
          </a:p>
        </p:txBody>
      </p:sp>
      <p:sp>
        <p:nvSpPr>
          <p:cNvPr id="24" name="FlowBody 24"/>
          <p:cNvSpPr/>
          <p:nvPr/>
        </p:nvSpPr>
        <p:spPr>
          <a:xfrm>
            <a:off x="8967216" y="2542032"/>
            <a:ext cx="3130296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看真实的数据不听转述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3474720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CardHead 26"/>
          <p:cNvSpPr/>
          <p:nvPr/>
        </p:nvSpPr>
        <p:spPr>
          <a:xfrm>
            <a:off x="1929384" y="3474720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不去现场会发生什么</a:t>
            </a:r>
          </a:p>
        </p:txBody>
      </p:sp>
      <p:sp>
        <p:nvSpPr>
          <p:cNvPr id="27" name="CardBody 27"/>
          <p:cNvSpPr/>
          <p:nvPr/>
        </p:nvSpPr>
        <p:spPr>
          <a:xfrm>
            <a:off x="2020824" y="3858768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你在办公室听到的是“操作不当”，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到了现场才发现工装定位块已经磨损；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你在报表上看到的是“不良率 2%”，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到了现场才发现全部集中在夜班某一台。</a:t>
            </a:r>
          </a:p>
        </p:txBody>
      </p:sp>
      <p:sp>
        <p:nvSpPr>
          <p:cNvPr id="28" name="Shape 28"/>
          <p:cNvSpPr/>
          <p:nvPr/>
        </p:nvSpPr>
        <p:spPr>
          <a:xfrm>
            <a:off x="7159752" y="3474720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9" name="CardHead 29"/>
          <p:cNvSpPr/>
          <p:nvPr/>
        </p:nvSpPr>
        <p:spPr>
          <a:xfrm>
            <a:off x="7159752" y="34747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到现场要带三样东西</a:t>
            </a:r>
          </a:p>
        </p:txBody>
      </p:sp>
      <p:sp>
        <p:nvSpPr>
          <p:cNvPr id="30" name="CardBody 30"/>
          <p:cNvSpPr/>
          <p:nvPr/>
        </p:nvSpPr>
        <p:spPr>
          <a:xfrm>
            <a:off x="7251192" y="3858768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不良实物（不是照片，是实物）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当时的参数记录和批次号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一个不预设答案的脑子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——最后一样最难带。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517550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Banner 32"/>
          <p:cNvSpPr/>
          <p:nvPr/>
        </p:nvSpPr>
        <p:spPr>
          <a:xfrm>
            <a:off x="2075688" y="517550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“我觉得是……”这五个字出现时，就该起身去现场了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5W2H：把一句抱怨拆成一个可查的问题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七个格子填满，问题就已经解决了一半</a:t>
            </a:r>
          </a:p>
        </p:txBody>
      </p:sp>
      <p:sp>
        <p:nvSpPr>
          <p:cNvPr id="14" name="W 14"/>
          <p:cNvSpPr/>
          <p:nvPr/>
        </p:nvSpPr>
        <p:spPr>
          <a:xfrm>
            <a:off x="1929384" y="2066544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</a:t>
            </a:r>
          </a:p>
        </p:txBody>
      </p:sp>
      <p:sp>
        <p:nvSpPr>
          <p:cNvPr id="15" name="Shape 15"/>
          <p:cNvSpPr/>
          <p:nvPr/>
        </p:nvSpPr>
        <p:spPr>
          <a:xfrm>
            <a:off x="3593592" y="2066544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WQ 16"/>
          <p:cNvSpPr/>
          <p:nvPr/>
        </p:nvSpPr>
        <p:spPr>
          <a:xfrm>
            <a:off x="3721608" y="206654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什么问题</a:t>
            </a:r>
          </a:p>
        </p:txBody>
      </p:sp>
      <p:sp>
        <p:nvSpPr>
          <p:cNvPr id="17" name="WA 17"/>
          <p:cNvSpPr/>
          <p:nvPr/>
        </p:nvSpPr>
        <p:spPr>
          <a:xfrm>
            <a:off x="5897880" y="2066544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型阀体内孔尺寸超差</a:t>
            </a:r>
          </a:p>
        </p:txBody>
      </p:sp>
      <p:sp>
        <p:nvSpPr>
          <p:cNvPr id="18" name="W 18"/>
          <p:cNvSpPr/>
          <p:nvPr/>
        </p:nvSpPr>
        <p:spPr>
          <a:xfrm>
            <a:off x="1929384" y="2642616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</a:p>
        </p:txBody>
      </p:sp>
      <p:sp>
        <p:nvSpPr>
          <p:cNvPr id="19" name="Shape 19"/>
          <p:cNvSpPr/>
          <p:nvPr/>
        </p:nvSpPr>
        <p:spPr>
          <a:xfrm>
            <a:off x="3593592" y="2642616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WQ 20"/>
          <p:cNvSpPr/>
          <p:nvPr/>
        </p:nvSpPr>
        <p:spPr>
          <a:xfrm>
            <a:off x="3721608" y="264261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哪里发生</a:t>
            </a:r>
          </a:p>
        </p:txBody>
      </p:sp>
      <p:sp>
        <p:nvSpPr>
          <p:cNvPr id="21" name="WA 21"/>
          <p:cNvSpPr/>
          <p:nvPr/>
        </p:nvSpPr>
        <p:spPr>
          <a:xfrm>
            <a:off x="5897880" y="2642616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线 3 号机，精镗工序</a:t>
            </a:r>
          </a:p>
        </p:txBody>
      </p:sp>
      <p:sp>
        <p:nvSpPr>
          <p:cNvPr id="22" name="W 22"/>
          <p:cNvSpPr/>
          <p:nvPr/>
        </p:nvSpPr>
        <p:spPr>
          <a:xfrm>
            <a:off x="1929384" y="3218688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</a:p>
        </p:txBody>
      </p:sp>
      <p:sp>
        <p:nvSpPr>
          <p:cNvPr id="23" name="Shape 23"/>
          <p:cNvSpPr/>
          <p:nvPr/>
        </p:nvSpPr>
        <p:spPr>
          <a:xfrm>
            <a:off x="3593592" y="3218688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WQ 24"/>
          <p:cNvSpPr/>
          <p:nvPr/>
        </p:nvSpPr>
        <p:spPr>
          <a:xfrm>
            <a:off x="3721608" y="32186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</a:t>
            </a:r>
          </a:p>
        </p:txBody>
      </p:sp>
      <p:sp>
        <p:nvSpPr>
          <p:cNvPr id="25" name="WA 25"/>
          <p:cNvSpPr/>
          <p:nvPr/>
        </p:nvSpPr>
        <p:spPr>
          <a:xfrm>
            <a:off x="5897880" y="3218688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近两周，集中在夜班后半程</a:t>
            </a:r>
          </a:p>
        </p:txBody>
      </p:sp>
      <p:sp>
        <p:nvSpPr>
          <p:cNvPr id="26" name="W 26"/>
          <p:cNvSpPr/>
          <p:nvPr/>
        </p:nvSpPr>
        <p:spPr>
          <a:xfrm>
            <a:off x="1929384" y="3794760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Who</a:t>
            </a:r>
          </a:p>
        </p:txBody>
      </p:sp>
      <p:sp>
        <p:nvSpPr>
          <p:cNvPr id="27" name="Shape 27"/>
          <p:cNvSpPr/>
          <p:nvPr/>
        </p:nvSpPr>
        <p:spPr>
          <a:xfrm>
            <a:off x="3593592" y="3794760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WQ 28"/>
          <p:cNvSpPr/>
          <p:nvPr/>
        </p:nvSpPr>
        <p:spPr>
          <a:xfrm>
            <a:off x="3721608" y="37947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涉及谁</a:t>
            </a:r>
          </a:p>
        </p:txBody>
      </p:sp>
      <p:sp>
        <p:nvSpPr>
          <p:cNvPr id="29" name="WA 29"/>
          <p:cNvSpPr/>
          <p:nvPr/>
        </p:nvSpPr>
        <p:spPr>
          <a:xfrm>
            <a:off x="5897880" y="379476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夜班 2 名操作工，同一名技术员改机</a:t>
            </a:r>
          </a:p>
        </p:txBody>
      </p:sp>
      <p:sp>
        <p:nvSpPr>
          <p:cNvPr id="30" name="W 30"/>
          <p:cNvSpPr/>
          <p:nvPr/>
        </p:nvSpPr>
        <p:spPr>
          <a:xfrm>
            <a:off x="1929384" y="4370832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</a:t>
            </a:r>
          </a:p>
        </p:txBody>
      </p:sp>
      <p:sp>
        <p:nvSpPr>
          <p:cNvPr id="31" name="Shape 31"/>
          <p:cNvSpPr/>
          <p:nvPr/>
        </p:nvSpPr>
        <p:spPr>
          <a:xfrm>
            <a:off x="3593592" y="4370832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WQ 32"/>
          <p:cNvSpPr/>
          <p:nvPr/>
        </p:nvSpPr>
        <p:spPr>
          <a:xfrm>
            <a:off x="3721608" y="437083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为何是问题</a:t>
            </a:r>
          </a:p>
        </p:txBody>
      </p:sp>
      <p:sp>
        <p:nvSpPr>
          <p:cNvPr id="33" name="WA 33"/>
          <p:cNvSpPr/>
          <p:nvPr/>
        </p:nvSpPr>
        <p:spPr>
          <a:xfrm>
            <a:off x="5897880" y="4370832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≤0.5%，实际 1.8%，已致客诉 1 起</a:t>
            </a:r>
          </a:p>
        </p:txBody>
      </p:sp>
      <p:sp>
        <p:nvSpPr>
          <p:cNvPr id="34" name="W 34"/>
          <p:cNvSpPr/>
          <p:nvPr/>
        </p:nvSpPr>
        <p:spPr>
          <a:xfrm>
            <a:off x="1929384" y="4946904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11828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</a:t>
            </a:r>
          </a:p>
        </p:txBody>
      </p:sp>
      <p:sp>
        <p:nvSpPr>
          <p:cNvPr id="35" name="Shape 35"/>
          <p:cNvSpPr/>
          <p:nvPr/>
        </p:nvSpPr>
        <p:spPr>
          <a:xfrm>
            <a:off x="3593592" y="4946904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WQ 36"/>
          <p:cNvSpPr/>
          <p:nvPr/>
        </p:nvSpPr>
        <p:spPr>
          <a:xfrm>
            <a:off x="3721608" y="494690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怎么发现的</a:t>
            </a:r>
          </a:p>
        </p:txBody>
      </p:sp>
      <p:sp>
        <p:nvSpPr>
          <p:cNvPr id="37" name="WA 37"/>
          <p:cNvSpPr/>
          <p:nvPr/>
        </p:nvSpPr>
        <p:spPr>
          <a:xfrm>
            <a:off x="5897880" y="4946904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下工序装配压不进，返查尺寸</a:t>
            </a:r>
          </a:p>
        </p:txBody>
      </p:sp>
      <p:sp>
        <p:nvSpPr>
          <p:cNvPr id="38" name="W 38"/>
          <p:cNvSpPr/>
          <p:nvPr/>
        </p:nvSpPr>
        <p:spPr>
          <a:xfrm>
            <a:off x="1929384" y="5522976"/>
            <a:ext cx="1554480" cy="50292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 much</a:t>
            </a:r>
          </a:p>
        </p:txBody>
      </p:sp>
      <p:sp>
        <p:nvSpPr>
          <p:cNvPr id="39" name="Shape 39"/>
          <p:cNvSpPr/>
          <p:nvPr/>
        </p:nvSpPr>
        <p:spPr>
          <a:xfrm>
            <a:off x="3593592" y="5522976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WQ 40"/>
          <p:cNvSpPr/>
          <p:nvPr/>
        </p:nvSpPr>
        <p:spPr>
          <a:xfrm>
            <a:off x="3721608" y="552297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多大代价</a:t>
            </a:r>
          </a:p>
        </p:txBody>
      </p:sp>
      <p:sp>
        <p:nvSpPr>
          <p:cNvPr id="41" name="WA 41"/>
          <p:cNvSpPr/>
          <p:nvPr/>
        </p:nvSpPr>
        <p:spPr>
          <a:xfrm>
            <a:off x="5897880" y="5522976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报废 42 件，返工 6.5 工时，损失约 X 元</a:t>
            </a:r>
          </a:p>
        </p:txBody>
      </p:sp>
      <p:sp>
        <p:nvSpPr>
          <p:cNvPr id="42" name="Shape 42"/>
          <p:cNvSpPr/>
          <p:nvPr/>
        </p:nvSpPr>
        <p:spPr>
          <a:xfrm>
            <a:off x="1929384" y="608990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3" name="Banner 43"/>
          <p:cNvSpPr/>
          <p:nvPr/>
        </p:nvSpPr>
        <p:spPr>
          <a:xfrm>
            <a:off x="2075688" y="608990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用法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填不出来的那一格，就是你现在最该去查的地方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问题描述的三个致命错误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这三个错误一犯，后面全白干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29260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把对策当问题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2514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“需要增加一道全检。”</a:t>
            </a:r>
            <a:b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——这是你想做的事，不是问题本身。</a:t>
            </a:r>
            <a:b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一旦这样写，就不会再去找别的办法了。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29260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把原因当问题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2514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“员工责任心不强。”</a:t>
            </a:r>
            <a:b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——这是你的猜测，而且是最难验证的一种。</a:t>
            </a:r>
            <a:b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写成这样，后面只剩下开会强调。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29260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把现象当问题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2514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“客户投诉了。”</a:t>
            </a:r>
            <a:b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——这是结果，不是问题。</a:t>
            </a:r>
            <a:b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投诉背后是什么不良、哪个批次、多少比例，才是能查的东西。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175504"/>
            <a:ext cx="10213848" cy="13350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5175504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自检方法：把你写的问题读一遍，问三句话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559552"/>
            <a:ext cx="10030968" cy="92354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这句话里有没有数字和范围？没有 → 还不是问题；</a:t>
            </a:r>
          </a:p>
          <a:p>
            <a:pPr algn="l">
              <a:lnSpc>
                <a:spcPct val="8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这句话里有没有出现动词“应该、需要、加强”？有 → 你写的是对策；</a:t>
            </a:r>
          </a:p>
          <a:p>
            <a:pPr algn="l">
              <a:lnSpc>
                <a:spcPct val="8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这句话能不能被证伪？不能 → 你写的是意见。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1</a:t>
            </a:r>
          </a:p>
        </p:txBody>
      </p:sp>
      <p:sp>
        <p:nvSpPr>
          <p:cNvPr id="13" name="ScTitle 13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“需要增加一道全检”——三个月后，不良还在，成本多了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zh-CN" altLang="en-US" sz="18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组立课某产品下工序反馈密封不良，班组长小赵在改善会上把问题写成：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buNone/>
            </a:pPr>
            <a:r>
              <a:rPr lang="zh-CN" altLang="en-US" sz="18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“本工序需要增加一道气密全检，防止不良流出。”方案通过，增加 1 名检验员，</a:t>
            </a:r>
            <a:r>
              <a:rPr lang="zh-CN" altLang="en-US" sz="18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每天多花 3.2 小时，月成本增加约 1.1 万元。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buNone/>
            </a:pPr>
            <a:r>
              <a:rPr lang="zh-CN" altLang="en-US" sz="18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三个月后：流出确实少了，但内部不良率从 1.6% 升到 2.1%——因为大家知道后面有全检兜底；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buNone/>
            </a:pPr>
            <a:r>
              <a:rPr lang="zh-CN" altLang="en-US" sz="18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而客户端仍出现 2 起密封投诉，因为全检是抽压不是全压。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buNone/>
            </a:pPr>
            <a:r>
              <a:rPr lang="zh-CN" altLang="en-US" sz="18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复盘时才有人问：当初到底是什么原因导致密封不良？没有人查过。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这个方案错在哪一步？如果重来一次，第一步该做什么？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继续加严检验、提高抽检比例、把检验员从 1 人加到 2 人——沿着同一条路继续投入。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症状、问题、真因：你在哪一层解决，决定了它会不会回来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在症状层解决，它一定回来</a:t>
            </a:r>
          </a:p>
        </p:txBody>
      </p:sp>
      <p:sp>
        <p:nvSpPr>
          <p:cNvPr id="14" name="L 14"/>
          <p:cNvSpPr/>
          <p:nvPr/>
        </p:nvSpPr>
        <p:spPr>
          <a:xfrm>
            <a:off x="1929384" y="2103120"/>
            <a:ext cx="2103120" cy="1060704"/>
          </a:xfrm>
          <a:prstGeom prst="roundRect">
            <a:avLst>
              <a:gd name="adj" fmla="val 10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症状层</a:t>
            </a:r>
          </a:p>
        </p:txBody>
      </p:sp>
      <p:sp>
        <p:nvSpPr>
          <p:cNvPr id="15" name="Shape 15"/>
          <p:cNvSpPr/>
          <p:nvPr/>
        </p:nvSpPr>
        <p:spPr>
          <a:xfrm>
            <a:off x="4160520" y="2103120"/>
            <a:ext cx="3749040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LE 16"/>
          <p:cNvSpPr/>
          <p:nvPr/>
        </p:nvSpPr>
        <p:spPr>
          <a:xfrm>
            <a:off x="4288536" y="2103120"/>
            <a:ext cx="3493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客户投诉、返工、停机</a:t>
            </a:r>
          </a:p>
        </p:txBody>
      </p:sp>
      <p:sp>
        <p:nvSpPr>
          <p:cNvPr id="17" name="Shape 17"/>
          <p:cNvSpPr/>
          <p:nvPr/>
        </p:nvSpPr>
        <p:spPr>
          <a:xfrm>
            <a:off x="8037576" y="2103120"/>
            <a:ext cx="4105656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LW 18"/>
          <p:cNvSpPr/>
          <p:nvPr/>
        </p:nvSpPr>
        <p:spPr>
          <a:xfrm>
            <a:off x="8165592" y="2103120"/>
            <a:ext cx="3849624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处理方式：救火</a:t>
            </a:r>
            <a:b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效果：立刻见效，必然复发</a:t>
            </a:r>
          </a:p>
        </p:txBody>
      </p:sp>
      <p:sp>
        <p:nvSpPr>
          <p:cNvPr id="19" name="L 19"/>
          <p:cNvSpPr/>
          <p:nvPr/>
        </p:nvSpPr>
        <p:spPr>
          <a:xfrm>
            <a:off x="1929384" y="3291840"/>
            <a:ext cx="2103120" cy="1060704"/>
          </a:xfrm>
          <a:prstGeom prst="roundRect">
            <a:avLst>
              <a:gd name="adj" fmla="val 10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问题层</a:t>
            </a:r>
          </a:p>
        </p:txBody>
      </p:sp>
      <p:sp>
        <p:nvSpPr>
          <p:cNvPr id="20" name="Shape 20"/>
          <p:cNvSpPr/>
          <p:nvPr/>
        </p:nvSpPr>
        <p:spPr>
          <a:xfrm>
            <a:off x="4160520" y="3291840"/>
            <a:ext cx="3749040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LE 21"/>
          <p:cNvSpPr/>
          <p:nvPr/>
        </p:nvSpPr>
        <p:spPr>
          <a:xfrm>
            <a:off x="4288536" y="3291840"/>
            <a:ext cx="3493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某工序某尺寸超差 1.8%</a:t>
            </a:r>
          </a:p>
        </p:txBody>
      </p:sp>
      <p:sp>
        <p:nvSpPr>
          <p:cNvPr id="22" name="Shape 22"/>
          <p:cNvSpPr/>
          <p:nvPr/>
        </p:nvSpPr>
        <p:spPr>
          <a:xfrm>
            <a:off x="8037576" y="3291840"/>
            <a:ext cx="4105656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LW 23"/>
          <p:cNvSpPr/>
          <p:nvPr/>
        </p:nvSpPr>
        <p:spPr>
          <a:xfrm>
            <a:off x="8165592" y="3291840"/>
            <a:ext cx="3849624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zh-CN" altLang="en-US" sz="22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处理方式：加强管控</a:t>
            </a:r>
            <a:br>
              <a:rPr lang="zh-CN" altLang="en-US" sz="22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效果：能压住，人一松就回来</a:t>
            </a:r>
          </a:p>
        </p:txBody>
      </p:sp>
      <p:sp>
        <p:nvSpPr>
          <p:cNvPr id="24" name="L 24"/>
          <p:cNvSpPr/>
          <p:nvPr/>
        </p:nvSpPr>
        <p:spPr>
          <a:xfrm>
            <a:off x="1929384" y="4480560"/>
            <a:ext cx="2103120" cy="1060704"/>
          </a:xfrm>
          <a:prstGeom prst="roundRect">
            <a:avLst>
              <a:gd name="adj" fmla="val 10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真因层</a:t>
            </a:r>
          </a:p>
        </p:txBody>
      </p:sp>
      <p:sp>
        <p:nvSpPr>
          <p:cNvPr id="25" name="Shape 25"/>
          <p:cNvSpPr/>
          <p:nvPr/>
        </p:nvSpPr>
        <p:spPr>
          <a:xfrm>
            <a:off x="4160520" y="4480560"/>
            <a:ext cx="3749040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LE 26"/>
          <p:cNvSpPr/>
          <p:nvPr/>
        </p:nvSpPr>
        <p:spPr>
          <a:xfrm>
            <a:off x="4288536" y="4480560"/>
            <a:ext cx="3493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定位块磨损无更换标准</a:t>
            </a:r>
          </a:p>
        </p:txBody>
      </p:sp>
      <p:sp>
        <p:nvSpPr>
          <p:cNvPr id="27" name="Shape 27"/>
          <p:cNvSpPr/>
          <p:nvPr/>
        </p:nvSpPr>
        <p:spPr>
          <a:xfrm>
            <a:off x="8037576" y="4480560"/>
            <a:ext cx="4105656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LW 28"/>
          <p:cNvSpPr/>
          <p:nvPr/>
        </p:nvSpPr>
        <p:spPr>
          <a:xfrm>
            <a:off x="8165592" y="4480560"/>
            <a:ext cx="3849624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24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处理方式：改标准、改工装</a:t>
            </a:r>
            <a:br>
              <a:rPr lang="zh-CN" altLang="en-US" sz="24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效果：慢，但不再回来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5705856"/>
            <a:ext cx="10213848" cy="8046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1929384" y="5705856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判断你在哪一层的方法</a:t>
            </a:r>
          </a:p>
        </p:txBody>
      </p:sp>
      <p:sp>
        <p:nvSpPr>
          <p:cNvPr id="31" name="CardBody 31"/>
          <p:cNvSpPr/>
          <p:nvPr/>
        </p:nvSpPr>
        <p:spPr>
          <a:xfrm>
            <a:off x="2020824" y="6089904"/>
            <a:ext cx="10030968" cy="39319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如果你的对策里出现“加强、注意、强调、增加检查”——你还在症状层。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课题选定：不是所有问题都值得现在解决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重要—紧急矩阵在车间的用法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16642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 + 重要　→　立刻做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2527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批量不良、安全隐患、客户投诉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16642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 + 不紧急　→　排计划做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2527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工装标准化、带教体系、预防性保养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895344"/>
            <a:ext cx="4983480" cy="16642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895344"/>
            <a:ext cx="498348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 + 不重要　→　授权或简化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279392"/>
            <a:ext cx="4800600" cy="12527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临时补数据、应付性报表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3895344"/>
            <a:ext cx="4983480" cy="16642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3895344"/>
            <a:ext cx="49834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不紧急 + 不重要　→　先放着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51192" y="4279392"/>
            <a:ext cx="4800600" cy="12527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锦上添花的小优化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760720"/>
            <a:ext cx="10213848" cy="7498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5760720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班组长最大的陷阱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20824" y="6144768"/>
            <a:ext cx="10030968" cy="3383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一整天都在第一象限救火，第二象限永远排不上——而第二象限才是让火变少的地方。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pic>
        <p:nvPicPr>
          <p:cNvPr id="12" name="Art 12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2</a:t>
            </a:r>
          </a:p>
        </p:txBody>
      </p:sp>
      <p:sp>
        <p:nvSpPr>
          <p:cNvPr id="13" name="ScTitle 13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一次列了 11 项改善，三个月后一项也没关闭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机加工班组做月度改善，班组长老陈把大家提的问题全部立项，一共 11 项：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刀具寿命、工装定位、5S、交接班记录、点检表、来料检验、排产顺序、照明、</a:t>
            </a:r>
            <a:r>
              <a:rPr lang="zh-CN" altLang="en-US" sz="21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工具摆放、新人带教、设备保养。每一项都指定了责任人和完成时间。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三个月后复盘：11 项中 2 项完成、5 项做了一半、4 项没动。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大家的说法一致：“事情太多了，白天要生产，实在排不开。”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而当初最严重的刀具寿命问题，恰好在没动的那 4 项里。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问题出在立项太多，还是别的地方？如果只能选 3 项，你怎么选？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下次少立几项、加强跟踪、把改善完成率纳入考核——在执行端加压。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目标设定：没有基线的目标，等于没有目标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三个必备要素——基线、目标值、期限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错误示范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68880"/>
            <a:ext cx="4800600" cy="12893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“把不良率降下来。”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“大幅提升效率。”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“争取不再出现客诉。”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——无法判断做没做到。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正确示范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68880"/>
            <a:ext cx="4800600" cy="12893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“B 线 3 号机内孔超差率，</a:t>
            </a: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由当前 1.8%（近两周 78 件中 42 件）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降至 0.5% 以下，于 8 月 31 日前达成。”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931920"/>
            <a:ext cx="10213848" cy="14264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931920"/>
            <a:ext cx="10213848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目标值定多少才合适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315968"/>
            <a:ext cx="10030968" cy="101498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有标准的，回到标准（如公差、合同交期）——这是底线，不是目标；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没标准的，用历史最好水平：过去 12 个月里做到过的最好值，说明它是可达成的；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挑战型的，用“区间共定”：管理层给区间，班组在区间内承诺具体值并附达成路径。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50468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75688" y="550468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目标定得越高越有干劲？错——超出能力太多的目标，员工的第一反应是放弃而不是努力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现状调查：数据要自己去取，不要等报表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报表告诉你有没有问题，只有现场数据告诉你问题在哪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报表数据的三个局限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68880"/>
            <a:ext cx="4800600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太粗：月度不良率看不出班次差异；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太晚：等报表出来已经过了两周；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口径不清：谁统计的、怎么算的、</a:t>
            </a: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含不含返工件，往往说不清。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自己取数的四个维度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68880"/>
            <a:ext cx="4800600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时间：按班次、按小时看分布；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空间：按机台、按工位看分布；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人员：按操作者、按班组看分布；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物料：按批次、按供应商看分布。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151376"/>
            <a:ext cx="10213848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151376"/>
            <a:ext cx="10213848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取数的三条纪律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535424"/>
            <a:ext cx="10030968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先定口径再取数：什么算一件不良，写下来，让所有记录的人用同一个定义；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至少两周：一周的数据受偶然因素影响太大，看不出规律；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原始记录留档：汇总表可以改，原始记录不能改——争议时它是唯一的依据。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760720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75688" y="5760720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你手上的数据精度，决定了你能解决问题的深度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查检表：现场取数最省事的工具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设计得好，员工顺手就填；设计不好，没人填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一张好查检表的五个特征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68880"/>
            <a:ext cx="4800600" cy="163677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打勾就行，不用写字；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项目分类穷尽，有“其他”一栏；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一张纸能填一整班，不用翻页；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就放在发生地点，不在办公室；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每天有人收、有人看、有人反馈。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常见失败原因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68880"/>
            <a:ext cx="4800600" cy="163677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要填的项目太多，员工嫌麻烦；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分类不清，同一现象不知道打哪一格；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填了没有下文——这是最致命的，</a:t>
            </a: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一旦发生，两周内就没人再填了。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79392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79392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推行查检表的关键动作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663440"/>
            <a:ext cx="10030968" cy="90525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第一周每天下班把当天的统计结果贴出来，并当众说一句“今天数据显示……”。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让填表的人立刻看到自己填的东西有用——这一步做到了，表就能活下来。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层别法：把一堆数据拆开看，问题自己会跳出来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不层别，你看到的永远是平均值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10213848" cy="100584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NoStrat 15"/>
          <p:cNvSpPr/>
          <p:nvPr/>
        </p:nvSpPr>
        <p:spPr>
          <a:xfrm>
            <a:off x="2112264" y="2103120"/>
            <a:ext cx="9848088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不层别：本月不良率 1.2%　→　结论：“大家再注意一点”</a:t>
            </a:r>
          </a:p>
        </p:txBody>
      </p:sp>
      <p:sp>
        <p:nvSpPr>
          <p:cNvPr id="16" name="Shape 16"/>
          <p:cNvSpPr/>
          <p:nvPr/>
        </p:nvSpPr>
        <p:spPr>
          <a:xfrm>
            <a:off x="1929384" y="3273552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7" name="CardHead 17"/>
          <p:cNvSpPr/>
          <p:nvPr/>
        </p:nvSpPr>
        <p:spPr>
          <a:xfrm>
            <a:off x="1929384" y="3273552"/>
            <a:ext cx="242316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按班次</a:t>
            </a:r>
          </a:p>
        </p:txBody>
      </p:sp>
      <p:sp>
        <p:nvSpPr>
          <p:cNvPr id="18" name="CardBody 18"/>
          <p:cNvSpPr/>
          <p:nvPr/>
        </p:nvSpPr>
        <p:spPr>
          <a:xfrm>
            <a:off x="2020824" y="3657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白班 0.4%夜班 2.1%</a:t>
            </a:r>
          </a:p>
        </p:txBody>
      </p:sp>
      <p:sp>
        <p:nvSpPr>
          <p:cNvPr id="19" name="Shape 19"/>
          <p:cNvSpPr/>
          <p:nvPr/>
        </p:nvSpPr>
        <p:spPr>
          <a:xfrm>
            <a:off x="4535424" y="3273552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CardHead 20"/>
          <p:cNvSpPr/>
          <p:nvPr/>
        </p:nvSpPr>
        <p:spPr>
          <a:xfrm>
            <a:off x="4535424" y="3273552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按机台</a:t>
            </a:r>
          </a:p>
        </p:txBody>
      </p:sp>
      <p:sp>
        <p:nvSpPr>
          <p:cNvPr id="21" name="CardBody 21"/>
          <p:cNvSpPr/>
          <p:nvPr/>
        </p:nvSpPr>
        <p:spPr>
          <a:xfrm>
            <a:off x="4626864" y="3657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1~4号 0.5%3号机 3.6%</a:t>
            </a:r>
          </a:p>
        </p:txBody>
      </p:sp>
      <p:sp>
        <p:nvSpPr>
          <p:cNvPr id="22" name="Shape 22"/>
          <p:cNvSpPr/>
          <p:nvPr/>
        </p:nvSpPr>
        <p:spPr>
          <a:xfrm>
            <a:off x="7141464" y="3273552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CardHead 23"/>
          <p:cNvSpPr/>
          <p:nvPr/>
        </p:nvSpPr>
        <p:spPr>
          <a:xfrm>
            <a:off x="7141464" y="3273552"/>
            <a:ext cx="2423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按人员</a:t>
            </a:r>
          </a:p>
        </p:txBody>
      </p:sp>
      <p:sp>
        <p:nvSpPr>
          <p:cNvPr id="24" name="CardBody 24"/>
          <p:cNvSpPr/>
          <p:nvPr/>
        </p:nvSpPr>
        <p:spPr>
          <a:xfrm>
            <a:off x="7232904" y="3657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熟手 0.3%新人 2.8%</a:t>
            </a:r>
          </a:p>
        </p:txBody>
      </p:sp>
      <p:sp>
        <p:nvSpPr>
          <p:cNvPr id="25" name="Shape 25"/>
          <p:cNvSpPr/>
          <p:nvPr/>
        </p:nvSpPr>
        <p:spPr>
          <a:xfrm>
            <a:off x="9747504" y="3273552"/>
            <a:ext cx="2423160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CardHead 26"/>
          <p:cNvSpPr/>
          <p:nvPr/>
        </p:nvSpPr>
        <p:spPr>
          <a:xfrm>
            <a:off x="9747504" y="3273552"/>
            <a:ext cx="2423160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按批次</a:t>
            </a:r>
          </a:p>
        </p:txBody>
      </p:sp>
      <p:sp>
        <p:nvSpPr>
          <p:cNvPr id="27" name="CardBody 27"/>
          <p:cNvSpPr/>
          <p:nvPr/>
        </p:nvSpPr>
        <p:spPr>
          <a:xfrm>
            <a:off x="9838944" y="3657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A供应商 0.4%B供应商 2.4%</a:t>
            </a:r>
          </a:p>
        </p:txBody>
      </p:sp>
      <p:sp>
        <p:nvSpPr>
          <p:cNvPr id="28" name="Shape 28"/>
          <p:cNvSpPr/>
          <p:nvPr/>
        </p:nvSpPr>
        <p:spPr>
          <a:xfrm>
            <a:off x="1929384" y="4882896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9" name="CardHead 29"/>
          <p:cNvSpPr/>
          <p:nvPr/>
        </p:nvSpPr>
        <p:spPr>
          <a:xfrm>
            <a:off x="1929384" y="4882896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层别之后，问题从“大家注意”变成了四个可查的方向</a:t>
            </a:r>
          </a:p>
        </p:txBody>
      </p:sp>
      <p:sp>
        <p:nvSpPr>
          <p:cNvPr id="30" name="CardBody 30"/>
          <p:cNvSpPr/>
          <p:nvPr/>
        </p:nvSpPr>
        <p:spPr>
          <a:xfrm>
            <a:off x="2020824" y="5266944"/>
            <a:ext cx="10030968" cy="90525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夜班为什么高？3 号机为什么高？新人为什么高？B 供应商的料为什么差？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每一个都能立刻派人去查——这就是层别的全部价值。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3</a:t>
            </a:r>
          </a:p>
        </p:txBody>
      </p:sp>
      <p:sp>
        <p:nvSpPr>
          <p:cNvPr id="13" name="ScTitle 13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“不良率 1.2%，还行吧”——被平均值藏起来的那台机器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某精加工班组月度报表显示：综合不良率 1.2%，低于车间 1.5% 的管控线，绿灯。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连续四个月都是绿灯，班组长小李没有立项改善。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第五个月，客户端连续退回三批同一型号产品，追溯发现全部来自 3 号机。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车间把四个月的原始记录重新按机台层别，结果是：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1、2、4、5 号机不良率在 0.4%~0.6%，3 号机是 3.6%，且逐月上升。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1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号机的不良被另外四台的良品“平均”掉了，指标一直是绿的。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报表没错、指标也达标，为什么问题还是发生了？下次怎么防？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把管控线从 1.5% 收紧到 1.0%，或者增加抽检频次——在指标严格度上加码。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第一节小结：界定问题的五步法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这五步走完，问题已经解决了一半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1883664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39696"/>
            <a:ext cx="1883664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①有标准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23744"/>
            <a:ext cx="1700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找到应有状态没有就先定一个</a:t>
            </a:r>
          </a:p>
        </p:txBody>
      </p:sp>
      <p:sp>
        <p:nvSpPr>
          <p:cNvPr id="17" name="Shape 17"/>
          <p:cNvSpPr/>
          <p:nvPr/>
        </p:nvSpPr>
        <p:spPr>
          <a:xfrm>
            <a:off x="3977640" y="2139696"/>
            <a:ext cx="1883664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3977640" y="2139696"/>
            <a:ext cx="1883664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②看现状</a:t>
            </a:r>
          </a:p>
        </p:txBody>
      </p:sp>
      <p:sp>
        <p:nvSpPr>
          <p:cNvPr id="19" name="CardBody 19"/>
          <p:cNvSpPr/>
          <p:nvPr/>
        </p:nvSpPr>
        <p:spPr>
          <a:xfrm>
            <a:off x="4069080" y="2523744"/>
            <a:ext cx="1700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到现场取数据不要用报表代替</a:t>
            </a:r>
          </a:p>
        </p:txBody>
      </p:sp>
      <p:sp>
        <p:nvSpPr>
          <p:cNvPr id="20" name="Shape 20"/>
          <p:cNvSpPr/>
          <p:nvPr/>
        </p:nvSpPr>
        <p:spPr>
          <a:xfrm>
            <a:off x="6025896" y="2139696"/>
            <a:ext cx="1883664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6025896" y="2139696"/>
            <a:ext cx="1883664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③做层别</a:t>
            </a:r>
          </a:p>
        </p:txBody>
      </p:sp>
      <p:sp>
        <p:nvSpPr>
          <p:cNvPr id="22" name="CardBody 22"/>
          <p:cNvSpPr/>
          <p:nvPr/>
        </p:nvSpPr>
        <p:spPr>
          <a:xfrm>
            <a:off x="6117336" y="2523744"/>
            <a:ext cx="1700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按时间、机台、人员、批次拆开</a:t>
            </a:r>
          </a:p>
        </p:txBody>
      </p:sp>
      <p:sp>
        <p:nvSpPr>
          <p:cNvPr id="23" name="Shape 23"/>
          <p:cNvSpPr/>
          <p:nvPr/>
        </p:nvSpPr>
        <p:spPr>
          <a:xfrm>
            <a:off x="8074152" y="2139696"/>
            <a:ext cx="1883664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8074152" y="2139696"/>
            <a:ext cx="1883664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④选课题</a:t>
            </a:r>
          </a:p>
        </p:txBody>
      </p:sp>
      <p:sp>
        <p:nvSpPr>
          <p:cNvPr id="25" name="CardBody 25"/>
          <p:cNvSpPr/>
          <p:nvPr/>
        </p:nvSpPr>
        <p:spPr>
          <a:xfrm>
            <a:off x="8165592" y="2523744"/>
            <a:ext cx="1700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柏拉图排序只取前2~3项</a:t>
            </a:r>
          </a:p>
        </p:txBody>
      </p:sp>
      <p:sp>
        <p:nvSpPr>
          <p:cNvPr id="26" name="Shape 26"/>
          <p:cNvSpPr/>
          <p:nvPr/>
        </p:nvSpPr>
        <p:spPr>
          <a:xfrm>
            <a:off x="10122408" y="2139696"/>
            <a:ext cx="1883664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0122408" y="2139696"/>
            <a:ext cx="1883664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⑤定目标</a:t>
            </a:r>
          </a:p>
        </p:txBody>
      </p:sp>
      <p:sp>
        <p:nvSpPr>
          <p:cNvPr id="28" name="CardBody 28"/>
          <p:cNvSpPr/>
          <p:nvPr/>
        </p:nvSpPr>
        <p:spPr>
          <a:xfrm>
            <a:off x="10213848" y="2523744"/>
            <a:ext cx="1700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基线+目标值+期限三个都要有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4297680"/>
            <a:ext cx="10213848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1929384" y="4297680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自检：把你的问题描述交给别人看</a:t>
            </a:r>
          </a:p>
        </p:txBody>
      </p:sp>
      <p:sp>
        <p:nvSpPr>
          <p:cNvPr id="31" name="CardBody 31"/>
          <p:cNvSpPr/>
          <p:nvPr/>
        </p:nvSpPr>
        <p:spPr>
          <a:xfrm>
            <a:off x="2020824" y="4681728"/>
            <a:ext cx="10030968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如果他看完能立刻说出“那我去查某某地方”——你的问题界定合格了；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如果他看完说“那我们开个会讨论一下”——说明还太笼统，回去重写。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好的问题描述会自动指出下一步该去哪里，不需要再讨论。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590702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Banner 33"/>
          <p:cNvSpPr/>
          <p:nvPr/>
        </p:nvSpPr>
        <p:spPr>
          <a:xfrm>
            <a:off x="2075688" y="590702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第一节结论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花在界定问题上的时间，会在后面十倍地省回来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　分析原因：追到真因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大部分改善失败，是因为在第三个 Why 就停下了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212848"/>
            <a:ext cx="1823314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列可能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5M1E穷举可能原因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212848"/>
            <a:ext cx="1823314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查事实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72738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每一条都去现场验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212848"/>
            <a:ext cx="1823314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追层级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0371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5Why一层层往下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212848"/>
            <a:ext cx="1823314" cy="384048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定真因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68005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三条件同时成立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212848"/>
            <a:ext cx="1823314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做验证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65638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能重现也能消除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639312"/>
            <a:ext cx="10213848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639312"/>
            <a:ext cx="10213848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这一节要破的三个习惯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20824" y="4023360"/>
            <a:ext cx="10030968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一想到原因就动手，跳过验证——结果改了半天问题还在；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5Why 问到“员工不认真”就停——这不是真因，是放弃；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只用一个人的经验判断——经验很值钱，但经验最容易带来先入为主。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532180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75688" y="532180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核心判断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没有被验证过的原因，都只是假设——假设不能拿来做对策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5Why：不是问五次，是每一次都能被验证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丰田的经典例子，看每一层的动作</a:t>
            </a:r>
          </a:p>
        </p:txBody>
      </p:sp>
      <p:sp>
        <p:nvSpPr>
          <p:cNvPr id="14" name="WhyK 14"/>
          <p:cNvSpPr/>
          <p:nvPr/>
        </p:nvSpPr>
        <p:spPr>
          <a:xfrm>
            <a:off x="1929384" y="2103120"/>
            <a:ext cx="1554480" cy="585216"/>
          </a:xfrm>
          <a:prstGeom prst="roundRect">
            <a:avLst>
              <a:gd name="adj" fmla="val 16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</a:t>
            </a:r>
          </a:p>
        </p:txBody>
      </p:sp>
      <p:sp>
        <p:nvSpPr>
          <p:cNvPr id="15" name="Shape 15"/>
          <p:cNvSpPr/>
          <p:nvPr/>
        </p:nvSpPr>
        <p:spPr>
          <a:xfrm>
            <a:off x="3593592" y="2103120"/>
            <a:ext cx="5532120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WhyD 16"/>
          <p:cNvSpPr/>
          <p:nvPr/>
        </p:nvSpPr>
        <p:spPr>
          <a:xfrm>
            <a:off x="3721608" y="2103120"/>
            <a:ext cx="527608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机器停了</a:t>
            </a:r>
          </a:p>
        </p:txBody>
      </p:sp>
      <p:sp>
        <p:nvSpPr>
          <p:cNvPr id="17" name="Shape 17"/>
          <p:cNvSpPr/>
          <p:nvPr/>
        </p:nvSpPr>
        <p:spPr>
          <a:xfrm>
            <a:off x="9235440" y="2103120"/>
            <a:ext cx="2907792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WhyA 18"/>
          <p:cNvSpPr/>
          <p:nvPr/>
        </p:nvSpPr>
        <p:spPr>
          <a:xfrm>
            <a:off x="9363456" y="2103120"/>
            <a:ext cx="2651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</a:p>
        </p:txBody>
      </p:sp>
      <p:sp>
        <p:nvSpPr>
          <p:cNvPr id="19" name="WhyK 19"/>
          <p:cNvSpPr/>
          <p:nvPr/>
        </p:nvSpPr>
        <p:spPr>
          <a:xfrm>
            <a:off x="1929384" y="2761488"/>
            <a:ext cx="1554480" cy="585216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1</a:t>
            </a:r>
          </a:p>
        </p:txBody>
      </p:sp>
      <p:sp>
        <p:nvSpPr>
          <p:cNvPr id="20" name="Shape 20"/>
          <p:cNvSpPr/>
          <p:nvPr/>
        </p:nvSpPr>
        <p:spPr>
          <a:xfrm>
            <a:off x="3593592" y="2761488"/>
            <a:ext cx="5532120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WhyD 21"/>
          <p:cNvSpPr/>
          <p:nvPr/>
        </p:nvSpPr>
        <p:spPr>
          <a:xfrm>
            <a:off x="3721608" y="2761488"/>
            <a:ext cx="527608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超负荷，保险丝断了</a:t>
            </a:r>
          </a:p>
        </p:txBody>
      </p:sp>
      <p:sp>
        <p:nvSpPr>
          <p:cNvPr id="22" name="Shape 22"/>
          <p:cNvSpPr/>
          <p:nvPr/>
        </p:nvSpPr>
        <p:spPr>
          <a:xfrm>
            <a:off x="9235440" y="2761488"/>
            <a:ext cx="2907792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WhyA 23"/>
          <p:cNvSpPr/>
          <p:nvPr/>
        </p:nvSpPr>
        <p:spPr>
          <a:xfrm>
            <a:off x="9363456" y="2761488"/>
            <a:ext cx="2651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查：电流记录</a:t>
            </a:r>
          </a:p>
        </p:txBody>
      </p:sp>
      <p:sp>
        <p:nvSpPr>
          <p:cNvPr id="24" name="WhyK 24"/>
          <p:cNvSpPr/>
          <p:nvPr/>
        </p:nvSpPr>
        <p:spPr>
          <a:xfrm>
            <a:off x="1929384" y="3419856"/>
            <a:ext cx="1554480" cy="585216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2</a:t>
            </a:r>
          </a:p>
        </p:txBody>
      </p:sp>
      <p:sp>
        <p:nvSpPr>
          <p:cNvPr id="25" name="Shape 25"/>
          <p:cNvSpPr/>
          <p:nvPr/>
        </p:nvSpPr>
        <p:spPr>
          <a:xfrm>
            <a:off x="3593592" y="3419856"/>
            <a:ext cx="5532120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WhyD 26"/>
          <p:cNvSpPr/>
          <p:nvPr/>
        </p:nvSpPr>
        <p:spPr>
          <a:xfrm>
            <a:off x="3721608" y="3419856"/>
            <a:ext cx="527608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轴承润滑不足</a:t>
            </a:r>
          </a:p>
        </p:txBody>
      </p:sp>
      <p:sp>
        <p:nvSpPr>
          <p:cNvPr id="27" name="Shape 27"/>
          <p:cNvSpPr/>
          <p:nvPr/>
        </p:nvSpPr>
        <p:spPr>
          <a:xfrm>
            <a:off x="9235440" y="3419856"/>
            <a:ext cx="2907792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WhyA 28"/>
          <p:cNvSpPr/>
          <p:nvPr/>
        </p:nvSpPr>
        <p:spPr>
          <a:xfrm>
            <a:off x="9363456" y="3419856"/>
            <a:ext cx="2651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查：油量与油压</a:t>
            </a:r>
          </a:p>
        </p:txBody>
      </p:sp>
      <p:sp>
        <p:nvSpPr>
          <p:cNvPr id="29" name="WhyK 29"/>
          <p:cNvSpPr/>
          <p:nvPr/>
        </p:nvSpPr>
        <p:spPr>
          <a:xfrm>
            <a:off x="1929384" y="4078224"/>
            <a:ext cx="1554480" cy="585216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3</a:t>
            </a:r>
          </a:p>
        </p:txBody>
      </p:sp>
      <p:sp>
        <p:nvSpPr>
          <p:cNvPr id="30" name="Shape 30"/>
          <p:cNvSpPr/>
          <p:nvPr/>
        </p:nvSpPr>
        <p:spPr>
          <a:xfrm>
            <a:off x="3593592" y="4078224"/>
            <a:ext cx="5532120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WhyD 31"/>
          <p:cNvSpPr/>
          <p:nvPr/>
        </p:nvSpPr>
        <p:spPr>
          <a:xfrm>
            <a:off x="3721608" y="4078224"/>
            <a:ext cx="527608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油泵抽油不足</a:t>
            </a:r>
          </a:p>
        </p:txBody>
      </p:sp>
      <p:sp>
        <p:nvSpPr>
          <p:cNvPr id="32" name="Shape 32"/>
          <p:cNvSpPr/>
          <p:nvPr/>
        </p:nvSpPr>
        <p:spPr>
          <a:xfrm>
            <a:off x="9235440" y="4078224"/>
            <a:ext cx="2907792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WhyA 33"/>
          <p:cNvSpPr/>
          <p:nvPr/>
        </p:nvSpPr>
        <p:spPr>
          <a:xfrm>
            <a:off x="9363456" y="4078224"/>
            <a:ext cx="2651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查：泵的排量</a:t>
            </a:r>
          </a:p>
        </p:txBody>
      </p:sp>
      <p:sp>
        <p:nvSpPr>
          <p:cNvPr id="34" name="WhyK 34"/>
          <p:cNvSpPr/>
          <p:nvPr/>
        </p:nvSpPr>
        <p:spPr>
          <a:xfrm>
            <a:off x="1929384" y="4736592"/>
            <a:ext cx="1554480" cy="585216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4</a:t>
            </a:r>
          </a:p>
        </p:txBody>
      </p:sp>
      <p:sp>
        <p:nvSpPr>
          <p:cNvPr id="35" name="Shape 35"/>
          <p:cNvSpPr/>
          <p:nvPr/>
        </p:nvSpPr>
        <p:spPr>
          <a:xfrm>
            <a:off x="3593592" y="4736592"/>
            <a:ext cx="5532120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WhyD 36"/>
          <p:cNvSpPr/>
          <p:nvPr/>
        </p:nvSpPr>
        <p:spPr>
          <a:xfrm>
            <a:off x="3721608" y="4736592"/>
            <a:ext cx="527608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泵轴磨损</a:t>
            </a:r>
          </a:p>
        </p:txBody>
      </p:sp>
      <p:sp>
        <p:nvSpPr>
          <p:cNvPr id="37" name="Shape 37"/>
          <p:cNvSpPr/>
          <p:nvPr/>
        </p:nvSpPr>
        <p:spPr>
          <a:xfrm>
            <a:off x="9235440" y="4736592"/>
            <a:ext cx="2907792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8" name="WhyA 38"/>
          <p:cNvSpPr/>
          <p:nvPr/>
        </p:nvSpPr>
        <p:spPr>
          <a:xfrm>
            <a:off x="9363456" y="4736592"/>
            <a:ext cx="2651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拆：看磨损痕迹</a:t>
            </a:r>
          </a:p>
        </p:txBody>
      </p:sp>
      <p:sp>
        <p:nvSpPr>
          <p:cNvPr id="39" name="WhyK 39"/>
          <p:cNvSpPr/>
          <p:nvPr/>
        </p:nvSpPr>
        <p:spPr>
          <a:xfrm>
            <a:off x="1929384" y="5394960"/>
            <a:ext cx="1554480" cy="585216"/>
          </a:xfrm>
          <a:prstGeom prst="roundRect">
            <a:avLst>
              <a:gd name="adj" fmla="val 16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5</a:t>
            </a:r>
          </a:p>
        </p:txBody>
      </p:sp>
      <p:sp>
        <p:nvSpPr>
          <p:cNvPr id="40" name="Shape 40"/>
          <p:cNvSpPr/>
          <p:nvPr/>
        </p:nvSpPr>
        <p:spPr>
          <a:xfrm>
            <a:off x="3593592" y="5394960"/>
            <a:ext cx="5532120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1" name="WhyD 41"/>
          <p:cNvSpPr/>
          <p:nvPr/>
        </p:nvSpPr>
        <p:spPr>
          <a:xfrm>
            <a:off x="3721608" y="5394960"/>
            <a:ext cx="527608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没装过滤器，铁屑进入</a:t>
            </a:r>
          </a:p>
        </p:txBody>
      </p:sp>
      <p:sp>
        <p:nvSpPr>
          <p:cNvPr id="42" name="Shape 42"/>
          <p:cNvSpPr/>
          <p:nvPr/>
        </p:nvSpPr>
        <p:spPr>
          <a:xfrm>
            <a:off x="9235440" y="5394960"/>
            <a:ext cx="2907792" cy="5852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3" name="WhyA 43"/>
          <p:cNvSpPr/>
          <p:nvPr/>
        </p:nvSpPr>
        <p:spPr>
          <a:xfrm>
            <a:off x="9363456" y="5394960"/>
            <a:ext cx="2651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查：有无过滤器</a:t>
            </a:r>
          </a:p>
        </p:txBody>
      </p:sp>
      <p:sp>
        <p:nvSpPr>
          <p:cNvPr id="44" name="Shape 44"/>
          <p:cNvSpPr/>
          <p:nvPr/>
        </p:nvSpPr>
        <p:spPr>
          <a:xfrm>
            <a:off x="1929384" y="608990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5" name="Banner 45"/>
          <p:cNvSpPr/>
          <p:nvPr/>
        </p:nvSpPr>
        <p:spPr>
          <a:xfrm>
            <a:off x="2075688" y="608990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2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关键　</a:t>
            </a: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右边那一列才是重点——每问一次，都要有一个可以去现场做的验证动作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的四个陷阱：多数人第二层就掉进去了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掉进去的标志：对策变成“加强教育”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18653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问到人为止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4538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“为什么漏检？”→“员工不认真”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停。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人不是真因，人是结果。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继续问：为什么这个岗位容易漏检？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18653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单线思维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4538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只沿一条线往下问，忽略了同一层可能有两三个并列原因。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正确做法：每层都问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“还有别的可能吗”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078224"/>
            <a:ext cx="4983480" cy="18653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078224"/>
            <a:ext cx="4983480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跳步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462272"/>
            <a:ext cx="4800600" cy="14538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从第一层直接跳到心里那个答案。</a:t>
            </a:r>
            <a:b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表现：Why 之间没有逻辑必然性，倒着读读不通。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4078224"/>
            <a:ext cx="4983480" cy="18653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4078224"/>
            <a:ext cx="49834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不验证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51192" y="4462272"/>
            <a:ext cx="4800600" cy="14538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每一层都是推测，没有一层去现场看过。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结果：五层推理很漂亮，第一层就是错的。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608990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75688" y="608990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检验方法　</a:t>
            </a:r>
            <a:r>
              <a:rPr lang="zh-CN" altLang="en-US" sz="1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5 个 Why 倒着念一遍：“因为没装过滤器，所以泵轴磨损……”——念不通就是断了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 5M1E：先穷举，再收敛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一个人想不全，所以这一步必须一群人做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 Man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技能、经验、疲劳、交接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 Machine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精度、磨损、保养、参数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 Material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来料波动、批次、存放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694176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3694176"/>
            <a:ext cx="3282696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 Method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4078224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SOP、节拍、检验方法</a:t>
            </a:r>
          </a:p>
        </p:txBody>
      </p:sp>
      <p:sp>
        <p:nvSpPr>
          <p:cNvPr id="26" name="Shape 26"/>
          <p:cNvSpPr/>
          <p:nvPr/>
        </p:nvSpPr>
        <p:spPr>
          <a:xfrm>
            <a:off x="5394960" y="3694176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5394960" y="3694176"/>
            <a:ext cx="3282696" cy="365760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 Measurement</a:t>
            </a:r>
          </a:p>
        </p:txBody>
      </p:sp>
      <p:sp>
        <p:nvSpPr>
          <p:cNvPr id="28" name="CardBody 28"/>
          <p:cNvSpPr/>
          <p:nvPr/>
        </p:nvSpPr>
        <p:spPr>
          <a:xfrm>
            <a:off x="5486400" y="4078224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量具、校准、判定标准</a:t>
            </a:r>
          </a:p>
        </p:txBody>
      </p:sp>
      <p:sp>
        <p:nvSpPr>
          <p:cNvPr id="29" name="Shape 29"/>
          <p:cNvSpPr/>
          <p:nvPr/>
        </p:nvSpPr>
        <p:spPr>
          <a:xfrm>
            <a:off x="8860536" y="3694176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8860536" y="3694176"/>
            <a:ext cx="3282696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 Environment</a:t>
            </a:r>
          </a:p>
        </p:txBody>
      </p:sp>
      <p:sp>
        <p:nvSpPr>
          <p:cNvPr id="31" name="CardBody 31"/>
          <p:cNvSpPr/>
          <p:nvPr/>
        </p:nvSpPr>
        <p:spPr>
          <a:xfrm>
            <a:off x="8951976" y="4078224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温度、湿度、照明、振动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5321808"/>
            <a:ext cx="10213848" cy="1293327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1929384" y="5321808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画鱼骨图的三条纪律</a:t>
            </a:r>
          </a:p>
        </p:txBody>
      </p:sp>
      <p:sp>
        <p:nvSpPr>
          <p:cNvPr id="34" name="CardBody 34"/>
          <p:cNvSpPr/>
          <p:nvPr/>
        </p:nvSpPr>
        <p:spPr>
          <a:xfrm>
            <a:off x="2020824" y="5705856"/>
            <a:ext cx="10030968" cy="881847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先发散不评价：任何人提的原因都先写上去，当场否定会让后面没人再开口；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每根小骨都要能查：写“员工素质差”没法查，写“新人未做过 X 工序培训”可以查；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画完必须收敛：圈出 3~5 条最可疑的，逐条到现场验证——不验证的鱼骨图就是一张废纸。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4</a:t>
            </a:r>
          </a:p>
        </p:txBody>
      </p:sp>
      <p:sp>
        <p:nvSpPr>
          <p:cNvPr id="13" name="ScTitle 13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问到第三层，答案是“员工责任心不强”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某工序连续出现漏装弹簧片，班组长带着大家做 5Why：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Why1 为什么漏装？——员工没注意；Why2 为什么没注意？——工作不专心；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Why3 为什么不专心？——责任心不强。分析到此结束，对策是“加强责任心教育、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每日班前会强调”。一个月后，漏装从每周 3 件变成每周 4 件。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后来工艺员到现场站了两小时，发现：弹簧片和相邻的垫片外观极为接近，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两种零件放在相邻的两个料盒里，且料盒没有任何颜色或标识区分。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5Why 会停在“责任心”？怎样才能问下去？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继续加强教育、增加班前会强调频次、把漏装纳入个人绩效考核。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是/不是分析：用“边界”把原因逼出来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不只问哪里有问题，更要问哪里没有问题</a:t>
            </a:r>
          </a:p>
        </p:txBody>
      </p:sp>
      <p:sp>
        <p:nvSpPr>
          <p:cNvPr id="14" name="TH 14"/>
          <p:cNvSpPr/>
          <p:nvPr/>
        </p:nvSpPr>
        <p:spPr>
          <a:xfrm>
            <a:off x="1929384" y="2103120"/>
            <a:ext cx="10213848" cy="438912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　度　　　　　　　是（发生）　　　　　　　　　不是（没发生）　　　　　　　　差异在哪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578608"/>
            <a:ext cx="10213848" cy="62179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D1 16"/>
          <p:cNvSpPr/>
          <p:nvPr/>
        </p:nvSpPr>
        <p:spPr>
          <a:xfrm>
            <a:off x="2075688" y="2578608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</a:p>
        </p:txBody>
      </p:sp>
      <p:sp>
        <p:nvSpPr>
          <p:cNvPr id="17" name="D2 17"/>
          <p:cNvSpPr/>
          <p:nvPr/>
        </p:nvSpPr>
        <p:spPr>
          <a:xfrm>
            <a:off x="3886200" y="2578608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哪些产品有</a:t>
            </a:r>
          </a:p>
        </p:txBody>
      </p:sp>
      <p:sp>
        <p:nvSpPr>
          <p:cNvPr id="18" name="D3 18"/>
          <p:cNvSpPr/>
          <p:nvPr/>
        </p:nvSpPr>
        <p:spPr>
          <a:xfrm>
            <a:off x="6885432" y="2578608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哪些没有</a:t>
            </a:r>
          </a:p>
        </p:txBody>
      </p:sp>
      <p:sp>
        <p:nvSpPr>
          <p:cNvPr id="19" name="D4 19"/>
          <p:cNvSpPr/>
          <p:nvPr/>
        </p:nvSpPr>
        <p:spPr>
          <a:xfrm>
            <a:off x="9884664" y="2578608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差异即线索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236976"/>
            <a:ext cx="10213848" cy="621792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D1 21"/>
          <p:cNvSpPr/>
          <p:nvPr/>
        </p:nvSpPr>
        <p:spPr>
          <a:xfrm>
            <a:off x="2075688" y="3236976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</a:p>
        </p:txBody>
      </p:sp>
      <p:sp>
        <p:nvSpPr>
          <p:cNvPr id="22" name="D2 22"/>
          <p:cNvSpPr/>
          <p:nvPr/>
        </p:nvSpPr>
        <p:spPr>
          <a:xfrm>
            <a:off x="3886200" y="3236976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哪个工位有</a:t>
            </a:r>
          </a:p>
        </p:txBody>
      </p:sp>
      <p:sp>
        <p:nvSpPr>
          <p:cNvPr id="23" name="D3 23"/>
          <p:cNvSpPr/>
          <p:nvPr/>
        </p:nvSpPr>
        <p:spPr>
          <a:xfrm>
            <a:off x="6885432" y="3236976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哪个没有</a:t>
            </a:r>
          </a:p>
        </p:txBody>
      </p:sp>
      <p:sp>
        <p:nvSpPr>
          <p:cNvPr id="24" name="D4 24"/>
          <p:cNvSpPr/>
          <p:nvPr/>
        </p:nvSpPr>
        <p:spPr>
          <a:xfrm>
            <a:off x="9884664" y="3236976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差异即线索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3895344"/>
            <a:ext cx="10213848" cy="62179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D1 26"/>
          <p:cNvSpPr/>
          <p:nvPr/>
        </p:nvSpPr>
        <p:spPr>
          <a:xfrm>
            <a:off x="2075688" y="3895344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27" name="D2 27"/>
          <p:cNvSpPr/>
          <p:nvPr/>
        </p:nvSpPr>
        <p:spPr>
          <a:xfrm>
            <a:off x="3886200" y="3895344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什么时候开始</a:t>
            </a:r>
          </a:p>
        </p:txBody>
      </p:sp>
      <p:sp>
        <p:nvSpPr>
          <p:cNvPr id="28" name="D3 28"/>
          <p:cNvSpPr/>
          <p:nvPr/>
        </p:nvSpPr>
        <p:spPr>
          <a:xfrm>
            <a:off x="6885432" y="3895344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之前为什么没有</a:t>
            </a:r>
          </a:p>
        </p:txBody>
      </p:sp>
      <p:sp>
        <p:nvSpPr>
          <p:cNvPr id="29" name="D4 29"/>
          <p:cNvSpPr/>
          <p:nvPr/>
        </p:nvSpPr>
        <p:spPr>
          <a:xfrm>
            <a:off x="9884664" y="3895344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差异即线索</a:t>
            </a:r>
          </a:p>
        </p:txBody>
      </p:sp>
      <p:sp>
        <p:nvSpPr>
          <p:cNvPr id="30" name="Shape 30"/>
          <p:cNvSpPr/>
          <p:nvPr/>
        </p:nvSpPr>
        <p:spPr>
          <a:xfrm>
            <a:off x="1929384" y="4553712"/>
            <a:ext cx="10213848" cy="621792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D1 31"/>
          <p:cNvSpPr/>
          <p:nvPr/>
        </p:nvSpPr>
        <p:spPr>
          <a:xfrm>
            <a:off x="2075688" y="4553712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程度</a:t>
            </a:r>
          </a:p>
        </p:txBody>
      </p:sp>
      <p:sp>
        <p:nvSpPr>
          <p:cNvPr id="32" name="D2 32"/>
          <p:cNvSpPr/>
          <p:nvPr/>
        </p:nvSpPr>
        <p:spPr>
          <a:xfrm>
            <a:off x="3886200" y="4553712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多严重</a:t>
            </a:r>
          </a:p>
        </p:txBody>
      </p:sp>
      <p:sp>
        <p:nvSpPr>
          <p:cNvPr id="33" name="D3 33"/>
          <p:cNvSpPr/>
          <p:nvPr/>
        </p:nvSpPr>
        <p:spPr>
          <a:xfrm>
            <a:off x="6885432" y="4553712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为什么不是更严重</a:t>
            </a:r>
          </a:p>
        </p:txBody>
      </p:sp>
      <p:sp>
        <p:nvSpPr>
          <p:cNvPr id="34" name="D4 34"/>
          <p:cNvSpPr/>
          <p:nvPr/>
        </p:nvSpPr>
        <p:spPr>
          <a:xfrm>
            <a:off x="9884664" y="4553712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差异即线索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321808"/>
            <a:ext cx="10213848" cy="1293327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CardHead 36"/>
          <p:cNvSpPr/>
          <p:nvPr/>
        </p:nvSpPr>
        <p:spPr>
          <a:xfrm>
            <a:off x="1929384" y="5321808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为什么“不是”那一列更值钱</a:t>
            </a:r>
          </a:p>
        </p:txBody>
      </p:sp>
      <p:sp>
        <p:nvSpPr>
          <p:cNvPr id="37" name="CardBody 37"/>
          <p:cNvSpPr/>
          <p:nvPr/>
        </p:nvSpPr>
        <p:spPr>
          <a:xfrm>
            <a:off x="2020824" y="5705856"/>
            <a:ext cx="10030968" cy="881847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 A、B 两台机用同样的料、同样的程序、同样的人，A 出问题 B 不出，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那么真因一定在 A 和 B 的差异里——这个范围可能只剩两三个变量。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“不是”那一列，本质上是在帮你做排除法，比漫无边际地猜快得多。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三个够用的数据工具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不需要学统计，会看这三张图就够了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28895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直方图　看分布形状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24780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正常：中间高两边低</a:t>
            </a: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双峰：两台机/两班混在一起</a:t>
            </a: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偏斜：有系统性偏差</a:t>
            </a: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用途：判断是不是一个总体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28895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散布图　看两件事相关不相关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24780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横轴刀具使用时长纵轴尺寸偏差点子成一条斜线 → 高度相关</a:t>
            </a:r>
            <a:b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用途：验证你的假设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28895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趋势图　看随时间怎么变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24780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按小时/按班次画出来看是突变还是渐变突变→找那天改了什么渐变→找磨损、老化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084064"/>
            <a:ext cx="10213848" cy="15910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5084064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一条最实用的经验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468112"/>
            <a:ext cx="10030968" cy="117957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先画趋势图。突变和渐变对应完全不同的原因族：</a:t>
            </a:r>
          </a:p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突变一定是某个动作（换料、换人、改参数、修过设备）；渐变一定是某种消耗（磨损、老化、污染）。</a:t>
            </a:r>
          </a:p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光这一条判断，就能砍掉一半的可能原因。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怎么确认它就是真因？三个条件同时成立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少一个都不算，只能算“可疑原因”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①能解释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它能解释所有已观察到的事实，包括“为什么别的机台没有”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“为什么白班没有”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②能重现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人为制造这个条件，问题会再次出现。</a:t>
            </a:r>
            <a:b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这是最硬的证据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③能消除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去掉这个条件，问题消失；</a:t>
            </a:r>
            <a:b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恢复它，问题又回来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169664"/>
            <a:ext cx="10213848" cy="13716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169664"/>
            <a:ext cx="10213848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为什么“能重现”这一条最容易被跳过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4553712"/>
            <a:ext cx="10030968" cy="960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因为它要故意把不良做出来，很多人觉得是浪费。但不做这一步，你永远只是在赌。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实际做法：拿 3~5 件料，在受控条件下把你怀疑的因素还原一次，看问题是否出现。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半小时的验证，换的是不必要的对策投入和三个月后的复发。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68756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75688" y="568756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找到一个“很有道理”的原因时，最该做的不是立刻改，是先想办法把它证伪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5</a:t>
            </a:r>
          </a:p>
        </p:txBody>
      </p:sp>
      <p:sp>
        <p:nvSpPr>
          <p:cNvPr id="13" name="ScTitle 13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数据说是刀具的问题，老师傅说不是——最后谁对了？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0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某工序尺寸波动加大。技术员小周做了散布图：刀具使用时长与尺寸偏差高度相关，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zh-CN" altLang="en-US" sz="20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结论是刀具寿命设定过长，建议从 800 件缩短到 500 件。按此执行后，</a:t>
            </a:r>
            <a:r>
              <a:rPr lang="zh-CN" altLang="en-US" sz="20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不良率从 1.9% 降到 1.1%，但没有降到目标的 0.5%，且刀具成本上升 60%。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zh-CN" altLang="en-US" sz="20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干了 20 年的老张一直说“不是刀的事，是夹具”，但拿不出数据，没人采纳。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zh-CN" altLang="en-US" sz="20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两个月后设备大修，拆开发现夹具定位面已磨出 0.03mm 的凹坑——</a:t>
            </a:r>
            <a:r>
              <a:rPr lang="zh-CN" altLang="en-US" sz="205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刀具磨损会放大这个凹坑带来的偏差，所以两者确实相关，但真因是夹具。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数据没有错，相关性也是真的，为什么结论还是不对？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2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相信数据、不相信经验；或者反过来，相信老师傅、不看数据——二选一。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第二节小结：从现象到真因的四道关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每一道关都有一个必答的问题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39696"/>
            <a:ext cx="242316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第一关　穷举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23744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还有别的可能吗？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（5M1E 逐项过一遍）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39696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39696"/>
            <a:ext cx="2423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第二关　收敛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26864" y="2523744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 3 条最可疑？</a:t>
            </a:r>
            <a:b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凭什么？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39696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39696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第三关　验证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32904" y="2523744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去现场看了吗？</a:t>
            </a:r>
            <a:b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能重现吗？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39696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39696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第四关　判定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38944" y="2523744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三个条件都成立吗？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能解释、能重现、能消除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4206240"/>
            <a:ext cx="10213848" cy="14264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4206240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一个简单的自查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20824" y="4590288"/>
            <a:ext cx="10030968" cy="101498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把你找到的“真因”说给一个不了解情况的人听，然后问他：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“如果我把这个原因去掉，问题会不会消失？”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如果他反问“那为什么别的机台没事”而你答不上来——说明还没到真因。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5742432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Banner 30"/>
          <p:cNvSpPr/>
          <p:nvPr/>
        </p:nvSpPr>
        <p:spPr>
          <a:xfrm>
            <a:off x="2075688" y="5742432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第二节结论　</a:t>
            </a:r>
            <a:r>
              <a:rPr lang="zh-CN" altLang="en-US" sz="2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真因只有一个特征：去掉它，问题就不再发生——其余的都是可疑原因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工具卡：真因追查表（一页纸带到现场）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把分析过程写下来，别只留一个结论</a:t>
            </a:r>
          </a:p>
        </p:txBody>
      </p:sp>
      <p:sp>
        <p:nvSpPr>
          <p:cNvPr id="14" name="TH 14"/>
          <p:cNvSpPr/>
          <p:nvPr/>
        </p:nvSpPr>
        <p:spPr>
          <a:xfrm>
            <a:off x="1929384" y="2103120"/>
            <a:ext cx="10213848" cy="457200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 疑 原 因　　　　　验 证 方 法　　　　　　验 证 结 果　　　　　　是 否 排 除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596896"/>
            <a:ext cx="10213848" cy="566928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TC 16"/>
          <p:cNvSpPr/>
          <p:nvPr/>
        </p:nvSpPr>
        <p:spPr>
          <a:xfrm>
            <a:off x="2075688" y="259689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夹具定位面磨损</a:t>
            </a:r>
          </a:p>
        </p:txBody>
      </p:sp>
      <p:sp>
        <p:nvSpPr>
          <p:cNvPr id="17" name="TC 17"/>
          <p:cNvSpPr/>
          <p:nvPr/>
        </p:nvSpPr>
        <p:spPr>
          <a:xfrm>
            <a:off x="4617720" y="259689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拆下量凹坑深度</a:t>
            </a:r>
          </a:p>
        </p:txBody>
      </p:sp>
      <p:sp>
        <p:nvSpPr>
          <p:cNvPr id="18" name="TC 18"/>
          <p:cNvSpPr/>
          <p:nvPr/>
        </p:nvSpPr>
        <p:spPr>
          <a:xfrm>
            <a:off x="7159752" y="259689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 0.03mm 凹坑</a:t>
            </a:r>
          </a:p>
        </p:txBody>
      </p:sp>
      <p:sp>
        <p:nvSpPr>
          <p:cNvPr id="19" name="TC 19"/>
          <p:cNvSpPr/>
          <p:nvPr/>
        </p:nvSpPr>
        <p:spPr>
          <a:xfrm>
            <a:off x="9701784" y="2596896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保留：符合三条件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200400"/>
            <a:ext cx="10213848" cy="566928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TC 21"/>
          <p:cNvSpPr/>
          <p:nvPr/>
        </p:nvSpPr>
        <p:spPr>
          <a:xfrm>
            <a:off x="2075688" y="320040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刀具寿命设定过长</a:t>
            </a:r>
          </a:p>
        </p:txBody>
      </p:sp>
      <p:sp>
        <p:nvSpPr>
          <p:cNvPr id="22" name="TC 22"/>
          <p:cNvSpPr/>
          <p:nvPr/>
        </p:nvSpPr>
        <p:spPr>
          <a:xfrm>
            <a:off x="4617720" y="320040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换新刀试做 20 件</a:t>
            </a:r>
          </a:p>
        </p:txBody>
      </p:sp>
      <p:sp>
        <p:nvSpPr>
          <p:cNvPr id="23" name="TC 23"/>
          <p:cNvSpPr/>
          <p:nvPr/>
        </p:nvSpPr>
        <p:spPr>
          <a:xfrm>
            <a:off x="7159752" y="320040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偏差减小但未消失</a:t>
            </a:r>
          </a:p>
        </p:txBody>
      </p:sp>
      <p:sp>
        <p:nvSpPr>
          <p:cNvPr id="24" name="TC 24"/>
          <p:cNvSpPr/>
          <p:nvPr/>
        </p:nvSpPr>
        <p:spPr>
          <a:xfrm>
            <a:off x="9701784" y="320040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保留：非唯一源头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3803904"/>
            <a:ext cx="10213848" cy="566928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TC 26"/>
          <p:cNvSpPr/>
          <p:nvPr/>
        </p:nvSpPr>
        <p:spPr>
          <a:xfrm>
            <a:off x="2075688" y="380390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操作手法差异</a:t>
            </a:r>
          </a:p>
        </p:txBody>
      </p:sp>
      <p:sp>
        <p:nvSpPr>
          <p:cNvPr id="27" name="TC 27"/>
          <p:cNvSpPr/>
          <p:nvPr/>
        </p:nvSpPr>
        <p:spPr>
          <a:xfrm>
            <a:off x="4617720" y="380390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两人各做 10 件对比</a:t>
            </a:r>
          </a:p>
        </p:txBody>
      </p:sp>
      <p:sp>
        <p:nvSpPr>
          <p:cNvPr id="28" name="TC 28"/>
          <p:cNvSpPr/>
          <p:nvPr/>
        </p:nvSpPr>
        <p:spPr>
          <a:xfrm>
            <a:off x="7159752" y="380390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两人结果无差异</a:t>
            </a:r>
          </a:p>
        </p:txBody>
      </p:sp>
      <p:sp>
        <p:nvSpPr>
          <p:cNvPr id="29" name="TC 29"/>
          <p:cNvSpPr/>
          <p:nvPr/>
        </p:nvSpPr>
        <p:spPr>
          <a:xfrm>
            <a:off x="9701784" y="3803904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50" b="1" dirty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</a:t>
            </a:r>
          </a:p>
        </p:txBody>
      </p:sp>
      <p:sp>
        <p:nvSpPr>
          <p:cNvPr id="30" name="Shape 30"/>
          <p:cNvSpPr/>
          <p:nvPr/>
        </p:nvSpPr>
        <p:spPr>
          <a:xfrm>
            <a:off x="1929384" y="4407408"/>
            <a:ext cx="10213848" cy="566928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TC 31"/>
          <p:cNvSpPr/>
          <p:nvPr/>
        </p:nvSpPr>
        <p:spPr>
          <a:xfrm>
            <a:off x="2075688" y="440740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来料硬度波动</a:t>
            </a:r>
          </a:p>
        </p:txBody>
      </p:sp>
      <p:sp>
        <p:nvSpPr>
          <p:cNvPr id="32" name="TC 32"/>
          <p:cNvSpPr/>
          <p:nvPr/>
        </p:nvSpPr>
        <p:spPr>
          <a:xfrm>
            <a:off x="4617720" y="440740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查三批来料检验报告</a:t>
            </a:r>
          </a:p>
        </p:txBody>
      </p:sp>
      <p:sp>
        <p:nvSpPr>
          <p:cNvPr id="33" name="TC 33"/>
          <p:cNvSpPr/>
          <p:nvPr/>
        </p:nvSpPr>
        <p:spPr>
          <a:xfrm>
            <a:off x="7159752" y="440740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均在规格内</a:t>
            </a:r>
          </a:p>
        </p:txBody>
      </p:sp>
      <p:sp>
        <p:nvSpPr>
          <p:cNvPr id="34" name="TC 34"/>
          <p:cNvSpPr/>
          <p:nvPr/>
        </p:nvSpPr>
        <p:spPr>
          <a:xfrm>
            <a:off x="9701784" y="440740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50" b="1" dirty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010912"/>
            <a:ext cx="10213848" cy="566928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TC 36"/>
          <p:cNvSpPr/>
          <p:nvPr/>
        </p:nvSpPr>
        <p:spPr>
          <a:xfrm>
            <a:off x="2075688" y="50109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程序参数被改过</a:t>
            </a:r>
          </a:p>
        </p:txBody>
      </p:sp>
      <p:sp>
        <p:nvSpPr>
          <p:cNvPr id="37" name="TC 37"/>
          <p:cNvSpPr/>
          <p:nvPr/>
        </p:nvSpPr>
        <p:spPr>
          <a:xfrm>
            <a:off x="4617720" y="50109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调取机床修改日志</a:t>
            </a:r>
          </a:p>
        </p:txBody>
      </p:sp>
      <p:sp>
        <p:nvSpPr>
          <p:cNvPr id="38" name="TC 38"/>
          <p:cNvSpPr/>
          <p:nvPr/>
        </p:nvSpPr>
        <p:spPr>
          <a:xfrm>
            <a:off x="7159752" y="50109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近三月无修改记录</a:t>
            </a:r>
          </a:p>
        </p:txBody>
      </p:sp>
      <p:sp>
        <p:nvSpPr>
          <p:cNvPr id="39" name="TC 39"/>
          <p:cNvSpPr/>
          <p:nvPr/>
        </p:nvSpPr>
        <p:spPr>
          <a:xfrm>
            <a:off x="9701784" y="501091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750" b="1" dirty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</a:t>
            </a:r>
          </a:p>
        </p:txBody>
      </p:sp>
      <p:sp>
        <p:nvSpPr>
          <p:cNvPr id="40" name="Shape 40"/>
          <p:cNvSpPr/>
          <p:nvPr/>
        </p:nvSpPr>
        <p:spPr>
          <a:xfrm>
            <a:off x="1929384" y="5797296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1" name="Banner 41"/>
          <p:cNvSpPr/>
          <p:nvPr/>
        </p:nvSpPr>
        <p:spPr>
          <a:xfrm>
            <a:off x="2075688" y="5797296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关键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被排除的那几条同样要写下来——否则下次有人会重新提出同一个猜测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　对策与固化：让改善不反弹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改得好不算本事，三个月后还在才算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212848"/>
            <a:ext cx="1823314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拟对策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针对真因不是针对现象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212848"/>
            <a:ext cx="1823314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做评价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72738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效果/成本/难度打分排序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212848"/>
            <a:ext cx="1823314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先试点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0371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小范围验证再全面推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212848"/>
            <a:ext cx="1823314" cy="384048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立标准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68005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写进SOP和点检表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76148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212848"/>
            <a:ext cx="1823314" cy="10972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212848"/>
            <a:ext cx="1823314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做横展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65638" y="2615184"/>
            <a:ext cx="1731874" cy="667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同类工序同类设备一起改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639312"/>
            <a:ext cx="10213848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639312"/>
            <a:ext cx="10213848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改善反弹的三个真实原因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20824" y="4023360"/>
            <a:ext cx="10030968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对策依赖人的自觉——人一忙就退回原样；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对策没写进标准——推动的人一调岗，做法就失传；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只改了这一处——同样的问题在别的机台、别的班次继续发生。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532180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75688" y="532180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核心判断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好对策的标准只有一条：没有人盯着的时候，它照样成立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对策的四个层次：越往下越治本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大多数班组的对策停在第一、二层</a:t>
            </a:r>
          </a:p>
        </p:txBody>
      </p:sp>
      <p:sp>
        <p:nvSpPr>
          <p:cNvPr id="14" name="LV 14"/>
          <p:cNvSpPr/>
          <p:nvPr/>
        </p:nvSpPr>
        <p:spPr>
          <a:xfrm>
            <a:off x="1929384" y="2103120"/>
            <a:ext cx="2377440" cy="896112"/>
          </a:xfrm>
          <a:prstGeom prst="roundRect">
            <a:avLst>
              <a:gd name="adj" fmla="val 12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第一层　强调</a:t>
            </a:r>
          </a:p>
        </p:txBody>
      </p:sp>
      <p:sp>
        <p:nvSpPr>
          <p:cNvPr id="15" name="Shape 15"/>
          <p:cNvSpPr/>
          <p:nvPr/>
        </p:nvSpPr>
        <p:spPr>
          <a:xfrm>
            <a:off x="4434840" y="210312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LVW 16"/>
          <p:cNvSpPr/>
          <p:nvPr/>
        </p:nvSpPr>
        <p:spPr>
          <a:xfrm>
            <a:off x="4562856" y="2103120"/>
            <a:ext cx="344728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开会讲、贴标语、班前会强调</a:t>
            </a:r>
          </a:p>
        </p:txBody>
      </p:sp>
      <p:sp>
        <p:nvSpPr>
          <p:cNvPr id="17" name="Shape 17"/>
          <p:cNvSpPr/>
          <p:nvPr/>
        </p:nvSpPr>
        <p:spPr>
          <a:xfrm>
            <a:off x="8266176" y="2103120"/>
            <a:ext cx="387705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LVE 18"/>
          <p:cNvSpPr/>
          <p:nvPr/>
        </p:nvSpPr>
        <p:spPr>
          <a:xfrm>
            <a:off x="8394192" y="2103120"/>
            <a:ext cx="362102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有效期：约 3 天完全依赖记忆和自觉</a:t>
            </a:r>
          </a:p>
        </p:txBody>
      </p:sp>
      <p:sp>
        <p:nvSpPr>
          <p:cNvPr id="19" name="LV 19"/>
          <p:cNvSpPr/>
          <p:nvPr/>
        </p:nvSpPr>
        <p:spPr>
          <a:xfrm>
            <a:off x="1929384" y="3108960"/>
            <a:ext cx="2377440" cy="896112"/>
          </a:xfrm>
          <a:prstGeom prst="roundRect">
            <a:avLst>
              <a:gd name="adj" fmla="val 12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第二层　检查</a:t>
            </a:r>
          </a:p>
        </p:txBody>
      </p:sp>
      <p:sp>
        <p:nvSpPr>
          <p:cNvPr id="20" name="Shape 20"/>
          <p:cNvSpPr/>
          <p:nvPr/>
        </p:nvSpPr>
        <p:spPr>
          <a:xfrm>
            <a:off x="4434840" y="310896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LVW 21"/>
          <p:cNvSpPr/>
          <p:nvPr/>
        </p:nvSpPr>
        <p:spPr>
          <a:xfrm>
            <a:off x="4562856" y="3108960"/>
            <a:ext cx="344728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加抽检、加巡检、加一道全检</a:t>
            </a:r>
          </a:p>
        </p:txBody>
      </p:sp>
      <p:sp>
        <p:nvSpPr>
          <p:cNvPr id="22" name="Shape 22"/>
          <p:cNvSpPr/>
          <p:nvPr/>
        </p:nvSpPr>
        <p:spPr>
          <a:xfrm>
            <a:off x="8266176" y="3108960"/>
            <a:ext cx="387705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LVE 23"/>
          <p:cNvSpPr/>
          <p:nvPr/>
        </p:nvSpPr>
        <p:spPr>
          <a:xfrm>
            <a:off x="8394192" y="3108960"/>
            <a:ext cx="362102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有效期：只要还在检就有效成本持续、不减少发生</a:t>
            </a:r>
          </a:p>
        </p:txBody>
      </p:sp>
      <p:sp>
        <p:nvSpPr>
          <p:cNvPr id="24" name="LV 24"/>
          <p:cNvSpPr/>
          <p:nvPr/>
        </p:nvSpPr>
        <p:spPr>
          <a:xfrm>
            <a:off x="1929384" y="4114800"/>
            <a:ext cx="2377440" cy="89611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第三层　提示</a:t>
            </a:r>
          </a:p>
        </p:txBody>
      </p:sp>
      <p:sp>
        <p:nvSpPr>
          <p:cNvPr id="25" name="Shape 25"/>
          <p:cNvSpPr/>
          <p:nvPr/>
        </p:nvSpPr>
        <p:spPr>
          <a:xfrm>
            <a:off x="4434840" y="411480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LVW 26"/>
          <p:cNvSpPr/>
          <p:nvPr/>
        </p:nvSpPr>
        <p:spPr>
          <a:xfrm>
            <a:off x="4562856" y="4114800"/>
            <a:ext cx="344728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贴样板、做标识、加颜色区分、加提示灯</a:t>
            </a:r>
          </a:p>
        </p:txBody>
      </p:sp>
      <p:sp>
        <p:nvSpPr>
          <p:cNvPr id="27" name="Shape 27"/>
          <p:cNvSpPr/>
          <p:nvPr/>
        </p:nvSpPr>
        <p:spPr>
          <a:xfrm>
            <a:off x="8266176" y="4114800"/>
            <a:ext cx="387705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LVE 28"/>
          <p:cNvSpPr/>
          <p:nvPr/>
        </p:nvSpPr>
        <p:spPr>
          <a:xfrm>
            <a:off x="8394192" y="4114800"/>
            <a:ext cx="362102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有效期：较长降低出错概率，但没杜绝</a:t>
            </a:r>
          </a:p>
        </p:txBody>
      </p:sp>
      <p:sp>
        <p:nvSpPr>
          <p:cNvPr id="29" name="LV 29"/>
          <p:cNvSpPr/>
          <p:nvPr/>
        </p:nvSpPr>
        <p:spPr>
          <a:xfrm>
            <a:off x="1929384" y="5120640"/>
            <a:ext cx="2377440" cy="896112"/>
          </a:xfrm>
          <a:prstGeom prst="roundRect">
            <a:avLst>
              <a:gd name="adj" fmla="val 12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第四层　防错</a:t>
            </a:r>
          </a:p>
        </p:txBody>
      </p:sp>
      <p:sp>
        <p:nvSpPr>
          <p:cNvPr id="30" name="Shape 30"/>
          <p:cNvSpPr/>
          <p:nvPr/>
        </p:nvSpPr>
        <p:spPr>
          <a:xfrm>
            <a:off x="4434840" y="512064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LVW 31"/>
          <p:cNvSpPr/>
          <p:nvPr/>
        </p:nvSpPr>
        <p:spPr>
          <a:xfrm>
            <a:off x="4562856" y="5120640"/>
            <a:ext cx="344728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装错就装不进、漏做就走不到下一步</a:t>
            </a:r>
          </a:p>
        </p:txBody>
      </p:sp>
      <p:sp>
        <p:nvSpPr>
          <p:cNvPr id="32" name="Shape 32"/>
          <p:cNvSpPr/>
          <p:nvPr/>
        </p:nvSpPr>
        <p:spPr>
          <a:xfrm>
            <a:off x="8266176" y="5120640"/>
            <a:ext cx="387705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LVE 33"/>
          <p:cNvSpPr/>
          <p:nvPr/>
        </p:nvSpPr>
        <p:spPr>
          <a:xfrm>
            <a:off x="8394192" y="5120640"/>
            <a:ext cx="362102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有效期：永久从物理上让错误做不出来</a:t>
            </a:r>
          </a:p>
        </p:txBody>
      </p:sp>
      <p:sp>
        <p:nvSpPr>
          <p:cNvPr id="34" name="Shape 34"/>
          <p:cNvSpPr/>
          <p:nvPr/>
        </p:nvSpPr>
        <p:spPr>
          <a:xfrm>
            <a:off x="1929384" y="608990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5" name="Banner 35"/>
          <p:cNvSpPr/>
          <p:nvPr/>
        </p:nvSpPr>
        <p:spPr>
          <a:xfrm>
            <a:off x="2075688" y="608990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“加强教育”不是最容易的对策，是最贵的对策——它的成本被摊到了未来每一天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防错法 Poka-Yoke：让错误做不出来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六种在车间最好用的防错思路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断根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从根本上消除出错的可能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非对称设计：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装反就装不进去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保险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必须几个条件同时满足才能进行安全门没关设备就不能启动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用机器代替人的判断扭矩扳手到值自动跳停并计数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803904"/>
            <a:ext cx="3282696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3803904"/>
            <a:ext cx="3282696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相符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4187952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用比对来检查正误用样板卡一下对不上就是错的</a:t>
            </a:r>
          </a:p>
        </p:txBody>
      </p:sp>
      <p:sp>
        <p:nvSpPr>
          <p:cNvPr id="26" name="Shape 26"/>
          <p:cNvSpPr/>
          <p:nvPr/>
        </p:nvSpPr>
        <p:spPr>
          <a:xfrm>
            <a:off x="5394960" y="3803904"/>
            <a:ext cx="3282696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5394960" y="3803904"/>
            <a:ext cx="3282696" cy="365760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</a:t>
            </a:r>
          </a:p>
        </p:txBody>
      </p:sp>
      <p:sp>
        <p:nvSpPr>
          <p:cNvPr id="28" name="CardBody 28"/>
          <p:cNvSpPr/>
          <p:nvPr/>
        </p:nvSpPr>
        <p:spPr>
          <a:xfrm>
            <a:off x="5486400" y="4187952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按步骤锁定不能跳步上一步没扫码下一步不放行</a:t>
            </a:r>
          </a:p>
        </p:txBody>
      </p:sp>
      <p:sp>
        <p:nvSpPr>
          <p:cNvPr id="29" name="Shape 29"/>
          <p:cNvSpPr/>
          <p:nvPr/>
        </p:nvSpPr>
        <p:spPr>
          <a:xfrm>
            <a:off x="8860536" y="3803904"/>
            <a:ext cx="3282696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8860536" y="3803904"/>
            <a:ext cx="3282696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</a:t>
            </a:r>
          </a:p>
        </p:txBody>
      </p:sp>
      <p:sp>
        <p:nvSpPr>
          <p:cNvPr id="31" name="CardBody 31"/>
          <p:cNvSpPr/>
          <p:nvPr/>
        </p:nvSpPr>
        <p:spPr>
          <a:xfrm>
            <a:off x="8951976" y="4187952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把不同的东西物理分开相似零件不同颜色料盒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5541264"/>
            <a:ext cx="10213848" cy="102376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1929384" y="5541264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选防错方案的顺序</a:t>
            </a:r>
          </a:p>
        </p:txBody>
      </p:sp>
      <p:sp>
        <p:nvSpPr>
          <p:cNvPr id="34" name="CardBody 34"/>
          <p:cNvSpPr/>
          <p:nvPr/>
        </p:nvSpPr>
        <p:spPr>
          <a:xfrm>
            <a:off x="2020824" y="5925312"/>
            <a:ext cx="10030968" cy="61228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先想“断根”，做不到再想“保险”，再不行才用“相符”和“隔离”——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越靠前的方案越不依赖人，成本往往还更低。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对策评价矩阵：好想法不等于该现在做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四个维度打分，避免“谁提的听谁的”</a:t>
            </a:r>
          </a:p>
        </p:txBody>
      </p:sp>
      <p:sp>
        <p:nvSpPr>
          <p:cNvPr id="14" name="TH 14"/>
          <p:cNvSpPr/>
          <p:nvPr/>
        </p:nvSpPr>
        <p:spPr>
          <a:xfrm>
            <a:off x="1929384" y="2103120"/>
            <a:ext cx="10213848" cy="457200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　　策　　　　效果　可行性　成本　时间　合计　　　结　　论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596896"/>
            <a:ext cx="10213848" cy="603504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OA 16"/>
          <p:cNvSpPr/>
          <p:nvPr/>
        </p:nvSpPr>
        <p:spPr>
          <a:xfrm>
            <a:off x="2057400" y="2596896"/>
            <a:ext cx="3529584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更换夹具定位块并定寿命标准</a:t>
            </a:r>
          </a:p>
        </p:txBody>
      </p:sp>
      <p:sp>
        <p:nvSpPr>
          <p:cNvPr id="17" name="OS 17"/>
          <p:cNvSpPr/>
          <p:nvPr/>
        </p:nvSpPr>
        <p:spPr>
          <a:xfrm>
            <a:off x="5678424" y="259689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18" name="OS 18"/>
          <p:cNvSpPr/>
          <p:nvPr/>
        </p:nvSpPr>
        <p:spPr>
          <a:xfrm>
            <a:off x="6464808" y="259689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19" name="OS 19"/>
          <p:cNvSpPr/>
          <p:nvPr/>
        </p:nvSpPr>
        <p:spPr>
          <a:xfrm>
            <a:off x="7251192" y="259689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0" name="OS 20"/>
          <p:cNvSpPr/>
          <p:nvPr/>
        </p:nvSpPr>
        <p:spPr>
          <a:xfrm>
            <a:off x="8037576" y="259689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1" name="OT 21"/>
          <p:cNvSpPr/>
          <p:nvPr/>
        </p:nvSpPr>
        <p:spPr>
          <a:xfrm>
            <a:off x="8878824" y="2596896"/>
            <a:ext cx="777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</a:p>
        </p:txBody>
      </p:sp>
      <p:sp>
        <p:nvSpPr>
          <p:cNvPr id="22" name="OC 22"/>
          <p:cNvSpPr/>
          <p:nvPr/>
        </p:nvSpPr>
        <p:spPr>
          <a:xfrm>
            <a:off x="9747504" y="2596896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本周实施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236976"/>
            <a:ext cx="10213848" cy="603504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OA 24"/>
          <p:cNvSpPr/>
          <p:nvPr/>
        </p:nvSpPr>
        <p:spPr>
          <a:xfrm>
            <a:off x="2057400" y="3236976"/>
            <a:ext cx="3529584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刀具寿命由800件改为600件</a:t>
            </a:r>
          </a:p>
        </p:txBody>
      </p:sp>
      <p:sp>
        <p:nvSpPr>
          <p:cNvPr id="25" name="OS 25"/>
          <p:cNvSpPr/>
          <p:nvPr/>
        </p:nvSpPr>
        <p:spPr>
          <a:xfrm>
            <a:off x="5678424" y="323697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6" name="OS 26"/>
          <p:cNvSpPr/>
          <p:nvPr/>
        </p:nvSpPr>
        <p:spPr>
          <a:xfrm>
            <a:off x="6464808" y="323697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27" name="OS 27"/>
          <p:cNvSpPr/>
          <p:nvPr/>
        </p:nvSpPr>
        <p:spPr>
          <a:xfrm>
            <a:off x="7251192" y="323697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8" name="OS 28"/>
          <p:cNvSpPr/>
          <p:nvPr/>
        </p:nvSpPr>
        <p:spPr>
          <a:xfrm>
            <a:off x="8037576" y="323697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29" name="OT 29"/>
          <p:cNvSpPr/>
          <p:nvPr/>
        </p:nvSpPr>
        <p:spPr>
          <a:xfrm>
            <a:off x="8878824" y="3236976"/>
            <a:ext cx="777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</a:p>
        </p:txBody>
      </p:sp>
      <p:sp>
        <p:nvSpPr>
          <p:cNvPr id="30" name="OC 30"/>
          <p:cNvSpPr/>
          <p:nvPr/>
        </p:nvSpPr>
        <p:spPr>
          <a:xfrm>
            <a:off x="9747504" y="3236976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同步实施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3877056"/>
            <a:ext cx="10213848" cy="603504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OA 32"/>
          <p:cNvSpPr/>
          <p:nvPr/>
        </p:nvSpPr>
        <p:spPr>
          <a:xfrm>
            <a:off x="2057400" y="3877056"/>
            <a:ext cx="3529584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增加一道全尺寸检验</a:t>
            </a:r>
          </a:p>
        </p:txBody>
      </p:sp>
      <p:sp>
        <p:nvSpPr>
          <p:cNvPr id="33" name="OS 33"/>
          <p:cNvSpPr/>
          <p:nvPr/>
        </p:nvSpPr>
        <p:spPr>
          <a:xfrm>
            <a:off x="5678424" y="387705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4" name="OS 34"/>
          <p:cNvSpPr/>
          <p:nvPr/>
        </p:nvSpPr>
        <p:spPr>
          <a:xfrm>
            <a:off x="6464808" y="387705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35" name="OS 35"/>
          <p:cNvSpPr/>
          <p:nvPr/>
        </p:nvSpPr>
        <p:spPr>
          <a:xfrm>
            <a:off x="7251192" y="387705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36" name="OS 36"/>
          <p:cNvSpPr/>
          <p:nvPr/>
        </p:nvSpPr>
        <p:spPr>
          <a:xfrm>
            <a:off x="8037576" y="387705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37" name="OT 37"/>
          <p:cNvSpPr/>
          <p:nvPr/>
        </p:nvSpPr>
        <p:spPr>
          <a:xfrm>
            <a:off x="8878824" y="3877056"/>
            <a:ext cx="777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</a:p>
        </p:txBody>
      </p:sp>
      <p:sp>
        <p:nvSpPr>
          <p:cNvPr id="38" name="OC 38"/>
          <p:cNvSpPr/>
          <p:nvPr/>
        </p:nvSpPr>
        <p:spPr>
          <a:xfrm>
            <a:off x="9747504" y="3877056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不采纳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4517136"/>
            <a:ext cx="10213848" cy="603504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OA 40"/>
          <p:cNvSpPr/>
          <p:nvPr/>
        </p:nvSpPr>
        <p:spPr>
          <a:xfrm>
            <a:off x="2057400" y="4517136"/>
            <a:ext cx="3529584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整线更换新型高精度机床</a:t>
            </a:r>
          </a:p>
        </p:txBody>
      </p:sp>
      <p:sp>
        <p:nvSpPr>
          <p:cNvPr id="41" name="OS 41"/>
          <p:cNvSpPr/>
          <p:nvPr/>
        </p:nvSpPr>
        <p:spPr>
          <a:xfrm>
            <a:off x="5678424" y="451713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42" name="OS 42"/>
          <p:cNvSpPr/>
          <p:nvPr/>
        </p:nvSpPr>
        <p:spPr>
          <a:xfrm>
            <a:off x="6464808" y="451713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43" name="OS 43"/>
          <p:cNvSpPr/>
          <p:nvPr/>
        </p:nvSpPr>
        <p:spPr>
          <a:xfrm>
            <a:off x="7251192" y="451713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44" name="OS 44"/>
          <p:cNvSpPr/>
          <p:nvPr/>
        </p:nvSpPr>
        <p:spPr>
          <a:xfrm>
            <a:off x="8037576" y="4517136"/>
            <a:ext cx="7315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45" name="OT 45"/>
          <p:cNvSpPr/>
          <p:nvPr/>
        </p:nvSpPr>
        <p:spPr>
          <a:xfrm>
            <a:off x="8878824" y="4517136"/>
            <a:ext cx="777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46" name="OC 46"/>
          <p:cNvSpPr/>
          <p:nvPr/>
        </p:nvSpPr>
        <p:spPr>
          <a:xfrm>
            <a:off x="9747504" y="4517136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列入年度预算</a:t>
            </a:r>
          </a:p>
        </p:txBody>
      </p:sp>
      <p:sp>
        <p:nvSpPr>
          <p:cNvPr id="47" name="Shape 47"/>
          <p:cNvSpPr/>
          <p:nvPr/>
        </p:nvSpPr>
        <p:spPr>
          <a:xfrm>
            <a:off x="1929384" y="5230368"/>
            <a:ext cx="10213848" cy="12801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8" name="CardHead 48"/>
          <p:cNvSpPr/>
          <p:nvPr/>
        </p:nvSpPr>
        <p:spPr>
          <a:xfrm>
            <a:off x="1929384" y="5230368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打分说明与一条纪律</a:t>
            </a:r>
          </a:p>
        </p:txBody>
      </p:sp>
      <p:sp>
        <p:nvSpPr>
          <p:cNvPr id="49" name="CardBody 49"/>
          <p:cNvSpPr/>
          <p:nvPr/>
        </p:nvSpPr>
        <p:spPr>
          <a:xfrm>
            <a:off x="2020824" y="5614416"/>
            <a:ext cx="10030968" cy="86868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 1~5 分：效果＝对真因的针对性；可行性＝班组自己能不能做；成本＝含长期人工；时间＝多快能上。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纪律：得分最低的也要写进表里并注明结论——否则同一个想法会在下次会上被重新提一遍。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6</a:t>
            </a:r>
          </a:p>
        </p:txBody>
      </p:sp>
      <p:sp>
        <p:nvSpPr>
          <p:cNvPr id="13" name="ScTitle 13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对策全是“加强、增加、严格”，三个月后原样返回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某班组针对漏装问题开了改善会，产出 5 条对策：加强班前会宣导、增加自检一次、</a:t>
            </a: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严格执行首件确认、加强新人培训、增加班组长巡检频次。全部落实，当月漏装归零。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第二个月漏装 1 件，第三个月 4 件，第四个月回到改善前的水平。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班组长很困惑：“对策都执行了啊，是大家又松懈了。”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车间主任问了一个问题：“如果今天来了一个完全不知道这件事的新人，</a:t>
            </a:r>
            <a:r>
              <a:rPr lang="zh-CN" altLang="en-US" sz="20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他会不会犯同样的错？”班组长愣了一下——会。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五条对策都执行了，为什么还是反弹？主任那个问题问的是什么？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重新强调一遍、把执行情况纳入考核、增加检查频次——沿着同一条路再来一遍。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先试点，再推广：不试点的全面推行，风险极高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试点不是走过场，是找出方案的漏洞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20665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试点要回答的四个问题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6550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效果有没有？数据变了多少？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有没有副作用？别的指标掉了吗？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执行难不难？多花多少时间？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有没有漏掉的场景？换型、急单、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夜班时还成立吗？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20665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试点的三个设计要点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6550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选有代表性的：别选最好的那条线，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要选中等水平的；</a:t>
            </a:r>
          </a:p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时间要够：至少覆盖一个完整周期，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含换型和夜班；</a:t>
            </a:r>
          </a:p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留对照：同期看没试点的那条线，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才知道改善是不是真的。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97680"/>
            <a:ext cx="10213848" cy="14264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97680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试点期最重要的一件事：收集“做不到”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681728"/>
            <a:ext cx="10030968" cy="101498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试点期的目的不是证明方案好，是把方案的问题找出来。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所以要明确告诉大家：这一周你们的任务是找茬——哪一条做不到、为什么做不到，都记下来。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把“找茬”变成本职，比事后抱怨有价值得多。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7044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75688" y="587044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试点期数据太漂亮反而要警惕——通常是因为大家知道在被观察（霍桑效应）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PDCA 之后是 SDCA：改善的成果靠标准锁住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 S，PDCA 转一圈就回到原点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2347722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39696"/>
            <a:ext cx="2347722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标准化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542032"/>
            <a:ext cx="2256282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把有效做法写成SOP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4313682" y="269748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551426" y="2139696"/>
            <a:ext cx="2347722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551426" y="2139696"/>
            <a:ext cx="2347722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执行</a:t>
            </a:r>
          </a:p>
        </p:txBody>
      </p:sp>
      <p:sp>
        <p:nvSpPr>
          <p:cNvPr id="20" name="FlowBody 20"/>
          <p:cNvSpPr/>
          <p:nvPr/>
        </p:nvSpPr>
        <p:spPr>
          <a:xfrm>
            <a:off x="4597146" y="2542032"/>
            <a:ext cx="2256282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按标准做全员培训到位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6935724" y="269748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7173468" y="2139696"/>
            <a:ext cx="2347722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7173468" y="2139696"/>
            <a:ext cx="2347722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检查</a:t>
            </a:r>
          </a:p>
        </p:txBody>
      </p:sp>
      <p:sp>
        <p:nvSpPr>
          <p:cNvPr id="24" name="FlowBody 24"/>
          <p:cNvSpPr/>
          <p:nvPr/>
        </p:nvSpPr>
        <p:spPr>
          <a:xfrm>
            <a:off x="7219188" y="2542032"/>
            <a:ext cx="2256282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定期查有没有按标准做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9557766" y="269748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9795510" y="2139696"/>
            <a:ext cx="2347722" cy="11155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9795510" y="2139696"/>
            <a:ext cx="2347722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处置</a:t>
            </a:r>
          </a:p>
        </p:txBody>
      </p:sp>
      <p:sp>
        <p:nvSpPr>
          <p:cNvPr id="28" name="FlowBody 28"/>
          <p:cNvSpPr/>
          <p:nvPr/>
        </p:nvSpPr>
        <p:spPr>
          <a:xfrm>
            <a:off x="9841230" y="2542032"/>
            <a:ext cx="2256282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偏差纠正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标准不合理就改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3493008"/>
            <a:ext cx="4983480" cy="183245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1929384" y="3493008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标准化要写清楚的五件事</a:t>
            </a:r>
          </a:p>
        </p:txBody>
      </p:sp>
      <p:sp>
        <p:nvSpPr>
          <p:cNvPr id="31" name="CardBody 31"/>
          <p:cNvSpPr/>
          <p:nvPr/>
        </p:nvSpPr>
        <p:spPr>
          <a:xfrm>
            <a:off x="2020824" y="3877056"/>
            <a:ext cx="4800600" cy="142097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做什么：具体动作，不是原则；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做到什么程度：数值和判定方法；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什么时候做：频次和时点；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谁来做、谁来查；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异常了找谁、多久内响应。</a:t>
            </a:r>
          </a:p>
        </p:txBody>
      </p:sp>
      <p:sp>
        <p:nvSpPr>
          <p:cNvPr id="32" name="Shape 32"/>
          <p:cNvSpPr/>
          <p:nvPr/>
        </p:nvSpPr>
        <p:spPr>
          <a:xfrm>
            <a:off x="7159752" y="3493008"/>
            <a:ext cx="4983480" cy="17739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7159752" y="3493008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标准写了没人用的三个原因</a:t>
            </a:r>
          </a:p>
        </p:txBody>
      </p:sp>
      <p:sp>
        <p:nvSpPr>
          <p:cNvPr id="34" name="CardBody 34"/>
          <p:cNvSpPr/>
          <p:nvPr/>
        </p:nvSpPr>
        <p:spPr>
          <a:xfrm>
            <a:off x="7251192" y="3877056"/>
            <a:ext cx="4800600" cy="1362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太长：写成十页，没人看；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太远：锁在文件柜，不在工位上；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没参与：写的人和做的人不是一批人。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解法：一页纸、贴现场、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让操作者参与写。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41324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Banner 36"/>
          <p:cNvSpPr/>
          <p:nvPr/>
        </p:nvSpPr>
        <p:spPr>
          <a:xfrm>
            <a:off x="2075688" y="541324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1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改善的成果不写进标准，就只是这一批人的临时表现，不是班组的能力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水平展开：一次改善，多处受益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同样的坑，别让别的班组再踩一次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按设备横展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同型号的其他机台是否存在同样隐患？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例：3 号机夹具磨损，1、2、4、5 号机是否也接近寿命？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按产品横展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相似结构的其他产品是否有同类风险？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例：这个规格会装反，同系列其他规格是不是也会？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按班次横展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白班改了，夜班知道吗？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例：白班改了标准，夜班还按老办法做，数据会互相抵消。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224528"/>
            <a:ext cx="10213848" cy="14264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224528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横展的落地动作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4608576"/>
            <a:ext cx="10030968" cy="101498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出一份《横展检查表》：列出所有同类对象，逐个打勾确认；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指定完成时限和确认人，不是发个通知就算；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一个月后回查：抽两个横展点位到现场看，是真改了还是只在表上改了。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797296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75688" y="5797296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一次改善只解决一个点，是效率最低的改善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效果确认：不只看指标降了没有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四个维度确认，才算真正结案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2423160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242316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有形成果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2240280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不良率、工时、成本、交付准时率</a:t>
            </a:r>
            <a:b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——能算成钱的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21408"/>
            <a:ext cx="2423160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21408"/>
            <a:ext cx="2423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无形成果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26864" y="2505456"/>
            <a:ext cx="2240280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员工技能、班组协作、问题意识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21408"/>
            <a:ext cx="2423160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21408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副作用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32904" y="2505456"/>
            <a:ext cx="2240280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别的指标有没有变差？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新的麻烦有没有？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21408"/>
            <a:ext cx="2423160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21408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持续性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38944" y="2505456"/>
            <a:ext cx="2240280" cy="15636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一个月后还在吗？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三个月后呢？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——这一条最关键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4242816"/>
            <a:ext cx="10213848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4242816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效果确认的两条纪律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20824" y="4626864"/>
            <a:ext cx="10030968" cy="1051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用改善前同样的口径统计——口径一变，数据就没有可比性，这是最常见的自欺；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至少确认两次：结案时一次、三个月后一次。三个月后那一次才是真正的判决，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很多“成功案例”是在第二次确认时才现原形的。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581558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Banner 30"/>
          <p:cNvSpPr/>
          <p:nvPr/>
        </p:nvSpPr>
        <p:spPr>
          <a:xfrm>
            <a:off x="2075688" y="581558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改善结案不是终点，是开始计时——三个月后还在，才算数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报告：一页纸讲清楚一个问题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左边讲清问题，右边讲清对策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4983480" cy="89611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背景　为什么做这件事</a:t>
            </a:r>
          </a:p>
        </p:txBody>
      </p:sp>
      <p:sp>
        <p:nvSpPr>
          <p:cNvPr id="16" name="Shape 16"/>
          <p:cNvSpPr/>
          <p:nvPr/>
        </p:nvSpPr>
        <p:spPr>
          <a:xfrm>
            <a:off x="1929384" y="3108960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7" name="CardHead 17"/>
          <p:cNvSpPr/>
          <p:nvPr/>
        </p:nvSpPr>
        <p:spPr>
          <a:xfrm>
            <a:off x="1929384" y="3108960"/>
            <a:ext cx="4983480" cy="89611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现状　数据、层别、柏拉图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4096512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4096512"/>
            <a:ext cx="4983480" cy="89611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目标　基线→目标值→期限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5084064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5084064"/>
            <a:ext cx="4983480" cy="89611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真因分析　5Why / 鱼骨 + 验证结果</a:t>
            </a:r>
          </a:p>
        </p:txBody>
      </p:sp>
      <p:sp>
        <p:nvSpPr>
          <p:cNvPr id="22" name="Shape 22"/>
          <p:cNvSpPr/>
          <p:nvPr/>
        </p:nvSpPr>
        <p:spPr>
          <a:xfrm>
            <a:off x="7159752" y="2121408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CardHead 23"/>
          <p:cNvSpPr/>
          <p:nvPr/>
        </p:nvSpPr>
        <p:spPr>
          <a:xfrm>
            <a:off x="7159752" y="2121408"/>
            <a:ext cx="4983480" cy="8961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对策　针对真因，含评价打分</a:t>
            </a:r>
          </a:p>
        </p:txBody>
      </p:sp>
      <p:sp>
        <p:nvSpPr>
          <p:cNvPr id="24" name="Shape 24"/>
          <p:cNvSpPr/>
          <p:nvPr/>
        </p:nvSpPr>
        <p:spPr>
          <a:xfrm>
            <a:off x="7159752" y="3108960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9752" y="3108960"/>
            <a:ext cx="4983480" cy="8961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实施计划　谁、做什么、何时完成</a:t>
            </a:r>
          </a:p>
        </p:txBody>
      </p:sp>
      <p:sp>
        <p:nvSpPr>
          <p:cNvPr id="26" name="Shape 26"/>
          <p:cNvSpPr/>
          <p:nvPr/>
        </p:nvSpPr>
        <p:spPr>
          <a:xfrm>
            <a:off x="7159752" y="4096512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7159752" y="4096512"/>
            <a:ext cx="4983480" cy="8961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效果确认　前后对比，同口径</a:t>
            </a:r>
          </a:p>
        </p:txBody>
      </p:sp>
      <p:sp>
        <p:nvSpPr>
          <p:cNvPr id="28" name="Shape 28"/>
          <p:cNvSpPr/>
          <p:nvPr/>
        </p:nvSpPr>
        <p:spPr>
          <a:xfrm>
            <a:off x="7159752" y="5084064"/>
            <a:ext cx="4983480" cy="8961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9" name="CardHead 29"/>
          <p:cNvSpPr/>
          <p:nvPr/>
        </p:nvSpPr>
        <p:spPr>
          <a:xfrm>
            <a:off x="7159752" y="5084064"/>
            <a:ext cx="4983480" cy="8961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 标准化与横展　写进哪份文件、展到哪里</a:t>
            </a:r>
          </a:p>
        </p:txBody>
      </p:sp>
      <p:sp>
        <p:nvSpPr>
          <p:cNvPr id="30" name="Shape 30"/>
          <p:cNvSpPr/>
          <p:nvPr/>
        </p:nvSpPr>
        <p:spPr>
          <a:xfrm>
            <a:off x="1929384" y="6108192"/>
            <a:ext cx="10213848" cy="566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1929384" y="6108192"/>
            <a:ext cx="10213848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的价值不在格式，在于它逼你把八件事都想一遍——缺哪一栏，就是你还没想清楚的地方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8D：客户投诉时的标准动作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重点在 D3 和 D7——很多人只做到 D5 就结案了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242316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组队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相关部门都要在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21408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21408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描述问题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26864" y="2505456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5W2H 写清楚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21408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21408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临时对策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32904" y="2505456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先止血：隔离、全检、通知客户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21408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21408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找真因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38944" y="2505456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+ 验证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3822192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3822192"/>
            <a:ext cx="2423160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 永久对策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20824" y="4206240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选定并验证有效</a:t>
            </a:r>
          </a:p>
        </p:txBody>
      </p:sp>
      <p:sp>
        <p:nvSpPr>
          <p:cNvPr id="29" name="Shape 29"/>
          <p:cNvSpPr/>
          <p:nvPr/>
        </p:nvSpPr>
        <p:spPr>
          <a:xfrm>
            <a:off x="4535424" y="3822192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4535424" y="3822192"/>
            <a:ext cx="2423160" cy="365760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D6 实施验证</a:t>
            </a:r>
          </a:p>
        </p:txBody>
      </p:sp>
      <p:sp>
        <p:nvSpPr>
          <p:cNvPr id="31" name="CardBody 31"/>
          <p:cNvSpPr/>
          <p:nvPr/>
        </p:nvSpPr>
        <p:spPr>
          <a:xfrm>
            <a:off x="4626864" y="4206240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</p:txBody>
      </p:sp>
      <p:sp>
        <p:nvSpPr>
          <p:cNvPr id="32" name="Shape 32"/>
          <p:cNvSpPr/>
          <p:nvPr/>
        </p:nvSpPr>
        <p:spPr>
          <a:xfrm>
            <a:off x="7141464" y="3822192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7141464" y="3822192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D7 预防再发</a:t>
            </a:r>
          </a:p>
        </p:txBody>
      </p:sp>
      <p:sp>
        <p:nvSpPr>
          <p:cNvPr id="34" name="CardBody 34"/>
          <p:cNvSpPr/>
          <p:nvPr/>
        </p:nvSpPr>
        <p:spPr>
          <a:xfrm>
            <a:off x="7232904" y="4206240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 + 横展</a:t>
            </a:r>
          </a:p>
        </p:txBody>
      </p:sp>
      <p:sp>
        <p:nvSpPr>
          <p:cNvPr id="35" name="Shape 35"/>
          <p:cNvSpPr/>
          <p:nvPr/>
        </p:nvSpPr>
        <p:spPr>
          <a:xfrm>
            <a:off x="9747504" y="3822192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CardHead 36"/>
          <p:cNvSpPr/>
          <p:nvPr/>
        </p:nvSpPr>
        <p:spPr>
          <a:xfrm>
            <a:off x="9747504" y="3822192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D8 团队肯定</a:t>
            </a:r>
          </a:p>
        </p:txBody>
      </p:sp>
      <p:sp>
        <p:nvSpPr>
          <p:cNvPr id="37" name="CardBody 37"/>
          <p:cNvSpPr/>
          <p:nvPr/>
        </p:nvSpPr>
        <p:spPr>
          <a:xfrm>
            <a:off x="9838944" y="4206240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总结并致谢</a:t>
            </a:r>
          </a:p>
        </p:txBody>
      </p:sp>
      <p:sp>
        <p:nvSpPr>
          <p:cNvPr id="38" name="Shape 38"/>
          <p:cNvSpPr/>
          <p:nvPr/>
        </p:nvSpPr>
        <p:spPr>
          <a:xfrm>
            <a:off x="1929384" y="5541264"/>
            <a:ext cx="10213848" cy="102376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9" name="CardHead 39"/>
          <p:cNvSpPr/>
          <p:nvPr/>
        </p:nvSpPr>
        <p:spPr>
          <a:xfrm>
            <a:off x="1929384" y="5541264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D3 和 D7 最容易被跳过</a:t>
            </a:r>
          </a:p>
        </p:txBody>
      </p:sp>
      <p:sp>
        <p:nvSpPr>
          <p:cNvPr id="40" name="CardBody 40"/>
          <p:cNvSpPr/>
          <p:nvPr/>
        </p:nvSpPr>
        <p:spPr>
          <a:xfrm>
            <a:off x="2020824" y="5925312"/>
            <a:ext cx="10030968" cy="61228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被跳过 → 客户在你分析期间继续收到不良品，信任先崩；</a:t>
            </a:r>
          </a:p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D7 被跳过 → 这次解决了，半年后同样的问题换个产品又来一遍。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让改善不反弹的三个机制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不靠热情，靠机制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3282696" cy="2852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机制一　写进标准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3099816" cy="244144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不是写进会议纪要，是写进 SOP、点检表、交接单、培训教材。</a:t>
            </a: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检验：新人入职培训里有没有这一条？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21408"/>
            <a:ext cx="3282696" cy="2852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21408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机制二　嵌进日常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505456"/>
            <a:ext cx="3099816" cy="244144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不新增动作，而是挂在已有动作上。</a:t>
            </a: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例：把新增的确认项加进已有的首件确认单，而不是另发一张表。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21408"/>
            <a:ext cx="3282696" cy="2852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21408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机制三　定期回看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505456"/>
            <a:ext cx="3099816" cy="244144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结案后 1 个月、3 个月各回查一次，写进班组月度例会议程。</a:t>
            </a: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2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没有回看机制的改善，默认会反弹。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120640"/>
            <a:ext cx="10213848" cy="13898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5120640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一个最实用的判断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504688"/>
            <a:ext cx="10030968" cy="97840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问自己一句：“如果我明天调岗，这个改善还在不在？”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→ 说明它已经变成班组的能力；不在 → 说明它还只是你个人的努力。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所有改善的终点，都是让它不再依赖某一个人。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问题解决的八个常见误区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每一条都很符合直觉，每一条都会让你白干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先有答案再找证据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心里已经认定是谁的问题，后面全在找支持它的材料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21408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21408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把对策当问题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26864" y="2505456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“需要增加检验”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——讨论从一开始就被锁死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21408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21408"/>
            <a:ext cx="2423160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问到人为止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32904" y="2505456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答案是“不认真”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就说明分析放弃了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21408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21408"/>
            <a:ext cx="2423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不去现场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38944" y="2505456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在办公室推理再严密也可能第一步就错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3877056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3877056"/>
            <a:ext cx="2423160" cy="365760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看平均值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20824" y="4261104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综合指标绿灯局部可能已经烂了</a:t>
            </a:r>
          </a:p>
        </p:txBody>
      </p:sp>
      <p:sp>
        <p:nvSpPr>
          <p:cNvPr id="29" name="Shape 29"/>
          <p:cNvSpPr/>
          <p:nvPr/>
        </p:nvSpPr>
        <p:spPr>
          <a:xfrm>
            <a:off x="4535424" y="3877056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4535424" y="3877056"/>
            <a:ext cx="242316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一次改一堆</a:t>
            </a:r>
          </a:p>
        </p:txBody>
      </p:sp>
      <p:sp>
        <p:nvSpPr>
          <p:cNvPr id="31" name="CardBody 31"/>
          <p:cNvSpPr/>
          <p:nvPr/>
        </p:nvSpPr>
        <p:spPr>
          <a:xfrm>
            <a:off x="4626864" y="4261104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5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项一起上最后一项也没关闭</a:t>
            </a:r>
          </a:p>
        </p:txBody>
      </p:sp>
      <p:sp>
        <p:nvSpPr>
          <p:cNvPr id="32" name="Shape 32"/>
          <p:cNvSpPr/>
          <p:nvPr/>
        </p:nvSpPr>
        <p:spPr>
          <a:xfrm>
            <a:off x="7141464" y="3877056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7141464" y="3877056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对策靠自觉</a:t>
            </a:r>
          </a:p>
        </p:txBody>
      </p:sp>
      <p:sp>
        <p:nvSpPr>
          <p:cNvPr id="34" name="CardBody 34"/>
          <p:cNvSpPr/>
          <p:nvPr/>
        </p:nvSpPr>
        <p:spPr>
          <a:xfrm>
            <a:off x="7232904" y="4261104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加强、注意、强调有效期约三天</a:t>
            </a:r>
          </a:p>
        </p:txBody>
      </p:sp>
      <p:sp>
        <p:nvSpPr>
          <p:cNvPr id="35" name="Shape 35"/>
          <p:cNvSpPr/>
          <p:nvPr/>
        </p:nvSpPr>
        <p:spPr>
          <a:xfrm>
            <a:off x="9747504" y="3877056"/>
            <a:ext cx="242316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CardHead 36"/>
          <p:cNvSpPr/>
          <p:nvPr/>
        </p:nvSpPr>
        <p:spPr>
          <a:xfrm>
            <a:off x="9747504" y="3877056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结案就不管了</a:t>
            </a:r>
          </a:p>
        </p:txBody>
      </p:sp>
      <p:sp>
        <p:nvSpPr>
          <p:cNvPr id="37" name="CardBody 37"/>
          <p:cNvSpPr/>
          <p:nvPr/>
        </p:nvSpPr>
        <p:spPr>
          <a:xfrm>
            <a:off x="9838944" y="4261104"/>
            <a:ext cx="2240280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不做三个月回看默认它会反弹</a:t>
            </a:r>
          </a:p>
        </p:txBody>
      </p:sp>
      <p:sp>
        <p:nvSpPr>
          <p:cNvPr id="38" name="Shape 38"/>
          <p:cNvSpPr/>
          <p:nvPr/>
        </p:nvSpPr>
        <p:spPr>
          <a:xfrm>
            <a:off x="1929384" y="5760720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9" name="Banner 39"/>
          <p:cNvSpPr/>
          <p:nvPr/>
        </p:nvSpPr>
        <p:spPr>
          <a:xfrm>
            <a:off x="2075688" y="5760720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共同点　</a:t>
            </a:r>
            <a:r>
              <a:rPr lang="zh-CN" altLang="en-US" sz="2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八条里有六条，都是因为想省掉“验证”这一步——而验证恰恰是最省钱的一步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全课工具包：什么时候用哪一个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贴在班组办公桌前，按阶段查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3282696" cy="2743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界定问题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3099816" cy="2331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5W2H  描述问题</a:t>
            </a: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三现主义  取事实</a:t>
            </a: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柏拉图  选课题</a:t>
            </a: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层别法  找分布</a:t>
            </a: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SMART  定目标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21408"/>
            <a:ext cx="3282696" cy="2743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21408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分析原因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505456"/>
            <a:ext cx="3099816" cy="2331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 5M1E  穷举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 追层级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是/不是分析  划边界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直方图/散布图/趋势图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真因三条件  判定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21408"/>
            <a:ext cx="3282696" cy="2743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21408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对策固化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505456"/>
            <a:ext cx="3099816" cy="2331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四层次  选对策层级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防错六法  让错做不出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评价矩阵  排优先级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SDCA  写标准</a:t>
            </a: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横展表 + 三月回看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010912"/>
            <a:ext cx="10213848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5010912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如果只记住三件事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394960"/>
            <a:ext cx="10030968" cy="108813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问题必须能被测量——写不出数字的，先去取数；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原因必须能被验证——去掉它问题就消失，才叫真因；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对策必须不依赖自觉——不知情的新人也不会犯错，才算改完。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天行动计划：把方法变成班组的习惯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每阶段只做三件事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3282696" cy="26334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0—30 天　练手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3099816" cy="222199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 1 个老问题，按五步法重写问题描述</a:t>
            </a: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做一次层别（班次/机台/人员/批次）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画一张柏拉图，只锁定前 2 项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21408"/>
            <a:ext cx="3282696" cy="26334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21408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31—60 天　追因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505456"/>
            <a:ext cx="3099816" cy="222199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对锁定项做鱼骨图 + 5Why，全部填真因追查表</a:t>
            </a: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每条可疑原因都到现场验证一次</a:t>
            </a: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用三条件判定真因，写出验证记录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21408"/>
            <a:ext cx="3282696" cy="26334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21408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61—90 天　固化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505456"/>
            <a:ext cx="3099816" cy="222199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按四层次选对策，优先防错层</a:t>
            </a: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试点一周收集“做不到”，再定稿</a:t>
            </a: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写进 SOP + 做横展 + 排三个月回看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901184"/>
            <a:ext cx="10213848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901184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衡量指标（第 90 天回看）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285232"/>
            <a:ext cx="10030968" cy="119786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结案问题数（少而深，不是多而浅）　│　对策进入防错层的比例　│　三个月复发率</a:t>
            </a: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真因追查表填写完整率　│　横展点位完成率　│　班组自主发现问题数（应上升）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最关键的一个：改善前后同口径的数据对比，是否经得起别人复核。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全课总结：三句话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把今天的一天，压缩成能带走的三句话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3282696" cy="2834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问对问题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3099816" cy="24231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= 应有状态 − 现实状态。</a:t>
            </a:r>
            <a:b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写不出数字和范围的，还不是问题，是抱怨。</a:t>
            </a:r>
            <a:b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花在界定上的时间，会在后面十倍省回来。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21408"/>
            <a:ext cx="3282696" cy="2834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21408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追到真因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505456"/>
            <a:ext cx="3099816" cy="24231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没被验证的原因都是假设。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真因只有一个特征：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去掉它，问题不再发生。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问到“不认真”就停，是分析放弃了。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21408"/>
            <a:ext cx="3282696" cy="2834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21408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改到不反弹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505456"/>
            <a:ext cx="3099816" cy="242316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好对策的标准只有一条：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没人盯着时它照样成立。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不知情的新人也不会犯这个错——才算真的改完了。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102352"/>
            <a:ext cx="10213848" cy="14081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5102352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把课程开始时你写的那张《老问题卡》拿出来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5486400"/>
            <a:ext cx="10030968" cy="9966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现在再看一遍：你当初写的“原因”，能通过三条件的检验吗？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你前两次的“对策”，落在四个层次的哪一层？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如果答案变了，今天这一天就没白上。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口径不统一，数据就会打架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同一个指标，三个部门算出三个数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常见的口径分歧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不良率：含不含返工后合格的？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产量：按投入算还是按产出算？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工时：含不含换型和等待？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及时交付：按出货日还是到货日？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——每一条都能吵一下午。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统一口径的三步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写下定义：一句话说清算什么、不算什么；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举反例：明确列出“这种情况不计入”；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三方确认：生产、品质、计划都签字。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这三步花半小时，</a:t>
            </a: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省下后面每个月的争论。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6110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Banner 21"/>
          <p:cNvSpPr/>
          <p:nvPr/>
        </p:nvSpPr>
        <p:spPr>
          <a:xfrm>
            <a:off x="2075688" y="426110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数据分歧多数不是有人造假，是三个人在用三个定义算同一件事</a:t>
            </a:r>
          </a:p>
        </p:txBody>
      </p:sp>
      <p:sp>
        <p:nvSpPr>
          <p:cNvPr id="22" name="Shape 22"/>
          <p:cNvSpPr/>
          <p:nvPr/>
        </p:nvSpPr>
        <p:spPr>
          <a:xfrm>
            <a:off x="1929384" y="4937760"/>
            <a:ext cx="10213848" cy="15727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CardHead 23"/>
          <p:cNvSpPr/>
          <p:nvPr/>
        </p:nvSpPr>
        <p:spPr>
          <a:xfrm>
            <a:off x="1929384" y="4937760"/>
            <a:ext cx="10213848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一个真实场景</a:t>
            </a:r>
          </a:p>
        </p:txBody>
      </p:sp>
      <p:sp>
        <p:nvSpPr>
          <p:cNvPr id="24" name="CardBody 24"/>
          <p:cNvSpPr/>
          <p:nvPr/>
        </p:nvSpPr>
        <p:spPr>
          <a:xfrm>
            <a:off x="2020824" y="5321808"/>
            <a:ext cx="10030968" cy="116128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生产报“本月不良率 0.8%”，品质报“1.6%”，两边都没错：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生产按“最终出货不合格数/出货数”算，品质按“过程发现不良数/投入数”算。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两个数都有用，但必须分别命名——叫“出货不良率”和“过程不良率”，别都叫“不良率”。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现场提问的技术：问错了，什么也问不到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同一件事，换个问法，答案完全不同</a:t>
            </a:r>
          </a:p>
        </p:txBody>
      </p:sp>
      <p:sp>
        <p:nvSpPr>
          <p:cNvPr id="14" name="QK 14"/>
          <p:cNvSpPr/>
          <p:nvPr/>
        </p:nvSpPr>
        <p:spPr>
          <a:xfrm>
            <a:off x="1929384" y="2103120"/>
            <a:ext cx="1371600" cy="896112"/>
          </a:xfrm>
          <a:prstGeom prst="roundRect">
            <a:avLst>
              <a:gd name="adj" fmla="val 14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</a:t>
            </a:r>
          </a:p>
        </p:txBody>
      </p:sp>
      <p:sp>
        <p:nvSpPr>
          <p:cNvPr id="15" name="Shape 15"/>
          <p:cNvSpPr/>
          <p:nvPr/>
        </p:nvSpPr>
        <p:spPr>
          <a:xfrm>
            <a:off x="3429000" y="2103120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QQ 16"/>
          <p:cNvSpPr/>
          <p:nvPr/>
        </p:nvSpPr>
        <p:spPr>
          <a:xfrm>
            <a:off x="3557016" y="2103120"/>
            <a:ext cx="486460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“你怎么又装错了？”</a:t>
            </a:r>
          </a:p>
        </p:txBody>
      </p:sp>
      <p:sp>
        <p:nvSpPr>
          <p:cNvPr id="17" name="Shape 17"/>
          <p:cNvSpPr/>
          <p:nvPr/>
        </p:nvSpPr>
        <p:spPr>
          <a:xfrm>
            <a:off x="8677656" y="2103120"/>
            <a:ext cx="346557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QD 18"/>
          <p:cNvSpPr/>
          <p:nvPr/>
        </p:nvSpPr>
        <p:spPr>
          <a:xfrm>
            <a:off x="8805672" y="2103120"/>
            <a:ext cx="320954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追责式提问得到的是解释和防御</a:t>
            </a:r>
          </a:p>
        </p:txBody>
      </p:sp>
      <p:sp>
        <p:nvSpPr>
          <p:cNvPr id="19" name="QK 19"/>
          <p:cNvSpPr/>
          <p:nvPr/>
        </p:nvSpPr>
        <p:spPr>
          <a:xfrm>
            <a:off x="1929384" y="3090672"/>
            <a:ext cx="1371600" cy="896112"/>
          </a:xfrm>
          <a:prstGeom prst="roundRect">
            <a:avLst>
              <a:gd name="adj" fmla="val 14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改问</a:t>
            </a:r>
          </a:p>
        </p:txBody>
      </p:sp>
      <p:sp>
        <p:nvSpPr>
          <p:cNvPr id="20" name="Shape 20"/>
          <p:cNvSpPr/>
          <p:nvPr/>
        </p:nvSpPr>
        <p:spPr>
          <a:xfrm>
            <a:off x="3429000" y="3090672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QQ 21"/>
          <p:cNvSpPr/>
          <p:nvPr/>
        </p:nvSpPr>
        <p:spPr>
          <a:xfrm>
            <a:off x="3557016" y="3090672"/>
            <a:ext cx="486460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4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“你按哪几步做的？做给我看一遍”</a:t>
            </a:r>
          </a:p>
        </p:txBody>
      </p:sp>
      <p:sp>
        <p:nvSpPr>
          <p:cNvPr id="22" name="Shape 22"/>
          <p:cNvSpPr/>
          <p:nvPr/>
        </p:nvSpPr>
        <p:spPr>
          <a:xfrm>
            <a:off x="8677656" y="3090672"/>
            <a:ext cx="346557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QD 23"/>
          <p:cNvSpPr/>
          <p:nvPr/>
        </p:nvSpPr>
        <p:spPr>
          <a:xfrm>
            <a:off x="8805672" y="3090672"/>
            <a:ext cx="320954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还原式提问得到的是真实动作</a:t>
            </a:r>
          </a:p>
        </p:txBody>
      </p:sp>
      <p:sp>
        <p:nvSpPr>
          <p:cNvPr id="24" name="QK 24"/>
          <p:cNvSpPr/>
          <p:nvPr/>
        </p:nvSpPr>
        <p:spPr>
          <a:xfrm>
            <a:off x="1929384" y="4078224"/>
            <a:ext cx="1371600" cy="896112"/>
          </a:xfrm>
          <a:prstGeom prst="roundRect">
            <a:avLst>
              <a:gd name="adj" fmla="val 14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</a:t>
            </a:r>
          </a:p>
        </p:txBody>
      </p:sp>
      <p:sp>
        <p:nvSpPr>
          <p:cNvPr id="25" name="Shape 25"/>
          <p:cNvSpPr/>
          <p:nvPr/>
        </p:nvSpPr>
        <p:spPr>
          <a:xfrm>
            <a:off x="3429000" y="4078224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QQ 26"/>
          <p:cNvSpPr/>
          <p:nvPr/>
        </p:nvSpPr>
        <p:spPr>
          <a:xfrm>
            <a:off x="3557016" y="4078224"/>
            <a:ext cx="486460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“这个标准你知道吗？”</a:t>
            </a:r>
          </a:p>
        </p:txBody>
      </p:sp>
      <p:sp>
        <p:nvSpPr>
          <p:cNvPr id="27" name="Shape 27"/>
          <p:cNvSpPr/>
          <p:nvPr/>
        </p:nvSpPr>
        <p:spPr>
          <a:xfrm>
            <a:off x="8677656" y="4078224"/>
            <a:ext cx="346557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QD 28"/>
          <p:cNvSpPr/>
          <p:nvPr/>
        </p:nvSpPr>
        <p:spPr>
          <a:xfrm>
            <a:off x="8805672" y="4078224"/>
            <a:ext cx="320954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是非题答案永远是“知道”</a:t>
            </a:r>
          </a:p>
        </p:txBody>
      </p:sp>
      <p:sp>
        <p:nvSpPr>
          <p:cNvPr id="29" name="QK 29"/>
          <p:cNvSpPr/>
          <p:nvPr/>
        </p:nvSpPr>
        <p:spPr>
          <a:xfrm>
            <a:off x="1929384" y="5065776"/>
            <a:ext cx="1371600" cy="896112"/>
          </a:xfrm>
          <a:prstGeom prst="roundRect">
            <a:avLst>
              <a:gd name="adj" fmla="val 14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改问</a:t>
            </a:r>
          </a:p>
        </p:txBody>
      </p:sp>
      <p:sp>
        <p:nvSpPr>
          <p:cNvPr id="30" name="Shape 30"/>
          <p:cNvSpPr/>
          <p:nvPr/>
        </p:nvSpPr>
        <p:spPr>
          <a:xfrm>
            <a:off x="3429000" y="5065776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QQ 31"/>
          <p:cNvSpPr/>
          <p:nvPr/>
        </p:nvSpPr>
        <p:spPr>
          <a:xfrm>
            <a:off x="3557016" y="5065776"/>
            <a:ext cx="4864608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“这个规格的参数你设多少？”</a:t>
            </a:r>
          </a:p>
        </p:txBody>
      </p:sp>
      <p:sp>
        <p:nvSpPr>
          <p:cNvPr id="32" name="Shape 32"/>
          <p:cNvSpPr/>
          <p:nvPr/>
        </p:nvSpPr>
        <p:spPr>
          <a:xfrm>
            <a:off x="8677656" y="5065776"/>
            <a:ext cx="3465576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QD 33"/>
          <p:cNvSpPr/>
          <p:nvPr/>
        </p:nvSpPr>
        <p:spPr>
          <a:xfrm>
            <a:off x="8805672" y="5065776"/>
            <a:ext cx="3209544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3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开放题知不知道一问便知</a:t>
            </a:r>
          </a:p>
        </p:txBody>
      </p:sp>
      <p:sp>
        <p:nvSpPr>
          <p:cNvPr id="34" name="Shape 34"/>
          <p:cNvSpPr/>
          <p:nvPr/>
        </p:nvSpPr>
        <p:spPr>
          <a:xfrm>
            <a:off x="1929384" y="614476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5" name="Banner 35"/>
          <p:cNvSpPr/>
          <p:nvPr/>
        </p:nvSpPr>
        <p:spPr>
          <a:xfrm>
            <a:off x="2075688" y="614476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你要的是事实，不是态度——所以永远问动作，不问原因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问题意识：看得见问题，是一种要训练的能力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同一个现场，有人看到一堆问题，有人什么也看不到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为什么看不见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习惯化：天天这样，就成了“正常”；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无标准：不知道应该是什么样，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自然看不出哪里不对；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无代价：看见了也没人管，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久而久之就不再看了。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训练问题意识的三个办法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换人看：请别班组的人来走一圈，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他能看见你看不见的；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带标准看：手里拿着 SOP 去对，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不靠记忆；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问“为什么是这样”：对每一个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习以为常的做法问一次来历。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79392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79392"/>
            <a:ext cx="10213848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什么算“异常”——三条判定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663440"/>
            <a:ext cx="10030968" cy="90525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与标准不符（尺寸、时间、顺序、参数）；② 与平常不同（声音、气味、振动、颜色、手感）；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与预期不符（该出 100 件只出了 92 件，虽然没有不良，但也是异常）。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第三条最容易被漏掉——没有不良不等于没有问题。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七大浪费：车间里最容易被当成“正常”的问题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这些每天都在发生，但没有一项会触发警报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过量生产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做了还用不上的</a:t>
            </a:r>
            <a:b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——最坏的一种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0312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03120"/>
            <a:ext cx="242316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26864" y="248716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zh-CN" altLang="en-US" sz="25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等料、等图、等设备、等确认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0312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03120"/>
            <a:ext cx="2423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搬运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32904" y="248716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来回搬、多次转手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0312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03120"/>
            <a:ext cx="2423160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加工过剩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38944" y="248716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做到超出客户要求的精度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374904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3749040"/>
            <a:ext cx="2423160" cy="365760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20824" y="413308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在制品堆积掩盖了问题</a:t>
            </a:r>
          </a:p>
        </p:txBody>
      </p:sp>
      <p:sp>
        <p:nvSpPr>
          <p:cNvPr id="29" name="Shape 29"/>
          <p:cNvSpPr/>
          <p:nvPr/>
        </p:nvSpPr>
        <p:spPr>
          <a:xfrm>
            <a:off x="4535424" y="374904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4535424" y="3749040"/>
            <a:ext cx="242316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</a:p>
        </p:txBody>
      </p:sp>
      <p:sp>
        <p:nvSpPr>
          <p:cNvPr id="31" name="CardBody 31"/>
          <p:cNvSpPr/>
          <p:nvPr/>
        </p:nvSpPr>
        <p:spPr>
          <a:xfrm>
            <a:off x="4626864" y="413308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弯腰、找工具、多余的走动</a:t>
            </a:r>
          </a:p>
        </p:txBody>
      </p:sp>
      <p:sp>
        <p:nvSpPr>
          <p:cNvPr id="32" name="Shape 32"/>
          <p:cNvSpPr/>
          <p:nvPr/>
        </p:nvSpPr>
        <p:spPr>
          <a:xfrm>
            <a:off x="7141464" y="3749040"/>
            <a:ext cx="242316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7141464" y="3749040"/>
            <a:ext cx="242316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不良返工</a:t>
            </a:r>
          </a:p>
        </p:txBody>
      </p:sp>
      <p:sp>
        <p:nvSpPr>
          <p:cNvPr id="34" name="CardBody 34"/>
          <p:cNvSpPr/>
          <p:nvPr/>
        </p:nvSpPr>
        <p:spPr>
          <a:xfrm>
            <a:off x="7232904" y="4133088"/>
            <a:ext cx="2240280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3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看得见的那一种通常只是冰山尖</a:t>
            </a:r>
          </a:p>
        </p:txBody>
      </p:sp>
      <p:sp>
        <p:nvSpPr>
          <p:cNvPr id="35" name="Shape 35"/>
          <p:cNvSpPr/>
          <p:nvPr/>
        </p:nvSpPr>
        <p:spPr>
          <a:xfrm>
            <a:off x="9747504" y="3749040"/>
            <a:ext cx="2395728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CardHead 36"/>
          <p:cNvSpPr/>
          <p:nvPr/>
        </p:nvSpPr>
        <p:spPr>
          <a:xfrm>
            <a:off x="9747504" y="3749040"/>
            <a:ext cx="239572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识别方法</a:t>
            </a:r>
          </a:p>
        </p:txBody>
      </p:sp>
      <p:sp>
        <p:nvSpPr>
          <p:cNvPr id="37" name="CardBody 37"/>
          <p:cNvSpPr/>
          <p:nvPr/>
        </p:nvSpPr>
        <p:spPr>
          <a:xfrm>
            <a:off x="9838944" y="4133088"/>
            <a:ext cx="2212848" cy="110642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站在工位旁看 30 分钟，记录每一次“手上没在增值”的时刻。</a:t>
            </a:r>
          </a:p>
        </p:txBody>
      </p:sp>
      <p:sp>
        <p:nvSpPr>
          <p:cNvPr id="38" name="Shape 38"/>
          <p:cNvSpPr/>
          <p:nvPr/>
        </p:nvSpPr>
        <p:spPr>
          <a:xfrm>
            <a:off x="1929384" y="5522976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9" name="Banner 39"/>
          <p:cNvSpPr/>
          <p:nvPr/>
        </p:nvSpPr>
        <p:spPr>
          <a:xfrm>
            <a:off x="2075688" y="5522976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库存不是资产，是缓冲——它把所有问题都盖住了，所以现场最该先降的是在制品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问题的定义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与分类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描述问题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与选课题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与现状调查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大野耐一的圆圈：在现场站够时间，问题自己会出现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不是走马观花，是站着不动看完整周期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57984"/>
            <a:ext cx="2347722" cy="115214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57984"/>
            <a:ext cx="2347722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选位置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560320"/>
            <a:ext cx="2256282" cy="7223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能同时看到上下工序的地方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4313682" y="273405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551426" y="2157984"/>
            <a:ext cx="2347722" cy="115214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551426" y="2157984"/>
            <a:ext cx="2347722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站够时间</a:t>
            </a:r>
          </a:p>
        </p:txBody>
      </p:sp>
      <p:sp>
        <p:nvSpPr>
          <p:cNvPr id="20" name="FlowBody 20"/>
          <p:cNvSpPr/>
          <p:nvPr/>
        </p:nvSpPr>
        <p:spPr>
          <a:xfrm>
            <a:off x="4597146" y="2560320"/>
            <a:ext cx="2256282" cy="7223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至少30分钟覆盖一个完整循环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6935724" y="273405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7173468" y="2157984"/>
            <a:ext cx="2347722" cy="115214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7173468" y="2157984"/>
            <a:ext cx="2347722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只记录</a:t>
            </a:r>
          </a:p>
        </p:txBody>
      </p:sp>
      <p:sp>
        <p:nvSpPr>
          <p:cNvPr id="24" name="FlowBody 24"/>
          <p:cNvSpPr/>
          <p:nvPr/>
        </p:nvSpPr>
        <p:spPr>
          <a:xfrm>
            <a:off x="7219188" y="2560320"/>
            <a:ext cx="2256282" cy="7223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记动作和时间不做判断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9557766" y="273405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9795510" y="2157984"/>
            <a:ext cx="2347722" cy="115214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9795510" y="2157984"/>
            <a:ext cx="2347722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数异常</a:t>
            </a:r>
          </a:p>
        </p:txBody>
      </p:sp>
      <p:sp>
        <p:nvSpPr>
          <p:cNvPr id="28" name="FlowBody 28"/>
          <p:cNvSpPr/>
          <p:nvPr/>
        </p:nvSpPr>
        <p:spPr>
          <a:xfrm>
            <a:off x="9841230" y="2560320"/>
            <a:ext cx="2256282" cy="7223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每一次停顿、返身、找东西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3511296"/>
            <a:ext cx="4983480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1929384" y="3511296"/>
            <a:ext cx="49834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你会看到的东西</a:t>
            </a:r>
          </a:p>
        </p:txBody>
      </p:sp>
      <p:sp>
        <p:nvSpPr>
          <p:cNvPr id="31" name="CardBody 31"/>
          <p:cNvSpPr/>
          <p:nvPr/>
        </p:nvSpPr>
        <p:spPr>
          <a:xfrm>
            <a:off x="2020824" y="3895344"/>
            <a:ext cx="4800600" cy="1435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员工一个循环走了多少步；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有几次弯腰去拿东西；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等下工序空出来等了多久；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一小时里有几次找工具、找图纸；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——这些都不在任何报表里。</a:t>
            </a:r>
          </a:p>
        </p:txBody>
      </p:sp>
      <p:sp>
        <p:nvSpPr>
          <p:cNvPr id="32" name="Shape 32"/>
          <p:cNvSpPr/>
          <p:nvPr/>
        </p:nvSpPr>
        <p:spPr>
          <a:xfrm>
            <a:off x="7159752" y="3511296"/>
            <a:ext cx="4983480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7159752" y="3511296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三条纪律</a:t>
            </a:r>
          </a:p>
        </p:txBody>
      </p:sp>
      <p:sp>
        <p:nvSpPr>
          <p:cNvPr id="34" name="CardBody 34"/>
          <p:cNvSpPr/>
          <p:nvPr/>
        </p:nvSpPr>
        <p:spPr>
          <a:xfrm>
            <a:off x="7251192" y="3895344"/>
            <a:ext cx="4800600" cy="1435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不打断、不指导、不评价；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只记录事实，不写“效率低”；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看完之后先问操作者：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“刚才那一步为什么要这样做？”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——他的答案通常会让你意外。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468112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Banner 36"/>
          <p:cNvSpPr/>
          <p:nvPr/>
        </p:nvSpPr>
        <p:spPr>
          <a:xfrm>
            <a:off x="2075688" y="5468112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你觉得现场没问题，通常只说明你在现场待的时间不够长</a:t>
            </a:r>
          </a:p>
        </p:txBody>
      </p:sp>
      <p:sp>
        <p:nvSpPr>
          <p:cNvPr id="37" name="Note 37"/>
          <p:cNvSpPr/>
          <p:nvPr/>
        </p:nvSpPr>
        <p:spPr>
          <a:xfrm>
            <a:off x="1929384" y="6089904"/>
            <a:ext cx="10213848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很多班组长每天在现场走十几趟，却从没有一次站着看完一个完整循环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关联图：当原因互相纠缠时用它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鱼骨图适合分类，关联图适合找“牵一发动全身”的那个点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21214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什么时候用关联图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709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当你发现原因之间互相影响：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赶工 → 跳过自检 → 不良增加 →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返工占用工时 → 更赶工。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这种循环用鱼骨图画不出来，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因为鱼骨图假设原因是并列的。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21214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709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把所有原因写在纸上，散开摆；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两两之间问“谁导致谁”，画箭头；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数箭头：出去的箭头最多的是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“关键驱动因素”，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进来的箭头最多的是“最终结果”。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对关键驱动因素下手。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34256"/>
            <a:ext cx="10213848" cy="13350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34256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车间里最常见的一个恶性循环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718304"/>
            <a:ext cx="10030968" cy="92354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人手紧 → 老员工没时间带新人 → 新人上手慢、出错多 → 返工占用更多人手 → 人手更紧。</a:t>
            </a:r>
          </a:p>
          <a:p>
            <a:pPr algn="l">
              <a:lnSpc>
                <a:spcPct val="132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这个环里出去箭头最多的是“没时间带教”——所以真正该投的不是加人，是把带教时间保出来。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现场再现：把“可能”变成“确定”的唯一办法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半小时的试验，抵得上三小时的会议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2347722" cy="11338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39696"/>
            <a:ext cx="2347722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定假设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75104" y="2542032"/>
            <a:ext cx="2256282" cy="704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写清楚：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如果A成立则会出现B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4313682" y="270662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551426" y="2139696"/>
            <a:ext cx="2347722" cy="11338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551426" y="2139696"/>
            <a:ext cx="2347722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设条件</a:t>
            </a:r>
          </a:p>
        </p:txBody>
      </p:sp>
      <p:sp>
        <p:nvSpPr>
          <p:cNvPr id="20" name="FlowBody 20"/>
          <p:cNvSpPr/>
          <p:nvPr/>
        </p:nvSpPr>
        <p:spPr>
          <a:xfrm>
            <a:off x="4597146" y="2542032"/>
            <a:ext cx="2256282" cy="704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只改一个变量其余全部固定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6935724" y="270662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7173468" y="2139696"/>
            <a:ext cx="2347722" cy="11338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7173468" y="2139696"/>
            <a:ext cx="2347722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做试验</a:t>
            </a:r>
          </a:p>
        </p:txBody>
      </p:sp>
      <p:sp>
        <p:nvSpPr>
          <p:cNvPr id="24" name="FlowBody 24"/>
          <p:cNvSpPr/>
          <p:nvPr/>
        </p:nvSpPr>
        <p:spPr>
          <a:xfrm>
            <a:off x="7219188" y="2542032"/>
            <a:ext cx="2256282" cy="704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3~5件足够看出差别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9557766" y="270662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9795510" y="2139696"/>
            <a:ext cx="2347722" cy="11338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9795510" y="2139696"/>
            <a:ext cx="2347722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看结果</a:t>
            </a:r>
          </a:p>
        </p:txBody>
      </p:sp>
      <p:sp>
        <p:nvSpPr>
          <p:cNvPr id="28" name="FlowBody 28"/>
          <p:cNvSpPr/>
          <p:nvPr/>
        </p:nvSpPr>
        <p:spPr>
          <a:xfrm>
            <a:off x="9841230" y="2542032"/>
            <a:ext cx="2256282" cy="704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出现→假设成立不出现→排除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3511296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1929384" y="3511296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为什么很多人不愿做</a:t>
            </a:r>
          </a:p>
        </p:txBody>
      </p:sp>
      <p:sp>
        <p:nvSpPr>
          <p:cNvPr id="31" name="CardBody 31"/>
          <p:cNvSpPr/>
          <p:nvPr/>
        </p:nvSpPr>
        <p:spPr>
          <a:xfrm>
            <a:off x="2020824" y="3895344"/>
            <a:ext cx="4800600" cy="1417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“故意做几件不良，太浪费了。”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但对比一下：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试验成本＝3~5 件料 + 半小时；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猜错成本＝一套对策白做、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三个月后问题原样返回。</a:t>
            </a:r>
          </a:p>
        </p:txBody>
      </p:sp>
      <p:sp>
        <p:nvSpPr>
          <p:cNvPr id="32" name="Shape 32"/>
          <p:cNvSpPr/>
          <p:nvPr/>
        </p:nvSpPr>
        <p:spPr>
          <a:xfrm>
            <a:off x="7159752" y="3511296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7159752" y="3511296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试验设计的关键</a:t>
            </a:r>
          </a:p>
        </p:txBody>
      </p:sp>
      <p:sp>
        <p:nvSpPr>
          <p:cNvPr id="34" name="CardBody 34"/>
          <p:cNvSpPr/>
          <p:nvPr/>
        </p:nvSpPr>
        <p:spPr>
          <a:xfrm>
            <a:off x="7251192" y="3895344"/>
            <a:ext cx="4800600" cy="1417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一次只改一个变量。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同时改两个，出了结果你也不知道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是哪一个起的作用。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如果怀疑三个因素，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就做三次，别图省事合成一次。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41324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Banner 36"/>
          <p:cNvSpPr/>
          <p:nvPr/>
        </p:nvSpPr>
        <p:spPr>
          <a:xfrm>
            <a:off x="2075688" y="541324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不做再现试验的“真因”，永远只是“听起来很有道理的原因”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5Why 与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鱼骨图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数据工具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与层别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真因判定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与验证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FMEA：在问题发生之前把它拦下来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新品试制、工艺变更、设备更新时最该用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10213848" cy="4389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10213848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6" name="TH 16"/>
          <p:cNvSpPr/>
          <p:nvPr/>
        </p:nvSpPr>
        <p:spPr>
          <a:xfrm>
            <a:off x="1929384" y="2103120"/>
            <a:ext cx="10213848" cy="438912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潜在失效模式　　　　后果　　严重度 S　　频度 O　　探测度 D　　RPN＝S×O×D　　对策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2578608"/>
            <a:ext cx="10213848" cy="640080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F1 18"/>
          <p:cNvSpPr/>
          <p:nvPr/>
        </p:nvSpPr>
        <p:spPr>
          <a:xfrm>
            <a:off x="2075688" y="25786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弹簧片漏装</a:t>
            </a:r>
          </a:p>
        </p:txBody>
      </p:sp>
      <p:sp>
        <p:nvSpPr>
          <p:cNvPr id="19" name="F2 19"/>
          <p:cNvSpPr/>
          <p:nvPr/>
        </p:nvSpPr>
        <p:spPr>
          <a:xfrm>
            <a:off x="4160520" y="25786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密封失效、客诉</a:t>
            </a:r>
          </a:p>
        </p:txBody>
      </p:sp>
      <p:sp>
        <p:nvSpPr>
          <p:cNvPr id="20" name="F3 20"/>
          <p:cNvSpPr/>
          <p:nvPr/>
        </p:nvSpPr>
        <p:spPr>
          <a:xfrm>
            <a:off x="6281928" y="2578608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21" name="F3 21"/>
          <p:cNvSpPr/>
          <p:nvPr/>
        </p:nvSpPr>
        <p:spPr>
          <a:xfrm>
            <a:off x="7242048" y="2578608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22" name="F3 22"/>
          <p:cNvSpPr/>
          <p:nvPr/>
        </p:nvSpPr>
        <p:spPr>
          <a:xfrm>
            <a:off x="8202168" y="2578608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23" name="F4 23"/>
          <p:cNvSpPr/>
          <p:nvPr/>
        </p:nvSpPr>
        <p:spPr>
          <a:xfrm>
            <a:off x="9244584" y="257860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336</a:t>
            </a:r>
          </a:p>
        </p:txBody>
      </p:sp>
      <p:sp>
        <p:nvSpPr>
          <p:cNvPr id="24" name="F5 24"/>
          <p:cNvSpPr/>
          <p:nvPr/>
        </p:nvSpPr>
        <p:spPr>
          <a:xfrm>
            <a:off x="10524744" y="2578608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6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料盒防错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3255264"/>
            <a:ext cx="10213848" cy="640080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F1 26"/>
          <p:cNvSpPr/>
          <p:nvPr/>
        </p:nvSpPr>
        <p:spPr>
          <a:xfrm>
            <a:off x="2075688" y="3255264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装反方向</a:t>
            </a:r>
          </a:p>
        </p:txBody>
      </p:sp>
      <p:sp>
        <p:nvSpPr>
          <p:cNvPr id="27" name="F2 27"/>
          <p:cNvSpPr/>
          <p:nvPr/>
        </p:nvSpPr>
        <p:spPr>
          <a:xfrm>
            <a:off x="4160520" y="3255264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气密不良</a:t>
            </a:r>
          </a:p>
        </p:txBody>
      </p:sp>
      <p:sp>
        <p:nvSpPr>
          <p:cNvPr id="28" name="F3 28"/>
          <p:cNvSpPr/>
          <p:nvPr/>
        </p:nvSpPr>
        <p:spPr>
          <a:xfrm>
            <a:off x="6281928" y="3255264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29" name="F3 29"/>
          <p:cNvSpPr/>
          <p:nvPr/>
        </p:nvSpPr>
        <p:spPr>
          <a:xfrm>
            <a:off x="7242048" y="3255264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30" name="F3 30"/>
          <p:cNvSpPr/>
          <p:nvPr/>
        </p:nvSpPr>
        <p:spPr>
          <a:xfrm>
            <a:off x="8202168" y="3255264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31" name="F4 31"/>
          <p:cNvSpPr/>
          <p:nvPr/>
        </p:nvSpPr>
        <p:spPr>
          <a:xfrm>
            <a:off x="9244584" y="325526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</a:p>
        </p:txBody>
      </p:sp>
      <p:sp>
        <p:nvSpPr>
          <p:cNvPr id="32" name="F5 32"/>
          <p:cNvSpPr/>
          <p:nvPr/>
        </p:nvSpPr>
        <p:spPr>
          <a:xfrm>
            <a:off x="10524744" y="3255264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1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非对称设计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931920"/>
            <a:ext cx="10213848" cy="640080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F1 34"/>
          <p:cNvSpPr/>
          <p:nvPr/>
        </p:nvSpPr>
        <p:spPr>
          <a:xfrm>
            <a:off x="2075688" y="39319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扭矩不足</a:t>
            </a:r>
          </a:p>
        </p:txBody>
      </p:sp>
      <p:sp>
        <p:nvSpPr>
          <p:cNvPr id="35" name="F2 35"/>
          <p:cNvSpPr/>
          <p:nvPr/>
        </p:nvSpPr>
        <p:spPr>
          <a:xfrm>
            <a:off x="4160520" y="39319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使用中松脱</a:t>
            </a:r>
          </a:p>
        </p:txBody>
      </p:sp>
      <p:sp>
        <p:nvSpPr>
          <p:cNvPr id="36" name="F3 36"/>
          <p:cNvSpPr/>
          <p:nvPr/>
        </p:nvSpPr>
        <p:spPr>
          <a:xfrm>
            <a:off x="6281928" y="393192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</a:p>
        </p:txBody>
      </p:sp>
      <p:sp>
        <p:nvSpPr>
          <p:cNvPr id="37" name="F3 37"/>
          <p:cNvSpPr/>
          <p:nvPr/>
        </p:nvSpPr>
        <p:spPr>
          <a:xfrm>
            <a:off x="7242048" y="393192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38" name="F3 38"/>
          <p:cNvSpPr/>
          <p:nvPr/>
        </p:nvSpPr>
        <p:spPr>
          <a:xfrm>
            <a:off x="8202168" y="393192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9" name="F4 39"/>
          <p:cNvSpPr/>
          <p:nvPr/>
        </p:nvSpPr>
        <p:spPr>
          <a:xfrm>
            <a:off x="9244584" y="39319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0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</a:t>
            </a:r>
          </a:p>
        </p:txBody>
      </p:sp>
      <p:sp>
        <p:nvSpPr>
          <p:cNvPr id="40" name="F5 40"/>
          <p:cNvSpPr/>
          <p:nvPr/>
        </p:nvSpPr>
        <p:spPr>
          <a:xfrm>
            <a:off x="10524744" y="3931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1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扭矩枪计数</a:t>
            </a:r>
          </a:p>
        </p:txBody>
      </p:sp>
      <p:sp>
        <p:nvSpPr>
          <p:cNvPr id="41" name="Shape 41"/>
          <p:cNvSpPr/>
          <p:nvPr/>
        </p:nvSpPr>
        <p:spPr>
          <a:xfrm>
            <a:off x="1929384" y="4663440"/>
            <a:ext cx="10213848" cy="18288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2" name="CardHead 42"/>
          <p:cNvSpPr/>
          <p:nvPr/>
        </p:nvSpPr>
        <p:spPr>
          <a:xfrm>
            <a:off x="1929384" y="4663440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读法与用法</a:t>
            </a:r>
          </a:p>
        </p:txBody>
      </p:sp>
      <p:sp>
        <p:nvSpPr>
          <p:cNvPr id="43" name="CardBody 43"/>
          <p:cNvSpPr/>
          <p:nvPr/>
        </p:nvSpPr>
        <p:spPr>
          <a:xfrm>
            <a:off x="2020824" y="5047488"/>
            <a:ext cx="10030968" cy="1417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严重度（后果多严重）、O 频度（多久发生一次）、D 探测度（发现的难易，越难发现分越高）。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RPN = S×O×D，从大到小排序，优先处理 RPN 最高的。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注意：严重度 S≥8 的项目，即使 RPN 不高也必须处理——因为它一旦发生就是大事。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班组层面不需要做完整 FMEA，只要在换新品、改工艺时，把“最坏会怎样”列一遍就够了。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改善提案：让员工的想法能落地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提案制度死掉，通常不是没想法，是没回音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21579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一张好提案卡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3099816" cy="17465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只要四栏：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现在是怎样的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有什么问题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建议怎么改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预计能改善什么不超过一张便签。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21579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三天回音制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487168"/>
            <a:ext cx="3099816" cy="17465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三天内必须答复：</a:t>
            </a:r>
            <a:b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采纳 → 说明何时做暂缓 → 说明为什么、什么条件下做不采纳 → 说明原因最忌讳的是沉默。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21579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让第一条落地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487168"/>
            <a:ext cx="3099816" cy="1746504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先挑一条最容易实现的，三天内做出来，并在班前会上说清楚：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“这是谁提的，改了之后省了多少。”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这一次比十次动员有用。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370832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370832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衡量提案制度是否健康的两个指标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4754880"/>
            <a:ext cx="10030968" cy="90525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平均回音时间（应 ≤3 天）——比提案数量重要得多；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23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落地率（采纳后真正做完的比例）——低于 50% 时，员工会停止提案。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815584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75688" y="5815584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提案数量下降不是员工没想法了，是前面那些提案没有下文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对策要别的部门配合时，怎么推得动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班组长最难的一段：问题在你这里，钥匙在别人手上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推不动的三个原因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487168"/>
            <a:ext cx="4800600" cy="1691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对方不知道这件事有多严重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——你没把代价算给他看；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对方的考核里没有这一项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——做了没好处，不做没坏处；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你提的是要求，不是选项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——人对要求的第一反应是防御。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有效的三步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51192" y="2487168"/>
            <a:ext cx="4800600" cy="1691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把损失折成钱和时间：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“每月因此多花 X 工时、Y 元”；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给两个方案让他选，不是给一个要求：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“A 方案你们改标准，B 方案我们加检，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 B 每月多 Z 元，你看哪个划算”；</a:t>
            </a:r>
          </a:p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约时间点，不约态度：几号前答复。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15968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15968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如果还是推不动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20824" y="4700016"/>
            <a:ext cx="10030968" cy="90525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用「问题—影响—已做—需要」写成一段话往上报，并明确写出“需要在什么时间前决定什么”。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这不是打小报告，是把超出你权限的决策放回该拍板的层级——拖着不上报才是失职。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一个完整案例：从“不良率高”到结案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把今天的方法串成一条线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3282696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①界定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20824" y="2505456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不良率高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B线3号机内孔超差1.8%，标准0.5%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21408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21408"/>
            <a:ext cx="328269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②层别</a:t>
            </a:r>
          </a:p>
        </p:txBody>
      </p:sp>
      <p:sp>
        <p:nvSpPr>
          <p:cNvPr id="19" name="CardBody 19"/>
          <p:cNvSpPr/>
          <p:nvPr/>
        </p:nvSpPr>
        <p:spPr>
          <a:xfrm>
            <a:off x="5486400" y="2505456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夜班3.1%、白班0.6%3号机3.6%、其余0.5%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21408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21408"/>
            <a:ext cx="3282696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③穷举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51976" y="2505456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5M1E列出11条圈定3条可疑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694176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3694176"/>
            <a:ext cx="3282696" cy="365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④验证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20824" y="4078224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逐条到现场验排除2条，保留1条</a:t>
            </a:r>
          </a:p>
        </p:txBody>
      </p:sp>
      <p:sp>
        <p:nvSpPr>
          <p:cNvPr id="26" name="Shape 26"/>
          <p:cNvSpPr/>
          <p:nvPr/>
        </p:nvSpPr>
        <p:spPr>
          <a:xfrm>
            <a:off x="5394960" y="3694176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5394960" y="3694176"/>
            <a:ext cx="3282696" cy="365760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⑤判定</a:t>
            </a:r>
          </a:p>
        </p:txBody>
      </p:sp>
      <p:sp>
        <p:nvSpPr>
          <p:cNvPr id="28" name="CardBody 28"/>
          <p:cNvSpPr/>
          <p:nvPr/>
        </p:nvSpPr>
        <p:spPr>
          <a:xfrm>
            <a:off x="5486400" y="4078224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夹具凹坑0.03mm三条件全部成立</a:t>
            </a:r>
          </a:p>
        </p:txBody>
      </p:sp>
      <p:sp>
        <p:nvSpPr>
          <p:cNvPr id="29" name="Shape 29"/>
          <p:cNvSpPr/>
          <p:nvPr/>
        </p:nvSpPr>
        <p:spPr>
          <a:xfrm>
            <a:off x="8860536" y="3694176"/>
            <a:ext cx="3282696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8860536" y="3694176"/>
            <a:ext cx="3282696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⑥对策</a:t>
            </a:r>
          </a:p>
        </p:txBody>
      </p:sp>
      <p:sp>
        <p:nvSpPr>
          <p:cNvPr id="31" name="CardBody 31"/>
          <p:cNvSpPr/>
          <p:nvPr/>
        </p:nvSpPr>
        <p:spPr>
          <a:xfrm>
            <a:off x="8951976" y="4078224"/>
            <a:ext cx="3099816" cy="1033272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换定位块+定寿命属防错层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5285232"/>
            <a:ext cx="10213848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1929384" y="5285232"/>
            <a:ext cx="10213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⑦固化与结果</a:t>
            </a:r>
          </a:p>
        </p:txBody>
      </p:sp>
      <p:sp>
        <p:nvSpPr>
          <p:cNvPr id="34" name="CardBody 34"/>
          <p:cNvSpPr/>
          <p:nvPr/>
        </p:nvSpPr>
        <p:spPr>
          <a:xfrm>
            <a:off x="2020824" y="5669280"/>
            <a:ext cx="10030968" cy="81381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写进《夹具点检标准》：定位面每 3 个月测一次，凹坑 &gt;0.01mm 即更换；横展到其余 4 台；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结案时 0.4%，三个月后回看 0.35%——没有反弹，因为对策不依赖任何人记得做。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问题分析与解决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406908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界定问题：先问对问题</a:t>
            </a:r>
          </a:p>
        </p:txBody>
      </p:sp>
      <p:sp>
        <p:nvSpPr>
          <p:cNvPr id="5" name="Nav 5"/>
          <p:cNvSpPr/>
          <p:nvPr/>
        </p:nvSpPr>
        <p:spPr>
          <a:xfrm>
            <a:off x="4343400" y="658368"/>
            <a:ext cx="3785616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分析原因：追到真因</a:t>
            </a:r>
          </a:p>
        </p:txBody>
      </p:sp>
      <p:sp>
        <p:nvSpPr>
          <p:cNvPr id="6" name="Nav 6"/>
          <p:cNvSpPr/>
          <p:nvPr/>
        </p:nvSpPr>
        <p:spPr>
          <a:xfrm>
            <a:off x="8257032" y="658368"/>
            <a:ext cx="3785616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对策与固化：不反弹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对策拟定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与防错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与横展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效果确认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188720"/>
            <a:ext cx="1021384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工具卡：一页纸问题解决表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82496"/>
            <a:ext cx="1021384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把今天的全流程压成一张能带回班组的表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TK 15"/>
          <p:cNvSpPr/>
          <p:nvPr/>
        </p:nvSpPr>
        <p:spPr>
          <a:xfrm>
            <a:off x="2039112" y="2176272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问题描述</a:t>
            </a:r>
          </a:p>
        </p:txBody>
      </p:sp>
      <p:sp>
        <p:nvSpPr>
          <p:cNvPr id="16" name="TD 16"/>
          <p:cNvSpPr/>
          <p:nvPr/>
        </p:nvSpPr>
        <p:spPr>
          <a:xfrm>
            <a:off x="2020824" y="2615184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（5W2H，含数据与标准）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TK 18"/>
          <p:cNvSpPr/>
          <p:nvPr/>
        </p:nvSpPr>
        <p:spPr>
          <a:xfrm>
            <a:off x="5504688" y="2176272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现状与层别</a:t>
            </a:r>
          </a:p>
        </p:txBody>
      </p:sp>
      <p:sp>
        <p:nvSpPr>
          <p:cNvPr id="19" name="TD 19"/>
          <p:cNvSpPr/>
          <p:nvPr/>
        </p:nvSpPr>
        <p:spPr>
          <a:xfrm>
            <a:off x="5486400" y="2615184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（时间/机台/人员/批次）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TK 21"/>
          <p:cNvSpPr/>
          <p:nvPr/>
        </p:nvSpPr>
        <p:spPr>
          <a:xfrm>
            <a:off x="8970264" y="2176272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目标</a:t>
            </a:r>
          </a:p>
        </p:txBody>
      </p:sp>
      <p:sp>
        <p:nvSpPr>
          <p:cNvPr id="22" name="TD 22"/>
          <p:cNvSpPr/>
          <p:nvPr/>
        </p:nvSpPr>
        <p:spPr>
          <a:xfrm>
            <a:off x="8951976" y="2615184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（基线 → 目标值 → 期限）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419856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TK 24"/>
          <p:cNvSpPr/>
          <p:nvPr/>
        </p:nvSpPr>
        <p:spPr>
          <a:xfrm>
            <a:off x="2039112" y="3493008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可疑原因</a:t>
            </a:r>
          </a:p>
        </p:txBody>
      </p:sp>
      <p:sp>
        <p:nvSpPr>
          <p:cNvPr id="25" name="TD 25"/>
          <p:cNvSpPr/>
          <p:nvPr/>
        </p:nvSpPr>
        <p:spPr>
          <a:xfrm>
            <a:off x="2020824" y="3931920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（5M1E 圈出 3~5 条）</a:t>
            </a:r>
          </a:p>
        </p:txBody>
      </p:sp>
      <p:sp>
        <p:nvSpPr>
          <p:cNvPr id="26" name="Shape 26"/>
          <p:cNvSpPr/>
          <p:nvPr/>
        </p:nvSpPr>
        <p:spPr>
          <a:xfrm>
            <a:off x="5394960" y="3419856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TK 27"/>
          <p:cNvSpPr/>
          <p:nvPr/>
        </p:nvSpPr>
        <p:spPr>
          <a:xfrm>
            <a:off x="5504688" y="3493008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验证记录</a:t>
            </a:r>
          </a:p>
        </p:txBody>
      </p:sp>
      <p:sp>
        <p:nvSpPr>
          <p:cNvPr id="28" name="TD 28"/>
          <p:cNvSpPr/>
          <p:nvPr/>
        </p:nvSpPr>
        <p:spPr>
          <a:xfrm>
            <a:off x="5486400" y="3931920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（去哪看、量什么、结果）</a:t>
            </a:r>
          </a:p>
        </p:txBody>
      </p:sp>
      <p:sp>
        <p:nvSpPr>
          <p:cNvPr id="29" name="Shape 29"/>
          <p:cNvSpPr/>
          <p:nvPr/>
        </p:nvSpPr>
        <p:spPr>
          <a:xfrm>
            <a:off x="8860536" y="3419856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TK 30"/>
          <p:cNvSpPr/>
          <p:nvPr/>
        </p:nvSpPr>
        <p:spPr>
          <a:xfrm>
            <a:off x="8970264" y="3493008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真因判定</a:t>
            </a:r>
          </a:p>
        </p:txBody>
      </p:sp>
      <p:sp>
        <p:nvSpPr>
          <p:cNvPr id="31" name="TD 31"/>
          <p:cNvSpPr/>
          <p:nvPr/>
        </p:nvSpPr>
        <p:spPr>
          <a:xfrm>
            <a:off x="8951976" y="3931920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（能解释 / 能重现 / 能消除）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4736592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TK 33"/>
          <p:cNvSpPr/>
          <p:nvPr/>
        </p:nvSpPr>
        <p:spPr>
          <a:xfrm>
            <a:off x="2039112" y="4809744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对策与层级</a:t>
            </a:r>
          </a:p>
        </p:txBody>
      </p:sp>
      <p:sp>
        <p:nvSpPr>
          <p:cNvPr id="34" name="TD 34"/>
          <p:cNvSpPr/>
          <p:nvPr/>
        </p:nvSpPr>
        <p:spPr>
          <a:xfrm>
            <a:off x="2020824" y="5248656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（第几层？评价得分？）</a:t>
            </a:r>
          </a:p>
        </p:txBody>
      </p:sp>
      <p:sp>
        <p:nvSpPr>
          <p:cNvPr id="35" name="Shape 35"/>
          <p:cNvSpPr/>
          <p:nvPr/>
        </p:nvSpPr>
        <p:spPr>
          <a:xfrm>
            <a:off x="5394960" y="4736592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TK 36"/>
          <p:cNvSpPr/>
          <p:nvPr/>
        </p:nvSpPr>
        <p:spPr>
          <a:xfrm>
            <a:off x="5504688" y="4809744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标准化与横展</a:t>
            </a:r>
          </a:p>
        </p:txBody>
      </p:sp>
      <p:sp>
        <p:nvSpPr>
          <p:cNvPr id="37" name="TD 37"/>
          <p:cNvSpPr/>
          <p:nvPr/>
        </p:nvSpPr>
        <p:spPr>
          <a:xfrm>
            <a:off x="5486400" y="5248656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（写进哪份文件、展到哪里）</a:t>
            </a:r>
          </a:p>
        </p:txBody>
      </p:sp>
      <p:sp>
        <p:nvSpPr>
          <p:cNvPr id="38" name="Shape 38"/>
          <p:cNvSpPr/>
          <p:nvPr/>
        </p:nvSpPr>
        <p:spPr>
          <a:xfrm>
            <a:off x="8860536" y="4736592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9" name="TK 39"/>
          <p:cNvSpPr/>
          <p:nvPr/>
        </p:nvSpPr>
        <p:spPr>
          <a:xfrm>
            <a:off x="8970264" y="4809744"/>
            <a:ext cx="306324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效果确认</a:t>
            </a:r>
          </a:p>
        </p:txBody>
      </p:sp>
      <p:sp>
        <p:nvSpPr>
          <p:cNvPr id="40" name="TD 40"/>
          <p:cNvSpPr/>
          <p:nvPr/>
        </p:nvSpPr>
        <p:spPr>
          <a:xfrm>
            <a:off x="8951976" y="5248656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（结案时 / 三个月后，同口径）</a:t>
            </a:r>
          </a:p>
        </p:txBody>
      </p:sp>
      <p:sp>
        <p:nvSpPr>
          <p:cNvPr id="41" name="Shape 41"/>
          <p:cNvSpPr/>
          <p:nvPr/>
        </p:nvSpPr>
        <p:spPr>
          <a:xfrm>
            <a:off x="1929384" y="6053328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2" name="Banner 42"/>
          <p:cNvSpPr/>
          <p:nvPr/>
        </p:nvSpPr>
        <p:spPr>
          <a:xfrm>
            <a:off x="2075688" y="6053328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用法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每个改善课题都填这一张，填不满的那一栏，就是你还没做的那一步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2"/>
          <p:cNvSpPr/>
          <p:nvPr/>
        </p:nvSpPr>
        <p:spPr>
          <a:xfrm>
            <a:off x="365760" y="38404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结课任务</a:t>
            </a:r>
          </a:p>
        </p:txBody>
      </p:sp>
      <p:sp>
        <p:nvSpPr>
          <p:cNvPr id="3" name="TTTitle 3"/>
          <p:cNvSpPr/>
          <p:nvPr/>
        </p:nvSpPr>
        <p:spPr>
          <a:xfrm>
            <a:off x="2340864" y="365760"/>
            <a:ext cx="9509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综合演练：B 线内孔超差，请用今天的全套方法走一遍</a:t>
            </a:r>
          </a:p>
        </p:txBody>
      </p:sp>
      <p:sp>
        <p:nvSpPr>
          <p:cNvPr id="4" name="Shape 4"/>
          <p:cNvSpPr/>
          <p:nvPr/>
        </p:nvSpPr>
        <p:spPr>
          <a:xfrm>
            <a:off x="365760" y="1060704"/>
            <a:ext cx="11475720" cy="199318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5" name="TTSitHead 5"/>
          <p:cNvSpPr/>
          <p:nvPr/>
        </p:nvSpPr>
        <p:spPr>
          <a:xfrm>
            <a:off x="365760" y="1060704"/>
            <a:ext cx="1188720" cy="199318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  境</a:t>
            </a:r>
          </a:p>
        </p:txBody>
      </p:sp>
      <p:sp>
        <p:nvSpPr>
          <p:cNvPr id="6" name="TTSit 6"/>
          <p:cNvSpPr/>
          <p:nvPr/>
        </p:nvSpPr>
        <p:spPr>
          <a:xfrm>
            <a:off x="1682496" y="1097280"/>
            <a:ext cx="10049256" cy="1920037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线共 5 台数控机床，加工 X 型阀体，标准内孔超差率 ≤0.5%。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近两周综合超差率 1.8%（共 78 件不良中 42 件为内孔超差），已致客诉 1 起。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已知：白班 0.6%、夜班 3.1%；3 号机 3.6%、其余四台 0.4%~0.6%；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新人操作时 2.8%、熟手 0.3%；A 供应商料 0.4%、B 供应商料 2.4%。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现场可用：两周原始记录、不良实物 42 件、机床参数日志、来料检验报告。</a:t>
            </a:r>
          </a:p>
        </p:txBody>
      </p:sp>
      <p:sp>
        <p:nvSpPr>
          <p:cNvPr id="7" name="Shape 7"/>
          <p:cNvSpPr/>
          <p:nvPr/>
        </p:nvSpPr>
        <p:spPr>
          <a:xfrm>
            <a:off x="365760" y="3218485"/>
            <a:ext cx="11475720" cy="3456635"/>
          </a:xfrm>
          <a:prstGeom prst="rect">
            <a:avLst/>
          </a:prstGeom>
          <a:solidFill>
            <a:srgbClr val="FFF7E8"/>
          </a:solidFill>
          <a:ln w="2222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8" name="TTHead 8"/>
          <p:cNvSpPr/>
          <p:nvPr/>
        </p:nvSpPr>
        <p:spPr>
          <a:xfrm>
            <a:off x="365760" y="3218485"/>
            <a:ext cx="11475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  队  任  务</a:t>
            </a:r>
          </a:p>
        </p:txBody>
      </p:sp>
      <p:sp>
        <p:nvSpPr>
          <p:cNvPr id="9" name="TTTasks 9"/>
          <p:cNvSpPr/>
          <p:nvPr/>
        </p:nvSpPr>
        <p:spPr>
          <a:xfrm>
            <a:off x="548640" y="3712261"/>
            <a:ext cx="11109960" cy="2450795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用「问题 = 应有 − 现实」和 5W2H，把这个问题重写成一句可查的描述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用「层别法」判断：四个维度的差异里，哪一个最值得先查？为什么？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用「柏拉图」思路：如果只能立 2 个课题，你立哪两个？说明依据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用「鱼骨图 5M1E」列出至少 8 条可疑原因，再圈出最可疑的 3 条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为这 3 条各设计一个验证动作：去哪看、量什么、拿几件、看什么结果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用「真因三条件」说明：怎样才算确认了真因？你打算怎么做重现试验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用「对策四层次 + 防错六法」给出对策，并用评价矩阵排序</a:t>
            </a:r>
          </a:p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写出标准化与横展方案，以及三个月回看的具体安排</a:t>
            </a:r>
          </a:p>
        </p:txBody>
      </p:sp>
      <p:sp>
        <p:nvSpPr>
          <p:cNvPr id="10" name="TTScore 10"/>
          <p:cNvSpPr/>
          <p:nvPr/>
        </p:nvSpPr>
        <p:spPr>
          <a:xfrm>
            <a:off x="365760" y="6199632"/>
            <a:ext cx="1147572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产　出　</a:t>
            </a:r>
            <a:r>
              <a:rPr lang="zh-CN" altLang="en-US" sz="2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每组一份《B 线内孔超差 A3 报告》，10 分钟汇报：问题描述 + 真因 + 对策 + 防反弹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33.xml><?xml version="1.0" encoding="utf-8"?>
<p:tagLst xmlns:p="http://schemas.openxmlformats.org/presentationml/2006/main">
  <p:tag name="OFFICEPLUS.IMAGE" val="New_Batches_0919_Outline/20231113/images_object_12001_13000/68dcff1f-4e56-4a09-acbf-ec98754c93f1-2.source.default.zh-Hans.jpg"/>
  <p:tag name="OFFICEPLUS.THEME" val="New_Batches_0919_Outline/20231113/images_object_12001_13000/68dcff1f-4e56-4a09-acbf-ec98754c93f1-2.source.default.zh-Hans-6.pptx"/>
  <p:tag name="OFFICEPLUS.OUTLINE" val="306872"/>
  <p:tag name="OFFICEPLUS.OUTLINEEXTERNAL" val="e3b788c9-9a19-a3a8-51f5-3a4d4f4b9ed9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A6191"/>
      </a:accent1>
      <a:accent2>
        <a:srgbClr val="36A5DE"/>
      </a:accent2>
      <a:accent3>
        <a:srgbClr val="009FC3"/>
      </a:accent3>
      <a:accent4>
        <a:srgbClr val="86C0F0"/>
      </a:accent4>
      <a:accent5>
        <a:srgbClr val="6C6C6C"/>
      </a:accent5>
      <a:accent6>
        <a:srgbClr val="8C8C8C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13865</Words>
  <Application>WPS 演示</Application>
  <PresentationFormat>宽屏</PresentationFormat>
  <Paragraphs>1838</Paragraphs>
  <Slides>60</Slides>
  <Notes>29</Notes>
  <HiddenSlides>0</HiddenSlides>
  <MMClips>0</MMClips>
  <ScaleCrop>false</ScaleCrop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问题分析与解决｜亚德客企业内训</dc:title>
  <dc:creator>嘉兴大学商学院</dc:creator>
  <cp:lastModifiedBy>蔡鑫宇</cp:lastModifiedBy>
  <cp:revision>170</cp:revision>
  <dcterms:created xsi:type="dcterms:W3CDTF">2023-07-20T03:04:00Z</dcterms:created>
  <dcterms:modified xsi:type="dcterms:W3CDTF">2026-05-29T15:21:53Z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EF00F6A2EFC24B28BC681254F09E400E_12</vt:lpwstr>
  </property>
  <property fmtid="{D5CDD505-2E9C-101B-9397-08002B2CF9AE}" pid="3" name="KSOProductBuildVer">
    <vt:lpwstr>2052-12.1.0.24031</vt:lpwstr>
  </property>
</Properties>
</file>