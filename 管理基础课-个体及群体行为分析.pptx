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3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56"/>
  </p:handout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  <p:sldId id="263" r:id="rIdSL8"/>
    <p:sldId id="264" r:id="rIdSL9"/>
    <p:sldId id="265" r:id="rIdSL10"/>
    <p:sldId id="266" r:id="rIdSL11"/>
    <p:sldId id="267" r:id="rIdSL12"/>
    <p:sldId id="268" r:id="rIdSL13"/>
    <p:sldId id="269" r:id="rIdSL14"/>
    <p:sldId id="270" r:id="rIdSL15"/>
    <p:sldId id="271" r:id="rIdSL16"/>
    <p:sldId id="272" r:id="rIdSL17"/>
    <p:sldId id="273" r:id="rIdSL18"/>
    <p:sldId id="274" r:id="rIdSL19"/>
    <p:sldId id="275" r:id="rIdSL20"/>
    <p:sldId id="276" r:id="rIdSL21"/>
    <p:sldId id="277" r:id="rIdSL22"/>
    <p:sldId id="278" r:id="rIdSL23"/>
    <p:sldId id="279" r:id="rIdSL24"/>
    <p:sldId id="280" r:id="rIdSL25"/>
    <p:sldId id="281" r:id="rIdSL26"/>
    <p:sldId id="282" r:id="rIdSL27"/>
    <p:sldId id="283" r:id="rIdSL28"/>
    <p:sldId id="284" r:id="rIdSL29"/>
    <p:sldId id="285" r:id="rIdSL30"/>
    <p:sldId id="286" r:id="rIdSL31"/>
    <p:sldId id="287" r:id="rIdSL32"/>
    <p:sldId id="288" r:id="rIdSL33"/>
    <p:sldId id="289" r:id="rIdSL34"/>
    <p:sldId id="290" r:id="rIdSL35"/>
    <p:sldId id="291" r:id="rIdSL36"/>
    <p:sldId id="292" r:id="rIdSL37"/>
    <p:sldId id="293" r:id="rIdSL38"/>
    <p:sldId id="294" r:id="rIdSL39"/>
    <p:sldId id="295" r:id="rIdSL40"/>
    <p:sldId id="296" r:id="rIdSL41"/>
    <p:sldId id="297" r:id="rIdSL42"/>
    <p:sldId id="298" r:id="rIdSL43"/>
    <p:sldId id="299" r:id="rIdSL44"/>
    <p:sldId id="300" r:id="rIdSL45"/>
    <p:sldId id="301" r:id="rIdSL46"/>
    <p:sldId id="302" r:id="rIdSL47"/>
    <p:sldId id="303" r:id="rIdSL48"/>
    <p:sldId id="304" r:id="rIdSL49"/>
    <p:sldId id="305" r:id="rIdSL50"/>
    <p:sldId id="306" r:id="rIdSL51"/>
    <p:sldId id="307" r:id="rIdSL52"/>
    <p:sldId id="308" r:id="rIdSL53"/>
    <p:sldId id="309" r:id="rIdSL54"/>
    <p:sldId id="310" r:id="rIdSL55"/>
    <p:sldId id="311" r:id="rIdSL56"/>
    <p:sldId id="312" r:id="rIdSL57"/>
    <p:sldId id="313" r:id="rIdSL58"/>
    <p:sldId id="314" r:id="rIdSL59"/>
    <p:sldId id="315" r:id="rIdSL60"/>
  </p:sldIdLst>
  <p:sldSz cx="12192000" cy="6858000"/>
  <p:notesSz cx="6858000" cy="9144000"/>
  <p:custDataLst>
    <p:tags r:id="rId6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5148"/>
    <a:srgbClr val="D66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31" autoAdjust="0"/>
    <p:restoredTop sz="93909" autoAdjust="0"/>
  </p:normalViewPr>
  <p:slideViewPr>
    <p:cSldViewPr snapToGrid="0">
      <p:cViewPr varScale="1">
        <p:scale>
          <a:sx n="83" d="100"/>
          <a:sy n="83" d="100"/>
        </p:scale>
        <p:origin x="252" y="4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3" d="100"/>
        <a:sy n="133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0" Type="http://schemas.openxmlformats.org/officeDocument/2006/relationships/tags" Target="tags/tag33.xml"/><Relationship Id="rId6" Type="http://schemas.openxmlformats.org/officeDocument/2006/relationships/slide" Target="slides/slide2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Relationship Id="rIdSL9" Type="http://schemas.openxmlformats.org/officeDocument/2006/relationships/slide" Target="slides/slide9.xml"/><Relationship Id="rIdSL10" Type="http://schemas.openxmlformats.org/officeDocument/2006/relationships/slide" Target="slides/slide10.xml"/><Relationship Id="rIdSL11" Type="http://schemas.openxmlformats.org/officeDocument/2006/relationships/slide" Target="slides/slide11.xml"/><Relationship Id="rIdSL12" Type="http://schemas.openxmlformats.org/officeDocument/2006/relationships/slide" Target="slides/slide12.xml"/><Relationship Id="rIdSL13" Type="http://schemas.openxmlformats.org/officeDocument/2006/relationships/slide" Target="slides/slide13.xml"/><Relationship Id="rIdSL14" Type="http://schemas.openxmlformats.org/officeDocument/2006/relationships/slide" Target="slides/slide14.xml"/><Relationship Id="rIdSL15" Type="http://schemas.openxmlformats.org/officeDocument/2006/relationships/slide" Target="slides/slide15.xml"/><Relationship Id="rIdSL16" Type="http://schemas.openxmlformats.org/officeDocument/2006/relationships/slide" Target="slides/slide16.xml"/><Relationship Id="rIdSL17" Type="http://schemas.openxmlformats.org/officeDocument/2006/relationships/slide" Target="slides/slide17.xml"/><Relationship Id="rIdSL18" Type="http://schemas.openxmlformats.org/officeDocument/2006/relationships/slide" Target="slides/slide18.xml"/><Relationship Id="rIdSL19" Type="http://schemas.openxmlformats.org/officeDocument/2006/relationships/slide" Target="slides/slide19.xml"/><Relationship Id="rIdSL20" Type="http://schemas.openxmlformats.org/officeDocument/2006/relationships/slide" Target="slides/slide20.xml"/><Relationship Id="rIdSL21" Type="http://schemas.openxmlformats.org/officeDocument/2006/relationships/slide" Target="slides/slide21.xml"/><Relationship Id="rIdSL22" Type="http://schemas.openxmlformats.org/officeDocument/2006/relationships/slide" Target="slides/slide22.xml"/><Relationship Id="rIdSL23" Type="http://schemas.openxmlformats.org/officeDocument/2006/relationships/slide" Target="slides/slide23.xml"/><Relationship Id="rIdSL24" Type="http://schemas.openxmlformats.org/officeDocument/2006/relationships/slide" Target="slides/slide24.xml"/><Relationship Id="rIdSL25" Type="http://schemas.openxmlformats.org/officeDocument/2006/relationships/slide" Target="slides/slide25.xml"/><Relationship Id="rIdSL26" Type="http://schemas.openxmlformats.org/officeDocument/2006/relationships/slide" Target="slides/slide26.xml"/><Relationship Id="rIdSL27" Type="http://schemas.openxmlformats.org/officeDocument/2006/relationships/slide" Target="slides/slide27.xml"/><Relationship Id="rIdSL28" Type="http://schemas.openxmlformats.org/officeDocument/2006/relationships/slide" Target="slides/slide28.xml"/><Relationship Id="rIdSL29" Type="http://schemas.openxmlformats.org/officeDocument/2006/relationships/slide" Target="slides/slide29.xml"/><Relationship Id="rIdSL30" Type="http://schemas.openxmlformats.org/officeDocument/2006/relationships/slide" Target="slides/slide30.xml"/><Relationship Id="rIdSL31" Type="http://schemas.openxmlformats.org/officeDocument/2006/relationships/slide" Target="slides/slide31.xml"/><Relationship Id="rIdSL32" Type="http://schemas.openxmlformats.org/officeDocument/2006/relationships/slide" Target="slides/slide32.xml"/><Relationship Id="rIdSL33" Type="http://schemas.openxmlformats.org/officeDocument/2006/relationships/slide" Target="slides/slide33.xml"/><Relationship Id="rIdSL34" Type="http://schemas.openxmlformats.org/officeDocument/2006/relationships/slide" Target="slides/slide34.xml"/><Relationship Id="rIdSL35" Type="http://schemas.openxmlformats.org/officeDocument/2006/relationships/slide" Target="slides/slide35.xml"/><Relationship Id="rIdSL36" Type="http://schemas.openxmlformats.org/officeDocument/2006/relationships/slide" Target="slides/slide36.xml"/><Relationship Id="rIdSL37" Type="http://schemas.openxmlformats.org/officeDocument/2006/relationships/slide" Target="slides/slide37.xml"/><Relationship Id="rIdSL38" Type="http://schemas.openxmlformats.org/officeDocument/2006/relationships/slide" Target="slides/slide38.xml"/><Relationship Id="rIdSL39" Type="http://schemas.openxmlformats.org/officeDocument/2006/relationships/slide" Target="slides/slide39.xml"/><Relationship Id="rIdSL40" Type="http://schemas.openxmlformats.org/officeDocument/2006/relationships/slide" Target="slides/slide40.xml"/><Relationship Id="rIdSL41" Type="http://schemas.openxmlformats.org/officeDocument/2006/relationships/slide" Target="slides/slide41.xml"/><Relationship Id="rIdSL42" Type="http://schemas.openxmlformats.org/officeDocument/2006/relationships/slide" Target="slides/slide42.xml"/><Relationship Id="rIdSL43" Type="http://schemas.openxmlformats.org/officeDocument/2006/relationships/slide" Target="slides/slide43.xml"/><Relationship Id="rIdSL44" Type="http://schemas.openxmlformats.org/officeDocument/2006/relationships/slide" Target="slides/slide44.xml"/><Relationship Id="rIdSL45" Type="http://schemas.openxmlformats.org/officeDocument/2006/relationships/slide" Target="slides/slide45.xml"/><Relationship Id="rIdSL46" Type="http://schemas.openxmlformats.org/officeDocument/2006/relationships/slide" Target="slides/slide46.xml"/><Relationship Id="rIdSL47" Type="http://schemas.openxmlformats.org/officeDocument/2006/relationships/slide" Target="slides/slide47.xml"/><Relationship Id="rIdSL48" Type="http://schemas.openxmlformats.org/officeDocument/2006/relationships/slide" Target="slides/slide48.xml"/><Relationship Id="rIdSL49" Type="http://schemas.openxmlformats.org/officeDocument/2006/relationships/slide" Target="slides/slide49.xml"/><Relationship Id="rIdSL50" Type="http://schemas.openxmlformats.org/officeDocument/2006/relationships/slide" Target="slides/slide50.xml"/><Relationship Id="rIdSL51" Type="http://schemas.openxmlformats.org/officeDocument/2006/relationships/slide" Target="slides/slide51.xml"/><Relationship Id="rIdSL52" Type="http://schemas.openxmlformats.org/officeDocument/2006/relationships/slide" Target="slides/slide52.xml"/><Relationship Id="rIdSL53" Type="http://schemas.openxmlformats.org/officeDocument/2006/relationships/slide" Target="slides/slide53.xml"/><Relationship Id="rIdSL54" Type="http://schemas.openxmlformats.org/officeDocument/2006/relationships/slide" Target="slides/slide54.xml"/><Relationship Id="rIdSL55" Type="http://schemas.openxmlformats.org/officeDocument/2006/relationships/slide" Target="slides/slide55.xml"/><Relationship Id="rIdSL56" Type="http://schemas.openxmlformats.org/officeDocument/2006/relationships/slide" Target="slides/slide56.xml"/><Relationship Id="rIdSL57" Type="http://schemas.openxmlformats.org/officeDocument/2006/relationships/slide" Target="slides/slide57.xml"/><Relationship Id="rIdSL58" Type="http://schemas.openxmlformats.org/officeDocument/2006/relationships/slide" Target="slides/slide58.xml"/><Relationship Id="rIdSL59" Type="http://schemas.openxmlformats.org/officeDocument/2006/relationships/slide" Target="slides/slide59.xml"/><Relationship Id="rIdSL60" Type="http://schemas.openxmlformats.org/officeDocument/2006/relationships/slide" Target="slides/slide6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 userDrawn="1"/>
        </p:nvGrpSpPr>
        <p:grpSpPr>
          <a:xfrm>
            <a:off x="-1" y="0"/>
            <a:ext cx="12195175" cy="6858000"/>
            <a:chOff x="-1" y="0"/>
            <a:chExt cx="12195175" cy="6858000"/>
          </a:xfrm>
        </p:grpSpPr>
        <p:sp>
          <p:nvSpPr>
            <p:cNvPr id="22" name="Freeform: Shape 21"/>
            <p:cNvSpPr/>
            <p:nvPr userDrawn="1"/>
          </p:nvSpPr>
          <p:spPr>
            <a:xfrm>
              <a:off x="6480174" y="0"/>
              <a:ext cx="4248150" cy="5417156"/>
            </a:xfrm>
            <a:custGeom>
              <a:avLst/>
              <a:gdLst>
                <a:gd name="connsiteX0" fmla="*/ 0 w 4248150"/>
                <a:gd name="connsiteY0" fmla="*/ 0 h 5417156"/>
                <a:gd name="connsiteX1" fmla="*/ 4248150 w 4248150"/>
                <a:gd name="connsiteY1" fmla="*/ 0 h 5417156"/>
                <a:gd name="connsiteX2" fmla="*/ 4248150 w 4248150"/>
                <a:gd name="connsiteY2" fmla="*/ 4632905 h 5417156"/>
                <a:gd name="connsiteX3" fmla="*/ 3463899 w 4248150"/>
                <a:gd name="connsiteY3" fmla="*/ 5417156 h 5417156"/>
                <a:gd name="connsiteX4" fmla="*/ 784251 w 4248150"/>
                <a:gd name="connsiteY4" fmla="*/ 5417156 h 5417156"/>
                <a:gd name="connsiteX5" fmla="*/ 0 w 4248150"/>
                <a:gd name="connsiteY5" fmla="*/ 4632905 h 541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8150" h="5417156">
                  <a:moveTo>
                    <a:pt x="0" y="0"/>
                  </a:moveTo>
                  <a:lnTo>
                    <a:pt x="4248150" y="0"/>
                  </a:lnTo>
                  <a:lnTo>
                    <a:pt x="4248150" y="4632905"/>
                  </a:lnTo>
                  <a:cubicBezTo>
                    <a:pt x="4248150" y="5066035"/>
                    <a:pt x="3897029" y="5417156"/>
                    <a:pt x="3463899" y="5417156"/>
                  </a:cubicBezTo>
                  <a:lnTo>
                    <a:pt x="784251" y="5417156"/>
                  </a:lnTo>
                  <a:cubicBezTo>
                    <a:pt x="351121" y="5417156"/>
                    <a:pt x="0" y="5066035"/>
                    <a:pt x="0" y="463290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7" name="Group 16"/>
            <p:cNvGrpSpPr/>
            <p:nvPr userDrawn="1"/>
          </p:nvGrpSpPr>
          <p:grpSpPr>
            <a:xfrm flipH="1">
              <a:off x="-1" y="4762501"/>
              <a:ext cx="12195175" cy="2095499"/>
              <a:chOff x="0" y="-2873375"/>
              <a:chExt cx="12195175" cy="1895475"/>
            </a:xfrm>
          </p:grpSpPr>
          <p:sp>
            <p:nvSpPr>
              <p:cNvPr id="14" name="Freeform: Shape 13"/>
              <p:cNvSpPr/>
              <p:nvPr userDrawn="1"/>
            </p:nvSpPr>
            <p:spPr bwMode="auto">
              <a:xfrm>
                <a:off x="0" y="-2873375"/>
                <a:ext cx="12195175" cy="1895475"/>
              </a:xfrm>
              <a:custGeom>
                <a:avLst/>
                <a:gdLst>
                  <a:gd name="T0" fmla="*/ 7682 w 7682"/>
                  <a:gd name="T1" fmla="*/ 1194 h 1194"/>
                  <a:gd name="T2" fmla="*/ 0 w 7682"/>
                  <a:gd name="T3" fmla="*/ 1194 h 1194"/>
                  <a:gd name="T4" fmla="*/ 0 w 7682"/>
                  <a:gd name="T5" fmla="*/ 0 h 1194"/>
                  <a:gd name="T6" fmla="*/ 7682 w 7682"/>
                  <a:gd name="T7" fmla="*/ 807 h 1194"/>
                  <a:gd name="T8" fmla="*/ 7682 w 7682"/>
                  <a:gd name="T9" fmla="*/ 119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1194">
                    <a:moveTo>
                      <a:pt x="7682" y="1194"/>
                    </a:moveTo>
                    <a:lnTo>
                      <a:pt x="0" y="1194"/>
                    </a:lnTo>
                    <a:lnTo>
                      <a:pt x="0" y="0"/>
                    </a:lnTo>
                    <a:lnTo>
                      <a:pt x="7682" y="807"/>
                    </a:lnTo>
                    <a:lnTo>
                      <a:pt x="7682" y="1194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: Shape 14"/>
              <p:cNvSpPr/>
              <p:nvPr userDrawn="1"/>
            </p:nvSpPr>
            <p:spPr bwMode="auto">
              <a:xfrm>
                <a:off x="0" y="-2151063"/>
                <a:ext cx="12195175" cy="1173163"/>
              </a:xfrm>
              <a:custGeom>
                <a:avLst/>
                <a:gdLst>
                  <a:gd name="T0" fmla="*/ 7682 w 7682"/>
                  <a:gd name="T1" fmla="*/ 739 h 739"/>
                  <a:gd name="T2" fmla="*/ 0 w 7682"/>
                  <a:gd name="T3" fmla="*/ 739 h 739"/>
                  <a:gd name="T4" fmla="*/ 0 w 7682"/>
                  <a:gd name="T5" fmla="*/ 0 h 739"/>
                  <a:gd name="T6" fmla="*/ 7682 w 7682"/>
                  <a:gd name="T7" fmla="*/ 379 h 739"/>
                  <a:gd name="T8" fmla="*/ 7682 w 7682"/>
                  <a:gd name="T9" fmla="*/ 739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739">
                    <a:moveTo>
                      <a:pt x="7682" y="739"/>
                    </a:moveTo>
                    <a:lnTo>
                      <a:pt x="0" y="739"/>
                    </a:lnTo>
                    <a:lnTo>
                      <a:pt x="0" y="0"/>
                    </a:lnTo>
                    <a:lnTo>
                      <a:pt x="7682" y="379"/>
                    </a:lnTo>
                    <a:lnTo>
                      <a:pt x="7682" y="739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: Shape 15"/>
              <p:cNvSpPr/>
              <p:nvPr userDrawn="1"/>
            </p:nvSpPr>
            <p:spPr bwMode="auto">
              <a:xfrm>
                <a:off x="0" y="-1549400"/>
                <a:ext cx="12195175" cy="571500"/>
              </a:xfrm>
              <a:custGeom>
                <a:avLst/>
                <a:gdLst>
                  <a:gd name="T0" fmla="*/ 7682 w 7682"/>
                  <a:gd name="T1" fmla="*/ 360 h 360"/>
                  <a:gd name="T2" fmla="*/ 0 w 7682"/>
                  <a:gd name="T3" fmla="*/ 360 h 360"/>
                  <a:gd name="T4" fmla="*/ 7682 w 7682"/>
                  <a:gd name="T5" fmla="*/ 0 h 360"/>
                  <a:gd name="T6" fmla="*/ 7682 w 7682"/>
                  <a:gd name="T7" fmla="*/ 36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82" h="360">
                    <a:moveTo>
                      <a:pt x="7682" y="360"/>
                    </a:moveTo>
                    <a:lnTo>
                      <a:pt x="0" y="360"/>
                    </a:lnTo>
                    <a:lnTo>
                      <a:pt x="7682" y="0"/>
                    </a:lnTo>
                    <a:lnTo>
                      <a:pt x="7682" y="36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30" name="Freeform: Shape 29"/>
            <p:cNvSpPr/>
            <p:nvPr userDrawn="1"/>
          </p:nvSpPr>
          <p:spPr>
            <a:xfrm flipV="1">
              <a:off x="6915150" y="0"/>
              <a:ext cx="4248150" cy="5925148"/>
            </a:xfrm>
            <a:custGeom>
              <a:avLst/>
              <a:gdLst>
                <a:gd name="connsiteX0" fmla="*/ 0 w 4248150"/>
                <a:gd name="connsiteY0" fmla="*/ 5925148 h 5925148"/>
                <a:gd name="connsiteX1" fmla="*/ 4248150 w 4248150"/>
                <a:gd name="connsiteY1" fmla="*/ 5925148 h 5925148"/>
                <a:gd name="connsiteX2" fmla="*/ 4248150 w 4248150"/>
                <a:gd name="connsiteY2" fmla="*/ 1249194 h 5925148"/>
                <a:gd name="connsiteX3" fmla="*/ 4114212 w 4248150"/>
                <a:gd name="connsiteY3" fmla="*/ 810712 h 5925148"/>
                <a:gd name="connsiteX4" fmla="*/ 4035071 w 4248150"/>
                <a:gd name="connsiteY4" fmla="*/ 714792 h 5925148"/>
                <a:gd name="connsiteX5" fmla="*/ 4040892 w 4248150"/>
                <a:gd name="connsiteY5" fmla="*/ 714792 h 5925148"/>
                <a:gd name="connsiteX6" fmla="*/ 3260654 w 4248150"/>
                <a:gd name="connsiteY6" fmla="*/ 0 h 5925148"/>
                <a:gd name="connsiteX7" fmla="*/ 3233852 w 4248150"/>
                <a:gd name="connsiteY7" fmla="*/ 464943 h 5925148"/>
                <a:gd name="connsiteX8" fmla="*/ 784251 w 4248150"/>
                <a:gd name="connsiteY8" fmla="*/ 464943 h 5925148"/>
                <a:gd name="connsiteX9" fmla="*/ 0 w 4248150"/>
                <a:gd name="connsiteY9" fmla="*/ 1249194 h 592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48150" h="5925148">
                  <a:moveTo>
                    <a:pt x="0" y="5925148"/>
                  </a:moveTo>
                  <a:lnTo>
                    <a:pt x="4248150" y="5925148"/>
                  </a:lnTo>
                  <a:lnTo>
                    <a:pt x="4248150" y="1249194"/>
                  </a:lnTo>
                  <a:cubicBezTo>
                    <a:pt x="4248150" y="1086771"/>
                    <a:pt x="4198774" y="935879"/>
                    <a:pt x="4114212" y="810712"/>
                  </a:cubicBezTo>
                  <a:lnTo>
                    <a:pt x="4035071" y="714792"/>
                  </a:lnTo>
                  <a:lnTo>
                    <a:pt x="4040892" y="714792"/>
                  </a:lnTo>
                  <a:lnTo>
                    <a:pt x="3260654" y="0"/>
                  </a:lnTo>
                  <a:lnTo>
                    <a:pt x="3233852" y="464943"/>
                  </a:lnTo>
                  <a:lnTo>
                    <a:pt x="784251" y="464943"/>
                  </a:lnTo>
                  <a:cubicBezTo>
                    <a:pt x="351121" y="464943"/>
                    <a:pt x="0" y="816064"/>
                    <a:pt x="0" y="124919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Freeform: Shape 28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blipFill rotWithShape="0">
              <a:blip r:embed="rId2"/>
              <a:srcRect/>
              <a:stretch>
                <a:fillRect r="-9772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32" name="Freeform: Shape 31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 userDrawn="1">
            <p:ph type="ctrTitle" hasCustomPrompt="1"/>
          </p:nvPr>
        </p:nvSpPr>
        <p:spPr>
          <a:xfrm>
            <a:off x="660400" y="1089026"/>
            <a:ext cx="5819774" cy="271600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 userDrawn="1">
            <p:ph type="subTitle" sz="quarter" idx="1" hasCustomPrompt="1"/>
          </p:nvPr>
        </p:nvSpPr>
        <p:spPr>
          <a:xfrm>
            <a:off x="660400" y="3970410"/>
            <a:ext cx="3441700" cy="706106"/>
          </a:xfrm>
          <a:prstGeom prst="round2DiagRect">
            <a:avLst>
              <a:gd name="adj1" fmla="val 0"/>
              <a:gd name="adj2" fmla="val 41007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1800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60400" y="5032395"/>
            <a:ext cx="17018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60399" y="5372121"/>
            <a:ext cx="17018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t="-18520" b="-92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 hasCustomPrompt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  <p:grpSp>
        <p:nvGrpSpPr>
          <p:cNvPr id="6" name="Group 5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Freeform: Shape 8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1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-3175" y="0"/>
            <a:ext cx="12195175" cy="6858000"/>
            <a:chOff x="-1" y="0"/>
            <a:chExt cx="12195175" cy="6858000"/>
          </a:xfrm>
        </p:grpSpPr>
        <p:sp>
          <p:nvSpPr>
            <p:cNvPr id="3" name="Freeform: Shape 2"/>
            <p:cNvSpPr/>
            <p:nvPr userDrawn="1"/>
          </p:nvSpPr>
          <p:spPr>
            <a:xfrm>
              <a:off x="6480174" y="0"/>
              <a:ext cx="4248150" cy="5417156"/>
            </a:xfrm>
            <a:custGeom>
              <a:avLst/>
              <a:gdLst>
                <a:gd name="connsiteX0" fmla="*/ 0 w 4248150"/>
                <a:gd name="connsiteY0" fmla="*/ 0 h 5417156"/>
                <a:gd name="connsiteX1" fmla="*/ 4248150 w 4248150"/>
                <a:gd name="connsiteY1" fmla="*/ 0 h 5417156"/>
                <a:gd name="connsiteX2" fmla="*/ 4248150 w 4248150"/>
                <a:gd name="connsiteY2" fmla="*/ 4632905 h 5417156"/>
                <a:gd name="connsiteX3" fmla="*/ 3463899 w 4248150"/>
                <a:gd name="connsiteY3" fmla="*/ 5417156 h 5417156"/>
                <a:gd name="connsiteX4" fmla="*/ 784251 w 4248150"/>
                <a:gd name="connsiteY4" fmla="*/ 5417156 h 5417156"/>
                <a:gd name="connsiteX5" fmla="*/ 0 w 4248150"/>
                <a:gd name="connsiteY5" fmla="*/ 4632905 h 541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8150" h="5417156">
                  <a:moveTo>
                    <a:pt x="0" y="0"/>
                  </a:moveTo>
                  <a:lnTo>
                    <a:pt x="4248150" y="0"/>
                  </a:lnTo>
                  <a:lnTo>
                    <a:pt x="4248150" y="4632905"/>
                  </a:lnTo>
                  <a:cubicBezTo>
                    <a:pt x="4248150" y="5066035"/>
                    <a:pt x="3897029" y="5417156"/>
                    <a:pt x="3463899" y="5417156"/>
                  </a:cubicBezTo>
                  <a:lnTo>
                    <a:pt x="784251" y="5417156"/>
                  </a:lnTo>
                  <a:cubicBezTo>
                    <a:pt x="351121" y="5417156"/>
                    <a:pt x="0" y="5066035"/>
                    <a:pt x="0" y="463290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" name="Group 6"/>
            <p:cNvGrpSpPr/>
            <p:nvPr userDrawn="1"/>
          </p:nvGrpSpPr>
          <p:grpSpPr>
            <a:xfrm flipH="1">
              <a:off x="-1" y="4762501"/>
              <a:ext cx="12195175" cy="2095499"/>
              <a:chOff x="0" y="-2873375"/>
              <a:chExt cx="12195175" cy="1895475"/>
            </a:xfrm>
          </p:grpSpPr>
          <p:sp>
            <p:nvSpPr>
              <p:cNvPr id="12" name="Freeform: Shape 11"/>
              <p:cNvSpPr/>
              <p:nvPr userDrawn="1"/>
            </p:nvSpPr>
            <p:spPr bwMode="auto">
              <a:xfrm>
                <a:off x="0" y="-2873375"/>
                <a:ext cx="12195175" cy="1895475"/>
              </a:xfrm>
              <a:custGeom>
                <a:avLst/>
                <a:gdLst>
                  <a:gd name="T0" fmla="*/ 7682 w 7682"/>
                  <a:gd name="T1" fmla="*/ 1194 h 1194"/>
                  <a:gd name="T2" fmla="*/ 0 w 7682"/>
                  <a:gd name="T3" fmla="*/ 1194 h 1194"/>
                  <a:gd name="T4" fmla="*/ 0 w 7682"/>
                  <a:gd name="T5" fmla="*/ 0 h 1194"/>
                  <a:gd name="T6" fmla="*/ 7682 w 7682"/>
                  <a:gd name="T7" fmla="*/ 807 h 1194"/>
                  <a:gd name="T8" fmla="*/ 7682 w 7682"/>
                  <a:gd name="T9" fmla="*/ 119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1194">
                    <a:moveTo>
                      <a:pt x="7682" y="1194"/>
                    </a:moveTo>
                    <a:lnTo>
                      <a:pt x="0" y="1194"/>
                    </a:lnTo>
                    <a:lnTo>
                      <a:pt x="0" y="0"/>
                    </a:lnTo>
                    <a:lnTo>
                      <a:pt x="7682" y="807"/>
                    </a:lnTo>
                    <a:lnTo>
                      <a:pt x="7682" y="1194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: Shape 12"/>
              <p:cNvSpPr/>
              <p:nvPr userDrawn="1"/>
            </p:nvSpPr>
            <p:spPr bwMode="auto">
              <a:xfrm>
                <a:off x="0" y="-2151063"/>
                <a:ext cx="12195175" cy="1173163"/>
              </a:xfrm>
              <a:custGeom>
                <a:avLst/>
                <a:gdLst>
                  <a:gd name="T0" fmla="*/ 7682 w 7682"/>
                  <a:gd name="T1" fmla="*/ 739 h 739"/>
                  <a:gd name="T2" fmla="*/ 0 w 7682"/>
                  <a:gd name="T3" fmla="*/ 739 h 739"/>
                  <a:gd name="T4" fmla="*/ 0 w 7682"/>
                  <a:gd name="T5" fmla="*/ 0 h 739"/>
                  <a:gd name="T6" fmla="*/ 7682 w 7682"/>
                  <a:gd name="T7" fmla="*/ 379 h 739"/>
                  <a:gd name="T8" fmla="*/ 7682 w 7682"/>
                  <a:gd name="T9" fmla="*/ 739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739">
                    <a:moveTo>
                      <a:pt x="7682" y="739"/>
                    </a:moveTo>
                    <a:lnTo>
                      <a:pt x="0" y="739"/>
                    </a:lnTo>
                    <a:lnTo>
                      <a:pt x="0" y="0"/>
                    </a:lnTo>
                    <a:lnTo>
                      <a:pt x="7682" y="379"/>
                    </a:lnTo>
                    <a:lnTo>
                      <a:pt x="7682" y="739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: Shape 13"/>
              <p:cNvSpPr/>
              <p:nvPr userDrawn="1"/>
            </p:nvSpPr>
            <p:spPr bwMode="auto">
              <a:xfrm>
                <a:off x="0" y="-1549400"/>
                <a:ext cx="12195175" cy="571500"/>
              </a:xfrm>
              <a:custGeom>
                <a:avLst/>
                <a:gdLst>
                  <a:gd name="T0" fmla="*/ 7682 w 7682"/>
                  <a:gd name="T1" fmla="*/ 360 h 360"/>
                  <a:gd name="T2" fmla="*/ 0 w 7682"/>
                  <a:gd name="T3" fmla="*/ 360 h 360"/>
                  <a:gd name="T4" fmla="*/ 7682 w 7682"/>
                  <a:gd name="T5" fmla="*/ 0 h 360"/>
                  <a:gd name="T6" fmla="*/ 7682 w 7682"/>
                  <a:gd name="T7" fmla="*/ 36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82" h="360">
                    <a:moveTo>
                      <a:pt x="7682" y="360"/>
                    </a:moveTo>
                    <a:lnTo>
                      <a:pt x="0" y="360"/>
                    </a:lnTo>
                    <a:lnTo>
                      <a:pt x="7682" y="0"/>
                    </a:lnTo>
                    <a:lnTo>
                      <a:pt x="7682" y="36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9" name="Freeform: Shape 8"/>
            <p:cNvSpPr/>
            <p:nvPr userDrawn="1"/>
          </p:nvSpPr>
          <p:spPr>
            <a:xfrm flipV="1">
              <a:off x="6915150" y="0"/>
              <a:ext cx="4248150" cy="5925148"/>
            </a:xfrm>
            <a:custGeom>
              <a:avLst/>
              <a:gdLst>
                <a:gd name="connsiteX0" fmla="*/ 0 w 4248150"/>
                <a:gd name="connsiteY0" fmla="*/ 5925148 h 5925148"/>
                <a:gd name="connsiteX1" fmla="*/ 4248150 w 4248150"/>
                <a:gd name="connsiteY1" fmla="*/ 5925148 h 5925148"/>
                <a:gd name="connsiteX2" fmla="*/ 4248150 w 4248150"/>
                <a:gd name="connsiteY2" fmla="*/ 1249194 h 5925148"/>
                <a:gd name="connsiteX3" fmla="*/ 4114212 w 4248150"/>
                <a:gd name="connsiteY3" fmla="*/ 810712 h 5925148"/>
                <a:gd name="connsiteX4" fmla="*/ 4035071 w 4248150"/>
                <a:gd name="connsiteY4" fmla="*/ 714792 h 5925148"/>
                <a:gd name="connsiteX5" fmla="*/ 4040892 w 4248150"/>
                <a:gd name="connsiteY5" fmla="*/ 714792 h 5925148"/>
                <a:gd name="connsiteX6" fmla="*/ 3260654 w 4248150"/>
                <a:gd name="connsiteY6" fmla="*/ 0 h 5925148"/>
                <a:gd name="connsiteX7" fmla="*/ 3233852 w 4248150"/>
                <a:gd name="connsiteY7" fmla="*/ 464943 h 5925148"/>
                <a:gd name="connsiteX8" fmla="*/ 784251 w 4248150"/>
                <a:gd name="connsiteY8" fmla="*/ 464943 h 5925148"/>
                <a:gd name="connsiteX9" fmla="*/ 0 w 4248150"/>
                <a:gd name="connsiteY9" fmla="*/ 1249194 h 592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48150" h="5925148">
                  <a:moveTo>
                    <a:pt x="0" y="5925148"/>
                  </a:moveTo>
                  <a:lnTo>
                    <a:pt x="4248150" y="5925148"/>
                  </a:lnTo>
                  <a:lnTo>
                    <a:pt x="4248150" y="1249194"/>
                  </a:lnTo>
                  <a:cubicBezTo>
                    <a:pt x="4248150" y="1086771"/>
                    <a:pt x="4198774" y="935879"/>
                    <a:pt x="4114212" y="810712"/>
                  </a:cubicBezTo>
                  <a:lnTo>
                    <a:pt x="4035071" y="714792"/>
                  </a:lnTo>
                  <a:lnTo>
                    <a:pt x="4040892" y="714792"/>
                  </a:lnTo>
                  <a:lnTo>
                    <a:pt x="3260654" y="0"/>
                  </a:lnTo>
                  <a:lnTo>
                    <a:pt x="3233852" y="464943"/>
                  </a:lnTo>
                  <a:lnTo>
                    <a:pt x="784251" y="464943"/>
                  </a:lnTo>
                  <a:cubicBezTo>
                    <a:pt x="351121" y="464943"/>
                    <a:pt x="0" y="816064"/>
                    <a:pt x="0" y="124919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Freeform: Shape 9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blipFill rotWithShape="0">
              <a:blip r:embed="rId2"/>
              <a:srcRect/>
              <a:stretch>
                <a:fillRect r="-9772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Freeform: Shape 10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146801" y="2147327"/>
            <a:ext cx="5372098" cy="110499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 hasCustomPrompt="1"/>
          </p:nvPr>
        </p:nvSpPr>
        <p:spPr>
          <a:xfrm>
            <a:off x="6146801" y="3264170"/>
            <a:ext cx="5372098" cy="11049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43B38-FCD2-4D0A-90BC-740ACC77290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">
    <p:bg>
      <p:bgPr>
        <a:solidFill>
          <a:schemeClr val="accent1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1" y="0"/>
            <a:ext cx="12195175" cy="6858000"/>
            <a:chOff x="-1" y="0"/>
            <a:chExt cx="12195175" cy="6858000"/>
          </a:xfrm>
        </p:grpSpPr>
        <p:sp>
          <p:nvSpPr>
            <p:cNvPr id="15" name="Freeform: Shape 14"/>
            <p:cNvSpPr/>
            <p:nvPr userDrawn="1"/>
          </p:nvSpPr>
          <p:spPr>
            <a:xfrm>
              <a:off x="6480174" y="0"/>
              <a:ext cx="4248150" cy="5417156"/>
            </a:xfrm>
            <a:custGeom>
              <a:avLst/>
              <a:gdLst>
                <a:gd name="connsiteX0" fmla="*/ 0 w 4248150"/>
                <a:gd name="connsiteY0" fmla="*/ 0 h 5417156"/>
                <a:gd name="connsiteX1" fmla="*/ 4248150 w 4248150"/>
                <a:gd name="connsiteY1" fmla="*/ 0 h 5417156"/>
                <a:gd name="connsiteX2" fmla="*/ 4248150 w 4248150"/>
                <a:gd name="connsiteY2" fmla="*/ 4632905 h 5417156"/>
                <a:gd name="connsiteX3" fmla="*/ 3463899 w 4248150"/>
                <a:gd name="connsiteY3" fmla="*/ 5417156 h 5417156"/>
                <a:gd name="connsiteX4" fmla="*/ 784251 w 4248150"/>
                <a:gd name="connsiteY4" fmla="*/ 5417156 h 5417156"/>
                <a:gd name="connsiteX5" fmla="*/ 0 w 4248150"/>
                <a:gd name="connsiteY5" fmla="*/ 4632905 h 541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8150" h="5417156">
                  <a:moveTo>
                    <a:pt x="0" y="0"/>
                  </a:moveTo>
                  <a:lnTo>
                    <a:pt x="4248150" y="0"/>
                  </a:lnTo>
                  <a:lnTo>
                    <a:pt x="4248150" y="4632905"/>
                  </a:lnTo>
                  <a:cubicBezTo>
                    <a:pt x="4248150" y="5066035"/>
                    <a:pt x="3897029" y="5417156"/>
                    <a:pt x="3463899" y="5417156"/>
                  </a:cubicBezTo>
                  <a:lnTo>
                    <a:pt x="784251" y="5417156"/>
                  </a:lnTo>
                  <a:cubicBezTo>
                    <a:pt x="351121" y="5417156"/>
                    <a:pt x="0" y="5066035"/>
                    <a:pt x="0" y="463290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6" name="Group 15"/>
            <p:cNvGrpSpPr/>
            <p:nvPr userDrawn="1"/>
          </p:nvGrpSpPr>
          <p:grpSpPr>
            <a:xfrm flipH="1">
              <a:off x="-1" y="4762501"/>
              <a:ext cx="12195175" cy="2095499"/>
              <a:chOff x="0" y="-2873375"/>
              <a:chExt cx="12195175" cy="1895475"/>
            </a:xfrm>
          </p:grpSpPr>
          <p:sp>
            <p:nvSpPr>
              <p:cNvPr id="20" name="Freeform: Shape 19"/>
              <p:cNvSpPr/>
              <p:nvPr userDrawn="1"/>
            </p:nvSpPr>
            <p:spPr bwMode="auto">
              <a:xfrm>
                <a:off x="0" y="-2873375"/>
                <a:ext cx="12195175" cy="1895475"/>
              </a:xfrm>
              <a:custGeom>
                <a:avLst/>
                <a:gdLst>
                  <a:gd name="T0" fmla="*/ 7682 w 7682"/>
                  <a:gd name="T1" fmla="*/ 1194 h 1194"/>
                  <a:gd name="T2" fmla="*/ 0 w 7682"/>
                  <a:gd name="T3" fmla="*/ 1194 h 1194"/>
                  <a:gd name="T4" fmla="*/ 0 w 7682"/>
                  <a:gd name="T5" fmla="*/ 0 h 1194"/>
                  <a:gd name="T6" fmla="*/ 7682 w 7682"/>
                  <a:gd name="T7" fmla="*/ 807 h 1194"/>
                  <a:gd name="T8" fmla="*/ 7682 w 7682"/>
                  <a:gd name="T9" fmla="*/ 119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1194">
                    <a:moveTo>
                      <a:pt x="7682" y="1194"/>
                    </a:moveTo>
                    <a:lnTo>
                      <a:pt x="0" y="1194"/>
                    </a:lnTo>
                    <a:lnTo>
                      <a:pt x="0" y="0"/>
                    </a:lnTo>
                    <a:lnTo>
                      <a:pt x="7682" y="807"/>
                    </a:lnTo>
                    <a:lnTo>
                      <a:pt x="7682" y="1194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: Shape 20"/>
              <p:cNvSpPr/>
              <p:nvPr userDrawn="1"/>
            </p:nvSpPr>
            <p:spPr bwMode="auto">
              <a:xfrm>
                <a:off x="0" y="-2151063"/>
                <a:ext cx="12195175" cy="1173163"/>
              </a:xfrm>
              <a:custGeom>
                <a:avLst/>
                <a:gdLst>
                  <a:gd name="T0" fmla="*/ 7682 w 7682"/>
                  <a:gd name="T1" fmla="*/ 739 h 739"/>
                  <a:gd name="T2" fmla="*/ 0 w 7682"/>
                  <a:gd name="T3" fmla="*/ 739 h 739"/>
                  <a:gd name="T4" fmla="*/ 0 w 7682"/>
                  <a:gd name="T5" fmla="*/ 0 h 739"/>
                  <a:gd name="T6" fmla="*/ 7682 w 7682"/>
                  <a:gd name="T7" fmla="*/ 379 h 739"/>
                  <a:gd name="T8" fmla="*/ 7682 w 7682"/>
                  <a:gd name="T9" fmla="*/ 739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82" h="739">
                    <a:moveTo>
                      <a:pt x="7682" y="739"/>
                    </a:moveTo>
                    <a:lnTo>
                      <a:pt x="0" y="739"/>
                    </a:lnTo>
                    <a:lnTo>
                      <a:pt x="0" y="0"/>
                    </a:lnTo>
                    <a:lnTo>
                      <a:pt x="7682" y="379"/>
                    </a:lnTo>
                    <a:lnTo>
                      <a:pt x="7682" y="739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: Shape 21"/>
              <p:cNvSpPr/>
              <p:nvPr userDrawn="1"/>
            </p:nvSpPr>
            <p:spPr bwMode="auto">
              <a:xfrm>
                <a:off x="0" y="-1549400"/>
                <a:ext cx="12195175" cy="571500"/>
              </a:xfrm>
              <a:custGeom>
                <a:avLst/>
                <a:gdLst>
                  <a:gd name="T0" fmla="*/ 7682 w 7682"/>
                  <a:gd name="T1" fmla="*/ 360 h 360"/>
                  <a:gd name="T2" fmla="*/ 0 w 7682"/>
                  <a:gd name="T3" fmla="*/ 360 h 360"/>
                  <a:gd name="T4" fmla="*/ 7682 w 7682"/>
                  <a:gd name="T5" fmla="*/ 0 h 360"/>
                  <a:gd name="T6" fmla="*/ 7682 w 7682"/>
                  <a:gd name="T7" fmla="*/ 36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82" h="360">
                    <a:moveTo>
                      <a:pt x="7682" y="360"/>
                    </a:moveTo>
                    <a:lnTo>
                      <a:pt x="0" y="360"/>
                    </a:lnTo>
                    <a:lnTo>
                      <a:pt x="7682" y="0"/>
                    </a:lnTo>
                    <a:lnTo>
                      <a:pt x="7682" y="36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7" name="Freeform: Shape 16"/>
            <p:cNvSpPr/>
            <p:nvPr userDrawn="1"/>
          </p:nvSpPr>
          <p:spPr>
            <a:xfrm flipV="1">
              <a:off x="6915150" y="0"/>
              <a:ext cx="4248150" cy="5925148"/>
            </a:xfrm>
            <a:custGeom>
              <a:avLst/>
              <a:gdLst>
                <a:gd name="connsiteX0" fmla="*/ 0 w 4248150"/>
                <a:gd name="connsiteY0" fmla="*/ 5925148 h 5925148"/>
                <a:gd name="connsiteX1" fmla="*/ 4248150 w 4248150"/>
                <a:gd name="connsiteY1" fmla="*/ 5925148 h 5925148"/>
                <a:gd name="connsiteX2" fmla="*/ 4248150 w 4248150"/>
                <a:gd name="connsiteY2" fmla="*/ 1249194 h 5925148"/>
                <a:gd name="connsiteX3" fmla="*/ 4114212 w 4248150"/>
                <a:gd name="connsiteY3" fmla="*/ 810712 h 5925148"/>
                <a:gd name="connsiteX4" fmla="*/ 4035071 w 4248150"/>
                <a:gd name="connsiteY4" fmla="*/ 714792 h 5925148"/>
                <a:gd name="connsiteX5" fmla="*/ 4040892 w 4248150"/>
                <a:gd name="connsiteY5" fmla="*/ 714792 h 5925148"/>
                <a:gd name="connsiteX6" fmla="*/ 3260654 w 4248150"/>
                <a:gd name="connsiteY6" fmla="*/ 0 h 5925148"/>
                <a:gd name="connsiteX7" fmla="*/ 3233852 w 4248150"/>
                <a:gd name="connsiteY7" fmla="*/ 464943 h 5925148"/>
                <a:gd name="connsiteX8" fmla="*/ 784251 w 4248150"/>
                <a:gd name="connsiteY8" fmla="*/ 464943 h 5925148"/>
                <a:gd name="connsiteX9" fmla="*/ 0 w 4248150"/>
                <a:gd name="connsiteY9" fmla="*/ 1249194 h 5925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48150" h="5925148">
                  <a:moveTo>
                    <a:pt x="0" y="5925148"/>
                  </a:moveTo>
                  <a:lnTo>
                    <a:pt x="4248150" y="5925148"/>
                  </a:lnTo>
                  <a:lnTo>
                    <a:pt x="4248150" y="1249194"/>
                  </a:lnTo>
                  <a:cubicBezTo>
                    <a:pt x="4248150" y="1086771"/>
                    <a:pt x="4198774" y="935879"/>
                    <a:pt x="4114212" y="810712"/>
                  </a:cubicBezTo>
                  <a:lnTo>
                    <a:pt x="4035071" y="714792"/>
                  </a:lnTo>
                  <a:lnTo>
                    <a:pt x="4040892" y="714792"/>
                  </a:lnTo>
                  <a:lnTo>
                    <a:pt x="3260654" y="0"/>
                  </a:lnTo>
                  <a:lnTo>
                    <a:pt x="3233852" y="464943"/>
                  </a:lnTo>
                  <a:lnTo>
                    <a:pt x="784251" y="464943"/>
                  </a:lnTo>
                  <a:cubicBezTo>
                    <a:pt x="351121" y="464943"/>
                    <a:pt x="0" y="816064"/>
                    <a:pt x="0" y="124919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Freeform: Shape 17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blipFill rotWithShape="0">
              <a:blip r:embed="rId2"/>
              <a:srcRect/>
              <a:stretch>
                <a:fillRect r="-9772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9" name="Freeform: Shape 18"/>
            <p:cNvSpPr/>
            <p:nvPr userDrawn="1"/>
          </p:nvSpPr>
          <p:spPr>
            <a:xfrm>
              <a:off x="7046409" y="0"/>
              <a:ext cx="3985632" cy="5249068"/>
            </a:xfrm>
            <a:custGeom>
              <a:avLst/>
              <a:gdLst>
                <a:gd name="connsiteX0" fmla="*/ 0 w 3985632"/>
                <a:gd name="connsiteY0" fmla="*/ 0 h 5249068"/>
                <a:gd name="connsiteX1" fmla="*/ 3985632 w 3985632"/>
                <a:gd name="connsiteY1" fmla="*/ 0 h 5249068"/>
                <a:gd name="connsiteX2" fmla="*/ 3985632 w 3985632"/>
                <a:gd name="connsiteY2" fmla="*/ 4513280 h 5249068"/>
                <a:gd name="connsiteX3" fmla="*/ 3249844 w 3985632"/>
                <a:gd name="connsiteY3" fmla="*/ 5249068 h 5249068"/>
                <a:gd name="connsiteX4" fmla="*/ 735788 w 3985632"/>
                <a:gd name="connsiteY4" fmla="*/ 5249068 h 5249068"/>
                <a:gd name="connsiteX5" fmla="*/ 0 w 3985632"/>
                <a:gd name="connsiteY5" fmla="*/ 4513280 h 524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632" h="5249068">
                  <a:moveTo>
                    <a:pt x="0" y="0"/>
                  </a:moveTo>
                  <a:lnTo>
                    <a:pt x="3985632" y="0"/>
                  </a:lnTo>
                  <a:lnTo>
                    <a:pt x="3985632" y="4513280"/>
                  </a:lnTo>
                  <a:cubicBezTo>
                    <a:pt x="3985632" y="4919644"/>
                    <a:pt x="3656208" y="5249068"/>
                    <a:pt x="3249844" y="5249068"/>
                  </a:cubicBezTo>
                  <a:lnTo>
                    <a:pt x="735788" y="5249068"/>
                  </a:lnTo>
                  <a:cubicBezTo>
                    <a:pt x="329424" y="5249068"/>
                    <a:pt x="0" y="4919644"/>
                    <a:pt x="0" y="4513280"/>
                  </a:cubicBez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2" y="1089025"/>
            <a:ext cx="5516056" cy="363420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72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180447"/>
            <a:ext cx="169867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491976"/>
            <a:ext cx="169867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B41BC-062A-4A37-98A7-A4093DA809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B6D7-9E7A-4D93-8915-FE4BCCB2A5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2DB480-9CDF-4800-882C-FE5483CB238B}" type="datetimeFigureOut">
              <a:rPr kumimoji="1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</a:fld>
            <a:endParaRPr kumimoji="1" lang="zh-CN" altLang="en-US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1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B71EDC-3402-4FF9-9F3C-2A94A9876D12}" type="slidenum">
              <a:rPr kumimoji="1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</a:fld>
            <a:endParaRPr kumimoji="1" lang="zh-CN" altLang="en-US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/Users/Administrator/Desktop/微信图片_20250109153514.jpg微信图片_20250109153514"/>
          <p:cNvPicPr>
            <a:picLocks noChangeAspect="1"/>
          </p:cNvPicPr>
          <p:nvPr userDrawn="1"/>
        </p:nvPicPr>
        <p:blipFill rotWithShape="1">
          <a:blip r:embed="rId2"/>
          <a:srcRect l="-4212" t="10" r="26035" b="32602"/>
          <a:stretch>
            <a:fillRect/>
          </a:stretch>
        </p:blipFill>
        <p:spPr>
          <a:xfrm>
            <a:off x="7190105" y="1392555"/>
            <a:ext cx="5005070" cy="3354705"/>
          </a:xfrm>
          <a:prstGeom prst="rect">
            <a:avLst/>
          </a:prstGeom>
        </p:spPr>
      </p:pic>
      <p:sp>
        <p:nvSpPr>
          <p:cNvPr id="8" name="平行四边形 7"/>
          <p:cNvSpPr/>
          <p:nvPr userDrawn="1"/>
        </p:nvSpPr>
        <p:spPr>
          <a:xfrm>
            <a:off x="1043940" y="552448"/>
            <a:ext cx="9098280" cy="4876800"/>
          </a:xfrm>
          <a:prstGeom prst="parallelogram">
            <a:avLst>
              <a:gd name="adj" fmla="val 556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-7620" y="1390650"/>
            <a:ext cx="9601200" cy="3611880"/>
          </a:xfrm>
          <a:custGeom>
            <a:avLst/>
            <a:gdLst>
              <a:gd name="connsiteX0" fmla="*/ 0 w 9601200"/>
              <a:gd name="connsiteY0" fmla="*/ 0 h 3611880"/>
              <a:gd name="connsiteX1" fmla="*/ 9601200 w 9601200"/>
              <a:gd name="connsiteY1" fmla="*/ 0 h 3611880"/>
              <a:gd name="connsiteX2" fmla="*/ 7590177 w 9601200"/>
              <a:gd name="connsiteY2" fmla="*/ 3611880 h 3611880"/>
              <a:gd name="connsiteX3" fmla="*/ 0 w 9601200"/>
              <a:gd name="connsiteY3" fmla="*/ 3611880 h 361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01200" h="3611880">
                <a:moveTo>
                  <a:pt x="0" y="0"/>
                </a:moveTo>
                <a:lnTo>
                  <a:pt x="9601200" y="0"/>
                </a:lnTo>
                <a:lnTo>
                  <a:pt x="7590177" y="3611880"/>
                </a:lnTo>
                <a:lnTo>
                  <a:pt x="0" y="361188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7658100" y="4804410"/>
            <a:ext cx="4526280" cy="198120"/>
          </a:xfrm>
          <a:custGeom>
            <a:avLst/>
            <a:gdLst>
              <a:gd name="connsiteX0" fmla="*/ 114301 w 4526280"/>
              <a:gd name="connsiteY0" fmla="*/ 0 h 198120"/>
              <a:gd name="connsiteX1" fmla="*/ 4526280 w 4526280"/>
              <a:gd name="connsiteY1" fmla="*/ 0 h 198120"/>
              <a:gd name="connsiteX2" fmla="*/ 4526280 w 4526280"/>
              <a:gd name="connsiteY2" fmla="*/ 198120 h 198120"/>
              <a:gd name="connsiteX3" fmla="*/ 0 w 4526280"/>
              <a:gd name="connsiteY3" fmla="*/ 198120 h 19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6280" h="198120">
                <a:moveTo>
                  <a:pt x="114301" y="0"/>
                </a:moveTo>
                <a:lnTo>
                  <a:pt x="4526280" y="0"/>
                </a:lnTo>
                <a:lnTo>
                  <a:pt x="4526280" y="198120"/>
                </a:lnTo>
                <a:lnTo>
                  <a:pt x="0" y="19812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212080" y="1306830"/>
            <a:ext cx="6983095" cy="508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296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785600" y="274645"/>
            <a:ext cx="36576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274645"/>
            <a:ext cx="107696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4677B-B353-4C87-8EEF-2EA4485188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C9A05-FB33-4818-A248-F912A288062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05840" y="1188720"/>
            <a:ext cx="10177272" cy="1417320"/>
          </a:xfrm>
          <a:prstGeom prst="roundRect">
            <a:avLst>
              <a:gd name="adj" fmla="val 8000"/>
            </a:avLst>
          </a:prstGeom>
          <a:noFill/>
          <a:ln w="31750" cap="flat" cmpd="sng" algn="ctr">
            <a:solidFill>
              <a:srgbClr val="F5D349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" name="CoverTitle 3"/>
          <p:cNvSpPr/>
          <p:nvPr/>
        </p:nvSpPr>
        <p:spPr>
          <a:xfrm>
            <a:off x="1188720" y="1298448"/>
            <a:ext cx="9811512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38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sp>
        <p:nvSpPr>
          <p:cNvPr id="4" name="CoverSub 4"/>
          <p:cNvSpPr/>
          <p:nvPr/>
        </p:nvSpPr>
        <p:spPr>
          <a:xfrm>
            <a:off x="1188720" y="2066544"/>
            <a:ext cx="9811512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看懂一个人，才带得动一个班组；看懂一群人，才管得住一条产线</a:t>
            </a:r>
          </a:p>
        </p:txBody>
      </p:sp>
      <p:sp>
        <p:nvSpPr>
          <p:cNvPr id="5" name="Shape 5"/>
          <p:cNvSpPr/>
          <p:nvPr/>
        </p:nvSpPr>
        <p:spPr>
          <a:xfrm>
            <a:off x="1005840" y="2999232"/>
            <a:ext cx="2352294" cy="157276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6" name="CovHead 6"/>
          <p:cNvSpPr/>
          <p:nvPr/>
        </p:nvSpPr>
        <p:spPr>
          <a:xfrm>
            <a:off x="1005840" y="2999232"/>
            <a:ext cx="2352294" cy="365760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看懂个体</a:t>
            </a:r>
          </a:p>
        </p:txBody>
      </p:sp>
      <p:sp>
        <p:nvSpPr>
          <p:cNvPr id="7" name="CovBody 7"/>
          <p:cNvSpPr/>
          <p:nvPr/>
        </p:nvSpPr>
        <p:spPr>
          <a:xfrm>
            <a:off x="1097280" y="3419856"/>
            <a:ext cx="2169414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行为不是性格决定的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是人与情境共同决定的</a:t>
            </a:r>
          </a:p>
        </p:txBody>
      </p:sp>
      <p:sp>
        <p:nvSpPr>
          <p:cNvPr id="8" name="Shape 8"/>
          <p:cNvSpPr/>
          <p:nvPr/>
        </p:nvSpPr>
        <p:spPr>
          <a:xfrm>
            <a:off x="3614166" y="2999232"/>
            <a:ext cx="2352294" cy="157276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9" name="CovHead 9"/>
          <p:cNvSpPr/>
          <p:nvPr/>
        </p:nvSpPr>
        <p:spPr>
          <a:xfrm>
            <a:off x="3614166" y="2999232"/>
            <a:ext cx="2352294" cy="365760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看懂群体</a:t>
            </a:r>
          </a:p>
        </p:txBody>
      </p:sp>
      <p:sp>
        <p:nvSpPr>
          <p:cNvPr id="10" name="CovBody 10"/>
          <p:cNvSpPr/>
          <p:nvPr/>
        </p:nvSpPr>
        <p:spPr>
          <a:xfrm>
            <a:off x="3705606" y="3419856"/>
            <a:ext cx="2169414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班组有自己的规范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它比制度更管用</a:t>
            </a:r>
          </a:p>
        </p:txBody>
      </p:sp>
      <p:sp>
        <p:nvSpPr>
          <p:cNvPr id="11" name="Shape 11"/>
          <p:cNvSpPr/>
          <p:nvPr/>
        </p:nvSpPr>
        <p:spPr>
          <a:xfrm>
            <a:off x="6222492" y="2999232"/>
            <a:ext cx="2352294" cy="157276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2" name="CovHead 12"/>
          <p:cNvSpPr/>
          <p:nvPr/>
        </p:nvSpPr>
        <p:spPr>
          <a:xfrm>
            <a:off x="6222492" y="2999232"/>
            <a:ext cx="2352294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看懂动力</a:t>
            </a:r>
          </a:p>
        </p:txBody>
      </p:sp>
      <p:sp>
        <p:nvSpPr>
          <p:cNvPr id="13" name="CovBody 13"/>
          <p:cNvSpPr/>
          <p:nvPr/>
        </p:nvSpPr>
        <p:spPr>
          <a:xfrm>
            <a:off x="6313932" y="3419856"/>
            <a:ext cx="2169414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群体会放大对的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也会放大错的</a:t>
            </a:r>
          </a:p>
        </p:txBody>
      </p:sp>
      <p:sp>
        <p:nvSpPr>
          <p:cNvPr id="14" name="Shape 14"/>
          <p:cNvSpPr/>
          <p:nvPr/>
        </p:nvSpPr>
        <p:spPr>
          <a:xfrm>
            <a:off x="8830818" y="2999232"/>
            <a:ext cx="2352294" cy="157276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ovHead 15"/>
          <p:cNvSpPr/>
          <p:nvPr/>
        </p:nvSpPr>
        <p:spPr>
          <a:xfrm>
            <a:off x="8830818" y="2999232"/>
            <a:ext cx="2352294" cy="365760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学以致用</a:t>
            </a:r>
          </a:p>
        </p:txBody>
      </p:sp>
      <p:sp>
        <p:nvSpPr>
          <p:cNvPr id="16" name="CovBody 16"/>
          <p:cNvSpPr/>
          <p:nvPr/>
        </p:nvSpPr>
        <p:spPr>
          <a:xfrm>
            <a:off x="8922258" y="3419856"/>
            <a:ext cx="2169414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6个亚德客现场情境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带回去解决真问题</a:t>
            </a:r>
          </a:p>
        </p:txBody>
      </p:sp>
      <p:sp>
        <p:nvSpPr>
          <p:cNvPr id="17" name="CoverBy 17"/>
          <p:cNvSpPr/>
          <p:nvPr/>
        </p:nvSpPr>
        <p:spPr>
          <a:xfrm>
            <a:off x="1005840" y="4901184"/>
            <a:ext cx="101772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主讲：嘉兴大学商学院  蔡鑫宇（人才学博士、副教授、硕士生导师）</a:t>
            </a:r>
          </a:p>
        </p:txBody>
      </p:sp>
      <p:sp>
        <p:nvSpPr>
          <p:cNvPr id="18" name="CoverFoot 18"/>
          <p:cNvSpPr/>
          <p:nvPr/>
        </p:nvSpPr>
        <p:spPr>
          <a:xfrm>
            <a:off x="1005840" y="5321808"/>
            <a:ext cx="10177272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亚德客企业内训 ｜ 车间班组长 · 职能骨干　|　全日 6 小时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2"/>
          <p:cNvSpPr/>
          <p:nvPr/>
        </p:nvSpPr>
        <p:spPr>
          <a:xfrm>
            <a:off x="365760" y="420624"/>
            <a:ext cx="1691640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开场任务</a:t>
            </a:r>
          </a:p>
        </p:txBody>
      </p:sp>
      <p:sp>
        <p:nvSpPr>
          <p:cNvPr id="3" name="TTTitle 3"/>
          <p:cNvSpPr/>
          <p:nvPr/>
        </p:nvSpPr>
        <p:spPr>
          <a:xfrm>
            <a:off x="2194560" y="402336"/>
            <a:ext cx="96469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1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先说困境：你带的班组，最让你想不通的是哪一件事？</a:t>
            </a:r>
          </a:p>
        </p:txBody>
      </p:sp>
      <p:sp>
        <p:nvSpPr>
          <p:cNvPr id="4" name="Shape 4"/>
          <p:cNvSpPr/>
          <p:nvPr/>
        </p:nvSpPr>
        <p:spPr>
          <a:xfrm>
            <a:off x="365760" y="1097280"/>
            <a:ext cx="11475720" cy="102412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5" name="TTSitHead 5"/>
          <p:cNvSpPr/>
          <p:nvPr/>
        </p:nvSpPr>
        <p:spPr>
          <a:xfrm>
            <a:off x="365760" y="1097280"/>
            <a:ext cx="1188720" cy="10241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  境</a:t>
            </a:r>
          </a:p>
        </p:txBody>
      </p:sp>
      <p:sp>
        <p:nvSpPr>
          <p:cNvPr id="6" name="TTSit 6"/>
          <p:cNvSpPr/>
          <p:nvPr/>
        </p:nvSpPr>
        <p:spPr>
          <a:xfrm>
            <a:off x="1700784" y="1152144"/>
            <a:ext cx="1001268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请每组用 8 分钟，各自说一件“我讲了很多遍、他就是不改”或者“单独看都挺好、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凑在一起就是不行”的真实事情。不评价、不打断，先把事情说清楚。</a:t>
            </a:r>
          </a:p>
        </p:txBody>
      </p:sp>
      <p:sp>
        <p:nvSpPr>
          <p:cNvPr id="7" name="Shape 7"/>
          <p:cNvSpPr/>
          <p:nvPr/>
        </p:nvSpPr>
        <p:spPr>
          <a:xfrm>
            <a:off x="365760" y="2322576"/>
            <a:ext cx="11475720" cy="4169664"/>
          </a:xfrm>
          <a:prstGeom prst="rect">
            <a:avLst/>
          </a:prstGeom>
          <a:solidFill>
            <a:srgbClr val="FFF7E8"/>
          </a:solidFill>
          <a:ln w="2222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8" name="TTHead 8"/>
          <p:cNvSpPr/>
          <p:nvPr/>
        </p:nvSpPr>
        <p:spPr>
          <a:xfrm>
            <a:off x="365760" y="2322576"/>
            <a:ext cx="11475720" cy="42062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  队  任  务</a:t>
            </a:r>
          </a:p>
        </p:txBody>
      </p:sp>
      <p:sp>
        <p:nvSpPr>
          <p:cNvPr id="9" name="TTTasks 9"/>
          <p:cNvSpPr/>
          <p:nvPr/>
        </p:nvSpPr>
        <p:spPr>
          <a:xfrm>
            <a:off x="566928" y="2798064"/>
            <a:ext cx="11064240" cy="3273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7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你带的班组多少人？新老比例？做什么工序？</a:t>
            </a:r>
          </a:p>
          <a:p>
            <a:pPr algn="l">
              <a:lnSpc>
                <a:spcPct val="104000"/>
              </a:lnSpc>
              <a:spcBef>
                <a:spcPts val="700"/>
              </a:spcBef>
              <a:buNone/>
            </a:pPr>
            <a:r>
              <a:rPr lang="zh-CN" altLang="en-US" sz="17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最近三个月，最让你费解的一个人的行为是什么？（只描述行为，先不下结论）</a:t>
            </a:r>
          </a:p>
          <a:p>
            <a:pPr algn="l">
              <a:lnSpc>
                <a:spcPct val="104000"/>
              </a:lnSpc>
              <a:spcBef>
                <a:spcPts val="700"/>
              </a:spcBef>
              <a:buNone/>
            </a:pPr>
            <a:r>
              <a:rPr lang="zh-CN" altLang="en-US" sz="17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你已经试过什么办法？当时有效吗？多久之后又反弹了？</a:t>
            </a:r>
          </a:p>
          <a:p>
            <a:pPr algn="l">
              <a:lnSpc>
                <a:spcPct val="104000"/>
              </a:lnSpc>
              <a:spcBef>
                <a:spcPts val="700"/>
              </a:spcBef>
              <a:buNone/>
            </a:pPr>
            <a:r>
              <a:rPr lang="zh-CN" altLang="en-US" sz="17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你心里觉得原因是什么？把它写在纸上——这张纸课程结束时我们再拿出来对一次</a:t>
            </a:r>
          </a:p>
          <a:p>
            <a:pPr algn="l">
              <a:lnSpc>
                <a:spcPct val="104000"/>
              </a:lnSpc>
              <a:spcBef>
                <a:spcPts val="700"/>
              </a:spcBef>
              <a:buNone/>
            </a:pPr>
            <a:r>
              <a:rPr lang="zh-CN" altLang="en-US" sz="17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每组选 1 件最典型的，用 1 分钟讲给全班听</a:t>
            </a:r>
          </a:p>
        </p:txBody>
      </p:sp>
      <p:sp>
        <p:nvSpPr>
          <p:cNvPr id="10" name="TTScore 10"/>
          <p:cNvSpPr/>
          <p:nvPr/>
        </p:nvSpPr>
        <p:spPr>
          <a:xfrm>
            <a:off x="365760" y="6089904"/>
            <a:ext cx="11475720" cy="40233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201168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产　出　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每组一张《困境卡》，贴到墙上，全天课程围绕它展开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全天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课程地图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层次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今天这一天，我们回答三个问题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从看懂一个人，到看懂一群人，再到用得上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1975104"/>
            <a:ext cx="10213848" cy="133502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1975104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340864"/>
            <a:ext cx="999439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同样的制度，为什么在不同的人身上效果不同？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行为=f（人，情境）｜知觉与归因｜人格与能力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态度与满意度｜情绪｜价值观｜强化塑造</a:t>
            </a:r>
          </a:p>
        </p:txBody>
      </p:sp>
      <p:sp>
        <p:nvSpPr>
          <p:cNvPr id="17" name="Shape 17"/>
          <p:cNvSpPr/>
          <p:nvPr/>
        </p:nvSpPr>
        <p:spPr>
          <a:xfrm>
            <a:off x="1929384" y="3456432"/>
            <a:ext cx="10213848" cy="133502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1929384" y="3456432"/>
            <a:ext cx="10213848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19" name="CardBody 19"/>
          <p:cNvSpPr/>
          <p:nvPr/>
        </p:nvSpPr>
        <p:spPr>
          <a:xfrm>
            <a:off x="2039112" y="3822192"/>
            <a:ext cx="999439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为什么一个人进了班组就变了？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群体发展五阶段｜规范与从众｜角色与地位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社会惰化｜团队与群体的差别｜协作效能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937760"/>
            <a:ext cx="10213848" cy="133502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937760"/>
            <a:ext cx="10213848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5303520"/>
            <a:ext cx="999439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为什么大家都同意的决定，往往是错的？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群体决策陷阱｜群体极化与思维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非正式组织｜五种权力来源｜90天落地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627278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93976" y="6272784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全天主线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不解释“人为什么这样”，只回答“我明天该怎么做”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　个体行为的底层逻辑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为什么同一套制度，用在不同的人身上效果完全不同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249424"/>
            <a:ext cx="1473708" cy="1078992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249424"/>
            <a:ext cx="1473708" cy="310896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84248" y="2596896"/>
            <a:ext cx="1363980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看得见的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只有行为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3439668" y="278892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3677412" y="2249424"/>
            <a:ext cx="1473708" cy="1078992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3677412" y="2249424"/>
            <a:ext cx="1473708" cy="310896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</a:t>
            </a:r>
          </a:p>
        </p:txBody>
      </p:sp>
      <p:sp>
        <p:nvSpPr>
          <p:cNvPr id="20" name="FlowBody 20"/>
          <p:cNvSpPr/>
          <p:nvPr/>
        </p:nvSpPr>
        <p:spPr>
          <a:xfrm>
            <a:off x="3732276" y="2596896"/>
            <a:ext cx="1363980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他怎么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看这件事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5187696" y="278892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5425440" y="2249424"/>
            <a:ext cx="1473708" cy="1078992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5425440" y="2249424"/>
            <a:ext cx="1473708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归因</a:t>
            </a:r>
          </a:p>
        </p:txBody>
      </p:sp>
      <p:sp>
        <p:nvSpPr>
          <p:cNvPr id="24" name="FlowBody 24"/>
          <p:cNvSpPr/>
          <p:nvPr/>
        </p:nvSpPr>
        <p:spPr>
          <a:xfrm>
            <a:off x="5480304" y="2596896"/>
            <a:ext cx="1363980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他认为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是谁的错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6935724" y="278892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7173468" y="2249424"/>
            <a:ext cx="1473708" cy="1078992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FlowHead 27"/>
          <p:cNvSpPr/>
          <p:nvPr/>
        </p:nvSpPr>
        <p:spPr>
          <a:xfrm>
            <a:off x="7173468" y="2249424"/>
            <a:ext cx="1473708" cy="310896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态度</a:t>
            </a:r>
          </a:p>
        </p:txBody>
      </p:sp>
      <p:sp>
        <p:nvSpPr>
          <p:cNvPr id="28" name="FlowBody 28"/>
          <p:cNvSpPr/>
          <p:nvPr/>
        </p:nvSpPr>
        <p:spPr>
          <a:xfrm>
            <a:off x="7228332" y="2596896"/>
            <a:ext cx="1363980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愿不愿意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</a:t>
            </a:r>
          </a:p>
        </p:txBody>
      </p:sp>
      <p:cxnSp>
        <p:nvCxnSpPr>
          <p:cNvPr id="29" name="Arrow 29"/>
          <p:cNvCxnSpPr/>
          <p:nvPr/>
        </p:nvCxnSpPr>
        <p:spPr>
          <a:xfrm>
            <a:off x="8683752" y="278892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0" name="Shape 30"/>
          <p:cNvSpPr/>
          <p:nvPr/>
        </p:nvSpPr>
        <p:spPr>
          <a:xfrm>
            <a:off x="8921496" y="2249424"/>
            <a:ext cx="1473708" cy="1078992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FlowHead 31"/>
          <p:cNvSpPr/>
          <p:nvPr/>
        </p:nvSpPr>
        <p:spPr>
          <a:xfrm>
            <a:off x="8921496" y="2249424"/>
            <a:ext cx="1473708" cy="310896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</a:t>
            </a:r>
          </a:p>
        </p:txBody>
      </p:sp>
      <p:sp>
        <p:nvSpPr>
          <p:cNvPr id="32" name="FlowBody 32"/>
          <p:cNvSpPr/>
          <p:nvPr/>
        </p:nvSpPr>
        <p:spPr>
          <a:xfrm>
            <a:off x="8976360" y="2596896"/>
            <a:ext cx="1363980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当下的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</a:p>
        </p:txBody>
      </p:sp>
      <p:cxnSp>
        <p:nvCxnSpPr>
          <p:cNvPr id="33" name="Arrow 33"/>
          <p:cNvCxnSpPr/>
          <p:nvPr/>
        </p:nvCxnSpPr>
        <p:spPr>
          <a:xfrm>
            <a:off x="10431780" y="278892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4" name="Shape 34"/>
          <p:cNvSpPr/>
          <p:nvPr/>
        </p:nvSpPr>
        <p:spPr>
          <a:xfrm>
            <a:off x="10669524" y="2249424"/>
            <a:ext cx="1473708" cy="1078992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5" name="FlowHead 35"/>
          <p:cNvSpPr/>
          <p:nvPr/>
        </p:nvSpPr>
        <p:spPr>
          <a:xfrm>
            <a:off x="10669524" y="2249424"/>
            <a:ext cx="1473708" cy="310896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</a:p>
        </p:txBody>
      </p:sp>
      <p:sp>
        <p:nvSpPr>
          <p:cNvPr id="36" name="FlowBody 36"/>
          <p:cNvSpPr/>
          <p:nvPr/>
        </p:nvSpPr>
        <p:spPr>
          <a:xfrm>
            <a:off x="10724388" y="2596896"/>
            <a:ext cx="1363980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做了/没做</a:t>
            </a:r>
          </a:p>
        </p:txBody>
      </p:sp>
      <p:sp>
        <p:nvSpPr>
          <p:cNvPr id="37" name="Shape 37"/>
          <p:cNvSpPr/>
          <p:nvPr/>
        </p:nvSpPr>
        <p:spPr>
          <a:xfrm>
            <a:off x="1929384" y="3657600"/>
            <a:ext cx="4956048" cy="14173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8" name="CardHead 38"/>
          <p:cNvSpPr/>
          <p:nvPr/>
        </p:nvSpPr>
        <p:spPr>
          <a:xfrm>
            <a:off x="1929384" y="3657600"/>
            <a:ext cx="4956048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班组长最常见的三句话</a:t>
            </a:r>
          </a:p>
        </p:txBody>
      </p:sp>
      <p:sp>
        <p:nvSpPr>
          <p:cNvPr id="39" name="CardBody 39"/>
          <p:cNvSpPr/>
          <p:nvPr/>
        </p:nvSpPr>
        <p:spPr>
          <a:xfrm>
            <a:off x="2039112" y="4023360"/>
            <a:ext cx="4736592" cy="9966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“他就是懒。”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“这个人态度有问题。”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“说了八百遍了，就是不听。”</a:t>
            </a:r>
          </a:p>
        </p:txBody>
      </p:sp>
      <p:sp>
        <p:nvSpPr>
          <p:cNvPr id="40" name="Shape 40"/>
          <p:cNvSpPr/>
          <p:nvPr/>
        </p:nvSpPr>
        <p:spPr>
          <a:xfrm>
            <a:off x="7187184" y="3657600"/>
            <a:ext cx="4956048" cy="14173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1" name="CardHead 41"/>
          <p:cNvSpPr/>
          <p:nvPr/>
        </p:nvSpPr>
        <p:spPr>
          <a:xfrm>
            <a:off x="7187184" y="3657600"/>
            <a:ext cx="49560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这一节要换成的三句话</a:t>
            </a:r>
          </a:p>
        </p:txBody>
      </p:sp>
      <p:sp>
        <p:nvSpPr>
          <p:cNvPr id="42" name="CardBody 42"/>
          <p:cNvSpPr/>
          <p:nvPr/>
        </p:nvSpPr>
        <p:spPr>
          <a:xfrm>
            <a:off x="7296912" y="4023360"/>
            <a:ext cx="4736592" cy="9966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“他在什么情境下会这样做？”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“他把这件事理解成了什么？”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“他这样做，对他自己是划算的吗？”</a:t>
            </a:r>
          </a:p>
        </p:txBody>
      </p:sp>
      <p:sp>
        <p:nvSpPr>
          <p:cNvPr id="43" name="Shape 43"/>
          <p:cNvSpPr/>
          <p:nvPr/>
        </p:nvSpPr>
        <p:spPr>
          <a:xfrm>
            <a:off x="1929384" y="5285232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4" name="Banner 44"/>
          <p:cNvSpPr/>
          <p:nvPr/>
        </p:nvSpPr>
        <p:spPr>
          <a:xfrm>
            <a:off x="2093976" y="5285232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底层判断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行为不是人的属性，是人与情境相互作用的结果——改情境，比改人容易得多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行为方程式　B = f ( P , E )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库尔特·勒温：行为是“人”和“环境”共同作用的函数</a:t>
            </a:r>
          </a:p>
        </p:txBody>
      </p:sp>
      <p:sp>
        <p:nvSpPr>
          <p:cNvPr id="14" name="Shape 14"/>
          <p:cNvSpPr/>
          <p:nvPr/>
        </p:nvSpPr>
        <p:spPr>
          <a:xfrm>
            <a:off x="2889504" y="2048256"/>
            <a:ext cx="8293608" cy="841248"/>
          </a:xfrm>
          <a:prstGeom prst="roundRect">
            <a:avLst>
              <a:gd name="adj" fmla="val 14000"/>
            </a:avLst>
          </a:prstGeom>
          <a:solidFill>
            <a:srgbClr val="FFF7E8"/>
          </a:solidFill>
          <a:ln w="25400" cap="flat" cmpd="sng" algn="ctr">
            <a:solidFill>
              <a:srgbClr val="F5D349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ormula 15"/>
          <p:cNvSpPr/>
          <p:nvPr/>
        </p:nvSpPr>
        <p:spPr>
          <a:xfrm>
            <a:off x="2889504" y="2048256"/>
            <a:ext cx="8293608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 = f ( </a:t>
            </a:r>
            <a:r>
              <a:rPr lang="zh-CN" altLang="en-US" sz="2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 , </a:t>
            </a:r>
            <a:r>
              <a:rPr lang="zh-CN" altLang="en-US" sz="2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lang="zh-CN" altLang="en-US" sz="21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 )</a:t>
            </a:r>
          </a:p>
        </p:txBody>
      </p:sp>
      <p:sp>
        <p:nvSpPr>
          <p:cNvPr id="16" name="Shape 16"/>
          <p:cNvSpPr/>
          <p:nvPr/>
        </p:nvSpPr>
        <p:spPr>
          <a:xfrm>
            <a:off x="1929384" y="3127248"/>
            <a:ext cx="3282696" cy="17007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7" name="CardHead 17"/>
          <p:cNvSpPr/>
          <p:nvPr/>
        </p:nvSpPr>
        <p:spPr>
          <a:xfrm>
            <a:off x="1929384" y="3127248"/>
            <a:ext cx="3282696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　行为 Behavior</a:t>
            </a:r>
          </a:p>
        </p:txBody>
      </p:sp>
      <p:sp>
        <p:nvSpPr>
          <p:cNvPr id="18" name="CardBody 18"/>
          <p:cNvSpPr/>
          <p:nvPr/>
        </p:nvSpPr>
        <p:spPr>
          <a:xfrm>
            <a:off x="2039112" y="3493008"/>
            <a:ext cx="306324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你唯一看得见的东西。漏点检、不上报、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不愿带新人——都是行为，不是性格</a:t>
            </a:r>
          </a:p>
        </p:txBody>
      </p:sp>
      <p:sp>
        <p:nvSpPr>
          <p:cNvPr id="19" name="Shape 19"/>
          <p:cNvSpPr/>
          <p:nvPr/>
        </p:nvSpPr>
        <p:spPr>
          <a:xfrm>
            <a:off x="5394960" y="3127248"/>
            <a:ext cx="3282696" cy="17007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CardHead 20"/>
          <p:cNvSpPr/>
          <p:nvPr/>
        </p:nvSpPr>
        <p:spPr>
          <a:xfrm>
            <a:off x="5394960" y="3127248"/>
            <a:ext cx="3282696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　个体 Person</a:t>
            </a:r>
          </a:p>
        </p:txBody>
      </p:sp>
      <p:sp>
        <p:nvSpPr>
          <p:cNvPr id="21" name="CardBody 21"/>
          <p:cNvSpPr/>
          <p:nvPr/>
        </p:nvSpPr>
        <p:spPr>
          <a:xfrm>
            <a:off x="5504688" y="3493008"/>
            <a:ext cx="306324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能力、经验、性格、价值观、当下情绪。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这部分难改，且改起来很慢</a:t>
            </a:r>
          </a:p>
        </p:txBody>
      </p:sp>
      <p:sp>
        <p:nvSpPr>
          <p:cNvPr id="22" name="Shape 22"/>
          <p:cNvSpPr/>
          <p:nvPr/>
        </p:nvSpPr>
        <p:spPr>
          <a:xfrm>
            <a:off x="8860536" y="3127248"/>
            <a:ext cx="3282696" cy="17007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CardHead 23"/>
          <p:cNvSpPr/>
          <p:nvPr/>
        </p:nvSpPr>
        <p:spPr>
          <a:xfrm>
            <a:off x="8860536" y="3127248"/>
            <a:ext cx="3282696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　环境 Environment</a:t>
            </a:r>
          </a:p>
        </p:txBody>
      </p:sp>
      <p:sp>
        <p:nvSpPr>
          <p:cNvPr id="24" name="CardBody 24"/>
          <p:cNvSpPr/>
          <p:nvPr/>
        </p:nvSpPr>
        <p:spPr>
          <a:xfrm>
            <a:off x="8970264" y="3493008"/>
            <a:ext cx="306324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标准、工具、排班、考核、班组风气、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谁在旁边看着。这部分你改得动</a:t>
            </a:r>
          </a:p>
        </p:txBody>
      </p:sp>
      <p:sp>
        <p:nvSpPr>
          <p:cNvPr id="25" name="Shape 25"/>
          <p:cNvSpPr/>
          <p:nvPr/>
        </p:nvSpPr>
        <p:spPr>
          <a:xfrm>
            <a:off x="1929384" y="4956048"/>
            <a:ext cx="10213848" cy="12070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CardHead 26"/>
          <p:cNvSpPr/>
          <p:nvPr/>
        </p:nvSpPr>
        <p:spPr>
          <a:xfrm>
            <a:off x="1929384" y="4956048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对班组长的意义：先查 E，再查 P</a:t>
            </a:r>
          </a:p>
        </p:txBody>
      </p:sp>
      <p:sp>
        <p:nvSpPr>
          <p:cNvPr id="27" name="CardBody 27"/>
          <p:cNvSpPr/>
          <p:nvPr/>
        </p:nvSpPr>
        <p:spPr>
          <a:xfrm>
            <a:off x="2039112" y="5321808"/>
            <a:ext cx="9994392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同一个人，在白班规范、在夜班违规 → 这是 E 的问题，不是 P 的问题；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换了三个人做同一个工位都出错 → 这一定是 E（工装、标准、节拍）的问题；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只有当 E 都正常、别人都能做好、只有他做不好时，才轮到讨论 P。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冰山模型：你招进来的是水面上，决定绩效的是水面下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知识技能看得见、可培训；动机价值观看不见、难改变</a:t>
            </a:r>
          </a:p>
        </p:txBody>
      </p:sp>
      <p:sp>
        <p:nvSpPr>
          <p:cNvPr id="14" name="Shape 14"/>
          <p:cNvSpPr/>
          <p:nvPr/>
        </p:nvSpPr>
        <p:spPr>
          <a:xfrm>
            <a:off x="2203704" y="2084832"/>
            <a:ext cx="4663440" cy="109728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905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Ice1 15"/>
          <p:cNvSpPr/>
          <p:nvPr/>
        </p:nvSpPr>
        <p:spPr>
          <a:xfrm>
            <a:off x="2313432" y="2139696"/>
            <a:ext cx="4443984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水面上　约 10%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 · 技能 · 学历 · 证书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招聘看得见，培训改得动，1~3个月见效</a:t>
            </a:r>
          </a:p>
        </p:txBody>
      </p:sp>
      <p:sp>
        <p:nvSpPr>
          <p:cNvPr id="16" name="Shape 16"/>
          <p:cNvSpPr/>
          <p:nvPr/>
        </p:nvSpPr>
        <p:spPr>
          <a:xfrm>
            <a:off x="2203704" y="3310128"/>
            <a:ext cx="4663440" cy="24323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9050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7" name="Ice2 17"/>
          <p:cNvSpPr/>
          <p:nvPr/>
        </p:nvSpPr>
        <p:spPr>
          <a:xfrm>
            <a:off x="2313432" y="3383280"/>
            <a:ext cx="4443984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水面下　约 90%</a:t>
            </a:r>
          </a:p>
          <a:p>
            <a:pPr algn="l"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自我认知：我觉得我是什么样的人</a:t>
            </a:r>
          </a:p>
          <a:p>
            <a:pPr algn="l"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特质：内向/外向、稳不稳得住</a:t>
            </a:r>
          </a:p>
          <a:p>
            <a:pPr algn="l"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动机：他到底想要什么</a:t>
            </a:r>
          </a:p>
          <a:p>
            <a:pPr algn="l"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价值观：他认为什么是对的</a:t>
            </a:r>
          </a:p>
          <a:p>
            <a:pPr algn="l"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招聘看不见，培训改不动，要用环境和时间去养</a:t>
            </a:r>
          </a:p>
        </p:txBody>
      </p:sp>
      <p:sp>
        <p:nvSpPr>
          <p:cNvPr id="18" name="Shape 18"/>
          <p:cNvSpPr/>
          <p:nvPr/>
        </p:nvSpPr>
        <p:spPr>
          <a:xfrm>
            <a:off x="7159752" y="2084832"/>
            <a:ext cx="4983480" cy="36576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CardHead 19"/>
          <p:cNvSpPr/>
          <p:nvPr/>
        </p:nvSpPr>
        <p:spPr>
          <a:xfrm>
            <a:off x="7159752" y="2084832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班组长用得上的三条</a:t>
            </a:r>
          </a:p>
        </p:txBody>
      </p:sp>
      <p:sp>
        <p:nvSpPr>
          <p:cNvPr id="20" name="CardBody 20"/>
          <p:cNvSpPr/>
          <p:nvPr/>
        </p:nvSpPr>
        <p:spPr>
          <a:xfrm>
            <a:off x="7269480" y="2450592"/>
            <a:ext cx="4764024" cy="32369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招人时，水面上的看简历，水面下的看他讲过去的事——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讲事实多的人，通常动机更实在。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带人时，别指望用培训改动机。培训能改技能，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改不了“他想不想”。想不想要靠环境和回报。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用人时，把动机和岗位配对：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求稳的人放关键工序，求新的人放改善课题，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求认可的人放带教岗——比硬拉着他改性格有效十倍。</a:t>
            </a:r>
          </a:p>
        </p:txBody>
      </p:sp>
      <p:sp>
        <p:nvSpPr>
          <p:cNvPr id="21" name="Shape 21"/>
          <p:cNvSpPr/>
          <p:nvPr/>
        </p:nvSpPr>
        <p:spPr>
          <a:xfrm>
            <a:off x="1929384" y="590702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Banner 22"/>
          <p:cNvSpPr/>
          <p:nvPr/>
        </p:nvSpPr>
        <p:spPr>
          <a:xfrm>
            <a:off x="2093976" y="5907024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你能改的是“他愿不愿意”，不是“他是什么样的人”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知觉偏差：你以为你看到了事实，其实你看到的是解释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四种最常见的偏差，班组长每天都在犯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21408"/>
            <a:ext cx="4983480" cy="17739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21408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首因效应　第一印象定终身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87168"/>
            <a:ext cx="4764024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新人第一周迟到一次，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之后半年他做什么你都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觉得“这人不太行”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121408"/>
            <a:ext cx="4983480" cy="17739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121408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近因效应　最近一次盖住全部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87168"/>
            <a:ext cx="4764024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老员工干了五年，上月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出一次批量不良，绩效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面谈时只剩这一件事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041648"/>
            <a:ext cx="4983480" cy="17739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041648"/>
            <a:ext cx="498348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晕轮效应　一好百好、一差百差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407408"/>
            <a:ext cx="4764024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技术好的人，你连他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带教敷衍都觉得情有可原；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话少的人，干得再好也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“没有存在感”</a:t>
            </a:r>
          </a:p>
        </p:txBody>
      </p:sp>
      <p:sp>
        <p:nvSpPr>
          <p:cNvPr id="23" name="Shape 23"/>
          <p:cNvSpPr/>
          <p:nvPr/>
        </p:nvSpPr>
        <p:spPr>
          <a:xfrm>
            <a:off x="7159752" y="4041648"/>
            <a:ext cx="4983480" cy="17739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7159752" y="4041648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刻板印象　用标签替代观察</a:t>
            </a:r>
          </a:p>
        </p:txBody>
      </p:sp>
      <p:sp>
        <p:nvSpPr>
          <p:cNvPr id="25" name="CardBody 25"/>
          <p:cNvSpPr/>
          <p:nvPr/>
        </p:nvSpPr>
        <p:spPr>
          <a:xfrm>
            <a:off x="7269480" y="4407408"/>
            <a:ext cx="4764024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“老员工都油”“新人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都吃不了苦”“外包的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都不上心”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599846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Banner 27"/>
          <p:cNvSpPr/>
          <p:nvPr/>
        </p:nvSpPr>
        <p:spPr>
          <a:xfrm>
            <a:off x="2093976" y="5998464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绩效面谈翻车，八成不是话说得不对，是你只记得最近那一件事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归因：他为什么这样做？——凯利三维度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同一件事，归因不同，处理方式完全相反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3221736" cy="100584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103120"/>
            <a:ext cx="3221736" cy="310896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区别性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84248" y="2450592"/>
            <a:ext cx="3112008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他只在这件事上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这样，还是件件如此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5187696" y="260604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5425440" y="2103120"/>
            <a:ext cx="3221736" cy="100584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5425440" y="2103120"/>
            <a:ext cx="3221736" cy="310896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一贯性</a:t>
            </a:r>
          </a:p>
        </p:txBody>
      </p:sp>
      <p:sp>
        <p:nvSpPr>
          <p:cNvPr id="20" name="FlowBody 20"/>
          <p:cNvSpPr/>
          <p:nvPr/>
        </p:nvSpPr>
        <p:spPr>
          <a:xfrm>
            <a:off x="5480304" y="2450592"/>
            <a:ext cx="3112008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他一直这样，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还是最近才这样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8683752" y="2606040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8921496" y="2103120"/>
            <a:ext cx="3221736" cy="100584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8921496" y="2103120"/>
            <a:ext cx="3221736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</a:t>
            </a:r>
          </a:p>
        </p:txBody>
      </p:sp>
      <p:sp>
        <p:nvSpPr>
          <p:cNvPr id="24" name="FlowBody 24"/>
          <p:cNvSpPr/>
          <p:nvPr/>
        </p:nvSpPr>
        <p:spPr>
          <a:xfrm>
            <a:off x="8976360" y="2450592"/>
            <a:ext cx="3112008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只有他这样，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还是大家都这样</a:t>
            </a:r>
          </a:p>
        </p:txBody>
      </p:sp>
      <p:sp>
        <p:nvSpPr>
          <p:cNvPr id="25" name="Shape 25"/>
          <p:cNvSpPr/>
          <p:nvPr/>
        </p:nvSpPr>
        <p:spPr>
          <a:xfrm>
            <a:off x="1929384" y="3310128"/>
            <a:ext cx="4983480" cy="14813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CardHead 26"/>
          <p:cNvSpPr/>
          <p:nvPr/>
        </p:nvSpPr>
        <p:spPr>
          <a:xfrm>
            <a:off x="1929384" y="3310128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大家都这样 + 只在这件事上 → 归因于“情境”</a:t>
            </a:r>
          </a:p>
        </p:txBody>
      </p:sp>
      <p:sp>
        <p:nvSpPr>
          <p:cNvPr id="27" name="CardBody 27"/>
          <p:cNvSpPr/>
          <p:nvPr/>
        </p:nvSpPr>
        <p:spPr>
          <a:xfrm>
            <a:off x="2039112" y="3675888"/>
            <a:ext cx="4764024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判断：这是流程、工装、标准或排班的问题。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动作：改环境。追责个人只会把问题压到水下。</a:t>
            </a:r>
          </a:p>
        </p:txBody>
      </p:sp>
      <p:sp>
        <p:nvSpPr>
          <p:cNvPr id="28" name="Shape 28"/>
          <p:cNvSpPr/>
          <p:nvPr/>
        </p:nvSpPr>
        <p:spPr>
          <a:xfrm>
            <a:off x="7159752" y="3310128"/>
            <a:ext cx="4983480" cy="14813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9" name="CardHead 29"/>
          <p:cNvSpPr/>
          <p:nvPr/>
        </p:nvSpPr>
        <p:spPr>
          <a:xfrm>
            <a:off x="7159752" y="3310128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只有他这样 + 件件如此 → 归因于“个人”</a:t>
            </a:r>
          </a:p>
        </p:txBody>
      </p:sp>
      <p:sp>
        <p:nvSpPr>
          <p:cNvPr id="30" name="CardBody 30"/>
          <p:cNvSpPr/>
          <p:nvPr/>
        </p:nvSpPr>
        <p:spPr>
          <a:xfrm>
            <a:off x="7269480" y="3675888"/>
            <a:ext cx="4764024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判断：能力不足或意愿不足，先分清是哪一个。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动作：能力→带教补短；意愿→谈清楚代价与回报。</a:t>
            </a:r>
          </a:p>
        </p:txBody>
      </p:sp>
      <p:sp>
        <p:nvSpPr>
          <p:cNvPr id="31" name="Shape 31"/>
          <p:cNvSpPr/>
          <p:nvPr/>
        </p:nvSpPr>
        <p:spPr>
          <a:xfrm>
            <a:off x="1929384" y="4956048"/>
            <a:ext cx="10213848" cy="11887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2" name="CardHead 32"/>
          <p:cNvSpPr/>
          <p:nvPr/>
        </p:nvSpPr>
        <p:spPr>
          <a:xfrm>
            <a:off x="1929384" y="4956048"/>
            <a:ext cx="10213848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车间里最容易搞错的一种：一贯性突变</a:t>
            </a:r>
          </a:p>
        </p:txBody>
      </p:sp>
      <p:sp>
        <p:nvSpPr>
          <p:cNvPr id="33" name="CardBody 33"/>
          <p:cNvSpPr/>
          <p:nvPr/>
        </p:nvSpPr>
        <p:spPr>
          <a:xfrm>
            <a:off x="2039112" y="5321808"/>
            <a:ext cx="9994392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一个五年的老员工，前四年半都正常，最近三个月效率腰斩——一贯性变了。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这时候几乎一定不是“他这个人不行”，而是有某件事发生了：岗位调整、家里的事、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和谁有了过节、身体出了问题。这种情况下讲道理和扣绩效都没用，只能把那件事找出来。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基本归因错误：对别人苛刻，对自己宽容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这是人的默认设置，不是你的修养问题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66544"/>
            <a:ext cx="4983480" cy="19202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66544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看别人：高估“人”的因素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32304"/>
            <a:ext cx="4764024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别人漏检 → “不认真、没责任心”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别人迟到 → “纪律性差”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别人不接改善任务 → “躲事”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我们会自动忽略他当时的处境。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66544"/>
            <a:ext cx="4983480" cy="19202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66544"/>
            <a:ext cx="498348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看自己：高估“情境”的因素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32304"/>
            <a:ext cx="4764024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我漏检 → “那天太赶了”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我迟到 → “路上堵车”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我没接任务 → “手上实在排不开”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同一件事，换成自己就全是客观原因。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151376"/>
            <a:ext cx="10213848" cy="12435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151376"/>
            <a:ext cx="10213848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自利偏差：功劳归自己，责任归环境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517136"/>
            <a:ext cx="9994392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班组达标了 → “我管理带得好”；班组没达标 → “来料不行、人不够、订单太急”。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员工也一样。所以复盘会一开始就问“谁的责任”，一定问不出真相——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不是大家不诚实，是人在被追责时，大脑会自动去找情境理由，这是本能。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54126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93976" y="5541264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现场做法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复盘会前三分钟只列事实：时间、批次、数量、参数——不许出现任何“因为”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Chip 12"/>
          <p:cNvSpPr/>
          <p:nvPr/>
        </p:nvSpPr>
        <p:spPr>
          <a:xfrm>
            <a:off x="1929384" y="1298448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1</a:t>
            </a:r>
          </a:p>
        </p:txBody>
      </p:sp>
      <p:sp>
        <p:nvSpPr>
          <p:cNvPr id="13" name="ScTitle 13"/>
          <p:cNvSpPr/>
          <p:nvPr/>
        </p:nvSpPr>
        <p:spPr>
          <a:xfrm>
            <a:off x="3383280" y="1280160"/>
            <a:ext cx="875995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连续三天迟到的新人，你是先扣钱还是先问一句？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1847088"/>
            <a:ext cx="10213848" cy="202996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ScHead 15"/>
          <p:cNvSpPr/>
          <p:nvPr/>
        </p:nvSpPr>
        <p:spPr>
          <a:xfrm>
            <a:off x="1929384" y="1847088"/>
            <a:ext cx="10213848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6" name="ScBody 16"/>
          <p:cNvSpPr/>
          <p:nvPr/>
        </p:nvSpPr>
        <p:spPr>
          <a:xfrm>
            <a:off x="2075688" y="2231136"/>
            <a:ext cx="9921240" cy="15910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组立课新人小林入职第 5 周，连续三天上班迟到 8~15 分钟。班组长老周按班规，第一天口头警告、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第二天扣绩效 2 分、第三天在班前会上点名批评。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第四天小林没迟到，但整个上午一句话不说，中午提交了离职申请。老周很意外——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这个新人前四周表现挺好，手上活学得快，还主动问过能不能学第二个工位。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离职面谈时 HR 才知道：小林住的宿舍区那条路在修，公交改道，他连着三天没赶上班车；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他不是不想说，是觉得“说了像找借口”。</a:t>
            </a:r>
          </a:p>
        </p:txBody>
      </p:sp>
      <p:sp>
        <p:nvSpPr>
          <p:cNvPr id="17" name="ScAsk 17"/>
          <p:cNvSpPr/>
          <p:nvPr/>
        </p:nvSpPr>
        <p:spPr>
          <a:xfrm>
            <a:off x="1929384" y="3968496"/>
            <a:ext cx="10213848" cy="402336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 论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你会怎么处理这三天迟到？扣绩效错了吗？如果不扣，班规还有没有用？</a:t>
            </a:r>
          </a:p>
        </p:txBody>
      </p:sp>
      <p:sp>
        <p:nvSpPr>
          <p:cNvPr id="18" name="ScCommon 18"/>
          <p:cNvSpPr/>
          <p:nvPr/>
        </p:nvSpPr>
        <p:spPr>
          <a:xfrm>
            <a:off x="1929384" y="4443984"/>
            <a:ext cx="10213848" cy="438912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按班规逐级加码：警告→扣分→点名。程序完全正确，结果是走了一个可以带的新人。</a:t>
            </a:r>
          </a:p>
        </p:txBody>
      </p:sp>
      <p:sp>
        <p:nvSpPr>
          <p:cNvPr id="19" name="Shape 19"/>
          <p:cNvSpPr/>
          <p:nvPr/>
        </p:nvSpPr>
        <p:spPr>
          <a:xfrm>
            <a:off x="1929384" y="4956048"/>
            <a:ext cx="10213848" cy="1572768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 w="22225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ScBetter 20"/>
          <p:cNvSpPr/>
          <p:nvPr/>
        </p:nvSpPr>
        <p:spPr>
          <a:xfrm>
            <a:off x="2093976" y="4992624"/>
            <a:ext cx="9884664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反常识做法  ▸  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先问“一贯性”，再动班规——他前四周正常、第五周突变，这是典型的情境信号。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正确顺序是：私下问一句“这三天是不是遇到什么事了”，再决定按不按班规处理。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班规不是不执行，而是执行前先花 30 秒确认这是“人”的问题还是“情境”的问题；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把班车、通勤这类共性问题收上来解决，比扣十个人的绩效更能提升出勤率。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大五人格：不是给人贴标签，是为了把人放对位置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五个维度没有好坏，只有和岗位匹不匹配</a:t>
            </a:r>
          </a:p>
        </p:txBody>
      </p:sp>
      <p:sp>
        <p:nvSpPr>
          <p:cNvPr id="14" name="Trait 14"/>
          <p:cNvSpPr/>
          <p:nvPr/>
        </p:nvSpPr>
        <p:spPr>
          <a:xfrm>
            <a:off x="1929384" y="2048256"/>
            <a:ext cx="1874520" cy="749808"/>
          </a:xfrm>
          <a:prstGeom prst="roundRect">
            <a:avLst>
              <a:gd name="adj" fmla="val 16000"/>
            </a:avLst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尽责性</a:t>
            </a:r>
          </a:p>
        </p:txBody>
      </p:sp>
      <p:sp>
        <p:nvSpPr>
          <p:cNvPr id="15" name="Shape 15"/>
          <p:cNvSpPr/>
          <p:nvPr/>
        </p:nvSpPr>
        <p:spPr>
          <a:xfrm>
            <a:off x="3922776" y="2048256"/>
            <a:ext cx="8220456" cy="749808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TD 16"/>
          <p:cNvSpPr/>
          <p:nvPr/>
        </p:nvSpPr>
        <p:spPr>
          <a:xfrm>
            <a:off x="4050792" y="2048256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守规矩、有条理、能坚持</a:t>
            </a:r>
          </a:p>
        </p:txBody>
      </p:sp>
      <p:sp>
        <p:nvSpPr>
          <p:cNvPr id="17" name="TF 17"/>
          <p:cNvSpPr/>
          <p:nvPr/>
        </p:nvSpPr>
        <p:spPr>
          <a:xfrm>
            <a:off x="7187184" y="2075688"/>
            <a:ext cx="260604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质检、关键工序、</a:t>
            </a:r>
            <a:b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参数管控岗位</a:t>
            </a:r>
          </a:p>
        </p:txBody>
      </p:sp>
      <p:sp>
        <p:nvSpPr>
          <p:cNvPr id="18" name="TN 18"/>
          <p:cNvSpPr/>
          <p:nvPr/>
        </p:nvSpPr>
        <p:spPr>
          <a:xfrm>
            <a:off x="9866376" y="2048256"/>
            <a:ext cx="221284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与绩效相关性最高</a:t>
            </a:r>
          </a:p>
        </p:txBody>
      </p:sp>
      <p:sp>
        <p:nvSpPr>
          <p:cNvPr id="19" name="Trait 19"/>
          <p:cNvSpPr/>
          <p:nvPr/>
        </p:nvSpPr>
        <p:spPr>
          <a:xfrm>
            <a:off x="1929384" y="2889504"/>
            <a:ext cx="1874520" cy="749808"/>
          </a:xfrm>
          <a:prstGeom prst="roundRect">
            <a:avLst>
              <a:gd name="adj" fmla="val 16000"/>
            </a:avLst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外向性</a:t>
            </a:r>
          </a:p>
        </p:txBody>
      </p:sp>
      <p:sp>
        <p:nvSpPr>
          <p:cNvPr id="20" name="Shape 20"/>
          <p:cNvSpPr/>
          <p:nvPr/>
        </p:nvSpPr>
        <p:spPr>
          <a:xfrm>
            <a:off x="3922776" y="2889504"/>
            <a:ext cx="8220456" cy="749808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TD 21"/>
          <p:cNvSpPr/>
          <p:nvPr/>
        </p:nvSpPr>
        <p:spPr>
          <a:xfrm>
            <a:off x="4050792" y="2889504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主动、爱说、能带气氛</a:t>
            </a:r>
          </a:p>
        </p:txBody>
      </p:sp>
      <p:sp>
        <p:nvSpPr>
          <p:cNvPr id="22" name="TF 22"/>
          <p:cNvSpPr/>
          <p:nvPr/>
        </p:nvSpPr>
        <p:spPr>
          <a:xfrm>
            <a:off x="7187184" y="2916936"/>
            <a:ext cx="260604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带教、跨部门协调、</a:t>
            </a:r>
            <a:b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班组副手</a:t>
            </a:r>
          </a:p>
        </p:txBody>
      </p:sp>
      <p:sp>
        <p:nvSpPr>
          <p:cNvPr id="23" name="TN 23"/>
          <p:cNvSpPr/>
          <p:nvPr/>
        </p:nvSpPr>
        <p:spPr>
          <a:xfrm>
            <a:off x="9866376" y="2889504"/>
            <a:ext cx="221284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不等于能力强</a:t>
            </a:r>
          </a:p>
        </p:txBody>
      </p:sp>
      <p:sp>
        <p:nvSpPr>
          <p:cNvPr id="24" name="Trait 24"/>
          <p:cNvSpPr/>
          <p:nvPr/>
        </p:nvSpPr>
        <p:spPr>
          <a:xfrm>
            <a:off x="1929384" y="3730752"/>
            <a:ext cx="1874520" cy="749808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宜人性</a:t>
            </a:r>
          </a:p>
        </p:txBody>
      </p:sp>
      <p:sp>
        <p:nvSpPr>
          <p:cNvPr id="25" name="Shape 25"/>
          <p:cNvSpPr/>
          <p:nvPr/>
        </p:nvSpPr>
        <p:spPr>
          <a:xfrm>
            <a:off x="3922776" y="3730752"/>
            <a:ext cx="8220456" cy="749808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TD 26"/>
          <p:cNvSpPr/>
          <p:nvPr/>
        </p:nvSpPr>
        <p:spPr>
          <a:xfrm>
            <a:off x="4050792" y="3730752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好相处、不爱争</a:t>
            </a:r>
          </a:p>
        </p:txBody>
      </p:sp>
      <p:sp>
        <p:nvSpPr>
          <p:cNvPr id="27" name="TF 27"/>
          <p:cNvSpPr/>
          <p:nvPr/>
        </p:nvSpPr>
        <p:spPr>
          <a:xfrm>
            <a:off x="7187184" y="3758184"/>
            <a:ext cx="260604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协作密集工位、</a:t>
            </a:r>
            <a:b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新老搭配的班组</a:t>
            </a:r>
          </a:p>
        </p:txBody>
      </p:sp>
      <p:sp>
        <p:nvSpPr>
          <p:cNvPr id="28" name="TN 28"/>
          <p:cNvSpPr/>
          <p:nvPr/>
        </p:nvSpPr>
        <p:spPr>
          <a:xfrm>
            <a:off x="9866376" y="3730752"/>
            <a:ext cx="221284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过高则不敢提问题</a:t>
            </a:r>
          </a:p>
        </p:txBody>
      </p:sp>
      <p:sp>
        <p:nvSpPr>
          <p:cNvPr id="29" name="Trait 29"/>
          <p:cNvSpPr/>
          <p:nvPr/>
        </p:nvSpPr>
        <p:spPr>
          <a:xfrm>
            <a:off x="1929384" y="4572000"/>
            <a:ext cx="1874520" cy="749808"/>
          </a:xfrm>
          <a:prstGeom prst="roundRect">
            <a:avLst>
              <a:gd name="adj" fmla="val 16000"/>
            </a:avLst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情绪稳定性</a:t>
            </a:r>
          </a:p>
        </p:txBody>
      </p:sp>
      <p:sp>
        <p:nvSpPr>
          <p:cNvPr id="30" name="Shape 30"/>
          <p:cNvSpPr/>
          <p:nvPr/>
        </p:nvSpPr>
        <p:spPr>
          <a:xfrm>
            <a:off x="3922776" y="4572000"/>
            <a:ext cx="8220456" cy="749808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TD 31"/>
          <p:cNvSpPr/>
          <p:nvPr/>
        </p:nvSpPr>
        <p:spPr>
          <a:xfrm>
            <a:off x="4050792" y="4572000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压力下不慌、不迁怒</a:t>
            </a:r>
          </a:p>
        </p:txBody>
      </p:sp>
      <p:sp>
        <p:nvSpPr>
          <p:cNvPr id="32" name="TF 32"/>
          <p:cNvSpPr/>
          <p:nvPr/>
        </p:nvSpPr>
        <p:spPr>
          <a:xfrm>
            <a:off x="7187184" y="4599432"/>
            <a:ext cx="260604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急单、异常处理、</a:t>
            </a:r>
            <a:br>
              <a:rPr lang="zh-CN" altLang="en-US" sz="16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夜班值守</a:t>
            </a:r>
          </a:p>
        </p:txBody>
      </p:sp>
      <p:sp>
        <p:nvSpPr>
          <p:cNvPr id="33" name="TN 33"/>
          <p:cNvSpPr/>
          <p:nvPr/>
        </p:nvSpPr>
        <p:spPr>
          <a:xfrm>
            <a:off x="9866376" y="4572000"/>
            <a:ext cx="221284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决定关键时刻表现</a:t>
            </a:r>
          </a:p>
        </p:txBody>
      </p:sp>
      <p:sp>
        <p:nvSpPr>
          <p:cNvPr id="34" name="Trait 34"/>
          <p:cNvSpPr/>
          <p:nvPr/>
        </p:nvSpPr>
        <p:spPr>
          <a:xfrm>
            <a:off x="1929384" y="5413248"/>
            <a:ext cx="1874520" cy="749808"/>
          </a:xfrm>
          <a:prstGeom prst="roundRect">
            <a:avLst>
              <a:gd name="adj" fmla="val 16000"/>
            </a:avLst>
          </a:prstGeom>
          <a:solidFill>
            <a:srgbClr val="11828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开放性</a:t>
            </a:r>
          </a:p>
        </p:txBody>
      </p:sp>
      <p:sp>
        <p:nvSpPr>
          <p:cNvPr id="35" name="Shape 35"/>
          <p:cNvSpPr/>
          <p:nvPr/>
        </p:nvSpPr>
        <p:spPr>
          <a:xfrm>
            <a:off x="3922776" y="5413248"/>
            <a:ext cx="8220456" cy="749808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TD 36"/>
          <p:cNvSpPr/>
          <p:nvPr/>
        </p:nvSpPr>
        <p:spPr>
          <a:xfrm>
            <a:off x="4050792" y="5413248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愿意尝试新方法</a:t>
            </a:r>
          </a:p>
        </p:txBody>
      </p:sp>
      <p:sp>
        <p:nvSpPr>
          <p:cNvPr id="37" name="TF 37"/>
          <p:cNvSpPr/>
          <p:nvPr/>
        </p:nvSpPr>
        <p:spPr>
          <a:xfrm>
            <a:off x="7187184" y="5440680"/>
            <a:ext cx="260604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182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改善提案、新品试制、</a:t>
            </a:r>
            <a:br>
              <a:rPr lang="zh-CN" altLang="en-US" sz="1600" b="1" dirty="0">
                <a:solidFill>
                  <a:srgbClr val="1182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182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设备调试</a:t>
            </a:r>
          </a:p>
        </p:txBody>
      </p:sp>
      <p:sp>
        <p:nvSpPr>
          <p:cNvPr id="38" name="TN 38"/>
          <p:cNvSpPr/>
          <p:nvPr/>
        </p:nvSpPr>
        <p:spPr>
          <a:xfrm>
            <a:off x="9866376" y="5413248"/>
            <a:ext cx="221284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低开放性≠不好用</a:t>
            </a:r>
          </a:p>
        </p:txBody>
      </p:sp>
      <p:sp>
        <p:nvSpPr>
          <p:cNvPr id="39" name="Shape 39"/>
          <p:cNvSpPr/>
          <p:nvPr/>
        </p:nvSpPr>
        <p:spPr>
          <a:xfrm>
            <a:off x="1929384" y="6291072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0" name="Banner 40"/>
          <p:cNvSpPr/>
          <p:nvPr/>
        </p:nvSpPr>
        <p:spPr>
          <a:xfrm>
            <a:off x="2093976" y="6291072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用法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别想着改性格——把尽责性高的人放到质量红线上，比培训十次“要有责任心”管用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能力—岗位匹配矩阵：四类人，四种带法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横轴：能力够不够　纵轴：意愿强不强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66544"/>
            <a:ext cx="4983480" cy="19019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66544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高意愿 · 高能力　→　骨干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32304"/>
            <a:ext cx="4764024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 + 给挑战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让他带人、牵头改善课题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最怕的是闲着和不被看见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66544"/>
            <a:ext cx="4983480" cy="19019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66544"/>
            <a:ext cx="498348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高意愿 · 低能力　→　新人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32304"/>
            <a:ext cx="4764024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带教 + 拆解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把工序拆成他够得着的模块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最怕的是一上来就上全流程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114800"/>
            <a:ext cx="4983480" cy="19019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114800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低意愿 · 高能力　→　老油条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480560"/>
            <a:ext cx="4764024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谈清楚 + 给名分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通常不是不会，是不想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最怕的是只加钱不给认可</a:t>
            </a:r>
          </a:p>
        </p:txBody>
      </p:sp>
      <p:sp>
        <p:nvSpPr>
          <p:cNvPr id="23" name="Shape 23"/>
          <p:cNvSpPr/>
          <p:nvPr/>
        </p:nvSpPr>
        <p:spPr>
          <a:xfrm>
            <a:off x="7159752" y="4114800"/>
            <a:ext cx="4983480" cy="19019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7159752" y="4114800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低意愿 · 低能力　→　待定</a:t>
            </a:r>
          </a:p>
        </p:txBody>
      </p:sp>
      <p:sp>
        <p:nvSpPr>
          <p:cNvPr id="25" name="CardBody 25"/>
          <p:cNvSpPr/>
          <p:nvPr/>
        </p:nvSpPr>
        <p:spPr>
          <a:xfrm>
            <a:off x="7269480" y="4480560"/>
            <a:ext cx="4764024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设期限 + 给标准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明确到什么时间达到什么标准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最怕的是无限期拖着不处理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6053328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Banner 27"/>
          <p:cNvSpPr/>
          <p:nvPr/>
        </p:nvSpPr>
        <p:spPr>
          <a:xfrm>
            <a:off x="2093976" y="6053328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“低意愿高能力”的人最值得花时间——他的产出天花板最高，且通常只差一个说法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态度的三个成分：为什么“他嘴上答应了”不算数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认知、情感、行为倾向——三个都对上，行为才会变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3221736" cy="102412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103120"/>
            <a:ext cx="3221736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84248" y="2450592"/>
            <a:ext cx="3112008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他知道这件事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是怎么回事吗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5187696" y="2615184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5425440" y="2103120"/>
            <a:ext cx="3221736" cy="102412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5425440" y="2103120"/>
            <a:ext cx="3221736" cy="310896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</a:t>
            </a:r>
          </a:p>
        </p:txBody>
      </p:sp>
      <p:sp>
        <p:nvSpPr>
          <p:cNvPr id="20" name="FlowBody 20"/>
          <p:cNvSpPr/>
          <p:nvPr/>
        </p:nvSpPr>
        <p:spPr>
          <a:xfrm>
            <a:off x="5480304" y="2450592"/>
            <a:ext cx="3112008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他对这件事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是什么感受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8683752" y="2615184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8921496" y="2103120"/>
            <a:ext cx="3221736" cy="102412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8921496" y="2103120"/>
            <a:ext cx="3221736" cy="310896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行为倾向</a:t>
            </a:r>
          </a:p>
        </p:txBody>
      </p:sp>
      <p:sp>
        <p:nvSpPr>
          <p:cNvPr id="24" name="FlowBody 24"/>
          <p:cNvSpPr/>
          <p:nvPr/>
        </p:nvSpPr>
        <p:spPr>
          <a:xfrm>
            <a:off x="8976360" y="2450592"/>
            <a:ext cx="3112008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他打算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</a:p>
        </p:txBody>
      </p:sp>
      <p:sp>
        <p:nvSpPr>
          <p:cNvPr id="25" name="Shape 25"/>
          <p:cNvSpPr/>
          <p:nvPr/>
        </p:nvSpPr>
        <p:spPr>
          <a:xfrm>
            <a:off x="1929384" y="3310128"/>
            <a:ext cx="4983480" cy="16276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CardHead 26"/>
          <p:cNvSpPr/>
          <p:nvPr/>
        </p:nvSpPr>
        <p:spPr>
          <a:xfrm>
            <a:off x="1929384" y="3310128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只改“认知”的常见失败</a:t>
            </a:r>
          </a:p>
        </p:txBody>
      </p:sp>
      <p:sp>
        <p:nvSpPr>
          <p:cNvPr id="27" name="CardBody 27"/>
          <p:cNvSpPr/>
          <p:nvPr/>
        </p:nvSpPr>
        <p:spPr>
          <a:xfrm>
            <a:off x="2039112" y="3675888"/>
            <a:ext cx="4764024" cy="12070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你把 SOP 讲了三遍、把不良的后果算给他听——认知改了。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但他心里觉得“这是找我麻烦”（情感没改），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结果是：他能背出标准，照样不执行。</a:t>
            </a:r>
          </a:p>
        </p:txBody>
      </p:sp>
      <p:sp>
        <p:nvSpPr>
          <p:cNvPr id="28" name="Shape 28"/>
          <p:cNvSpPr/>
          <p:nvPr/>
        </p:nvSpPr>
        <p:spPr>
          <a:xfrm>
            <a:off x="7159752" y="3310128"/>
            <a:ext cx="4983480" cy="16276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9" name="CardHead 29"/>
          <p:cNvSpPr/>
          <p:nvPr/>
        </p:nvSpPr>
        <p:spPr>
          <a:xfrm>
            <a:off x="7159752" y="3310128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三个一起改的做法</a:t>
            </a:r>
          </a:p>
        </p:txBody>
      </p:sp>
      <p:sp>
        <p:nvSpPr>
          <p:cNvPr id="30" name="CardBody 30"/>
          <p:cNvSpPr/>
          <p:nvPr/>
        </p:nvSpPr>
        <p:spPr>
          <a:xfrm>
            <a:off x="7269480" y="3675888"/>
            <a:ext cx="4764024" cy="12070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认知：讲清楚做/不做各会发生什么（用数据）；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情感：先承认他的难处，再谈要求（顺序不能反）；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行为：把要求拆成明天就能做的一个动作。</a:t>
            </a:r>
          </a:p>
        </p:txBody>
      </p:sp>
      <p:sp>
        <p:nvSpPr>
          <p:cNvPr id="31" name="Shape 31"/>
          <p:cNvSpPr/>
          <p:nvPr/>
        </p:nvSpPr>
        <p:spPr>
          <a:xfrm>
            <a:off x="1929384" y="5102352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2" name="Banner 32"/>
          <p:cNvSpPr/>
          <p:nvPr/>
        </p:nvSpPr>
        <p:spPr>
          <a:xfrm>
            <a:off x="2093976" y="5102352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现场检验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不问“懂了吗”，改问“你觉得这样做对你有什么影响”——答得出来，情感这一关才过了</a:t>
            </a:r>
          </a:p>
        </p:txBody>
      </p:sp>
      <p:sp>
        <p:nvSpPr>
          <p:cNvPr id="33" name="Note 33"/>
          <p:cNvSpPr/>
          <p:nvPr/>
        </p:nvSpPr>
        <p:spPr>
          <a:xfrm>
            <a:off x="1929384" y="5742432"/>
            <a:ext cx="10213848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认知失调：当行为和态度不一致时，人会改态度去迁就已经发生的行为——所以让他先做一次、做成一次，比说服他一百次更有效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满意度和绩效，到底谁决定谁？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一个被广泛误解的关系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66544"/>
            <a:ext cx="4983480" cy="17373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66544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常见误解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32304"/>
            <a:ext cx="4764024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“员工满意了，绩效自然就上去了。”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于是做团建、发福利、改善食堂……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钱花了不少，产量和良率没动。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66544"/>
            <a:ext cx="4983480" cy="17373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66544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研究结论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32304"/>
            <a:ext cx="4764024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满意度与绩效的相关性并不高。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反过来的路径更强：绩效好 → 获得认可和回报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满意度上升。做出成绩本身就是激励。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3968496"/>
            <a:ext cx="10213848" cy="157276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3968496"/>
            <a:ext cx="10213848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满意度真正能预测的，是这三件事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334256"/>
            <a:ext cx="9994392" cy="115214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离职率——不满意的人不一定干得差，但一定更容易走；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出勤与迟到——满意度低最先反映在“来不来”上，而不是“干得好不好”；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组织公民行为——愿不愿意帮同事、愿不愿意多说一句、愿不愿意带新人。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687568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93976" y="5687568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给班组长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想提产量，去改流程和标准；想留住人，才去改满意度——这是两件事，别混着做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Chip 12"/>
          <p:cNvSpPr/>
          <p:nvPr/>
        </p:nvSpPr>
        <p:spPr>
          <a:xfrm>
            <a:off x="1929384" y="1298448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2</a:t>
            </a:r>
          </a:p>
        </p:txBody>
      </p:sp>
      <p:sp>
        <p:nvSpPr>
          <p:cNvPr id="13" name="ScTitle 13"/>
          <p:cNvSpPr/>
          <p:nvPr/>
        </p:nvSpPr>
        <p:spPr>
          <a:xfrm>
            <a:off x="3383280" y="1280160"/>
            <a:ext cx="875995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“情绪化”的老师傅，问题真的出在情绪上吗？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1847088"/>
            <a:ext cx="10213848" cy="202996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ScHead 15"/>
          <p:cNvSpPr/>
          <p:nvPr/>
        </p:nvSpPr>
        <p:spPr>
          <a:xfrm>
            <a:off x="1929384" y="1847088"/>
            <a:ext cx="10213848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6" name="ScBody 16"/>
          <p:cNvSpPr/>
          <p:nvPr/>
        </p:nvSpPr>
        <p:spPr>
          <a:xfrm>
            <a:off x="2075688" y="2231136"/>
            <a:ext cx="9921240" cy="15910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机加工车间老陈，工龄 11 年，技术是班组里最好的，也是最难沟通的。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近半年他在班前会上频繁打断别人、对新人说话很冲，上周还因为一个改善提案和技术员当众争执。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班组长小吴找他谈过两次，每次都是“我知道了”，然后照旧。小吴向车间主任反映：老陈情绪问题很大，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建议调岗。主任问了一句：他是从什么时候开始这样的？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小吴回去查了记录——半年前，车间引进了新的数控设备，老陈的手工经验一夜之间不再是稀缺技能，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新来的技术员反而更懂编程。从那以后，他就变了。</a:t>
            </a:r>
          </a:p>
        </p:txBody>
      </p:sp>
      <p:sp>
        <p:nvSpPr>
          <p:cNvPr id="17" name="ScAsk 17"/>
          <p:cNvSpPr/>
          <p:nvPr/>
        </p:nvSpPr>
        <p:spPr>
          <a:xfrm>
            <a:off x="1929384" y="3968496"/>
            <a:ext cx="10213848" cy="402336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 论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这是情绪问题、性格问题，还是别的什么问题？如果是你，下一步做什么？</a:t>
            </a:r>
          </a:p>
        </p:txBody>
      </p:sp>
      <p:sp>
        <p:nvSpPr>
          <p:cNvPr id="18" name="ScCommon 18"/>
          <p:cNvSpPr/>
          <p:nvPr/>
        </p:nvSpPr>
        <p:spPr>
          <a:xfrm>
            <a:off x="1929384" y="4443984"/>
            <a:ext cx="10213848" cy="438912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定性为“情绪化”“不好沟通”，然后调岗、边缘化，或者等他自己适应。</a:t>
            </a:r>
          </a:p>
        </p:txBody>
      </p:sp>
      <p:sp>
        <p:nvSpPr>
          <p:cNvPr id="19" name="Shape 19"/>
          <p:cNvSpPr/>
          <p:nvPr/>
        </p:nvSpPr>
        <p:spPr>
          <a:xfrm>
            <a:off x="1929384" y="4956048"/>
            <a:ext cx="10213848" cy="1572768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 w="22225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ScBetter 20"/>
          <p:cNvSpPr/>
          <p:nvPr/>
        </p:nvSpPr>
        <p:spPr>
          <a:xfrm>
            <a:off x="2093976" y="4992624"/>
            <a:ext cx="9884664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反常识做法  ▸  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把“情绪”当成信号，而不是当成问题本身。老陈的行为变化有明确的时间起点，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这是一贯性突变——真正的问题是他的价值感被新技术抽走了，而没有人给他新的位置。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有效的动作不是谈情绪，是给身份：请他牵头制定新设备的《手动干预与异常判断标准》，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把他 11 年的手感变成班组的成文经验。人一旦重新变得被需要，所谓的情绪问题会自己消失。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情绪劳动：一线管理者最被低估的消耗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你不只在干活，你还在“管理自己的表情”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66544"/>
            <a:ext cx="3282696" cy="18470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66544"/>
            <a:ext cx="3282696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表层扮演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32304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压着火，装作没事。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表情是假的，内心没变。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短期有效，长期耗竭——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这是班组长离职的隐性原因。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066544"/>
            <a:ext cx="3282696" cy="18470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066544"/>
            <a:ext cx="3282696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深层扮演</a:t>
            </a:r>
          </a:p>
        </p:txBody>
      </p:sp>
      <p:sp>
        <p:nvSpPr>
          <p:cNvPr id="19" name="CardBody 19"/>
          <p:cNvSpPr/>
          <p:nvPr/>
        </p:nvSpPr>
        <p:spPr>
          <a:xfrm>
            <a:off x="5504688" y="2432304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真的去理解对方为什么这样。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内心先变，表情自然真。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更费脑，但不耗心，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可以长期维持。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066544"/>
            <a:ext cx="3282696" cy="18470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066544"/>
            <a:ext cx="3282696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情绪耗竭的信号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70264" y="2432304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开始躲着某个员工走；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不想开班前会；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回家不想说话；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——出现两条就要处理了。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4078224"/>
            <a:ext cx="10213848" cy="14630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4078224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现场可用的三个动作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39112" y="4443984"/>
            <a:ext cx="999439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六秒法则：情绪峰值大约持续 6 秒。当场想吼的时候，先转身去拿个记录本——过了这 6 秒，你说的话完全不同。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分离事实与评价：把“他又给我搞砸了”改写成“这批 12 件尺寸超差”。写下来的动作本身就会降温。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换时间不换态度：情绪上头时只说“这件事我们下午两点谈”，然后一定要谈。拖着不谈比当场吼更伤信任。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5687568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Banner 27"/>
          <p:cNvSpPr/>
          <p:nvPr/>
        </p:nvSpPr>
        <p:spPr>
          <a:xfrm>
            <a:off x="2093976" y="5687568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带班组最累的不是干活，是每天要把自己的情绪管住——先照顾好你自己，才带得动别人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代际差异：不是 90 后 00 后难管，是他们的“交换条件”变了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同样一份工作，两代人要的东西不一样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66544"/>
            <a:ext cx="4983480" cy="21396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66544"/>
            <a:ext cx="498348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资深一代更看重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32304"/>
            <a:ext cx="4764024" cy="171907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稳定：这份工作能不能长期干下去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归属：班组认不认我、师傅带不带我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面子：在人前的位置和被尊重的程度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积累：技能和资历随时间变值钱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沟通偏好：当面说、私下说、给台阶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66544"/>
            <a:ext cx="4983480" cy="21396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66544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年轻一代更看重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32304"/>
            <a:ext cx="4764024" cy="171907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清晰：规则是什么、边界在哪、加班算不算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成长：我在这里能学到什么、多久能换岗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公平：同工是否同酬、标准是否一致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即时：反馈要快，别等到年底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沟通偏好：讲事实、给理由、别绕弯子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370832"/>
            <a:ext cx="10213848" cy="12984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370832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真正有效的不是“理解年轻人”，是把规则写清楚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736592"/>
            <a:ext cx="9994392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年轻员工反弹最强的往往不是要求高，而是“凭什么”没有答案：为什么是我加班、为什么他能调岗、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这个奖金怎么算出来的。把规则、路径、算法写出来贴出去，你会发现所谓的代沟少了一大半。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81558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93976" y="5815584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年轻人不是不能吃苦，是不能吃“不明不白的苦”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行为塑造：你正在强化的，未必是你想要的行为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斯金纳强化理论——行为的后果决定行为的频率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4983480" cy="13533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正强化　做对了 → 给他想要的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68880"/>
            <a:ext cx="4764024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自检拦下不良 → 当众记一功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103120"/>
            <a:ext cx="4983480" cy="13533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103120"/>
            <a:ext cx="498348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负强化　做对了 → 撤掉他不想要的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68880"/>
            <a:ext cx="4764024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连续达标 → 免除每日抽查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3584448"/>
            <a:ext cx="4983480" cy="13533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3584448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惩罚　做错了 → 给他不想要的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3950208"/>
            <a:ext cx="4764024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漏检 → 扣绩效</a:t>
            </a:r>
          </a:p>
        </p:txBody>
      </p:sp>
      <p:sp>
        <p:nvSpPr>
          <p:cNvPr id="23" name="Shape 23"/>
          <p:cNvSpPr/>
          <p:nvPr/>
        </p:nvSpPr>
        <p:spPr>
          <a:xfrm>
            <a:off x="7159752" y="3584448"/>
            <a:ext cx="4983480" cy="13533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7159752" y="3584448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自然消退　做了 → 什么都没发生</a:t>
            </a:r>
          </a:p>
        </p:txBody>
      </p:sp>
      <p:sp>
        <p:nvSpPr>
          <p:cNvPr id="25" name="CardBody 25"/>
          <p:cNvSpPr/>
          <p:nvPr/>
        </p:nvSpPr>
        <p:spPr>
          <a:xfrm>
            <a:off x="7269480" y="3950208"/>
            <a:ext cx="4764024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提了改善建议 → 没有下文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5084064"/>
            <a:ext cx="10213848" cy="12801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1929384" y="5084064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车间里最常见的错误强化</a:t>
            </a:r>
          </a:p>
        </p:txBody>
      </p:sp>
      <p:sp>
        <p:nvSpPr>
          <p:cNvPr id="28" name="CardBody 28"/>
          <p:cNvSpPr/>
          <p:nvPr/>
        </p:nvSpPr>
        <p:spPr>
          <a:xfrm>
            <a:off x="2039112" y="5449824"/>
            <a:ext cx="9994392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谁能干就给谁加活 → 你在强化“别表现得太能干”；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主动上报异常的人被追问半天 → 你在强化“下次别报”；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改善提案提了没回音（自然消退）→ 三个月后没人再提，这不是没想法，是行为被消退掉了。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Chip 12"/>
          <p:cNvSpPr/>
          <p:nvPr/>
        </p:nvSpPr>
        <p:spPr>
          <a:xfrm>
            <a:off x="1929384" y="1298448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3</a:t>
            </a:r>
          </a:p>
        </p:txBody>
      </p:sp>
      <p:sp>
        <p:nvSpPr>
          <p:cNvPr id="13" name="ScTitle 13"/>
          <p:cNvSpPr/>
          <p:nvPr/>
        </p:nvSpPr>
        <p:spPr>
          <a:xfrm>
            <a:off x="3383280" y="1280160"/>
            <a:ext cx="875995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月度评优连续三次给了同一个人，班组为什么反而更沉默了？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1847088"/>
            <a:ext cx="10213848" cy="202996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ScHead 15"/>
          <p:cNvSpPr/>
          <p:nvPr/>
        </p:nvSpPr>
        <p:spPr>
          <a:xfrm>
            <a:off x="1929384" y="1847088"/>
            <a:ext cx="10213848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6" name="ScBody 16"/>
          <p:cNvSpPr/>
          <p:nvPr/>
        </p:nvSpPr>
        <p:spPr>
          <a:xfrm>
            <a:off x="2075688" y="2231136"/>
            <a:ext cx="9921240" cy="15910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装配二线班组长小徐推行月度“质量之星”，评选标准是当月零不良、零客诉。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连续三个月，都是老员工阿梅拿到——她做的是相对稳定的工位，本身不良就少。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第四个月，小徐发现两件事：一是其他员工在班前会上越来越不发言；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二是有两名员工开始拒绝调到难度更高、更容易出不良的工位，理由是“我在这边挺好的”。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而阿梅本人也有困扰：有同事半开玩笑说她“会来事”，她开始觉得别扭。</a:t>
            </a:r>
          </a:p>
        </p:txBody>
      </p:sp>
      <p:sp>
        <p:nvSpPr>
          <p:cNvPr id="17" name="ScAsk 17"/>
          <p:cNvSpPr/>
          <p:nvPr/>
        </p:nvSpPr>
        <p:spPr>
          <a:xfrm>
            <a:off x="1929384" y="3968496"/>
            <a:ext cx="10213848" cy="402336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 论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评优本身没错，标准也很清楚，为什么会出现这样的结果？</a:t>
            </a:r>
          </a:p>
        </p:txBody>
      </p:sp>
      <p:sp>
        <p:nvSpPr>
          <p:cNvPr id="18" name="ScCommon 18"/>
          <p:cNvSpPr/>
          <p:nvPr/>
        </p:nvSpPr>
        <p:spPr>
          <a:xfrm>
            <a:off x="1929384" y="4443984"/>
            <a:ext cx="10213848" cy="438912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换个评法、增加奖项、或者规定同一个人不能连拿——都是在评选规则上打补丁。</a:t>
            </a:r>
          </a:p>
        </p:txBody>
      </p:sp>
      <p:sp>
        <p:nvSpPr>
          <p:cNvPr id="19" name="Shape 19"/>
          <p:cNvSpPr/>
          <p:nvPr/>
        </p:nvSpPr>
        <p:spPr>
          <a:xfrm>
            <a:off x="1929384" y="4956048"/>
            <a:ext cx="10213848" cy="1572768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 w="22225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ScBetter 20"/>
          <p:cNvSpPr/>
          <p:nvPr/>
        </p:nvSpPr>
        <p:spPr>
          <a:xfrm>
            <a:off x="2093976" y="4992624"/>
            <a:ext cx="9884664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反常识做法  ▸  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“零不良”这个标准，实际奖励的是“挑安全的工位做”，于是难工位没人愿意去。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改法一：把绝对标准改成进步标准（和自己上月比，改善幅度最大者获奖），人人够得着；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改法二：设多元赛道——拦截不良奖、带教奖、难工位攻坚奖分开评。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另外，表扬要表扬行为不表扬人：说“主动复检这个习惯值得学”，而不是“阿梅最优秀”。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第一节小结：把“这人有问题”换成四个可查的问题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下次再想说“他态度不行”的时候，先过一遍这四问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21408"/>
            <a:ext cx="4983480" cy="16093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21408"/>
            <a:ext cx="498348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环境查过了吗？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87168"/>
            <a:ext cx="4764024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标准、工装、节拍、排班、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谁在旁边看着——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正常吗？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121408"/>
            <a:ext cx="4983480" cy="16093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121408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是不是只有他？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87168"/>
            <a:ext cx="4764024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别人在同一个工位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也这样吗？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大家都这样＝流程问题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3858768"/>
            <a:ext cx="4983480" cy="16093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3858768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他一直这样吗？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224528"/>
            <a:ext cx="4764024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什么时候开始变的？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有起点的变化，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背后一定有一件事</a:t>
            </a:r>
          </a:p>
        </p:txBody>
      </p:sp>
      <p:sp>
        <p:nvSpPr>
          <p:cNvPr id="23" name="Shape 23"/>
          <p:cNvSpPr/>
          <p:nvPr/>
        </p:nvSpPr>
        <p:spPr>
          <a:xfrm>
            <a:off x="7159752" y="3858768"/>
            <a:ext cx="4983480" cy="16093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7159752" y="3858768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这样做对他划算吗？</a:t>
            </a:r>
          </a:p>
        </p:txBody>
      </p:sp>
      <p:sp>
        <p:nvSpPr>
          <p:cNvPr id="25" name="CardBody 25"/>
          <p:cNvSpPr/>
          <p:nvPr/>
        </p:nvSpPr>
        <p:spPr>
          <a:xfrm>
            <a:off x="7269480" y="4224528"/>
            <a:ext cx="4764024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你在无意中强化了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什么行为？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消退了什么行为？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5742432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Banner 27"/>
          <p:cNvSpPr/>
          <p:nvPr/>
        </p:nvSpPr>
        <p:spPr>
          <a:xfrm>
            <a:off x="2093976" y="5742432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第一节结论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四问过完还是找不到原因，才轮到讨论“这个人”——多数情况你走不到第四步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　群体、规范与团队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为什么一个好好的人，进了这个班组就变了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249424"/>
            <a:ext cx="1823314" cy="104241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249424"/>
            <a:ext cx="1823314" cy="310896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群体形成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84248" y="2596896"/>
            <a:ext cx="171358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五个阶段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3789274" y="277063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4027018" y="2249424"/>
            <a:ext cx="1823314" cy="104241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4027018" y="2249424"/>
            <a:ext cx="1823314" cy="310896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规范生成</a:t>
            </a:r>
          </a:p>
        </p:txBody>
      </p:sp>
      <p:sp>
        <p:nvSpPr>
          <p:cNvPr id="20" name="FlowBody 20"/>
          <p:cNvSpPr/>
          <p:nvPr/>
        </p:nvSpPr>
        <p:spPr>
          <a:xfrm>
            <a:off x="4081882" y="2596896"/>
            <a:ext cx="171358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看不见的班规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5886907" y="277063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6124651" y="2249424"/>
            <a:ext cx="1823314" cy="104241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6124651" y="2249424"/>
            <a:ext cx="1823314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从众压力</a:t>
            </a:r>
          </a:p>
        </p:txBody>
      </p:sp>
      <p:sp>
        <p:nvSpPr>
          <p:cNvPr id="24" name="FlowBody 24"/>
          <p:cNvSpPr/>
          <p:nvPr/>
        </p:nvSpPr>
        <p:spPr>
          <a:xfrm>
            <a:off x="6179515" y="2596896"/>
            <a:ext cx="171358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不合群的代价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7984541" y="277063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8222285" y="2249424"/>
            <a:ext cx="1823314" cy="104241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FlowHead 27"/>
          <p:cNvSpPr/>
          <p:nvPr/>
        </p:nvSpPr>
        <p:spPr>
          <a:xfrm>
            <a:off x="8222285" y="2249424"/>
            <a:ext cx="1823314" cy="310896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角色分工</a:t>
            </a:r>
          </a:p>
        </p:txBody>
      </p:sp>
      <p:sp>
        <p:nvSpPr>
          <p:cNvPr id="28" name="FlowBody 28"/>
          <p:cNvSpPr/>
          <p:nvPr/>
        </p:nvSpPr>
        <p:spPr>
          <a:xfrm>
            <a:off x="8277149" y="2596896"/>
            <a:ext cx="171358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谁该干什么</a:t>
            </a:r>
          </a:p>
        </p:txBody>
      </p:sp>
      <p:cxnSp>
        <p:nvCxnSpPr>
          <p:cNvPr id="29" name="Arrow 29"/>
          <p:cNvCxnSpPr/>
          <p:nvPr/>
        </p:nvCxnSpPr>
        <p:spPr>
          <a:xfrm>
            <a:off x="10082174" y="277063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0" name="Shape 30"/>
          <p:cNvSpPr/>
          <p:nvPr/>
        </p:nvSpPr>
        <p:spPr>
          <a:xfrm>
            <a:off x="10319918" y="2249424"/>
            <a:ext cx="1823314" cy="104241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FlowHead 31"/>
          <p:cNvSpPr/>
          <p:nvPr/>
        </p:nvSpPr>
        <p:spPr>
          <a:xfrm>
            <a:off x="10319918" y="2249424"/>
            <a:ext cx="1823314" cy="310896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32" name="FlowBody 32"/>
          <p:cNvSpPr/>
          <p:nvPr/>
        </p:nvSpPr>
        <p:spPr>
          <a:xfrm>
            <a:off x="10374782" y="2596896"/>
            <a:ext cx="171358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1+1 到底等于几</a:t>
            </a:r>
          </a:p>
        </p:txBody>
      </p:sp>
      <p:sp>
        <p:nvSpPr>
          <p:cNvPr id="33" name="Shape 33"/>
          <p:cNvSpPr/>
          <p:nvPr/>
        </p:nvSpPr>
        <p:spPr>
          <a:xfrm>
            <a:off x="1929384" y="3675888"/>
            <a:ext cx="10213848" cy="157276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CardHead 34"/>
          <p:cNvSpPr/>
          <p:nvPr/>
        </p:nvSpPr>
        <p:spPr>
          <a:xfrm>
            <a:off x="1929384" y="3675888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这一节要解决的三个真问题</a:t>
            </a:r>
          </a:p>
        </p:txBody>
      </p:sp>
      <p:sp>
        <p:nvSpPr>
          <p:cNvPr id="35" name="CardBody 35"/>
          <p:cNvSpPr/>
          <p:nvPr/>
        </p:nvSpPr>
        <p:spPr>
          <a:xfrm>
            <a:off x="2039112" y="4041648"/>
            <a:ext cx="9994392" cy="115214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为什么新人进来两周就“学坏了”？——因为班组规范比你的制度更早开始教他；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为什么班组产量总卡在某个数上不动？——因为存在一条没人明说的产量天花板；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为什么人加了、产出没加？——因为社会惰化，人多不等于力量大。</a:t>
            </a:r>
          </a:p>
        </p:txBody>
      </p:sp>
      <p:sp>
        <p:nvSpPr>
          <p:cNvPr id="36" name="Shape 36"/>
          <p:cNvSpPr/>
          <p:nvPr/>
        </p:nvSpPr>
        <p:spPr>
          <a:xfrm>
            <a:off x="1929384" y="5431536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7" name="Banner 37"/>
          <p:cNvSpPr/>
          <p:nvPr/>
        </p:nvSpPr>
        <p:spPr>
          <a:xfrm>
            <a:off x="2093976" y="5431536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核心判断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你管的从来不是 15 个人，而是 1 个有自己规矩的群体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正式群体与非正式群体：真正影响执行的常是后者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组织图上画得出来的，和画不出来的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66544"/>
            <a:ext cx="4983480" cy="20848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66544"/>
            <a:ext cx="498348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正式群体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32304"/>
            <a:ext cx="4764024" cy="16642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由组织指定：班组、课、部门、项目组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目标由上级下达，角色由岗位定义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有制度、有考核、有明确的边界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你的权力来自这里——但它只管得住行为，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管不住意愿。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66544"/>
            <a:ext cx="4983480" cy="20848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66544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非正式群体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32304"/>
            <a:ext cx="4764024" cy="16642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自发形成：同乡、同宿舍、一起进厂的、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烟友、饭搭子、同一个师傅带出来的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目标是满足归属与安全，没有明文规则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它决定了消息传得多快、标准执不执行、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出了事有没有人替你说话。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315968"/>
            <a:ext cx="10213848" cy="13716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315968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班组长该怎么用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681728"/>
            <a:ext cx="9994392" cy="9509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找出班组里的“意见领袖”——不一定是老资格，是大家出了事第一个去问的那个人；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新政策先和他通气，让他先理解。他点头，班组的执行成本会低一半；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不要试图打散非正式群体，那只会让它转入地下。要做的是让它的目标和班组目标对齐。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81558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93976" y="5815584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通知发在班组群里，不如先私下告诉那三个人——正式渠道传信息，非正式渠道传态度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群体发展五阶段：新班组的“震荡期”不是管理失败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塔克曼模型——每个阶段班组长该做的事完全不同</a:t>
            </a:r>
          </a:p>
        </p:txBody>
      </p:sp>
      <p:sp>
        <p:nvSpPr>
          <p:cNvPr id="14" name="Stage 14"/>
          <p:cNvSpPr/>
          <p:nvPr/>
        </p:nvSpPr>
        <p:spPr>
          <a:xfrm>
            <a:off x="1929384" y="2157984"/>
            <a:ext cx="1883664" cy="42062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形成期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2670048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SF 16"/>
          <p:cNvSpPr/>
          <p:nvPr/>
        </p:nvSpPr>
        <p:spPr>
          <a:xfrm>
            <a:off x="1984248" y="2706624"/>
            <a:ext cx="1773936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客气、观望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不说真话</a:t>
            </a:r>
          </a:p>
        </p:txBody>
      </p:sp>
      <p:sp>
        <p:nvSpPr>
          <p:cNvPr id="17" name="Shape 17"/>
          <p:cNvSpPr/>
          <p:nvPr/>
        </p:nvSpPr>
        <p:spPr>
          <a:xfrm>
            <a:off x="1929384" y="3822192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SA 18"/>
          <p:cNvSpPr/>
          <p:nvPr/>
        </p:nvSpPr>
        <p:spPr>
          <a:xfrm>
            <a:off x="1984248" y="3858768"/>
            <a:ext cx="1773936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定规则</a:t>
            </a:r>
            <a:b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讲清楚标准和边界</a:t>
            </a:r>
          </a:p>
        </p:txBody>
      </p:sp>
      <p:cxnSp>
        <p:nvCxnSpPr>
          <p:cNvPr id="19" name="Arrow 19"/>
          <p:cNvCxnSpPr/>
          <p:nvPr/>
        </p:nvCxnSpPr>
        <p:spPr>
          <a:xfrm>
            <a:off x="3831336" y="2368296"/>
            <a:ext cx="128016" cy="0"/>
          </a:xfrm>
          <a:prstGeom prst="straightConnector1">
            <a:avLst/>
          </a:prstGeom>
          <a:ln w="22225" cap="flat">
            <a:solidFill>
              <a:srgbClr val="FFFFFF"/>
            </a:solidFill>
            <a:tailEnd type="triangle" w="med" len="med"/>
          </a:ln>
        </p:spPr>
      </p:cxnSp>
      <p:sp>
        <p:nvSpPr>
          <p:cNvPr id="20" name="Stage 20"/>
          <p:cNvSpPr/>
          <p:nvPr/>
        </p:nvSpPr>
        <p:spPr>
          <a:xfrm>
            <a:off x="3977640" y="2157984"/>
            <a:ext cx="1883664" cy="420624"/>
          </a:xfrm>
          <a:prstGeom prst="roundRect">
            <a:avLst>
              <a:gd name="adj" fmla="val 18000"/>
            </a:avLst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震荡期</a:t>
            </a:r>
          </a:p>
        </p:txBody>
      </p:sp>
      <p:sp>
        <p:nvSpPr>
          <p:cNvPr id="21" name="Shape 21"/>
          <p:cNvSpPr/>
          <p:nvPr/>
        </p:nvSpPr>
        <p:spPr>
          <a:xfrm>
            <a:off x="3977640" y="2670048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2" name="SF 22"/>
          <p:cNvSpPr/>
          <p:nvPr/>
        </p:nvSpPr>
        <p:spPr>
          <a:xfrm>
            <a:off x="4032504" y="2706624"/>
            <a:ext cx="1773936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争执、抱怨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挑战权威</a:t>
            </a:r>
          </a:p>
        </p:txBody>
      </p:sp>
      <p:sp>
        <p:nvSpPr>
          <p:cNvPr id="23" name="Shape 23"/>
          <p:cNvSpPr/>
          <p:nvPr/>
        </p:nvSpPr>
        <p:spPr>
          <a:xfrm>
            <a:off x="3977640" y="3822192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SA 24"/>
          <p:cNvSpPr/>
          <p:nvPr/>
        </p:nvSpPr>
        <p:spPr>
          <a:xfrm>
            <a:off x="4032504" y="3858768"/>
            <a:ext cx="1773936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别压</a:t>
            </a:r>
            <a:b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把冲突引到事实上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5879592" y="2368296"/>
            <a:ext cx="128016" cy="0"/>
          </a:xfrm>
          <a:prstGeom prst="straightConnector1">
            <a:avLst/>
          </a:prstGeom>
          <a:ln w="22225" cap="flat">
            <a:solidFill>
              <a:srgbClr val="FFFFFF"/>
            </a:solidFill>
            <a:tailEnd type="triangle" w="med" len="med"/>
          </a:ln>
        </p:spPr>
      </p:cxnSp>
      <p:sp>
        <p:nvSpPr>
          <p:cNvPr id="26" name="Stage 26"/>
          <p:cNvSpPr/>
          <p:nvPr/>
        </p:nvSpPr>
        <p:spPr>
          <a:xfrm>
            <a:off x="6025896" y="2157984"/>
            <a:ext cx="1883664" cy="420624"/>
          </a:xfrm>
          <a:prstGeom prst="roundRect">
            <a:avLst>
              <a:gd name="adj" fmla="val 18000"/>
            </a:avLst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规范期</a:t>
            </a:r>
          </a:p>
        </p:txBody>
      </p:sp>
      <p:sp>
        <p:nvSpPr>
          <p:cNvPr id="27" name="Shape 27"/>
          <p:cNvSpPr/>
          <p:nvPr/>
        </p:nvSpPr>
        <p:spPr>
          <a:xfrm>
            <a:off x="6025896" y="2670048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SF 28"/>
          <p:cNvSpPr/>
          <p:nvPr/>
        </p:nvSpPr>
        <p:spPr>
          <a:xfrm>
            <a:off x="6080760" y="2706624"/>
            <a:ext cx="1773936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形成默契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有了自己的规矩</a:t>
            </a:r>
          </a:p>
        </p:txBody>
      </p:sp>
      <p:sp>
        <p:nvSpPr>
          <p:cNvPr id="29" name="Shape 29"/>
          <p:cNvSpPr/>
          <p:nvPr/>
        </p:nvSpPr>
        <p:spPr>
          <a:xfrm>
            <a:off x="6025896" y="3822192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SA 30"/>
          <p:cNvSpPr/>
          <p:nvPr/>
        </p:nvSpPr>
        <p:spPr>
          <a:xfrm>
            <a:off x="6080760" y="3858768"/>
            <a:ext cx="1773936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固化</a:t>
            </a:r>
            <a:b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把好做法写成标准</a:t>
            </a:r>
          </a:p>
        </p:txBody>
      </p:sp>
      <p:cxnSp>
        <p:nvCxnSpPr>
          <p:cNvPr id="31" name="Arrow 31"/>
          <p:cNvCxnSpPr/>
          <p:nvPr/>
        </p:nvCxnSpPr>
        <p:spPr>
          <a:xfrm>
            <a:off x="7927848" y="2368296"/>
            <a:ext cx="128016" cy="0"/>
          </a:xfrm>
          <a:prstGeom prst="straightConnector1">
            <a:avLst/>
          </a:prstGeom>
          <a:ln w="22225" cap="flat">
            <a:solidFill>
              <a:srgbClr val="FFFFFF"/>
            </a:solidFill>
            <a:tailEnd type="triangle" w="med" len="med"/>
          </a:ln>
        </p:spPr>
      </p:cxnSp>
      <p:sp>
        <p:nvSpPr>
          <p:cNvPr id="32" name="Stage 32"/>
          <p:cNvSpPr/>
          <p:nvPr/>
        </p:nvSpPr>
        <p:spPr>
          <a:xfrm>
            <a:off x="8074152" y="2157984"/>
            <a:ext cx="1883664" cy="420624"/>
          </a:xfrm>
          <a:prstGeom prst="roundRect">
            <a:avLst>
              <a:gd name="adj" fmla="val 18000"/>
            </a:avLst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执行期</a:t>
            </a:r>
          </a:p>
        </p:txBody>
      </p:sp>
      <p:sp>
        <p:nvSpPr>
          <p:cNvPr id="33" name="Shape 33"/>
          <p:cNvSpPr/>
          <p:nvPr/>
        </p:nvSpPr>
        <p:spPr>
          <a:xfrm>
            <a:off x="8074152" y="2670048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SF 34"/>
          <p:cNvSpPr/>
          <p:nvPr/>
        </p:nvSpPr>
        <p:spPr>
          <a:xfrm>
            <a:off x="8129016" y="2706624"/>
            <a:ext cx="1773936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自主协作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互相补位</a:t>
            </a:r>
          </a:p>
        </p:txBody>
      </p:sp>
      <p:sp>
        <p:nvSpPr>
          <p:cNvPr id="35" name="Shape 35"/>
          <p:cNvSpPr/>
          <p:nvPr/>
        </p:nvSpPr>
        <p:spPr>
          <a:xfrm>
            <a:off x="8074152" y="3822192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SA 36"/>
          <p:cNvSpPr/>
          <p:nvPr/>
        </p:nvSpPr>
        <p:spPr>
          <a:xfrm>
            <a:off x="8129016" y="3858768"/>
            <a:ext cx="1773936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</a:t>
            </a:r>
            <a:b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退到后面做教练</a:t>
            </a:r>
          </a:p>
        </p:txBody>
      </p:sp>
      <p:cxnSp>
        <p:nvCxnSpPr>
          <p:cNvPr id="37" name="Arrow 37"/>
          <p:cNvCxnSpPr/>
          <p:nvPr/>
        </p:nvCxnSpPr>
        <p:spPr>
          <a:xfrm>
            <a:off x="9976104" y="2368296"/>
            <a:ext cx="128016" cy="0"/>
          </a:xfrm>
          <a:prstGeom prst="straightConnector1">
            <a:avLst/>
          </a:prstGeom>
          <a:ln w="22225" cap="flat">
            <a:solidFill>
              <a:srgbClr val="FFFFFF"/>
            </a:solidFill>
            <a:tailEnd type="triangle" w="med" len="med"/>
          </a:ln>
        </p:spPr>
      </p:cxnSp>
      <p:sp>
        <p:nvSpPr>
          <p:cNvPr id="38" name="Stage 38"/>
          <p:cNvSpPr/>
          <p:nvPr/>
        </p:nvSpPr>
        <p:spPr>
          <a:xfrm>
            <a:off x="10122408" y="2157984"/>
            <a:ext cx="1883664" cy="420624"/>
          </a:xfrm>
          <a:prstGeom prst="roundRect">
            <a:avLst>
              <a:gd name="adj" fmla="val 18000"/>
            </a:avLst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调整期</a:t>
            </a:r>
          </a:p>
        </p:txBody>
      </p:sp>
      <p:sp>
        <p:nvSpPr>
          <p:cNvPr id="39" name="Shape 39"/>
          <p:cNvSpPr/>
          <p:nvPr/>
        </p:nvSpPr>
        <p:spPr>
          <a:xfrm>
            <a:off x="10122408" y="2670048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0" name="SF 40"/>
          <p:cNvSpPr/>
          <p:nvPr/>
        </p:nvSpPr>
        <p:spPr>
          <a:xfrm>
            <a:off x="10177272" y="2706624"/>
            <a:ext cx="1773936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人员变动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老手离开</a:t>
            </a:r>
          </a:p>
        </p:txBody>
      </p:sp>
      <p:sp>
        <p:nvSpPr>
          <p:cNvPr id="41" name="Shape 41"/>
          <p:cNvSpPr/>
          <p:nvPr/>
        </p:nvSpPr>
        <p:spPr>
          <a:xfrm>
            <a:off x="10122408" y="3822192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2" name="SA 42"/>
          <p:cNvSpPr/>
          <p:nvPr/>
        </p:nvSpPr>
        <p:spPr>
          <a:xfrm>
            <a:off x="10177272" y="3858768"/>
            <a:ext cx="1773936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交接</a:t>
            </a:r>
            <a:br>
              <a:rPr lang="zh-CN" altLang="en-US" sz="16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把经验留在班组里</a:t>
            </a:r>
          </a:p>
        </p:txBody>
      </p:sp>
      <p:sp>
        <p:nvSpPr>
          <p:cNvPr id="43" name="Shape 43"/>
          <p:cNvSpPr/>
          <p:nvPr/>
        </p:nvSpPr>
        <p:spPr>
          <a:xfrm>
            <a:off x="1929384" y="5029200"/>
            <a:ext cx="10213848" cy="11338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4" name="CardHead 44"/>
          <p:cNvSpPr/>
          <p:nvPr/>
        </p:nvSpPr>
        <p:spPr>
          <a:xfrm>
            <a:off x="1929384" y="5029200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震荡期最常见的两个误判</a:t>
            </a:r>
          </a:p>
        </p:txBody>
      </p:sp>
      <p:sp>
        <p:nvSpPr>
          <p:cNvPr id="45" name="CardBody 45"/>
          <p:cNvSpPr/>
          <p:nvPr/>
        </p:nvSpPr>
        <p:spPr>
          <a:xfrm>
            <a:off x="2039112" y="5394960"/>
            <a:ext cx="999439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把震荡当成“这批人不行” → 换人，然后新班组重新回到形成期，永远走不到执行期；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用高压把震荡压下去 → 表面平静，实际直接跳过规范期，一遇到异常就散架。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群体规范：班组里那本没写出来的“班规”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它比你的制度更早生效，也更管用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66544"/>
            <a:ext cx="4983480" cy="22311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66544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规范是怎么来的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32304"/>
            <a:ext cx="4764024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关键事件：某次有人上报了异常，结果被追问了半天 →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“以后别多事”成为规范；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首因：班组第一个人怎么做，后来的人就怎么做；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明示：老员工一句“我们这儿不兴那样”；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迁移：从上一个班组带过来的习惯。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66544"/>
            <a:ext cx="4983480" cy="22311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66544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车间里真实存在的规范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32304"/>
            <a:ext cx="4764024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“提前十分钟到，但别太早，显得别人不好”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“交接班可以说'昨晚没事'，别说太细”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“干到差不多就行，太快了下个月定额要涨”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“新人前三个月别提意见”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——这些没人写，但每个人都懂。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462272"/>
            <a:ext cx="10213848" cy="12252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462272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识别班组规范的两个办法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828032"/>
            <a:ext cx="999439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观察新人：一个新人进来两周后自动学会了什么？那就是这个班组最强的规范；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观察例外：谁违反了某条规矩后，班组的反应最大？反应越大，说明这条规范越核心。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81558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93976" y="5815584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关键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想改行为，先改规范；想改规范，先制造一个反例并让它安全地存活下来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从众实验：明明看得见是错的，为什么还跟着说错？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阿希实验——群体压力对判断的影响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66544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66544"/>
            <a:ext cx="557784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实验设计与结果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32304"/>
            <a:ext cx="5358384" cy="16824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判断三条线段中哪条与标准线等长，答案非常明显，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单独作答正确率超过 99%。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但当在场其他 6 人异口同声说出错误答案时，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75% 的人至少从众了一次。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关键：只要有 1 个人先说出正确答案，从众率就大幅下降。</a:t>
            </a:r>
          </a:p>
        </p:txBody>
      </p:sp>
      <p:sp>
        <p:nvSpPr>
          <p:cNvPr id="17" name="Shape 17"/>
          <p:cNvSpPr/>
          <p:nvPr/>
        </p:nvSpPr>
        <p:spPr>
          <a:xfrm>
            <a:off x="7763256" y="2066544"/>
            <a:ext cx="4379976" cy="202996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763256" y="2066544"/>
            <a:ext cx="4379976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车间里的对应场景</a:t>
            </a:r>
          </a:p>
        </p:txBody>
      </p:sp>
      <p:sp>
        <p:nvSpPr>
          <p:cNvPr id="19" name="CardBody 19"/>
          <p:cNvSpPr/>
          <p:nvPr/>
        </p:nvSpPr>
        <p:spPr>
          <a:xfrm>
            <a:off x="7872984" y="2432304"/>
            <a:ext cx="4160520" cy="160934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班前会问“大家还有问题吗”，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第一个人说“没有”，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后面九个人也都说“没有”——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不是真的没有，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是没人愿意做那个例外。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261104"/>
            <a:ext cx="10213848" cy="142646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261104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破解从众的三个现场做法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626864"/>
            <a:ext cx="99943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让最资浅的人先说——发言顺序倒过来，避免上级和老资格先定调；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指定一个“红队”角色，每次会议轮一个人专门挑毛病，让唱反调变成职责而不是得罪人；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先写后说：让每个人先在纸上写下自己的判断，再开口。写完的观点不容易被现场气氛带走。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81558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93976" y="5815584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“大家还有什么意见吗”这句话，本身就是在制造沉默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Chip 12"/>
          <p:cNvSpPr/>
          <p:nvPr/>
        </p:nvSpPr>
        <p:spPr>
          <a:xfrm>
            <a:off x="1929384" y="1298448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4</a:t>
            </a:r>
          </a:p>
        </p:txBody>
      </p:sp>
      <p:sp>
        <p:nvSpPr>
          <p:cNvPr id="13" name="ScTitle 13"/>
          <p:cNvSpPr/>
          <p:nvPr/>
        </p:nvSpPr>
        <p:spPr>
          <a:xfrm>
            <a:off x="3383280" y="1280160"/>
            <a:ext cx="875995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产量卡在 8600 件三年没动过，加钱也没用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1847088"/>
            <a:ext cx="10213848" cy="202996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ScHead 15"/>
          <p:cNvSpPr/>
          <p:nvPr/>
        </p:nvSpPr>
        <p:spPr>
          <a:xfrm>
            <a:off x="1929384" y="1847088"/>
            <a:ext cx="10213848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6" name="ScBody 16"/>
          <p:cNvSpPr/>
          <p:nvPr/>
        </p:nvSpPr>
        <p:spPr>
          <a:xfrm>
            <a:off x="2075688" y="2231136"/>
            <a:ext cx="9921240" cy="15910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某装配班组标准日产能 8000 件。三年来，无论订单多急、奖金怎么调，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月度日均产量始终在 8500~8700 之间，从未突破 9000。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班组长换过两任，试过计件提成、超产奖金、班组竞赛，最好的一个月冲到 9200，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但下个月立刻回落，并且当月不良率明显上升。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新来的班组长小郑私下问了一个关系不错的老员工，得到一句话：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“你要是真做到 9500，明年定额就是 9500 了——到时候大家都得这么干。”</a:t>
            </a:r>
          </a:p>
        </p:txBody>
      </p:sp>
      <p:sp>
        <p:nvSpPr>
          <p:cNvPr id="17" name="ScAsk 17"/>
          <p:cNvSpPr/>
          <p:nvPr/>
        </p:nvSpPr>
        <p:spPr>
          <a:xfrm>
            <a:off x="1929384" y="3968496"/>
            <a:ext cx="10213848" cy="402336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 论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这是激励不够，还是别的问题？如果是你，怎么打破这条天花板？</a:t>
            </a:r>
          </a:p>
        </p:txBody>
      </p:sp>
      <p:sp>
        <p:nvSpPr>
          <p:cNvPr id="18" name="ScCommon 18"/>
          <p:cNvSpPr/>
          <p:nvPr/>
        </p:nvSpPr>
        <p:spPr>
          <a:xfrm>
            <a:off x="1929384" y="4443984"/>
            <a:ext cx="10213848" cy="438912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继续加大奖金力度、搞班组竞赛、把定额直接改成 9500 硬压下去。</a:t>
            </a:r>
          </a:p>
        </p:txBody>
      </p:sp>
      <p:sp>
        <p:nvSpPr>
          <p:cNvPr id="19" name="Shape 19"/>
          <p:cNvSpPr/>
          <p:nvPr/>
        </p:nvSpPr>
        <p:spPr>
          <a:xfrm>
            <a:off x="1929384" y="4956048"/>
            <a:ext cx="10213848" cy="1572768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 w="22225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ScBetter 20"/>
          <p:cNvSpPr/>
          <p:nvPr/>
        </p:nvSpPr>
        <p:spPr>
          <a:xfrm>
            <a:off x="2093976" y="4992624"/>
            <a:ext cx="9884664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反常识做法  ▸  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这是典型的群体规范，不是激励问题——8600 是班组集体维护的产量天花板，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它保护的是“明年定额不要涨”这个共同利益。加钱撬不动它，因为钱是短期的、定额是长期的。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有效的做法是先改掉定额规则本身：公开承诺“本年度超产部分不作为下一年度定额调整依据”，并写进书面文件。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把员工那笔长期账算平了，天花板才会松动；再配合区间共定，让班组在合理区间内自己承诺。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角色冲突：夹在中间的班组长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不是你能力不行，是这个位置本身就有结构性矛盾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66544"/>
            <a:ext cx="3282696" cy="2011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66544"/>
            <a:ext cx="3282696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角色内冲突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32304"/>
            <a:ext cx="3063240" cy="15910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同一个角色，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两个要求互相打架。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例：既要保交期，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又要保质量红线，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而资源只够保一个。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066544"/>
            <a:ext cx="3282696" cy="2011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066544"/>
            <a:ext cx="3282696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角色间冲突</a:t>
            </a:r>
          </a:p>
        </p:txBody>
      </p:sp>
      <p:sp>
        <p:nvSpPr>
          <p:cNvPr id="19" name="CardBody 19"/>
          <p:cNvSpPr/>
          <p:nvPr/>
        </p:nvSpPr>
        <p:spPr>
          <a:xfrm>
            <a:off x="5504688" y="2432304"/>
            <a:ext cx="3063240" cy="15910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同时扮演多个角色。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例：既是管理者要考核，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又是老同事要讲情面；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既要代表公司，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又要替兄弟说话。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066544"/>
            <a:ext cx="3282696" cy="2011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066544"/>
            <a:ext cx="3282696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角色模糊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70264" y="2432304"/>
            <a:ext cx="3063240" cy="15910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不知道自己该管什么。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例：设备该不该我管？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跨部门协调我有没有权？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——模糊比冲突更消耗人，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因为你连该抗争什么都不知道。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4242816"/>
            <a:ext cx="10213848" cy="144475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4242816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三个可操作的应对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39112" y="4608576"/>
            <a:ext cx="999439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把冲突显性化：不要自己硬扛。用“问题—影响—已做—需要”向上要一个明确决策，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让该拍板的人拍板，这不是推责，是把决策放回正确的层级；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划清权责清单：把“我能定的 / 要请示的 / 不归我的”三类事列出来，和上级对一次；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角色切换要说明：谈工作时先说“现在我是以班组长身份和你谈”，减少角色错位带来的误会。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社会惰化：为什么人越多，人均产出反而越低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林格曼拉绳实验——1+1 常常小于 2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10213848" cy="1335024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LG 15"/>
          <p:cNvSpPr/>
          <p:nvPr/>
        </p:nvSpPr>
        <p:spPr>
          <a:xfrm>
            <a:off x="2203704" y="219456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4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</a:p>
        </p:txBody>
      </p:sp>
      <p:sp>
        <p:nvSpPr>
          <p:cNvPr id="16" name="LGN 16"/>
          <p:cNvSpPr/>
          <p:nvPr/>
        </p:nvSpPr>
        <p:spPr>
          <a:xfrm>
            <a:off x="2203704" y="270662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人 时人均出力</a:t>
            </a:r>
          </a:p>
        </p:txBody>
      </p:sp>
      <p:sp>
        <p:nvSpPr>
          <p:cNvPr id="17" name="LG 17"/>
          <p:cNvSpPr/>
          <p:nvPr/>
        </p:nvSpPr>
        <p:spPr>
          <a:xfrm>
            <a:off x="4178808" y="219456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4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93%</a:t>
            </a:r>
          </a:p>
        </p:txBody>
      </p:sp>
      <p:sp>
        <p:nvSpPr>
          <p:cNvPr id="18" name="LGN 18"/>
          <p:cNvSpPr/>
          <p:nvPr/>
        </p:nvSpPr>
        <p:spPr>
          <a:xfrm>
            <a:off x="4178808" y="270662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人 时人均出力</a:t>
            </a:r>
          </a:p>
        </p:txBody>
      </p:sp>
      <p:sp>
        <p:nvSpPr>
          <p:cNvPr id="19" name="LG 19"/>
          <p:cNvSpPr/>
          <p:nvPr/>
        </p:nvSpPr>
        <p:spPr>
          <a:xfrm>
            <a:off x="6153912" y="219456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4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85%</a:t>
            </a:r>
          </a:p>
        </p:txBody>
      </p:sp>
      <p:sp>
        <p:nvSpPr>
          <p:cNvPr id="20" name="LGN 20"/>
          <p:cNvSpPr/>
          <p:nvPr/>
        </p:nvSpPr>
        <p:spPr>
          <a:xfrm>
            <a:off x="6153912" y="270662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人 时人均出力</a:t>
            </a:r>
          </a:p>
        </p:txBody>
      </p:sp>
      <p:sp>
        <p:nvSpPr>
          <p:cNvPr id="21" name="LG 21"/>
          <p:cNvSpPr/>
          <p:nvPr/>
        </p:nvSpPr>
        <p:spPr>
          <a:xfrm>
            <a:off x="8129016" y="219456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77%</a:t>
            </a:r>
          </a:p>
        </p:txBody>
      </p:sp>
      <p:sp>
        <p:nvSpPr>
          <p:cNvPr id="22" name="LGN 22"/>
          <p:cNvSpPr/>
          <p:nvPr/>
        </p:nvSpPr>
        <p:spPr>
          <a:xfrm>
            <a:off x="8129016" y="270662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人 时人均出力</a:t>
            </a:r>
          </a:p>
        </p:txBody>
      </p:sp>
      <p:sp>
        <p:nvSpPr>
          <p:cNvPr id="23" name="LG 23"/>
          <p:cNvSpPr/>
          <p:nvPr/>
        </p:nvSpPr>
        <p:spPr>
          <a:xfrm>
            <a:off x="10104120" y="219456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4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49%</a:t>
            </a:r>
          </a:p>
        </p:txBody>
      </p:sp>
      <p:sp>
        <p:nvSpPr>
          <p:cNvPr id="24" name="LGN 24"/>
          <p:cNvSpPr/>
          <p:nvPr/>
        </p:nvSpPr>
        <p:spPr>
          <a:xfrm>
            <a:off x="10104120" y="270662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人 时人均出力</a:t>
            </a:r>
          </a:p>
        </p:txBody>
      </p:sp>
      <p:sp>
        <p:nvSpPr>
          <p:cNvPr id="25" name="LGnote 25"/>
          <p:cNvSpPr/>
          <p:nvPr/>
        </p:nvSpPr>
        <p:spPr>
          <a:xfrm>
            <a:off x="2203704" y="3035808"/>
            <a:ext cx="966520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拉同一根绳，人数越多，每个人使的劲越小——不是偷懒，是本能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3602736"/>
            <a:ext cx="4983480" cy="188366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1929384" y="3602736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惰化发生的三个条件</a:t>
            </a:r>
          </a:p>
        </p:txBody>
      </p:sp>
      <p:sp>
        <p:nvSpPr>
          <p:cNvPr id="28" name="CardBody 28"/>
          <p:cNvSpPr/>
          <p:nvPr/>
        </p:nvSpPr>
        <p:spPr>
          <a:xfrm>
            <a:off x="2039112" y="3968496"/>
            <a:ext cx="4764024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个人贡献看不出来（产出混在一起算）；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任务对个人没有意义（不知道为什么做）；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觉得别人也没尽力（我干多了就是吃亏）。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三条同时成立时，惰化最严重。</a:t>
            </a:r>
          </a:p>
        </p:txBody>
      </p:sp>
      <p:sp>
        <p:nvSpPr>
          <p:cNvPr id="29" name="Shape 29"/>
          <p:cNvSpPr/>
          <p:nvPr/>
        </p:nvSpPr>
        <p:spPr>
          <a:xfrm>
            <a:off x="7159752" y="3602736"/>
            <a:ext cx="4983480" cy="188366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7159752" y="3602736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现场破解办法</a:t>
            </a:r>
          </a:p>
        </p:txBody>
      </p:sp>
      <p:sp>
        <p:nvSpPr>
          <p:cNvPr id="31" name="CardBody 31"/>
          <p:cNvSpPr/>
          <p:nvPr/>
        </p:nvSpPr>
        <p:spPr>
          <a:xfrm>
            <a:off x="7269480" y="3968496"/>
            <a:ext cx="4764024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让贡献可见：分工到人、产出记名、数据公示；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缩小单元：把 12 人班组拆成 3 个 4 人小组，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小组内谁没出力，大家都看得见；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给意义：告诉他这道工序装在什么设备上、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出问题客户会怎样——抽象的“质量”推不动人。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Chip 12"/>
          <p:cNvSpPr/>
          <p:nvPr/>
        </p:nvSpPr>
        <p:spPr>
          <a:xfrm>
            <a:off x="1929384" y="1298448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5</a:t>
            </a:r>
          </a:p>
        </p:txBody>
      </p:sp>
      <p:sp>
        <p:nvSpPr>
          <p:cNvPr id="13" name="ScTitle 13"/>
          <p:cNvSpPr/>
          <p:nvPr/>
        </p:nvSpPr>
        <p:spPr>
          <a:xfrm>
            <a:off x="3383280" y="1280160"/>
            <a:ext cx="875995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急单加了 4 个支援人手，为什么当天产出反而少了？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1847088"/>
            <a:ext cx="10213848" cy="202996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ScHead 15"/>
          <p:cNvSpPr/>
          <p:nvPr/>
        </p:nvSpPr>
        <p:spPr>
          <a:xfrm>
            <a:off x="1929384" y="1847088"/>
            <a:ext cx="10213848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6" name="ScBody 16"/>
          <p:cNvSpPr/>
          <p:nvPr/>
        </p:nvSpPr>
        <p:spPr>
          <a:xfrm>
            <a:off x="2075688" y="2231136"/>
            <a:ext cx="9921240" cy="15910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某工序日常 6 人，日产 3000 件。接到急单后，车间调来 4 名其他班组的支援人员，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班组长以为当天至少能做到 4500 件。实际结果：当天产出 2870 件，比平时还少，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并且出现 2 起装配错误，都是支援人员做的。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复盘时支援人员说：“不知道该干什么，问了两次没人理，就跟着做了。”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原班组员工说：“又要教他们又要自己干，还不如不来。”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班组长说：“我那天忙着处理异常，确实没顾上分工。”</a:t>
            </a:r>
          </a:p>
        </p:txBody>
      </p:sp>
      <p:sp>
        <p:nvSpPr>
          <p:cNvPr id="17" name="ScAsk 17"/>
          <p:cNvSpPr/>
          <p:nvPr/>
        </p:nvSpPr>
        <p:spPr>
          <a:xfrm>
            <a:off x="1929384" y="3968496"/>
            <a:ext cx="10213848" cy="402336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 论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人手是真的加了，为什么产出反而下降？下次再来支援，你怎么安排？</a:t>
            </a:r>
          </a:p>
        </p:txBody>
      </p:sp>
      <p:sp>
        <p:nvSpPr>
          <p:cNvPr id="18" name="ScCommon 18"/>
          <p:cNvSpPr/>
          <p:nvPr/>
        </p:nvSpPr>
        <p:spPr>
          <a:xfrm>
            <a:off x="1929384" y="4443984"/>
            <a:ext cx="10213848" cy="438912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下次多派几个人、或者提前一天通知、或者让支援人员先培训半天再上线。</a:t>
            </a:r>
          </a:p>
        </p:txBody>
      </p:sp>
      <p:sp>
        <p:nvSpPr>
          <p:cNvPr id="19" name="Shape 19"/>
          <p:cNvSpPr/>
          <p:nvPr/>
        </p:nvSpPr>
        <p:spPr>
          <a:xfrm>
            <a:off x="1929384" y="4956048"/>
            <a:ext cx="10213848" cy="1572768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 w="22225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ScBetter 20"/>
          <p:cNvSpPr/>
          <p:nvPr/>
        </p:nvSpPr>
        <p:spPr>
          <a:xfrm>
            <a:off x="2093976" y="4992624"/>
            <a:ext cx="9884664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反常识做法  ▸  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产出反降不是人不够，是协作损耗超过了人力增益：社会惰化＋角色模糊＋带教负担被无偿转嫁。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正确做法是把支援人力放到不需要协作的独立工序：前置备料、清洗、包装这类可单独计量的活。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支援人力不该插进主流程，而应该在旁边并行，原班组照常做主线。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同时给带教的老员工一份明确的带教工时补偿，否则下次没人愿意教。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 ≠ 团队：多数班组只是“坐在一起的群体”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一个判断标准：出了问题，是各自解释，还是一起解决</a:t>
            </a:r>
          </a:p>
        </p:txBody>
      </p:sp>
      <p:sp>
        <p:nvSpPr>
          <p:cNvPr id="14" name="THead 14"/>
          <p:cNvSpPr/>
          <p:nvPr/>
        </p:nvSpPr>
        <p:spPr>
          <a:xfrm>
            <a:off x="1929384" y="2084832"/>
            <a:ext cx="10213848" cy="420624"/>
          </a:xfrm>
          <a:prstGeom prst="rect">
            <a:avLst/>
          </a:prstGeom>
          <a:solidFill>
            <a:srgbClr val="F5D349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　　　　　　　　群　体　　　　　　　　　　　　　　　　团　队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2542032"/>
            <a:ext cx="10213848" cy="566928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TD 16"/>
          <p:cNvSpPr/>
          <p:nvPr/>
        </p:nvSpPr>
        <p:spPr>
          <a:xfrm>
            <a:off x="2075688" y="2542032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</a:p>
        </p:txBody>
      </p:sp>
      <p:sp>
        <p:nvSpPr>
          <p:cNvPr id="17" name="TG 17"/>
          <p:cNvSpPr/>
          <p:nvPr/>
        </p:nvSpPr>
        <p:spPr>
          <a:xfrm>
            <a:off x="3703320" y="2542032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各自完成各自的指标</a:t>
            </a:r>
          </a:p>
        </p:txBody>
      </p:sp>
      <p:sp>
        <p:nvSpPr>
          <p:cNvPr id="18" name="TT 18"/>
          <p:cNvSpPr/>
          <p:nvPr/>
        </p:nvSpPr>
        <p:spPr>
          <a:xfrm>
            <a:off x="7744968" y="2542032"/>
            <a:ext cx="427939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有共同的、可衡量的班组目标</a:t>
            </a:r>
          </a:p>
        </p:txBody>
      </p:sp>
      <p:sp>
        <p:nvSpPr>
          <p:cNvPr id="19" name="Shape 19"/>
          <p:cNvSpPr/>
          <p:nvPr/>
        </p:nvSpPr>
        <p:spPr>
          <a:xfrm>
            <a:off x="1929384" y="3145536"/>
            <a:ext cx="10213848" cy="566928"/>
          </a:xfrm>
          <a:prstGeom prst="rect">
            <a:avLst/>
          </a:prstGeom>
          <a:solidFill>
            <a:srgbClr val="F3EAD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TD 20"/>
          <p:cNvSpPr/>
          <p:nvPr/>
        </p:nvSpPr>
        <p:spPr>
          <a:xfrm>
            <a:off x="2075688" y="3145536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</a:t>
            </a:r>
          </a:p>
        </p:txBody>
      </p:sp>
      <p:sp>
        <p:nvSpPr>
          <p:cNvPr id="21" name="TG 21"/>
          <p:cNvSpPr/>
          <p:nvPr/>
        </p:nvSpPr>
        <p:spPr>
          <a:xfrm>
            <a:off x="3703320" y="3145536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个人责任，出事找责任人</a:t>
            </a:r>
          </a:p>
        </p:txBody>
      </p:sp>
      <p:sp>
        <p:nvSpPr>
          <p:cNvPr id="22" name="TT 22"/>
          <p:cNvSpPr/>
          <p:nvPr/>
        </p:nvSpPr>
        <p:spPr>
          <a:xfrm>
            <a:off x="7744968" y="3145536"/>
            <a:ext cx="427939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共同责任，出事一起复盘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3749040"/>
            <a:ext cx="10213848" cy="566928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TD 24"/>
          <p:cNvSpPr/>
          <p:nvPr/>
        </p:nvSpPr>
        <p:spPr>
          <a:xfrm>
            <a:off x="2075688" y="374904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</a:t>
            </a:r>
          </a:p>
        </p:txBody>
      </p:sp>
      <p:sp>
        <p:nvSpPr>
          <p:cNvPr id="25" name="TG 25"/>
          <p:cNvSpPr/>
          <p:nvPr/>
        </p:nvSpPr>
        <p:spPr>
          <a:xfrm>
            <a:off x="3703320" y="3749040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技能相似，可互相替代</a:t>
            </a:r>
          </a:p>
        </p:txBody>
      </p:sp>
      <p:sp>
        <p:nvSpPr>
          <p:cNvPr id="26" name="TT 26"/>
          <p:cNvSpPr/>
          <p:nvPr/>
        </p:nvSpPr>
        <p:spPr>
          <a:xfrm>
            <a:off x="7744968" y="3749040"/>
            <a:ext cx="427939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技能互补，有意搭配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4352544"/>
            <a:ext cx="10213848" cy="566928"/>
          </a:xfrm>
          <a:prstGeom prst="rect">
            <a:avLst/>
          </a:prstGeom>
          <a:solidFill>
            <a:srgbClr val="F3EAD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TD 28"/>
          <p:cNvSpPr/>
          <p:nvPr/>
        </p:nvSpPr>
        <p:spPr>
          <a:xfrm>
            <a:off x="2075688" y="4352544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</a:t>
            </a:r>
          </a:p>
        </p:txBody>
      </p:sp>
      <p:sp>
        <p:nvSpPr>
          <p:cNvPr id="29" name="TG 29"/>
          <p:cNvSpPr/>
          <p:nvPr/>
        </p:nvSpPr>
        <p:spPr>
          <a:xfrm>
            <a:off x="3703320" y="4352544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各人产出之和</a:t>
            </a:r>
          </a:p>
        </p:txBody>
      </p:sp>
      <p:sp>
        <p:nvSpPr>
          <p:cNvPr id="30" name="TT 30"/>
          <p:cNvSpPr/>
          <p:nvPr/>
        </p:nvSpPr>
        <p:spPr>
          <a:xfrm>
            <a:off x="7744968" y="4352544"/>
            <a:ext cx="427939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协同产生的增量</a:t>
            </a:r>
          </a:p>
        </p:txBody>
      </p:sp>
      <p:sp>
        <p:nvSpPr>
          <p:cNvPr id="31" name="Shape 31"/>
          <p:cNvSpPr/>
          <p:nvPr/>
        </p:nvSpPr>
        <p:spPr>
          <a:xfrm>
            <a:off x="1929384" y="4956048"/>
            <a:ext cx="10213848" cy="566928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2" name="TD 32"/>
          <p:cNvSpPr/>
          <p:nvPr/>
        </p:nvSpPr>
        <p:spPr>
          <a:xfrm>
            <a:off x="2075688" y="4956048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冲突</a:t>
            </a:r>
          </a:p>
        </p:txBody>
      </p:sp>
      <p:sp>
        <p:nvSpPr>
          <p:cNvPr id="33" name="TG 33"/>
          <p:cNvSpPr/>
          <p:nvPr/>
        </p:nvSpPr>
        <p:spPr>
          <a:xfrm>
            <a:off x="3703320" y="4956048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回避冲突，或变成人际对立</a:t>
            </a:r>
          </a:p>
        </p:txBody>
      </p:sp>
      <p:sp>
        <p:nvSpPr>
          <p:cNvPr id="34" name="TT 34"/>
          <p:cNvSpPr/>
          <p:nvPr/>
        </p:nvSpPr>
        <p:spPr>
          <a:xfrm>
            <a:off x="7744968" y="4956048"/>
            <a:ext cx="427939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就事实争论，对人不对立</a:t>
            </a:r>
          </a:p>
        </p:txBody>
      </p:sp>
      <p:sp>
        <p:nvSpPr>
          <p:cNvPr id="35" name="Shape 35"/>
          <p:cNvSpPr/>
          <p:nvPr/>
        </p:nvSpPr>
        <p:spPr>
          <a:xfrm>
            <a:off x="1929384" y="5705856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Banner 36"/>
          <p:cNvSpPr/>
          <p:nvPr/>
        </p:nvSpPr>
        <p:spPr>
          <a:xfrm>
            <a:off x="2093976" y="5705856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现实提醒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不是每个班组都需要变成团队——标准化流水线做好群体就够了，攻坚和试制才需要团队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班组里的六种人：别只盯着“谁最能干”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一个只有能手、没有补位的班组，跑不长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3282696" cy="14996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3282696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推进者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68880"/>
            <a:ext cx="3063240" cy="10789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盯目标、催进度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有冲劲，也容易急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03120"/>
            <a:ext cx="3282696" cy="14996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03120"/>
            <a:ext cx="3282696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执行者</a:t>
            </a:r>
          </a:p>
        </p:txBody>
      </p:sp>
      <p:sp>
        <p:nvSpPr>
          <p:cNvPr id="19" name="CardBody 19"/>
          <p:cNvSpPr/>
          <p:nvPr/>
        </p:nvSpPr>
        <p:spPr>
          <a:xfrm>
            <a:off x="5504688" y="2468880"/>
            <a:ext cx="3063240" cy="10789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踏实、按标准做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班组的压舱石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03120"/>
            <a:ext cx="3282696" cy="14996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03120"/>
            <a:ext cx="3282696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审查者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70264" y="2468880"/>
            <a:ext cx="3063240" cy="10789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爱挑毛病、算细账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讨人嫌，但少不了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3749040"/>
            <a:ext cx="3282696" cy="14996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3749040"/>
            <a:ext cx="3282696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协调者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39112" y="4114800"/>
            <a:ext cx="3063240" cy="10789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会沟通、能撮合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班组的润滑剂</a:t>
            </a:r>
          </a:p>
        </p:txBody>
      </p:sp>
      <p:sp>
        <p:nvSpPr>
          <p:cNvPr id="26" name="Shape 26"/>
          <p:cNvSpPr/>
          <p:nvPr/>
        </p:nvSpPr>
        <p:spPr>
          <a:xfrm>
            <a:off x="5394960" y="3749040"/>
            <a:ext cx="3282696" cy="14996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5394960" y="3749040"/>
            <a:ext cx="3282696" cy="329184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智多星</a:t>
            </a:r>
          </a:p>
        </p:txBody>
      </p:sp>
      <p:sp>
        <p:nvSpPr>
          <p:cNvPr id="28" name="CardBody 28"/>
          <p:cNvSpPr/>
          <p:nvPr/>
        </p:nvSpPr>
        <p:spPr>
          <a:xfrm>
            <a:off x="5504688" y="4114800"/>
            <a:ext cx="3063240" cy="10789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点子多、爱琢磨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改善提案的来源</a:t>
            </a:r>
          </a:p>
        </p:txBody>
      </p:sp>
      <p:sp>
        <p:nvSpPr>
          <p:cNvPr id="29" name="Shape 29"/>
          <p:cNvSpPr/>
          <p:nvPr/>
        </p:nvSpPr>
        <p:spPr>
          <a:xfrm>
            <a:off x="8860536" y="3749040"/>
            <a:ext cx="3282696" cy="14996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8860536" y="3749040"/>
            <a:ext cx="3282696" cy="329184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凝聚者</a:t>
            </a:r>
          </a:p>
        </p:txBody>
      </p:sp>
      <p:sp>
        <p:nvSpPr>
          <p:cNvPr id="31" name="CardBody 31"/>
          <p:cNvSpPr/>
          <p:nvPr/>
        </p:nvSpPr>
        <p:spPr>
          <a:xfrm>
            <a:off x="8970264" y="4114800"/>
            <a:ext cx="3063240" cy="10789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照顾人、护着人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新人留不留得住看他</a:t>
            </a:r>
          </a:p>
        </p:txBody>
      </p:sp>
      <p:sp>
        <p:nvSpPr>
          <p:cNvPr id="32" name="Shape 32"/>
          <p:cNvSpPr/>
          <p:nvPr/>
        </p:nvSpPr>
        <p:spPr>
          <a:xfrm>
            <a:off x="1929384" y="5504688"/>
            <a:ext cx="10213848" cy="10058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CardHead 33"/>
          <p:cNvSpPr/>
          <p:nvPr/>
        </p:nvSpPr>
        <p:spPr>
          <a:xfrm>
            <a:off x="1929384" y="5504688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用法：不是给人贴标签，是查缺口</a:t>
            </a:r>
          </a:p>
        </p:txBody>
      </p:sp>
      <p:sp>
        <p:nvSpPr>
          <p:cNvPr id="34" name="CardBody 34"/>
          <p:cNvSpPr/>
          <p:nvPr/>
        </p:nvSpPr>
        <p:spPr>
          <a:xfrm>
            <a:off x="2039112" y="5870448"/>
            <a:ext cx="9994392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如果班组里全是执行者 → 没人提改善，产量稳定但永远不进步；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如果全是推进者 → 天天赶工，质量事故迟早出。缺哪一类，就在分工里补哪一类。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凝聚力高一定好吗？要看它和目标是不是一致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高凝聚力是放大器——放大好的，也放大坏的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84832"/>
            <a:ext cx="4983480" cy="171907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84832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高凝聚力 + 目标一致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50592"/>
            <a:ext cx="4764024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产出最高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互相补位、主动补漏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这是你要的班组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84832"/>
            <a:ext cx="4983480" cy="171907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84832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高凝聚力 + 目标不一致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50592"/>
            <a:ext cx="4764024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产出最低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集体限产、一起瞒报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比一盘散沙更难管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3931920"/>
            <a:ext cx="4983480" cy="171907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3931920"/>
            <a:ext cx="498348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低凝聚力 + 目标一致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297680"/>
            <a:ext cx="4764024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产出中等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各干各的，能达标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但没有协同增量</a:t>
            </a:r>
          </a:p>
        </p:txBody>
      </p:sp>
      <p:sp>
        <p:nvSpPr>
          <p:cNvPr id="23" name="Shape 23"/>
          <p:cNvSpPr/>
          <p:nvPr/>
        </p:nvSpPr>
        <p:spPr>
          <a:xfrm>
            <a:off x="7159752" y="3931920"/>
            <a:ext cx="4983480" cy="171907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7159752" y="3931920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低凝聚力 + 目标不一致</a:t>
            </a:r>
          </a:p>
        </p:txBody>
      </p:sp>
      <p:sp>
        <p:nvSpPr>
          <p:cNvPr id="25" name="CardBody 25"/>
          <p:cNvSpPr/>
          <p:nvPr/>
        </p:nvSpPr>
        <p:spPr>
          <a:xfrm>
            <a:off x="7269480" y="4297680"/>
            <a:ext cx="4764024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产出偏低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人心散，但至少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不会形成集体对抗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590702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Banner 27"/>
          <p:cNvSpPr/>
          <p:nvPr/>
        </p:nvSpPr>
        <p:spPr>
          <a:xfrm>
            <a:off x="2093976" y="5907024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结论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别急着搞团建提凝聚力——先确认班组的目标和公司目标是不是一件事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第二节小结：管群体，管的是四样东西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人你改不动，这四样你改得动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57984"/>
            <a:ext cx="2423160" cy="2103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57984"/>
            <a:ext cx="242316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523744"/>
            <a:ext cx="2203704" cy="16824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班组默认的做法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找到它，制造一个安全的反例</a:t>
            </a:r>
          </a:p>
        </p:txBody>
      </p:sp>
      <p:sp>
        <p:nvSpPr>
          <p:cNvPr id="17" name="Shape 17"/>
          <p:cNvSpPr/>
          <p:nvPr/>
        </p:nvSpPr>
        <p:spPr>
          <a:xfrm>
            <a:off x="4535424" y="2157984"/>
            <a:ext cx="2423160" cy="2103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4535424" y="2157984"/>
            <a:ext cx="242316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</a:t>
            </a:r>
          </a:p>
        </p:txBody>
      </p:sp>
      <p:sp>
        <p:nvSpPr>
          <p:cNvPr id="19" name="CardBody 19"/>
          <p:cNvSpPr/>
          <p:nvPr/>
        </p:nvSpPr>
        <p:spPr>
          <a:xfrm>
            <a:off x="4645152" y="2523744"/>
            <a:ext cx="2203704" cy="16824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谁该干什么、谁说了算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写清楚权责，消除模糊</a:t>
            </a:r>
          </a:p>
        </p:txBody>
      </p:sp>
      <p:sp>
        <p:nvSpPr>
          <p:cNvPr id="20" name="Shape 20"/>
          <p:cNvSpPr/>
          <p:nvPr/>
        </p:nvSpPr>
        <p:spPr>
          <a:xfrm>
            <a:off x="7141464" y="2157984"/>
            <a:ext cx="2423160" cy="2103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7141464" y="2157984"/>
            <a:ext cx="242316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</a:t>
            </a:r>
          </a:p>
        </p:txBody>
      </p:sp>
      <p:sp>
        <p:nvSpPr>
          <p:cNvPr id="22" name="CardBody 22"/>
          <p:cNvSpPr/>
          <p:nvPr/>
        </p:nvSpPr>
        <p:spPr>
          <a:xfrm>
            <a:off x="7251192" y="2523744"/>
            <a:ext cx="2203704" cy="16824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几个人一组、怎么分工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缩小单元，让贡献可见</a:t>
            </a:r>
          </a:p>
        </p:txBody>
      </p:sp>
      <p:sp>
        <p:nvSpPr>
          <p:cNvPr id="23" name="Shape 23"/>
          <p:cNvSpPr/>
          <p:nvPr/>
        </p:nvSpPr>
        <p:spPr>
          <a:xfrm>
            <a:off x="9747504" y="2157984"/>
            <a:ext cx="2423160" cy="2103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9747504" y="2157984"/>
            <a:ext cx="2423160" cy="329184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意义</a:t>
            </a:r>
          </a:p>
        </p:txBody>
      </p:sp>
      <p:sp>
        <p:nvSpPr>
          <p:cNvPr id="25" name="CardBody 25"/>
          <p:cNvSpPr/>
          <p:nvPr/>
        </p:nvSpPr>
        <p:spPr>
          <a:xfrm>
            <a:off x="9857232" y="2523744"/>
            <a:ext cx="2203704" cy="16824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这道工序有什么用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讲清楚下游和客户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4480560"/>
            <a:ext cx="10213848" cy="12984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1929384" y="4480560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一个检验问题</a:t>
            </a:r>
          </a:p>
        </p:txBody>
      </p:sp>
      <p:sp>
        <p:nvSpPr>
          <p:cNvPr id="28" name="CardBody 28"/>
          <p:cNvSpPr/>
          <p:nvPr/>
        </p:nvSpPr>
        <p:spPr>
          <a:xfrm>
            <a:off x="2039112" y="4846320"/>
            <a:ext cx="9994392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如果你明天调走，这个班组的产量和质量会掉多少？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掉得越多，说明你管的是“人”；掉得越少，说明你管的是“规范、角色、结构和意义”——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后者才是真正被留下来的管理。</a:t>
            </a:r>
          </a:p>
        </p:txBody>
      </p:sp>
      <p:sp>
        <p:nvSpPr>
          <p:cNvPr id="29" name="Shape 29"/>
          <p:cNvSpPr/>
          <p:nvPr/>
        </p:nvSpPr>
        <p:spPr>
          <a:xfrm>
            <a:off x="1929384" y="590702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Banner 30"/>
          <p:cNvSpPr/>
          <p:nvPr/>
        </p:nvSpPr>
        <p:spPr>
          <a:xfrm>
            <a:off x="2093976" y="5907024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第二节结论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好班组不是没有矛盾的班组，是矛盾能被摆到桌面上的班组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　群体动力与影响力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为什么“大家都同意”的决定，反而最危险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249424"/>
            <a:ext cx="1823314" cy="104241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249424"/>
            <a:ext cx="1823314" cy="310896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84248" y="2596896"/>
            <a:ext cx="171358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优势与代价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3789274" y="277063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4027018" y="2249424"/>
            <a:ext cx="1823314" cy="104241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4027018" y="2249424"/>
            <a:ext cx="1823314" cy="310896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群体极化</a:t>
            </a:r>
          </a:p>
        </p:txBody>
      </p:sp>
      <p:sp>
        <p:nvSpPr>
          <p:cNvPr id="20" name="FlowBody 20"/>
          <p:cNvSpPr/>
          <p:nvPr/>
        </p:nvSpPr>
        <p:spPr>
          <a:xfrm>
            <a:off x="4081882" y="2596896"/>
            <a:ext cx="171358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越讨论越极端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5886907" y="277063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6124651" y="2249424"/>
            <a:ext cx="1823314" cy="104241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6124651" y="2249424"/>
            <a:ext cx="1823314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群体思维</a:t>
            </a:r>
          </a:p>
        </p:txBody>
      </p:sp>
      <p:sp>
        <p:nvSpPr>
          <p:cNvPr id="24" name="FlowBody 24"/>
          <p:cNvSpPr/>
          <p:nvPr/>
        </p:nvSpPr>
        <p:spPr>
          <a:xfrm>
            <a:off x="6179515" y="2596896"/>
            <a:ext cx="171358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和谐压倒正确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7984541" y="277063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8222285" y="2249424"/>
            <a:ext cx="1823314" cy="104241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FlowHead 27"/>
          <p:cNvSpPr/>
          <p:nvPr/>
        </p:nvSpPr>
        <p:spPr>
          <a:xfrm>
            <a:off x="8222285" y="2249424"/>
            <a:ext cx="1823314" cy="310896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沟通网络</a:t>
            </a:r>
          </a:p>
        </p:txBody>
      </p:sp>
      <p:sp>
        <p:nvSpPr>
          <p:cNvPr id="28" name="FlowBody 28"/>
          <p:cNvSpPr/>
          <p:nvPr/>
        </p:nvSpPr>
        <p:spPr>
          <a:xfrm>
            <a:off x="8277149" y="2596896"/>
            <a:ext cx="171358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信息怎么流</a:t>
            </a:r>
          </a:p>
        </p:txBody>
      </p:sp>
      <p:cxnSp>
        <p:nvCxnSpPr>
          <p:cNvPr id="29" name="Arrow 29"/>
          <p:cNvCxnSpPr/>
          <p:nvPr/>
        </p:nvCxnSpPr>
        <p:spPr>
          <a:xfrm>
            <a:off x="10082174" y="277063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0" name="Shape 30"/>
          <p:cNvSpPr/>
          <p:nvPr/>
        </p:nvSpPr>
        <p:spPr>
          <a:xfrm>
            <a:off x="10319918" y="2249424"/>
            <a:ext cx="1823314" cy="104241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FlowHead 31"/>
          <p:cNvSpPr/>
          <p:nvPr/>
        </p:nvSpPr>
        <p:spPr>
          <a:xfrm>
            <a:off x="10319918" y="2249424"/>
            <a:ext cx="1823314" cy="310896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</a:t>
            </a:r>
          </a:p>
        </p:txBody>
      </p:sp>
      <p:sp>
        <p:nvSpPr>
          <p:cNvPr id="32" name="FlowBody 32"/>
          <p:cNvSpPr/>
          <p:nvPr/>
        </p:nvSpPr>
        <p:spPr>
          <a:xfrm>
            <a:off x="10374782" y="2596896"/>
            <a:ext cx="171358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五种权力来源</a:t>
            </a:r>
          </a:p>
        </p:txBody>
      </p:sp>
      <p:sp>
        <p:nvSpPr>
          <p:cNvPr id="33" name="Shape 33"/>
          <p:cNvSpPr/>
          <p:nvPr/>
        </p:nvSpPr>
        <p:spPr>
          <a:xfrm>
            <a:off x="1929384" y="3675888"/>
            <a:ext cx="10213848" cy="15910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CardHead 34"/>
          <p:cNvSpPr/>
          <p:nvPr/>
        </p:nvSpPr>
        <p:spPr>
          <a:xfrm>
            <a:off x="1929384" y="3675888"/>
            <a:ext cx="10213848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这一节回答的问题</a:t>
            </a:r>
          </a:p>
        </p:txBody>
      </p:sp>
      <p:sp>
        <p:nvSpPr>
          <p:cNvPr id="35" name="CardBody 35"/>
          <p:cNvSpPr/>
          <p:nvPr/>
        </p:nvSpPr>
        <p:spPr>
          <a:xfrm>
            <a:off x="2039112" y="4041648"/>
            <a:ext cx="9994392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班前会上全票通过的方案，为什么落地就走样？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为什么讨论到最后，方案总是比一开始更激进（或更保守）？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我没有升职加薪的权力，凭什么让人听我的？</a:t>
            </a:r>
          </a:p>
        </p:txBody>
      </p:sp>
      <p:sp>
        <p:nvSpPr>
          <p:cNvPr id="36" name="Shape 36"/>
          <p:cNvSpPr/>
          <p:nvPr/>
        </p:nvSpPr>
        <p:spPr>
          <a:xfrm>
            <a:off x="1929384" y="544982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7" name="Banner 37"/>
          <p:cNvSpPr/>
          <p:nvPr/>
        </p:nvSpPr>
        <p:spPr>
          <a:xfrm>
            <a:off x="2093976" y="5449824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核心判断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群体不会自动做出更好的决定——好决定需要被设计出来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群体决策：什么时候该开会，什么时候不该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开会不是民主，是一种成本很高的决策方式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66544"/>
            <a:ext cx="4983480" cy="20482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66544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群体决策的优势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32304"/>
            <a:ext cx="4764024" cy="1627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信息更全：一个人想不到所有工序的影响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视角更多：品质、设备、计划各看一面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接受度高：参与过的人执行阻力小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——所以跨部门根因分析必须开会。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66544"/>
            <a:ext cx="4983480" cy="20482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66544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群体决策的代价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32304"/>
            <a:ext cx="4764024" cy="1627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慢：一次会议等于 N 个人的工时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责任分散：人人有责等于无人负责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被少数人主导：谁嗓门大听谁的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——所以安全红线、紧急停机不能开会。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224528"/>
            <a:ext cx="10213848" cy="14813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224528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一条实用的分界线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590288"/>
            <a:ext cx="999439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需要“对不对”的问题 → 找懂的人拍板，不要开会投票（标准、参数、安全）；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需要“愿不愿”的问题 → 一定要开会，让人参与（目标、分工、排班、改善）。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把这两类事分开，你的会议时间至少省一半，落地率还更高。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852160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93976" y="5852160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让大家投票决定质量标准，是把责任推给了群体——标准从来不该投票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群体极化：讨论之后，立场只会更极端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不是变得更理性，是变得更同向</a:t>
            </a:r>
          </a:p>
        </p:txBody>
      </p:sp>
      <p:sp>
        <p:nvSpPr>
          <p:cNvPr id="14" name="Shape 14"/>
          <p:cNvSpPr/>
          <p:nvPr/>
        </p:nvSpPr>
        <p:spPr>
          <a:xfrm>
            <a:off x="2478024" y="2121408"/>
            <a:ext cx="9116568" cy="118872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PolL 15"/>
          <p:cNvSpPr/>
          <p:nvPr/>
        </p:nvSpPr>
        <p:spPr>
          <a:xfrm>
            <a:off x="2752344" y="2212848"/>
            <a:ext cx="237744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讨论前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个人倾向</a:t>
            </a:r>
          </a:p>
        </p:txBody>
      </p:sp>
      <p:sp>
        <p:nvSpPr>
          <p:cNvPr id="16" name="PolV 16"/>
          <p:cNvSpPr/>
          <p:nvPr/>
        </p:nvSpPr>
        <p:spPr>
          <a:xfrm>
            <a:off x="2752344" y="2798064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略偏保守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5166360" y="2615184"/>
            <a:ext cx="457200" cy="0"/>
          </a:xfrm>
          <a:prstGeom prst="straightConnector1">
            <a:avLst/>
          </a:prstGeom>
          <a:ln w="22225" cap="flat">
            <a:solidFill>
              <a:srgbClr val="1E1E1E"/>
            </a:solidFill>
            <a:tailEnd type="triangle" w="med" len="med"/>
          </a:ln>
        </p:spPr>
      </p:cxnSp>
      <p:sp>
        <p:nvSpPr>
          <p:cNvPr id="18" name="PolL 18"/>
          <p:cNvSpPr/>
          <p:nvPr/>
        </p:nvSpPr>
        <p:spPr>
          <a:xfrm>
            <a:off x="5678424" y="2212848"/>
            <a:ext cx="237744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讨论中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互相印证</a:t>
            </a:r>
          </a:p>
        </p:txBody>
      </p:sp>
      <p:sp>
        <p:nvSpPr>
          <p:cNvPr id="19" name="PolV 19"/>
          <p:cNvSpPr/>
          <p:nvPr/>
        </p:nvSpPr>
        <p:spPr>
          <a:xfrm>
            <a:off x="5678424" y="2798064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找到同盟</a:t>
            </a:r>
          </a:p>
        </p:txBody>
      </p:sp>
      <p:cxnSp>
        <p:nvCxnSpPr>
          <p:cNvPr id="20" name="Arrow 20"/>
          <p:cNvCxnSpPr/>
          <p:nvPr/>
        </p:nvCxnSpPr>
        <p:spPr>
          <a:xfrm>
            <a:off x="8092440" y="2615184"/>
            <a:ext cx="457200" cy="0"/>
          </a:xfrm>
          <a:prstGeom prst="straightConnector1">
            <a:avLst/>
          </a:prstGeom>
          <a:ln w="22225" cap="flat">
            <a:solidFill>
              <a:srgbClr val="1E1E1E"/>
            </a:solidFill>
            <a:tailEnd type="triangle" w="med" len="med"/>
          </a:ln>
        </p:spPr>
      </p:cxnSp>
      <p:sp>
        <p:nvSpPr>
          <p:cNvPr id="21" name="PolL 21"/>
          <p:cNvSpPr/>
          <p:nvPr/>
        </p:nvSpPr>
        <p:spPr>
          <a:xfrm>
            <a:off x="8604504" y="2212848"/>
            <a:ext cx="237744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讨论后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群体决定</a:t>
            </a:r>
          </a:p>
        </p:txBody>
      </p:sp>
      <p:sp>
        <p:nvSpPr>
          <p:cNvPr id="22" name="PolV 22"/>
          <p:cNvSpPr/>
          <p:nvPr/>
        </p:nvSpPr>
        <p:spPr>
          <a:xfrm>
            <a:off x="8604504" y="2798064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非常保守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3456432"/>
            <a:ext cx="4983480" cy="17373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3456432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车间里的典型表现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39112" y="3822192"/>
            <a:ext cx="4764024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讨论“要不要停线检查”：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一开始有人觉得可以先做完这批，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讨论半小时后全班一致认为“必须马上停”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——或者相反，一致认为“先做完再说”。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中间那个折中方案，反而没人提了。</a:t>
            </a:r>
          </a:p>
        </p:txBody>
      </p:sp>
      <p:sp>
        <p:nvSpPr>
          <p:cNvPr id="26" name="Shape 26"/>
          <p:cNvSpPr/>
          <p:nvPr/>
        </p:nvSpPr>
        <p:spPr>
          <a:xfrm>
            <a:off x="7159752" y="3456432"/>
            <a:ext cx="4983480" cy="17373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7159752" y="3456432"/>
            <a:ext cx="498348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为什么会这样</a:t>
            </a:r>
          </a:p>
        </p:txBody>
      </p:sp>
      <p:sp>
        <p:nvSpPr>
          <p:cNvPr id="28" name="CardBody 28"/>
          <p:cNvSpPr/>
          <p:nvPr/>
        </p:nvSpPr>
        <p:spPr>
          <a:xfrm>
            <a:off x="7269480" y="3822192"/>
            <a:ext cx="4764024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说服性论据：讨论中只出现支持主流的理由，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少数派的理由说不出口；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社会比较：人想显得比别人更“对”，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于是不断往主流方向加码；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责任分散：反正是集体决定，风险不由我担。</a:t>
            </a:r>
          </a:p>
        </p:txBody>
      </p:sp>
      <p:sp>
        <p:nvSpPr>
          <p:cNvPr id="29" name="Shape 29"/>
          <p:cNvSpPr/>
          <p:nvPr/>
        </p:nvSpPr>
        <p:spPr>
          <a:xfrm>
            <a:off x="1929384" y="5340096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Banner 30"/>
          <p:cNvSpPr/>
          <p:nvPr/>
        </p:nvSpPr>
        <p:spPr>
          <a:xfrm>
            <a:off x="2093976" y="5340096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破解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会前每人先独立写下判断并交上来，会后再对一次——写下来的观点不会被现场气氛带走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群体思维：当“和谐”比“正确”更重要时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八个警报信号，出现三个就要警惕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84832"/>
            <a:ext cx="5760720" cy="35295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84832"/>
            <a:ext cx="576072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八个警报信号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50592"/>
            <a:ext cx="5541264" cy="3108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无懈可击错觉：“我们这么多年了，不会有问题”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集体合理化：“那个数据可能是仪器不准”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道德优越：“我们是为了保交期，出发点没错”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刻板对手：“品保就是故意找我们麻烦”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从众压力：提反对意见的人被说“别唱反调”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自我审查：心里有疑问，但看没人说就算了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一致错觉：没人反对＝所有人都同意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思想警卫：有人主动帮领导挡掉不同意见</a:t>
            </a:r>
          </a:p>
        </p:txBody>
      </p:sp>
      <p:sp>
        <p:nvSpPr>
          <p:cNvPr id="17" name="Shape 17"/>
          <p:cNvSpPr/>
          <p:nvPr/>
        </p:nvSpPr>
        <p:spPr>
          <a:xfrm>
            <a:off x="7946136" y="2084832"/>
            <a:ext cx="4197096" cy="35295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946136" y="2084832"/>
            <a:ext cx="4197096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三个解药</a:t>
            </a:r>
          </a:p>
        </p:txBody>
      </p:sp>
      <p:sp>
        <p:nvSpPr>
          <p:cNvPr id="19" name="CardBody 19"/>
          <p:cNvSpPr/>
          <p:nvPr/>
        </p:nvSpPr>
        <p:spPr>
          <a:xfrm>
            <a:off x="8055864" y="2450592"/>
            <a:ext cx="3977640" cy="3108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指定唱反调的人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每次会议轮一人专职找风险，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角色不同不等于人有问题。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领导最后表态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你先说了，后面就没有真话。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请外人看一眼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让别的班组长或工艺员来听一次，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旁观者能看见你们的盲区。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5797296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Banner 21"/>
          <p:cNvSpPr/>
          <p:nvPr/>
        </p:nvSpPr>
        <p:spPr>
          <a:xfrm>
            <a:off x="2093976" y="5797296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一次会议如果全票通过、没有任何争论，八成不是方案好，是没人愿意说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Chip 12"/>
          <p:cNvSpPr/>
          <p:nvPr/>
        </p:nvSpPr>
        <p:spPr>
          <a:xfrm>
            <a:off x="1929384" y="1298448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6</a:t>
            </a:r>
          </a:p>
        </p:txBody>
      </p:sp>
      <p:sp>
        <p:nvSpPr>
          <p:cNvPr id="13" name="ScTitle 13"/>
          <p:cNvSpPr/>
          <p:nvPr/>
        </p:nvSpPr>
        <p:spPr>
          <a:xfrm>
            <a:off x="3383280" y="1280160"/>
            <a:ext cx="875995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班前会全票通过的改善方案，为什么两周后没人执行？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1847088"/>
            <a:ext cx="10213848" cy="202996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ScHead 15"/>
          <p:cNvSpPr/>
          <p:nvPr/>
        </p:nvSpPr>
        <p:spPr>
          <a:xfrm>
            <a:off x="1929384" y="1847088"/>
            <a:ext cx="10213848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 场  情  境</a:t>
            </a:r>
          </a:p>
        </p:txBody>
      </p:sp>
      <p:sp>
        <p:nvSpPr>
          <p:cNvPr id="16" name="ScBody 16"/>
          <p:cNvSpPr/>
          <p:nvPr/>
        </p:nvSpPr>
        <p:spPr>
          <a:xfrm>
            <a:off x="2075688" y="2231136"/>
            <a:ext cx="9921240" cy="15910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班组长小何推行一项改善：每台设备增加开机前 3 分钟点检，共 8 项。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方案在班前会上讲了 20 分钟，问“大家有意见吗”，无人反对，全票通过。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第一周执行率 100%，第二周降到 60%，第三周只剩两个人还在做。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小何私下问了几个人，才听到真话：8 项里有 3 项要拆护罩，实际要 8 分钟不是 3 分钟；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还有 2 项和技术员的日常保养重复。“当时会上没人说，我一个人说了显得事儿多。”</a:t>
            </a:r>
          </a:p>
        </p:txBody>
      </p:sp>
      <p:sp>
        <p:nvSpPr>
          <p:cNvPr id="17" name="ScAsk 17"/>
          <p:cNvSpPr/>
          <p:nvPr/>
        </p:nvSpPr>
        <p:spPr>
          <a:xfrm>
            <a:off x="1929384" y="3968496"/>
            <a:ext cx="10213848" cy="402336"/>
          </a:xfrm>
          <a:prstGeom prst="roundRect">
            <a:avLst>
              <a:gd name="adj" fmla="val 20000"/>
            </a:avLst>
          </a:prstGeom>
          <a:solidFill>
            <a:srgbClr val="2C6B53"/>
          </a:solidFill>
          <a:ln w="15875" cap="flat" cmpd="sng" algn="ctr">
            <a:solidFill>
              <a:srgbClr val="F5C842"/>
            </a:solidFill>
          </a:ln>
        </p:spPr>
        <p:txBody>
          <a:bodyPr wrap="square" lIns="164592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F5C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 论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方案本身合理吗？会上没人反对，问题出在哪一步？</a:t>
            </a:r>
          </a:p>
        </p:txBody>
      </p:sp>
      <p:sp>
        <p:nvSpPr>
          <p:cNvPr id="18" name="ScCommon 18"/>
          <p:cNvSpPr/>
          <p:nvPr/>
        </p:nvSpPr>
        <p:spPr>
          <a:xfrm>
            <a:off x="1929384" y="4443984"/>
            <a:ext cx="10213848" cy="438912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15875" cap="flat" cmpd="sng" algn="ctr">
            <a:solidFill>
              <a:srgbClr val="9A9A9A"/>
            </a:solidFill>
          </a:ln>
        </p:spPr>
        <p:txBody>
          <a:bodyPr wrap="square" lIns="164592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普遍做法　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重新强调纪律、加大检查频次、把点检执行率纳入考核——把执行问题当成态度问题处理。</a:t>
            </a:r>
          </a:p>
        </p:txBody>
      </p:sp>
      <p:sp>
        <p:nvSpPr>
          <p:cNvPr id="19" name="Shape 19"/>
          <p:cNvSpPr/>
          <p:nvPr/>
        </p:nvSpPr>
        <p:spPr>
          <a:xfrm>
            <a:off x="1929384" y="4956048"/>
            <a:ext cx="10213848" cy="1572768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 w="22225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ScBetter 20"/>
          <p:cNvSpPr/>
          <p:nvPr/>
        </p:nvSpPr>
        <p:spPr>
          <a:xfrm>
            <a:off x="2093976" y="4992624"/>
            <a:ext cx="9884664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反常识做法  ▸  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全票通过恰恰是危险信号：8 项里有 5 项有问题，却没人在会上说——这是“自我审查＋一致错觉”。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一是会上不问“有没有意见”，改为指定 2 人专门找这个方案的漏洞（红队）；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二是让最资浅的人先发言，避免老资格先定调；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三是新方案先试运行一周，这一周的任务不是执行，是收集“哪一条做不到、为什么”，再定稿。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沟通网络：信息怎么流，决定了班组的反应速度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五种结构，各有各的用处和代价</a:t>
            </a:r>
          </a:p>
        </p:txBody>
      </p:sp>
      <p:sp>
        <p:nvSpPr>
          <p:cNvPr id="14" name="Net 14"/>
          <p:cNvSpPr/>
          <p:nvPr/>
        </p:nvSpPr>
        <p:spPr>
          <a:xfrm>
            <a:off x="1929384" y="2139696"/>
            <a:ext cx="1883664" cy="402336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链式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2615184"/>
            <a:ext cx="1883664" cy="475488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NetD 16"/>
          <p:cNvSpPr/>
          <p:nvPr/>
        </p:nvSpPr>
        <p:spPr>
          <a:xfrm>
            <a:off x="1984248" y="2615184"/>
            <a:ext cx="177393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一级一级传</a:t>
            </a:r>
          </a:p>
        </p:txBody>
      </p:sp>
      <p:sp>
        <p:nvSpPr>
          <p:cNvPr id="17" name="Shape 17"/>
          <p:cNvSpPr/>
          <p:nvPr/>
        </p:nvSpPr>
        <p:spPr>
          <a:xfrm>
            <a:off x="1929384" y="3163824"/>
            <a:ext cx="1883664" cy="91440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NetF 18"/>
          <p:cNvSpPr/>
          <p:nvPr/>
        </p:nvSpPr>
        <p:spPr>
          <a:xfrm>
            <a:off x="1984248" y="3200400"/>
            <a:ext cx="1773936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规范但慢</a:t>
            </a:r>
            <a:b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层层过滤易失真</a:t>
            </a:r>
          </a:p>
        </p:txBody>
      </p:sp>
      <p:sp>
        <p:nvSpPr>
          <p:cNvPr id="19" name="Net 19"/>
          <p:cNvSpPr/>
          <p:nvPr/>
        </p:nvSpPr>
        <p:spPr>
          <a:xfrm>
            <a:off x="3977640" y="2139696"/>
            <a:ext cx="1883664" cy="402336"/>
          </a:xfrm>
          <a:prstGeom prst="roundRect">
            <a:avLst>
              <a:gd name="adj" fmla="val 18000"/>
            </a:avLst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轮式</a:t>
            </a:r>
          </a:p>
        </p:txBody>
      </p:sp>
      <p:sp>
        <p:nvSpPr>
          <p:cNvPr id="20" name="Shape 20"/>
          <p:cNvSpPr/>
          <p:nvPr/>
        </p:nvSpPr>
        <p:spPr>
          <a:xfrm>
            <a:off x="3977640" y="2615184"/>
            <a:ext cx="1883664" cy="475488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NetD 21"/>
          <p:cNvSpPr/>
          <p:nvPr/>
        </p:nvSpPr>
        <p:spPr>
          <a:xfrm>
            <a:off x="4032504" y="2615184"/>
            <a:ext cx="177393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都通过班组长</a:t>
            </a:r>
          </a:p>
        </p:txBody>
      </p:sp>
      <p:sp>
        <p:nvSpPr>
          <p:cNvPr id="22" name="Shape 22"/>
          <p:cNvSpPr/>
          <p:nvPr/>
        </p:nvSpPr>
        <p:spPr>
          <a:xfrm>
            <a:off x="3977640" y="3163824"/>
            <a:ext cx="1883664" cy="91440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NetF 23"/>
          <p:cNvSpPr/>
          <p:nvPr/>
        </p:nvSpPr>
        <p:spPr>
          <a:xfrm>
            <a:off x="4032504" y="3200400"/>
            <a:ext cx="1773936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快且准</a:t>
            </a:r>
            <a:b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但你会被累死</a:t>
            </a:r>
          </a:p>
        </p:txBody>
      </p:sp>
      <p:sp>
        <p:nvSpPr>
          <p:cNvPr id="24" name="Net 24"/>
          <p:cNvSpPr/>
          <p:nvPr/>
        </p:nvSpPr>
        <p:spPr>
          <a:xfrm>
            <a:off x="6025896" y="2139696"/>
            <a:ext cx="1883664" cy="402336"/>
          </a:xfrm>
          <a:prstGeom prst="roundRect">
            <a:avLst>
              <a:gd name="adj" fmla="val 18000"/>
            </a:avLst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 式</a:t>
            </a:r>
          </a:p>
        </p:txBody>
      </p:sp>
      <p:sp>
        <p:nvSpPr>
          <p:cNvPr id="25" name="Shape 25"/>
          <p:cNvSpPr/>
          <p:nvPr/>
        </p:nvSpPr>
        <p:spPr>
          <a:xfrm>
            <a:off x="6025896" y="2615184"/>
            <a:ext cx="1883664" cy="475488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NetD 26"/>
          <p:cNvSpPr/>
          <p:nvPr/>
        </p:nvSpPr>
        <p:spPr>
          <a:xfrm>
            <a:off x="6080760" y="2615184"/>
            <a:ext cx="177393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有个中转</a:t>
            </a:r>
          </a:p>
        </p:txBody>
      </p:sp>
      <p:sp>
        <p:nvSpPr>
          <p:cNvPr id="27" name="Shape 27"/>
          <p:cNvSpPr/>
          <p:nvPr/>
        </p:nvSpPr>
        <p:spPr>
          <a:xfrm>
            <a:off x="6025896" y="3163824"/>
            <a:ext cx="1883664" cy="91440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NetF 28"/>
          <p:cNvSpPr/>
          <p:nvPr/>
        </p:nvSpPr>
        <p:spPr>
          <a:xfrm>
            <a:off x="6080760" y="3200400"/>
            <a:ext cx="1773936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有层级</a:t>
            </a:r>
            <a:br>
              <a:rPr lang="zh-CN" altLang="en-US" sz="16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中间环节易曲解</a:t>
            </a:r>
          </a:p>
        </p:txBody>
      </p:sp>
      <p:sp>
        <p:nvSpPr>
          <p:cNvPr id="29" name="Net 29"/>
          <p:cNvSpPr/>
          <p:nvPr/>
        </p:nvSpPr>
        <p:spPr>
          <a:xfrm>
            <a:off x="8074152" y="2139696"/>
            <a:ext cx="1883664" cy="402336"/>
          </a:xfrm>
          <a:prstGeom prst="roundRect">
            <a:avLst>
              <a:gd name="adj" fmla="val 18000"/>
            </a:avLst>
          </a:prstGeom>
          <a:solidFill>
            <a:srgbClr val="11828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环式</a:t>
            </a:r>
          </a:p>
        </p:txBody>
      </p:sp>
      <p:sp>
        <p:nvSpPr>
          <p:cNvPr id="30" name="Shape 30"/>
          <p:cNvSpPr/>
          <p:nvPr/>
        </p:nvSpPr>
        <p:spPr>
          <a:xfrm>
            <a:off x="8074152" y="2615184"/>
            <a:ext cx="1883664" cy="475488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NetD 31"/>
          <p:cNvSpPr/>
          <p:nvPr/>
        </p:nvSpPr>
        <p:spPr>
          <a:xfrm>
            <a:off x="8129016" y="2615184"/>
            <a:ext cx="177393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只和相邻的说</a:t>
            </a:r>
          </a:p>
        </p:txBody>
      </p:sp>
      <p:sp>
        <p:nvSpPr>
          <p:cNvPr id="32" name="Shape 32"/>
          <p:cNvSpPr/>
          <p:nvPr/>
        </p:nvSpPr>
        <p:spPr>
          <a:xfrm>
            <a:off x="8074152" y="3163824"/>
            <a:ext cx="1883664" cy="91440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NetF 33"/>
          <p:cNvSpPr/>
          <p:nvPr/>
        </p:nvSpPr>
        <p:spPr>
          <a:xfrm>
            <a:off x="8129016" y="3200400"/>
            <a:ext cx="1773936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182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平等</a:t>
            </a:r>
            <a:br>
              <a:rPr lang="zh-CN" altLang="en-US" sz="1600" b="1" dirty="0">
                <a:solidFill>
                  <a:srgbClr val="1182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182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但速度和准确性都差</a:t>
            </a:r>
          </a:p>
        </p:txBody>
      </p:sp>
      <p:sp>
        <p:nvSpPr>
          <p:cNvPr id="34" name="Net 34"/>
          <p:cNvSpPr/>
          <p:nvPr/>
        </p:nvSpPr>
        <p:spPr>
          <a:xfrm>
            <a:off x="10122408" y="2139696"/>
            <a:ext cx="1883664" cy="402336"/>
          </a:xfrm>
          <a:prstGeom prst="roundRect">
            <a:avLst>
              <a:gd name="adj" fmla="val 18000"/>
            </a:avLst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全通道</a:t>
            </a:r>
          </a:p>
        </p:txBody>
      </p:sp>
      <p:sp>
        <p:nvSpPr>
          <p:cNvPr id="35" name="Shape 35"/>
          <p:cNvSpPr/>
          <p:nvPr/>
        </p:nvSpPr>
        <p:spPr>
          <a:xfrm>
            <a:off x="10122408" y="2615184"/>
            <a:ext cx="1883664" cy="475488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NetD 36"/>
          <p:cNvSpPr/>
          <p:nvPr/>
        </p:nvSpPr>
        <p:spPr>
          <a:xfrm>
            <a:off x="10177272" y="2615184"/>
            <a:ext cx="177393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人人可直连</a:t>
            </a:r>
          </a:p>
        </p:txBody>
      </p:sp>
      <p:sp>
        <p:nvSpPr>
          <p:cNvPr id="37" name="Shape 37"/>
          <p:cNvSpPr/>
          <p:nvPr/>
        </p:nvSpPr>
        <p:spPr>
          <a:xfrm>
            <a:off x="10122408" y="3163824"/>
            <a:ext cx="1883664" cy="91440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8" name="NetF 38"/>
          <p:cNvSpPr/>
          <p:nvPr/>
        </p:nvSpPr>
        <p:spPr>
          <a:xfrm>
            <a:off x="10177272" y="3200400"/>
            <a:ext cx="1773936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信息最全</a:t>
            </a:r>
            <a:b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但容易乱、费时间</a:t>
            </a:r>
          </a:p>
        </p:txBody>
      </p:sp>
      <p:sp>
        <p:nvSpPr>
          <p:cNvPr id="39" name="Shape 39"/>
          <p:cNvSpPr/>
          <p:nvPr/>
        </p:nvSpPr>
        <p:spPr>
          <a:xfrm>
            <a:off x="1929384" y="4261104"/>
            <a:ext cx="10213848" cy="14813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0" name="CardHead 40"/>
          <p:cNvSpPr/>
          <p:nvPr/>
        </p:nvSpPr>
        <p:spPr>
          <a:xfrm>
            <a:off x="1929384" y="4261104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班组长的实际选择</a:t>
            </a:r>
          </a:p>
        </p:txBody>
      </p:sp>
      <p:sp>
        <p:nvSpPr>
          <p:cNvPr id="41" name="CardBody 41"/>
          <p:cNvSpPr/>
          <p:nvPr/>
        </p:nvSpPr>
        <p:spPr>
          <a:xfrm>
            <a:off x="2039112" y="4626864"/>
            <a:ext cx="999439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日常生产用轮式（你是中心，指令统一）；异常处置用全通道（谁发现谁直接喊，不用先报你）；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跨班次交接用链式但必须书面（口头链式一定失真）。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最常见的错误是全天候轮式——所有事都要过你，于是你成了瓶颈，你休假班组就瘫。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小道消息：堵不住，只能抢在它前面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非正式沟通的速度是正式渠道的数倍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66544"/>
            <a:ext cx="4983480" cy="19202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66544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小道消息为什么快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32304"/>
            <a:ext cx="4764024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它满足的是安全需要——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“这事会不会影响到我”；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不需要审批、不用组织语言；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传播者能获得关注和地位。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越是不确定的时期，传得越快。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66544"/>
            <a:ext cx="4983480" cy="19202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66544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哪些时候一定会爆发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32304"/>
            <a:ext cx="4764024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调岗、换线、设备更新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绩效规则调整、奖金变动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有人被谈话、有人突然离职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订单下滑、加班减少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——这些时候你不说，别人替你说。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151376"/>
            <a:ext cx="10213848" cy="153619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151376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三条应对原则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517136"/>
            <a:ext cx="9994392" cy="111556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抢时间：宁可说“这件事还在定，定了第一时间告诉大家”，也不要沉默。沉默会被自动填成最坏的版本；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讲到人：不要只讲政策，要讲“这对你意味着什么”——员工关心的从来不是政策本身；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用关键人：找那 2~3 个消息灵通的人先讲清楚。他们理解了，班组的版本就是对的。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81558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93976" y="5815584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澄清谣言最没用的方式是开大会辟谣——那等于把谣言又传了一遍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影响力的五个来源：你手上其实不止“职位”这一张牌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法约尔与雷文——班组长真正管用的往往是后两种</a:t>
            </a:r>
          </a:p>
        </p:txBody>
      </p:sp>
      <p:sp>
        <p:nvSpPr>
          <p:cNvPr id="14" name="Pw 14"/>
          <p:cNvSpPr/>
          <p:nvPr/>
        </p:nvSpPr>
        <p:spPr>
          <a:xfrm>
            <a:off x="1929384" y="2157984"/>
            <a:ext cx="1883664" cy="42062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法定权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2651760"/>
            <a:ext cx="1883664" cy="493776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PwD 16"/>
          <p:cNvSpPr/>
          <p:nvPr/>
        </p:nvSpPr>
        <p:spPr>
          <a:xfrm>
            <a:off x="1984248" y="2651760"/>
            <a:ext cx="1773936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因为我是班组长</a:t>
            </a:r>
          </a:p>
        </p:txBody>
      </p:sp>
      <p:sp>
        <p:nvSpPr>
          <p:cNvPr id="17" name="Shape 17"/>
          <p:cNvSpPr/>
          <p:nvPr/>
        </p:nvSpPr>
        <p:spPr>
          <a:xfrm>
            <a:off x="1929384" y="3218688"/>
            <a:ext cx="1883664" cy="87782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PwF 18"/>
          <p:cNvSpPr/>
          <p:nvPr/>
        </p:nvSpPr>
        <p:spPr>
          <a:xfrm>
            <a:off x="1984248" y="3255264"/>
            <a:ext cx="1773936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有边界，只在</a:t>
            </a:r>
            <a:b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工作范围内有效</a:t>
            </a:r>
          </a:p>
        </p:txBody>
      </p:sp>
      <p:sp>
        <p:nvSpPr>
          <p:cNvPr id="19" name="Pw 19"/>
          <p:cNvSpPr/>
          <p:nvPr/>
        </p:nvSpPr>
        <p:spPr>
          <a:xfrm>
            <a:off x="3977640" y="2157984"/>
            <a:ext cx="1883664" cy="420624"/>
          </a:xfrm>
          <a:prstGeom prst="roundRect">
            <a:avLst>
              <a:gd name="adj" fmla="val 18000"/>
            </a:avLst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奖赏权</a:t>
            </a:r>
          </a:p>
        </p:txBody>
      </p:sp>
      <p:sp>
        <p:nvSpPr>
          <p:cNvPr id="20" name="Shape 20"/>
          <p:cNvSpPr/>
          <p:nvPr/>
        </p:nvSpPr>
        <p:spPr>
          <a:xfrm>
            <a:off x="3977640" y="2651760"/>
            <a:ext cx="1883664" cy="493776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PwD 21"/>
          <p:cNvSpPr/>
          <p:nvPr/>
        </p:nvSpPr>
        <p:spPr>
          <a:xfrm>
            <a:off x="4032504" y="2651760"/>
            <a:ext cx="1773936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我能给你好处</a:t>
            </a:r>
          </a:p>
        </p:txBody>
      </p:sp>
      <p:sp>
        <p:nvSpPr>
          <p:cNvPr id="22" name="Shape 22"/>
          <p:cNvSpPr/>
          <p:nvPr/>
        </p:nvSpPr>
        <p:spPr>
          <a:xfrm>
            <a:off x="3977640" y="3218688"/>
            <a:ext cx="1883664" cy="87782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PwF 23"/>
          <p:cNvSpPr/>
          <p:nvPr/>
        </p:nvSpPr>
        <p:spPr>
          <a:xfrm>
            <a:off x="4032504" y="3255264"/>
            <a:ext cx="1773936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你手上的资源</a:t>
            </a:r>
            <a:b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通常很有限</a:t>
            </a:r>
          </a:p>
        </p:txBody>
      </p:sp>
      <p:sp>
        <p:nvSpPr>
          <p:cNvPr id="24" name="Pw 24"/>
          <p:cNvSpPr/>
          <p:nvPr/>
        </p:nvSpPr>
        <p:spPr>
          <a:xfrm>
            <a:off x="6025896" y="2157984"/>
            <a:ext cx="1883664" cy="420624"/>
          </a:xfrm>
          <a:prstGeom prst="roundRect">
            <a:avLst>
              <a:gd name="adj" fmla="val 18000"/>
            </a:avLst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强制权</a:t>
            </a:r>
          </a:p>
        </p:txBody>
      </p:sp>
      <p:sp>
        <p:nvSpPr>
          <p:cNvPr id="25" name="Shape 25"/>
          <p:cNvSpPr/>
          <p:nvPr/>
        </p:nvSpPr>
        <p:spPr>
          <a:xfrm>
            <a:off x="6025896" y="2651760"/>
            <a:ext cx="1883664" cy="493776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PwD 26"/>
          <p:cNvSpPr/>
          <p:nvPr/>
        </p:nvSpPr>
        <p:spPr>
          <a:xfrm>
            <a:off x="6080760" y="2651760"/>
            <a:ext cx="1773936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我能罚你</a:t>
            </a:r>
          </a:p>
        </p:txBody>
      </p:sp>
      <p:sp>
        <p:nvSpPr>
          <p:cNvPr id="27" name="Shape 27"/>
          <p:cNvSpPr/>
          <p:nvPr/>
        </p:nvSpPr>
        <p:spPr>
          <a:xfrm>
            <a:off x="6025896" y="3218688"/>
            <a:ext cx="1883664" cy="87782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PwF 28"/>
          <p:cNvSpPr/>
          <p:nvPr/>
        </p:nvSpPr>
        <p:spPr>
          <a:xfrm>
            <a:off x="6080760" y="3255264"/>
            <a:ext cx="1773936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短期有效</a:t>
            </a:r>
            <a:b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长期换来瞒报</a:t>
            </a:r>
          </a:p>
        </p:txBody>
      </p:sp>
      <p:sp>
        <p:nvSpPr>
          <p:cNvPr id="29" name="Pw 29"/>
          <p:cNvSpPr/>
          <p:nvPr/>
        </p:nvSpPr>
        <p:spPr>
          <a:xfrm>
            <a:off x="8074152" y="2157984"/>
            <a:ext cx="1883664" cy="420624"/>
          </a:xfrm>
          <a:prstGeom prst="roundRect">
            <a:avLst>
              <a:gd name="adj" fmla="val 18000"/>
            </a:avLst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专家权</a:t>
            </a:r>
          </a:p>
        </p:txBody>
      </p:sp>
      <p:sp>
        <p:nvSpPr>
          <p:cNvPr id="30" name="Shape 30"/>
          <p:cNvSpPr/>
          <p:nvPr/>
        </p:nvSpPr>
        <p:spPr>
          <a:xfrm>
            <a:off x="8074152" y="2651760"/>
            <a:ext cx="1883664" cy="493776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PwD 31"/>
          <p:cNvSpPr/>
          <p:nvPr/>
        </p:nvSpPr>
        <p:spPr>
          <a:xfrm>
            <a:off x="8129016" y="2651760"/>
            <a:ext cx="1773936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这事我最懂</a:t>
            </a:r>
          </a:p>
        </p:txBody>
      </p:sp>
      <p:sp>
        <p:nvSpPr>
          <p:cNvPr id="32" name="Shape 32"/>
          <p:cNvSpPr/>
          <p:nvPr/>
        </p:nvSpPr>
        <p:spPr>
          <a:xfrm>
            <a:off x="8074152" y="3218688"/>
            <a:ext cx="1883664" cy="87782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PwF 33"/>
          <p:cNvSpPr/>
          <p:nvPr/>
        </p:nvSpPr>
        <p:spPr>
          <a:xfrm>
            <a:off x="8129016" y="3255264"/>
            <a:ext cx="1773936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不靠职位</a:t>
            </a:r>
            <a:b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靠真本事</a:t>
            </a:r>
          </a:p>
        </p:txBody>
      </p:sp>
      <p:sp>
        <p:nvSpPr>
          <p:cNvPr id="34" name="Pw 34"/>
          <p:cNvSpPr/>
          <p:nvPr/>
        </p:nvSpPr>
        <p:spPr>
          <a:xfrm>
            <a:off x="10122408" y="2157984"/>
            <a:ext cx="1883664" cy="420624"/>
          </a:xfrm>
          <a:prstGeom prst="roundRect">
            <a:avLst>
              <a:gd name="adj" fmla="val 18000"/>
            </a:avLst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参照权</a:t>
            </a:r>
          </a:p>
        </p:txBody>
      </p:sp>
      <p:sp>
        <p:nvSpPr>
          <p:cNvPr id="35" name="Shape 35"/>
          <p:cNvSpPr/>
          <p:nvPr/>
        </p:nvSpPr>
        <p:spPr>
          <a:xfrm>
            <a:off x="10122408" y="2651760"/>
            <a:ext cx="1883664" cy="493776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PwD 36"/>
          <p:cNvSpPr/>
          <p:nvPr/>
        </p:nvSpPr>
        <p:spPr>
          <a:xfrm>
            <a:off x="10177272" y="2651760"/>
            <a:ext cx="1773936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大家愿意跟我</a:t>
            </a:r>
          </a:p>
        </p:txBody>
      </p:sp>
      <p:sp>
        <p:nvSpPr>
          <p:cNvPr id="37" name="Shape 37"/>
          <p:cNvSpPr/>
          <p:nvPr/>
        </p:nvSpPr>
        <p:spPr>
          <a:xfrm>
            <a:off x="10122408" y="3218688"/>
            <a:ext cx="1883664" cy="87782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8" name="PwF 38"/>
          <p:cNvSpPr/>
          <p:nvPr/>
        </p:nvSpPr>
        <p:spPr>
          <a:xfrm>
            <a:off x="10177272" y="3255264"/>
            <a:ext cx="1773936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altLang="en-US" sz="16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来自信任</a:t>
            </a:r>
            <a:br>
              <a:rPr lang="zh-CN" altLang="en-US" sz="16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最慢也最持久</a:t>
            </a:r>
          </a:p>
        </p:txBody>
      </p:sp>
      <p:sp>
        <p:nvSpPr>
          <p:cNvPr id="39" name="Shape 39"/>
          <p:cNvSpPr/>
          <p:nvPr/>
        </p:nvSpPr>
        <p:spPr>
          <a:xfrm>
            <a:off x="1929384" y="4279392"/>
            <a:ext cx="10213848" cy="14630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0" name="CardHead 40"/>
          <p:cNvSpPr/>
          <p:nvPr/>
        </p:nvSpPr>
        <p:spPr>
          <a:xfrm>
            <a:off x="1929384" y="4279392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给班组长的实话</a:t>
            </a:r>
          </a:p>
        </p:txBody>
      </p:sp>
      <p:sp>
        <p:nvSpPr>
          <p:cNvPr id="41" name="CardBody 41"/>
          <p:cNvSpPr/>
          <p:nvPr/>
        </p:nvSpPr>
        <p:spPr>
          <a:xfrm>
            <a:off x="2039112" y="4645152"/>
            <a:ext cx="999439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你的法定权很小、奖赏权几乎没有、强制权用一次少一次——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真正能让人听你的，是专家权（关键时刻你能解决问题）和参照权（出了事你护着人）。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这两样都不能靠任命，只能靠一件一件事攒出来。</a:t>
            </a:r>
          </a:p>
        </p:txBody>
      </p:sp>
      <p:sp>
        <p:nvSpPr>
          <p:cNvPr id="42" name="Shape 42"/>
          <p:cNvSpPr/>
          <p:nvPr/>
        </p:nvSpPr>
        <p:spPr>
          <a:xfrm>
            <a:off x="1929384" y="5852160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3" name="Banner 43"/>
          <p:cNvSpPr/>
          <p:nvPr/>
        </p:nvSpPr>
        <p:spPr>
          <a:xfrm>
            <a:off x="2093976" y="5852160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新官上任烧的三把火，烧的是强制权；一年后还有人听你的，靠的是专家权和参照权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同一个人，不同阶段要用不同的带法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按“能力—意愿”匹配四种风格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4983480" cy="17556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498348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指令式　能力低 · 意愿高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68880"/>
            <a:ext cx="4764024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新人刚上岗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讲清楚、做给他看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少问他意见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103120"/>
            <a:ext cx="4983480" cy="17556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103120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教练式　能力中 · 意愿低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68880"/>
            <a:ext cx="4764024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会一点但受挫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手把手带 + 解释为什么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多用GROW提问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3986784"/>
            <a:ext cx="4983480" cy="17556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3986784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支持式　能力高 · 意愿波动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352544"/>
            <a:ext cx="4764024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会做但不想做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少指导、多倾听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把决定权还给他</a:t>
            </a:r>
          </a:p>
        </p:txBody>
      </p:sp>
      <p:sp>
        <p:nvSpPr>
          <p:cNvPr id="23" name="Shape 23"/>
          <p:cNvSpPr/>
          <p:nvPr/>
        </p:nvSpPr>
        <p:spPr>
          <a:xfrm>
            <a:off x="7159752" y="3986784"/>
            <a:ext cx="4983480" cy="17556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7159752" y="3986784"/>
            <a:ext cx="4983480" cy="329184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授权式　能力高 · 意愿高</a:t>
            </a:r>
          </a:p>
        </p:txBody>
      </p:sp>
      <p:sp>
        <p:nvSpPr>
          <p:cNvPr id="25" name="CardBody 25"/>
          <p:cNvSpPr/>
          <p:nvPr/>
        </p:nvSpPr>
        <p:spPr>
          <a:xfrm>
            <a:off x="7269480" y="4352544"/>
            <a:ext cx="4764024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骨干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给目标不给方法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定期对结果即可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5943600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Banner 27"/>
          <p:cNvSpPr/>
          <p:nvPr/>
        </p:nvSpPr>
        <p:spPr>
          <a:xfrm>
            <a:off x="2093976" y="5943600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最常见的错误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对老手还在用指令式（他觉得你不信任他），对新人却直接授权（他觉得你不管他）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授权：把事交出去，责任仍然在你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不授权你会累死，乱授权你会出事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39696"/>
            <a:ext cx="1823314" cy="106070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139696"/>
            <a:ext cx="1823314" cy="310896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选事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84248" y="2487168"/>
            <a:ext cx="1713586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重复性高、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风险可控的先放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3789274" y="2670048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4027018" y="2139696"/>
            <a:ext cx="1823314" cy="106070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4027018" y="2139696"/>
            <a:ext cx="1823314" cy="310896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选人</a:t>
            </a:r>
          </a:p>
        </p:txBody>
      </p:sp>
      <p:sp>
        <p:nvSpPr>
          <p:cNvPr id="20" name="FlowBody 20"/>
          <p:cNvSpPr/>
          <p:nvPr/>
        </p:nvSpPr>
        <p:spPr>
          <a:xfrm>
            <a:off x="4081882" y="2487168"/>
            <a:ext cx="1713586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能力够 + 意愿强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两个都要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5886907" y="2670048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6124651" y="2139696"/>
            <a:ext cx="1823314" cy="106070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6124651" y="2139696"/>
            <a:ext cx="1823314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说清</a:t>
            </a:r>
          </a:p>
        </p:txBody>
      </p:sp>
      <p:sp>
        <p:nvSpPr>
          <p:cNvPr id="24" name="FlowBody 24"/>
          <p:cNvSpPr/>
          <p:nvPr/>
        </p:nvSpPr>
        <p:spPr>
          <a:xfrm>
            <a:off x="6179515" y="2487168"/>
            <a:ext cx="1713586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结果标准与时限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边界在哪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7984541" y="2670048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8222285" y="2139696"/>
            <a:ext cx="1823314" cy="106070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FlowHead 27"/>
          <p:cNvSpPr/>
          <p:nvPr/>
        </p:nvSpPr>
        <p:spPr>
          <a:xfrm>
            <a:off x="8222285" y="2139696"/>
            <a:ext cx="1823314" cy="310896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放手</a:t>
            </a:r>
          </a:p>
        </p:txBody>
      </p:sp>
      <p:sp>
        <p:nvSpPr>
          <p:cNvPr id="28" name="FlowBody 28"/>
          <p:cNvSpPr/>
          <p:nvPr/>
        </p:nvSpPr>
        <p:spPr>
          <a:xfrm>
            <a:off x="8277149" y="2487168"/>
            <a:ext cx="1713586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过程不干预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只在节点看</a:t>
            </a:r>
          </a:p>
        </p:txBody>
      </p:sp>
      <p:cxnSp>
        <p:nvCxnSpPr>
          <p:cNvPr id="29" name="Arrow 29"/>
          <p:cNvCxnSpPr/>
          <p:nvPr/>
        </p:nvCxnSpPr>
        <p:spPr>
          <a:xfrm>
            <a:off x="10082174" y="2670048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0" name="Shape 30"/>
          <p:cNvSpPr/>
          <p:nvPr/>
        </p:nvSpPr>
        <p:spPr>
          <a:xfrm>
            <a:off x="10319918" y="2139696"/>
            <a:ext cx="1823314" cy="106070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FlowHead 31"/>
          <p:cNvSpPr/>
          <p:nvPr/>
        </p:nvSpPr>
        <p:spPr>
          <a:xfrm>
            <a:off x="10319918" y="2139696"/>
            <a:ext cx="1823314" cy="310896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复盘</a:t>
            </a:r>
          </a:p>
        </p:txBody>
      </p:sp>
      <p:sp>
        <p:nvSpPr>
          <p:cNvPr id="32" name="FlowBody 32"/>
          <p:cNvSpPr/>
          <p:nvPr/>
        </p:nvSpPr>
        <p:spPr>
          <a:xfrm>
            <a:off x="10374782" y="2487168"/>
            <a:ext cx="1713586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做完一起看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好在哪、差在哪</a:t>
            </a:r>
          </a:p>
        </p:txBody>
      </p:sp>
      <p:sp>
        <p:nvSpPr>
          <p:cNvPr id="33" name="Shape 33"/>
          <p:cNvSpPr/>
          <p:nvPr/>
        </p:nvSpPr>
        <p:spPr>
          <a:xfrm>
            <a:off x="1929384" y="3438144"/>
            <a:ext cx="4983480" cy="15179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CardHead 34"/>
          <p:cNvSpPr/>
          <p:nvPr/>
        </p:nvSpPr>
        <p:spPr>
          <a:xfrm>
            <a:off x="1929384" y="3438144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不能授权的三类事</a:t>
            </a:r>
          </a:p>
        </p:txBody>
      </p:sp>
      <p:sp>
        <p:nvSpPr>
          <p:cNvPr id="35" name="CardBody 35"/>
          <p:cNvSpPr/>
          <p:nvPr/>
        </p:nvSpPr>
        <p:spPr>
          <a:xfrm>
            <a:off x="2039112" y="3803904"/>
            <a:ext cx="4764024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安全与质量红线的判定权；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对人的评价和处分；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跨部门的承诺——你不在场时别人替你答应的，最后还是你收拾。</a:t>
            </a:r>
          </a:p>
        </p:txBody>
      </p:sp>
      <p:sp>
        <p:nvSpPr>
          <p:cNvPr id="36" name="Shape 36"/>
          <p:cNvSpPr/>
          <p:nvPr/>
        </p:nvSpPr>
        <p:spPr>
          <a:xfrm>
            <a:off x="7159752" y="3438144"/>
            <a:ext cx="4983480" cy="15179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7" name="CardHead 37"/>
          <p:cNvSpPr/>
          <p:nvPr/>
        </p:nvSpPr>
        <p:spPr>
          <a:xfrm>
            <a:off x="7159752" y="3438144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授权失败的三个信号</a:t>
            </a:r>
          </a:p>
        </p:txBody>
      </p:sp>
      <p:sp>
        <p:nvSpPr>
          <p:cNvPr id="38" name="CardBody 38"/>
          <p:cNvSpPr/>
          <p:nvPr/>
        </p:nvSpPr>
        <p:spPr>
          <a:xfrm>
            <a:off x="7269480" y="3803904"/>
            <a:ext cx="4764024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他天天来问你怎么办 → 边界没说清；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他做完了不告诉你 → 没约定反馈节点；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出了事他说“你让我做的” → 你给了任务没给判断标准。</a:t>
            </a:r>
          </a:p>
        </p:txBody>
      </p:sp>
      <p:sp>
        <p:nvSpPr>
          <p:cNvPr id="39" name="Shape 39"/>
          <p:cNvSpPr/>
          <p:nvPr/>
        </p:nvSpPr>
        <p:spPr>
          <a:xfrm>
            <a:off x="1929384" y="5120640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0" name="Banner 40"/>
          <p:cNvSpPr/>
          <p:nvPr/>
        </p:nvSpPr>
        <p:spPr>
          <a:xfrm>
            <a:off x="2093976" y="5120640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授权不是把活推出去，是把判断标准交出去——他能自己判断了，才算授出去了</a:t>
            </a:r>
          </a:p>
        </p:txBody>
      </p:sp>
      <p:sp>
        <p:nvSpPr>
          <p:cNvPr id="41" name="Note 41"/>
          <p:cNvSpPr/>
          <p:nvPr/>
        </p:nvSpPr>
        <p:spPr>
          <a:xfrm>
            <a:off x="1929384" y="5724144"/>
            <a:ext cx="10213848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衡量你授权是否成功的唯一指标：你休假一周，班组的产量和质量是否稳定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有冲突的班组，比没冲突的班组更健康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关键是冲突针对的是事还是人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84832"/>
            <a:ext cx="4983480" cy="20665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84832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建设性冲突（任务冲突）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50592"/>
            <a:ext cx="4764024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争的是：这批该不该放、参数该定多少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特征：对事不对人、用数据说话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结果：方案更周全，风险更早暴露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你要做的：保护它，别急着调停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——尤其要保护那个提反对意见的人。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84832"/>
            <a:ext cx="4983480" cy="20665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84832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破坏性冲突（关系冲突）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50592"/>
            <a:ext cx="4764024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争的是：谁行谁不行、谁该背这个锅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特征：翻旧账、贴标签、当众下不来台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结果：信息开始隐藏，协作停摆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你要做的：当场叫停，转回事实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——“这件事影响了什么”而不是“你怎么这样”。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315968"/>
            <a:ext cx="10213848" cy="142646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315968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把关系冲突转回任务冲突：三步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681728"/>
            <a:ext cx="99943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第一步 降温：“我们先不讨论谁对谁错，先把今天能不能按时交付弄清楚”；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 回到事实：只列批次、数量、工时、不良率，不列猜测和动机；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 给选项：至少两个可比较的方案，说明各自代价，让该拍板的人拍板。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第三节小结：群体动力要被设计，不会自动变好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四个可以立刻用的设计动作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57984"/>
            <a:ext cx="2423160" cy="20482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57984"/>
            <a:ext cx="242316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决策要分类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523744"/>
            <a:ext cx="2203704" cy="1627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“对不对”找专家拍板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“愿不愿”让大家参与</a:t>
            </a:r>
          </a:p>
        </p:txBody>
      </p:sp>
      <p:sp>
        <p:nvSpPr>
          <p:cNvPr id="17" name="Shape 17"/>
          <p:cNvSpPr/>
          <p:nvPr/>
        </p:nvSpPr>
        <p:spPr>
          <a:xfrm>
            <a:off x="4535424" y="2157984"/>
            <a:ext cx="2423160" cy="20482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4535424" y="2157984"/>
            <a:ext cx="242316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异议要指定</a:t>
            </a:r>
          </a:p>
        </p:txBody>
      </p:sp>
      <p:sp>
        <p:nvSpPr>
          <p:cNvPr id="19" name="CardBody 19"/>
          <p:cNvSpPr/>
          <p:nvPr/>
        </p:nvSpPr>
        <p:spPr>
          <a:xfrm>
            <a:off x="4645152" y="2523744"/>
            <a:ext cx="2203704" cy="1627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轮流当红队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让唱反调变成职责</a:t>
            </a:r>
          </a:p>
        </p:txBody>
      </p:sp>
      <p:sp>
        <p:nvSpPr>
          <p:cNvPr id="20" name="Shape 20"/>
          <p:cNvSpPr/>
          <p:nvPr/>
        </p:nvSpPr>
        <p:spPr>
          <a:xfrm>
            <a:off x="7141464" y="2157984"/>
            <a:ext cx="2423160" cy="20482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7141464" y="2157984"/>
            <a:ext cx="242316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顺序要倒过来</a:t>
            </a:r>
          </a:p>
        </p:txBody>
      </p:sp>
      <p:sp>
        <p:nvSpPr>
          <p:cNvPr id="22" name="CardBody 22"/>
          <p:cNvSpPr/>
          <p:nvPr/>
        </p:nvSpPr>
        <p:spPr>
          <a:xfrm>
            <a:off x="7251192" y="2523744"/>
            <a:ext cx="2203704" cy="1627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资浅的先说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领导最后表态</a:t>
            </a:r>
          </a:p>
        </p:txBody>
      </p:sp>
      <p:sp>
        <p:nvSpPr>
          <p:cNvPr id="23" name="Shape 23"/>
          <p:cNvSpPr/>
          <p:nvPr/>
        </p:nvSpPr>
        <p:spPr>
          <a:xfrm>
            <a:off x="9747504" y="2157984"/>
            <a:ext cx="2423160" cy="20482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9747504" y="2157984"/>
            <a:ext cx="242316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信息要抢先</a:t>
            </a:r>
          </a:p>
        </p:txBody>
      </p:sp>
      <p:sp>
        <p:nvSpPr>
          <p:cNvPr id="25" name="CardBody 25"/>
          <p:cNvSpPr/>
          <p:nvPr/>
        </p:nvSpPr>
        <p:spPr>
          <a:xfrm>
            <a:off x="9857232" y="2523744"/>
            <a:ext cx="2203704" cy="1627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不确定的时候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宁可说“还在定”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4425696"/>
            <a:ext cx="10213848" cy="135331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1929384" y="4425696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把三节课连起来</a:t>
            </a:r>
          </a:p>
        </p:txBody>
      </p:sp>
      <p:sp>
        <p:nvSpPr>
          <p:cNvPr id="28" name="CardBody 28"/>
          <p:cNvSpPr/>
          <p:nvPr/>
        </p:nvSpPr>
        <p:spPr>
          <a:xfrm>
            <a:off x="2039112" y="4791456"/>
            <a:ext cx="9994392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第一节告诉你：一个人的行为，先查环境再查人；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第二节告诉你：一群人的行为，由规范、角色、结构和意义决定；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第三节告诉你：群体的判断不会自动变准，好的决定必须被设计出来。</a:t>
            </a:r>
          </a:p>
        </p:txBody>
      </p:sp>
      <p:sp>
        <p:nvSpPr>
          <p:cNvPr id="29" name="Shape 29"/>
          <p:cNvSpPr/>
          <p:nvPr/>
        </p:nvSpPr>
        <p:spPr>
          <a:xfrm>
            <a:off x="1929384" y="5888736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Banner 30"/>
          <p:cNvSpPr/>
          <p:nvPr/>
        </p:nvSpPr>
        <p:spPr>
          <a:xfrm>
            <a:off x="2093976" y="5888736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第三节结论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你管不住人心，但你管得住规则、顺序和结构——而它们决定了人心往哪走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工具一：班组行为观察表（每周 10 分钟）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不靠印象打分，靠记录说话</a:t>
            </a:r>
          </a:p>
        </p:txBody>
      </p:sp>
      <p:sp>
        <p:nvSpPr>
          <p:cNvPr id="14" name="TH 14"/>
          <p:cNvSpPr/>
          <p:nvPr/>
        </p:nvSpPr>
        <p:spPr>
          <a:xfrm>
            <a:off x="1929384" y="2103120"/>
            <a:ext cx="10213848" cy="402336"/>
          </a:xfrm>
          <a:prstGeom prst="rect">
            <a:avLst/>
          </a:prstGeom>
          <a:solidFill>
            <a:srgbClr val="F5D349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 察 项　　　　　　记 录 什 么　　　　　　　　　　　　异 常 信 号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2542032"/>
            <a:ext cx="10213848" cy="621792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C1 16"/>
          <p:cNvSpPr/>
          <p:nvPr/>
        </p:nvSpPr>
        <p:spPr>
          <a:xfrm>
            <a:off x="2075688" y="2542032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谁在开口</a:t>
            </a:r>
          </a:p>
        </p:txBody>
      </p:sp>
      <p:sp>
        <p:nvSpPr>
          <p:cNvPr id="17" name="C2 17"/>
          <p:cNvSpPr/>
          <p:nvPr/>
        </p:nvSpPr>
        <p:spPr>
          <a:xfrm>
            <a:off x="4069080" y="2542032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班前会上主动发言的人数与姓名</a:t>
            </a:r>
          </a:p>
        </p:txBody>
      </p:sp>
      <p:sp>
        <p:nvSpPr>
          <p:cNvPr id="18" name="C3 18"/>
          <p:cNvSpPr/>
          <p:nvPr/>
        </p:nvSpPr>
        <p:spPr>
          <a:xfrm>
            <a:off x="8110728" y="2542032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连续两周只有固定 1~2 人发言</a:t>
            </a:r>
          </a:p>
        </p:txBody>
      </p:sp>
      <p:sp>
        <p:nvSpPr>
          <p:cNvPr id="19" name="Shape 19"/>
          <p:cNvSpPr/>
          <p:nvPr/>
        </p:nvSpPr>
        <p:spPr>
          <a:xfrm>
            <a:off x="1929384" y="3200400"/>
            <a:ext cx="10213848" cy="621792"/>
          </a:xfrm>
          <a:prstGeom prst="rect">
            <a:avLst/>
          </a:prstGeom>
          <a:solidFill>
            <a:srgbClr val="F3EAD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0" name="C1 20"/>
          <p:cNvSpPr/>
          <p:nvPr/>
        </p:nvSpPr>
        <p:spPr>
          <a:xfrm>
            <a:off x="2075688" y="3200400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谁在求助</a:t>
            </a:r>
          </a:p>
        </p:txBody>
      </p:sp>
      <p:sp>
        <p:nvSpPr>
          <p:cNvPr id="21" name="C2 21"/>
          <p:cNvSpPr/>
          <p:nvPr/>
        </p:nvSpPr>
        <p:spPr>
          <a:xfrm>
            <a:off x="4069080" y="3200400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遇到问题主动来问你的人</a:t>
            </a:r>
          </a:p>
        </p:txBody>
      </p:sp>
      <p:sp>
        <p:nvSpPr>
          <p:cNvPr id="22" name="C3 22"/>
          <p:cNvSpPr/>
          <p:nvPr/>
        </p:nvSpPr>
        <p:spPr>
          <a:xfrm>
            <a:off x="8110728" y="3200400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某人从常问变成不问了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3858768"/>
            <a:ext cx="10213848" cy="621792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1 24"/>
          <p:cNvSpPr/>
          <p:nvPr/>
        </p:nvSpPr>
        <p:spPr>
          <a:xfrm>
            <a:off x="2075688" y="385876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谁在补位</a:t>
            </a:r>
          </a:p>
        </p:txBody>
      </p:sp>
      <p:sp>
        <p:nvSpPr>
          <p:cNvPr id="25" name="C2 25"/>
          <p:cNvSpPr/>
          <p:nvPr/>
        </p:nvSpPr>
        <p:spPr>
          <a:xfrm>
            <a:off x="4069080" y="3858768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主动帮别人收尾、清场的人</a:t>
            </a:r>
          </a:p>
        </p:txBody>
      </p:sp>
      <p:sp>
        <p:nvSpPr>
          <p:cNvPr id="26" name="C3 26"/>
          <p:cNvSpPr/>
          <p:nvPr/>
        </p:nvSpPr>
        <p:spPr>
          <a:xfrm>
            <a:off x="8110728" y="3858768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补位行为消失＝凝聚力在掉</a:t>
            </a:r>
          </a:p>
        </p:txBody>
      </p:sp>
      <p:sp>
        <p:nvSpPr>
          <p:cNvPr id="27" name="Shape 27"/>
          <p:cNvSpPr/>
          <p:nvPr/>
        </p:nvSpPr>
        <p:spPr>
          <a:xfrm>
            <a:off x="1929384" y="4517136"/>
            <a:ext cx="10213848" cy="621792"/>
          </a:xfrm>
          <a:prstGeom prst="rect">
            <a:avLst/>
          </a:prstGeom>
          <a:solidFill>
            <a:srgbClr val="F3EAD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C1 28"/>
          <p:cNvSpPr/>
          <p:nvPr/>
        </p:nvSpPr>
        <p:spPr>
          <a:xfrm>
            <a:off x="2075688" y="4517136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异常上报</a:t>
            </a:r>
          </a:p>
        </p:txBody>
      </p:sp>
      <p:sp>
        <p:nvSpPr>
          <p:cNvPr id="29" name="C2 29"/>
          <p:cNvSpPr/>
          <p:nvPr/>
        </p:nvSpPr>
        <p:spPr>
          <a:xfrm>
            <a:off x="4069080" y="4517136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当班主动上报的次数</a:t>
            </a:r>
          </a:p>
        </p:txBody>
      </p:sp>
      <p:sp>
        <p:nvSpPr>
          <p:cNvPr id="30" name="C3 30"/>
          <p:cNvSpPr/>
          <p:nvPr/>
        </p:nvSpPr>
        <p:spPr>
          <a:xfrm>
            <a:off x="8110728" y="4517136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产量正常但上报归零＝在瞒</a:t>
            </a:r>
          </a:p>
        </p:txBody>
      </p:sp>
      <p:sp>
        <p:nvSpPr>
          <p:cNvPr id="31" name="Shape 31"/>
          <p:cNvSpPr/>
          <p:nvPr/>
        </p:nvSpPr>
        <p:spPr>
          <a:xfrm>
            <a:off x="1929384" y="5175504"/>
            <a:ext cx="10213848" cy="621792"/>
          </a:xfrm>
          <a:prstGeom prst="rect">
            <a:avLst/>
          </a:prstGeom>
          <a:solidFill>
            <a:srgbClr val="FFF7E8"/>
          </a:solidFill>
          <a:ln w="9525" cap="flat" cmpd="sng" algn="ctr">
            <a:solidFill>
              <a:srgbClr val="D8C9A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2" name="C1 32"/>
          <p:cNvSpPr/>
          <p:nvPr/>
        </p:nvSpPr>
        <p:spPr>
          <a:xfrm>
            <a:off x="2075688" y="5175504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新人去向</a:t>
            </a:r>
          </a:p>
        </p:txBody>
      </p:sp>
      <p:sp>
        <p:nvSpPr>
          <p:cNvPr id="33" name="C2 33"/>
          <p:cNvSpPr/>
          <p:nvPr/>
        </p:nvSpPr>
        <p:spPr>
          <a:xfrm>
            <a:off x="4069080" y="5175504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新人午饭和谁一起吃</a:t>
            </a:r>
          </a:p>
        </p:txBody>
      </p:sp>
      <p:sp>
        <p:nvSpPr>
          <p:cNvPr id="34" name="C3 34"/>
          <p:cNvSpPr/>
          <p:nvPr/>
        </p:nvSpPr>
        <p:spPr>
          <a:xfrm>
            <a:off x="8110728" y="5175504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始终独自一人＝融入失败</a:t>
            </a:r>
          </a:p>
        </p:txBody>
      </p:sp>
      <p:sp>
        <p:nvSpPr>
          <p:cNvPr id="35" name="Shape 35"/>
          <p:cNvSpPr/>
          <p:nvPr/>
        </p:nvSpPr>
        <p:spPr>
          <a:xfrm>
            <a:off x="1929384" y="5943600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6" name="Banner 36"/>
          <p:cNvSpPr/>
          <p:nvPr/>
        </p:nvSpPr>
        <p:spPr>
          <a:xfrm>
            <a:off x="2093976" y="5943600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用法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每周五花 10 分钟填一次，连续填四周——你会看见印象里完全没有的东西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工具二：一对一谈话提问清单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把“最近怎么样”换成能问出东西的问题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84832"/>
            <a:ext cx="4983480" cy="2103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84832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别再问这些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50592"/>
            <a:ext cx="4764024" cy="16824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“最近怎么样？”　→ 答：还行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“有什么困难吗？”　→ 答：没有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“懂了吗？”　→ 答：懂了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“对公司有什么建议？”　→ 答：没有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这四句话问不出任何东西。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84832"/>
            <a:ext cx="4983480" cy="2103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84832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换成这些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50592"/>
            <a:ext cx="4764024" cy="16824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“这周哪件事最耽误你时间？”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“你按哪三步做这道工序？”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“如果这条线只能改一处，你改哪？”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“你觉得半年后自己在做什么？”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问具体的事，才有具体的答案。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352544"/>
            <a:ext cx="10213848" cy="140817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352544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三条规矩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718304"/>
            <a:ext cx="9994392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定时间：每周固定 15 分钟，不要等出了事才谈——出事才谈的谈话叫审问；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你少说：控制在你说三成、他说七成。你一开口超过一分钟，他就不说了；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有回音：他提的每件事，下次见面必须给一个答复，哪怕是“这件事办不了，原因是……”。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 天行动计划：把今天学的变成班组能力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每阶段只做三件事，做完再进下一阶段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39696"/>
            <a:ext cx="3282696" cy="26151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39696"/>
            <a:ext cx="3282696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0—30 天　看见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505456"/>
            <a:ext cx="306324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每周填一次《班组行为观察表》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找出班组现存的 2 条隐性规范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完成全员一次 15 分钟一对一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39696"/>
            <a:ext cx="3282696" cy="26151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39696"/>
            <a:ext cx="3282696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31—60 天　调整</a:t>
            </a:r>
          </a:p>
        </p:txBody>
      </p:sp>
      <p:sp>
        <p:nvSpPr>
          <p:cNvPr id="19" name="CardBody 19"/>
          <p:cNvSpPr/>
          <p:nvPr/>
        </p:nvSpPr>
        <p:spPr>
          <a:xfrm>
            <a:off x="5504688" y="2505456"/>
            <a:ext cx="306324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1 条不利规范制造一个安全反例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权责清单：我定的/请示的/不归我的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班前会改为资浅者先发言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39696"/>
            <a:ext cx="3282696" cy="26151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39696"/>
            <a:ext cx="3282696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61—90 天　固化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70264" y="2505456"/>
            <a:ext cx="306324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指定轮值红队，写进班组例会规则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 1 名副班组长承接日常授权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把有效做法写成班组的书面标准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4956048"/>
            <a:ext cx="10213848" cy="11887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4956048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衡量指标（第 90 天回看）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39112" y="5321808"/>
            <a:ext cx="9994392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班前会主动发言人数　│　员工主动上报异常次数　│　需要你到场处理的问题数（应下降）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 3 个月留存率　│　改善提案落地数　│　你休假一周班组产量波动幅度（应缩小）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六个最常见的管理误区，今天一次性说清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每一条都很符合直觉，每一条都不成立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21408"/>
            <a:ext cx="3282696" cy="16276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21408"/>
            <a:ext cx="3282696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“他态度有问题”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87168"/>
            <a:ext cx="3063240" cy="12070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态度看不见，你看见的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只有行为和情境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21408"/>
            <a:ext cx="3282696" cy="16276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21408"/>
            <a:ext cx="3282696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“多讲几遍就好了”</a:t>
            </a:r>
          </a:p>
        </p:txBody>
      </p:sp>
      <p:sp>
        <p:nvSpPr>
          <p:cNvPr id="19" name="CardBody 19"/>
          <p:cNvSpPr/>
          <p:nvPr/>
        </p:nvSpPr>
        <p:spPr>
          <a:xfrm>
            <a:off x="5504688" y="2487168"/>
            <a:ext cx="3063240" cy="12070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讲的次数不解决理解，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验证才解决理解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21408"/>
            <a:ext cx="3282696" cy="16276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21408"/>
            <a:ext cx="3282696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“人多力量大”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70264" y="2487168"/>
            <a:ext cx="3063240" cy="12070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协作损耗常大于人力增益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先看贡献可不可见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3895344"/>
            <a:ext cx="3282696" cy="16276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3895344"/>
            <a:ext cx="3282696" cy="329184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“没人反对就是同意”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39112" y="4261104"/>
            <a:ext cx="3063240" cy="12070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沉默通常意味着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说出来的成本太高</a:t>
            </a:r>
          </a:p>
        </p:txBody>
      </p:sp>
      <p:sp>
        <p:nvSpPr>
          <p:cNvPr id="26" name="Shape 26"/>
          <p:cNvSpPr/>
          <p:nvPr/>
        </p:nvSpPr>
        <p:spPr>
          <a:xfrm>
            <a:off x="5394960" y="3895344"/>
            <a:ext cx="3282696" cy="16276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11828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CardHead 27"/>
          <p:cNvSpPr/>
          <p:nvPr/>
        </p:nvSpPr>
        <p:spPr>
          <a:xfrm>
            <a:off x="5394960" y="3895344"/>
            <a:ext cx="3282696" cy="329184"/>
          </a:xfrm>
          <a:prstGeom prst="rect">
            <a:avLst/>
          </a:prstGeom>
          <a:solidFill>
            <a:srgbClr val="11828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“凝聚力越高越好”</a:t>
            </a:r>
          </a:p>
        </p:txBody>
      </p:sp>
      <p:sp>
        <p:nvSpPr>
          <p:cNvPr id="28" name="CardBody 28"/>
          <p:cNvSpPr/>
          <p:nvPr/>
        </p:nvSpPr>
        <p:spPr>
          <a:xfrm>
            <a:off x="5504688" y="4261104"/>
            <a:ext cx="3063240" cy="12070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要看它和公司目标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是不是一个方向</a:t>
            </a:r>
          </a:p>
        </p:txBody>
      </p:sp>
      <p:sp>
        <p:nvSpPr>
          <p:cNvPr id="29" name="Shape 29"/>
          <p:cNvSpPr/>
          <p:nvPr/>
        </p:nvSpPr>
        <p:spPr>
          <a:xfrm>
            <a:off x="8860536" y="3895344"/>
            <a:ext cx="3282696" cy="16276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0" name="CardHead 30"/>
          <p:cNvSpPr/>
          <p:nvPr/>
        </p:nvSpPr>
        <p:spPr>
          <a:xfrm>
            <a:off x="8860536" y="3895344"/>
            <a:ext cx="3282696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“先搞好关系再管理”</a:t>
            </a:r>
          </a:p>
        </p:txBody>
      </p:sp>
      <p:sp>
        <p:nvSpPr>
          <p:cNvPr id="31" name="CardBody 31"/>
          <p:cNvSpPr/>
          <p:nvPr/>
        </p:nvSpPr>
        <p:spPr>
          <a:xfrm>
            <a:off x="8970264" y="4261104"/>
            <a:ext cx="3063240" cy="120700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顺序反了：先把规则说清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关系才不会被规则毁掉</a:t>
            </a:r>
          </a:p>
        </p:txBody>
      </p:sp>
      <p:sp>
        <p:nvSpPr>
          <p:cNvPr id="32" name="Shape 32"/>
          <p:cNvSpPr/>
          <p:nvPr/>
        </p:nvSpPr>
        <p:spPr>
          <a:xfrm>
            <a:off x="1929384" y="5815584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Banner 33"/>
          <p:cNvSpPr/>
          <p:nvPr/>
        </p:nvSpPr>
        <p:spPr>
          <a:xfrm>
            <a:off x="2093976" y="5815584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共同点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这六条都在把复杂问题简化成“人的问题”——因为那样最省事，也最没用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皮格马利翁效应：你认为他行，他就更可能行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罗森塔尔实验——期望会通过你的日常行为悄悄传递出去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66544"/>
            <a:ext cx="5577840" cy="20482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66544"/>
            <a:ext cx="557784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32304"/>
            <a:ext cx="5358384" cy="1627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研究者随机抽一部分学生，告诉老师“这几个潜力很大”。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名单是随机的，与真实水平无关。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八个月后，名单上的学生成绩显著高于其他人。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差别不在学生，在老师——对被看好的孩子，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他给了更多提问机会、更长的等待、更具体的反馈。</a:t>
            </a:r>
          </a:p>
        </p:txBody>
      </p:sp>
      <p:sp>
        <p:nvSpPr>
          <p:cNvPr id="17" name="Shape 17"/>
          <p:cNvSpPr/>
          <p:nvPr/>
        </p:nvSpPr>
        <p:spPr>
          <a:xfrm>
            <a:off x="7763256" y="2066544"/>
            <a:ext cx="4379976" cy="19751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763256" y="2066544"/>
            <a:ext cx="4379976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车间里怎么发生的</a:t>
            </a:r>
          </a:p>
        </p:txBody>
      </p:sp>
      <p:sp>
        <p:nvSpPr>
          <p:cNvPr id="19" name="CardBody 19"/>
          <p:cNvSpPr/>
          <p:nvPr/>
        </p:nvSpPr>
        <p:spPr>
          <a:xfrm>
            <a:off x="7872984" y="2432304"/>
            <a:ext cx="4160520" cy="1554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你认定小张“不是这块料”：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难活不给他、出错先说他、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问他问题不等他答完。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半年后他果然还是老样子——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于是你更确信自己看得准。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206240"/>
            <a:ext cx="10213848" cy="15179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206240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传递期望的四个通道（你每天都在用，只是没意识到）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572000"/>
            <a:ext cx="999439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气氛：对看好的人你笑得更多、语气更软；　　　输入：你给他更难的活、更多的信息；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输出：你给他更多开口的机会、等他把话说完；　反馈：你对他的错误讲得更细、更具体。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想改变一个人的表现，先改变这四件事——比对他说一百遍“我相信你”有用。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870448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93976" y="5870448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不是他先干得好你才看好他，很多时候是你先看好他，他才干得好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心理契约：员工心里那份没有签字的合同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劳动合同写的是义务，心理契约写的是期待——后者被破坏时，人先走心再走人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84832"/>
            <a:ext cx="4983480" cy="21396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84832"/>
            <a:ext cx="498348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员工心里的期待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50592"/>
            <a:ext cx="4764024" cy="171907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“干满一年应该能学到第二个工位”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“加班多的时候，调休应该好批一点”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“我把班组带好了，应该有机会往上走”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“我主动上报问题，不该反过来被追责”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——这些都没写进合同，但每个人心里都有。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84832"/>
            <a:ext cx="4983480" cy="21396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84832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破坏的三种方式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50592"/>
            <a:ext cx="4764024" cy="171907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承诺没兑现：说好轮岗，半年没动静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标准换了：去年这样算奖金，今年改了不说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特例：同样的事，别人可以我不可以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一旦被破坏，员工不会来找你理论，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他会悄悄降低投入——你只会看到“他变懒了”。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389120"/>
            <a:ext cx="10213848" cy="13167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389120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班组长能做的两件事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754880"/>
            <a:ext cx="999439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别许你兑现不了的诺。宁可说“我去争取，但不一定成”，也不要说“交给我，没问题”；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规则变了主动说。哪怕是对员工不利的变化，提前讲清楚原因，比让他自己发现要好十倍。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833872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93976" y="5833872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一句话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员工离职前通常已经沉默了三个月——沉默的那一刻，心理契约就已经断了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学习曲线：新人上手慢不是态度问题，是规律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用老手的标准要求新人，等于设计了一场必然的失败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10213848" cy="1700784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LC1 15"/>
          <p:cNvSpPr/>
          <p:nvPr/>
        </p:nvSpPr>
        <p:spPr>
          <a:xfrm>
            <a:off x="2148840" y="2194560"/>
            <a:ext cx="17739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第1周</a:t>
            </a:r>
          </a:p>
        </p:txBody>
      </p:sp>
      <p:sp>
        <p:nvSpPr>
          <p:cNvPr id="16" name="LC2 16"/>
          <p:cNvSpPr/>
          <p:nvPr/>
        </p:nvSpPr>
        <p:spPr>
          <a:xfrm>
            <a:off x="2148840" y="2505456"/>
            <a:ext cx="1773936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</a:p>
        </p:txBody>
      </p:sp>
      <p:sp>
        <p:nvSpPr>
          <p:cNvPr id="17" name="LC3 17"/>
          <p:cNvSpPr/>
          <p:nvPr/>
        </p:nvSpPr>
        <p:spPr>
          <a:xfrm>
            <a:off x="2148840" y="2962656"/>
            <a:ext cx="1773936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认工具、认零件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动作还没形成</a:t>
            </a:r>
          </a:p>
        </p:txBody>
      </p:sp>
      <p:sp>
        <p:nvSpPr>
          <p:cNvPr id="18" name="LC1 18"/>
          <p:cNvSpPr/>
          <p:nvPr/>
        </p:nvSpPr>
        <p:spPr>
          <a:xfrm>
            <a:off x="4123944" y="2194560"/>
            <a:ext cx="17739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第2-3周</a:t>
            </a:r>
          </a:p>
        </p:txBody>
      </p:sp>
      <p:sp>
        <p:nvSpPr>
          <p:cNvPr id="19" name="LC2 19"/>
          <p:cNvSpPr/>
          <p:nvPr/>
        </p:nvSpPr>
        <p:spPr>
          <a:xfrm>
            <a:off x="4123944" y="2505456"/>
            <a:ext cx="1773936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55%</a:t>
            </a:r>
          </a:p>
        </p:txBody>
      </p:sp>
      <p:sp>
        <p:nvSpPr>
          <p:cNvPr id="20" name="LC3 20"/>
          <p:cNvSpPr/>
          <p:nvPr/>
        </p:nvSpPr>
        <p:spPr>
          <a:xfrm>
            <a:off x="4123944" y="2962656"/>
            <a:ext cx="1773936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能做完整流程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但要想、要停</a:t>
            </a:r>
          </a:p>
        </p:txBody>
      </p:sp>
      <p:sp>
        <p:nvSpPr>
          <p:cNvPr id="21" name="LC1 21"/>
          <p:cNvSpPr/>
          <p:nvPr/>
        </p:nvSpPr>
        <p:spPr>
          <a:xfrm>
            <a:off x="6099048" y="2194560"/>
            <a:ext cx="17739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第1-2月</a:t>
            </a:r>
          </a:p>
        </p:txBody>
      </p:sp>
      <p:sp>
        <p:nvSpPr>
          <p:cNvPr id="22" name="LC2 22"/>
          <p:cNvSpPr/>
          <p:nvPr/>
        </p:nvSpPr>
        <p:spPr>
          <a:xfrm>
            <a:off x="6099048" y="2505456"/>
            <a:ext cx="1773936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75%</a:t>
            </a:r>
          </a:p>
        </p:txBody>
      </p:sp>
      <p:sp>
        <p:nvSpPr>
          <p:cNvPr id="23" name="LC3 23"/>
          <p:cNvSpPr/>
          <p:nvPr/>
        </p:nvSpPr>
        <p:spPr>
          <a:xfrm>
            <a:off x="6099048" y="2962656"/>
            <a:ext cx="1773936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动作连贯了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异常还处理不了</a:t>
            </a:r>
          </a:p>
        </p:txBody>
      </p:sp>
      <p:sp>
        <p:nvSpPr>
          <p:cNvPr id="24" name="LC1 24"/>
          <p:cNvSpPr/>
          <p:nvPr/>
        </p:nvSpPr>
        <p:spPr>
          <a:xfrm>
            <a:off x="8074152" y="2194560"/>
            <a:ext cx="17739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第3月</a:t>
            </a:r>
          </a:p>
        </p:txBody>
      </p:sp>
      <p:sp>
        <p:nvSpPr>
          <p:cNvPr id="25" name="LC2 25"/>
          <p:cNvSpPr/>
          <p:nvPr/>
        </p:nvSpPr>
        <p:spPr>
          <a:xfrm>
            <a:off x="8074152" y="2505456"/>
            <a:ext cx="1773936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90%</a:t>
            </a:r>
          </a:p>
        </p:txBody>
      </p:sp>
      <p:sp>
        <p:nvSpPr>
          <p:cNvPr id="26" name="LC3 26"/>
          <p:cNvSpPr/>
          <p:nvPr/>
        </p:nvSpPr>
        <p:spPr>
          <a:xfrm>
            <a:off x="8074152" y="2962656"/>
            <a:ext cx="1773936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接近熟手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开始有自己的节奏</a:t>
            </a:r>
          </a:p>
        </p:txBody>
      </p:sp>
      <p:sp>
        <p:nvSpPr>
          <p:cNvPr id="27" name="LC1 27"/>
          <p:cNvSpPr/>
          <p:nvPr/>
        </p:nvSpPr>
        <p:spPr>
          <a:xfrm>
            <a:off x="10049256" y="2194560"/>
            <a:ext cx="17739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第6月</a:t>
            </a:r>
          </a:p>
        </p:txBody>
      </p:sp>
      <p:sp>
        <p:nvSpPr>
          <p:cNvPr id="28" name="LC2 28"/>
          <p:cNvSpPr/>
          <p:nvPr/>
        </p:nvSpPr>
        <p:spPr>
          <a:xfrm>
            <a:off x="10049256" y="2505456"/>
            <a:ext cx="1773936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23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</a:p>
        </p:txBody>
      </p:sp>
      <p:sp>
        <p:nvSpPr>
          <p:cNvPr id="29" name="LC3 29"/>
          <p:cNvSpPr/>
          <p:nvPr/>
        </p:nvSpPr>
        <p:spPr>
          <a:xfrm>
            <a:off x="10049256" y="2962656"/>
            <a:ext cx="1773936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能带人、能判断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才算真正会</a:t>
            </a:r>
          </a:p>
        </p:txBody>
      </p:sp>
      <p:sp>
        <p:nvSpPr>
          <p:cNvPr id="30" name="Shape 30"/>
          <p:cNvSpPr/>
          <p:nvPr/>
        </p:nvSpPr>
        <p:spPr>
          <a:xfrm>
            <a:off x="1929384" y="3950208"/>
            <a:ext cx="4983480" cy="17007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CardHead 31"/>
          <p:cNvSpPr/>
          <p:nvPr/>
        </p:nvSpPr>
        <p:spPr>
          <a:xfrm>
            <a:off x="1929384" y="3950208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用错标准的代价</a:t>
            </a:r>
          </a:p>
        </p:txBody>
      </p:sp>
      <p:sp>
        <p:nvSpPr>
          <p:cNvPr id="32" name="CardBody 32"/>
          <p:cNvSpPr/>
          <p:nvPr/>
        </p:nvSpPr>
        <p:spPr>
          <a:xfrm>
            <a:off x="2039112" y="4315968"/>
            <a:ext cx="4764024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周就按 100% 定额考核 →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新人只能靠跳过自检来凑数量，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于是质量出问题 → 被批评 →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更不敢问 → 学得更慢 → 离职。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这条链子在车间里每天都在发生。</a:t>
            </a:r>
          </a:p>
        </p:txBody>
      </p:sp>
      <p:sp>
        <p:nvSpPr>
          <p:cNvPr id="33" name="Shape 33"/>
          <p:cNvSpPr/>
          <p:nvPr/>
        </p:nvSpPr>
        <p:spPr>
          <a:xfrm>
            <a:off x="7159752" y="3950208"/>
            <a:ext cx="4983480" cy="17007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CardHead 34"/>
          <p:cNvSpPr/>
          <p:nvPr/>
        </p:nvSpPr>
        <p:spPr>
          <a:xfrm>
            <a:off x="7159752" y="3950208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正确做法：阶梯定额</a:t>
            </a:r>
          </a:p>
        </p:txBody>
      </p:sp>
      <p:sp>
        <p:nvSpPr>
          <p:cNvPr id="35" name="CardBody 35"/>
          <p:cNvSpPr/>
          <p:nvPr/>
        </p:nvSpPr>
        <p:spPr>
          <a:xfrm>
            <a:off x="7269480" y="4315968"/>
            <a:ext cx="4764024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周不考核数量，只考核动作规范；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2-3 周定 50%，达标即算合格；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1-2 月定 75%，第 3 月起才对齐正常定额。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把“慢”合法化，新人才敢慢下来把动作做对——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前三周省下的时间，后面会加倍还回来。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压力不是越小越好：耶克斯—多德森倒 U 曲线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压力太低会松懈，太高会失误，中间那段才是最佳区间</a:t>
            </a:r>
          </a:p>
        </p:txBody>
      </p:sp>
      <p:sp>
        <p:nvSpPr>
          <p:cNvPr id="14" name="Z 14"/>
          <p:cNvSpPr/>
          <p:nvPr/>
        </p:nvSpPr>
        <p:spPr>
          <a:xfrm>
            <a:off x="1929384" y="2139696"/>
            <a:ext cx="2423160" cy="402336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压力过低</a:t>
            </a:r>
          </a:p>
        </p:txBody>
      </p:sp>
      <p:sp>
        <p:nvSpPr>
          <p:cNvPr id="15" name="Shape 15"/>
          <p:cNvSpPr/>
          <p:nvPr/>
        </p:nvSpPr>
        <p:spPr>
          <a:xfrm>
            <a:off x="1929384" y="2615184"/>
            <a:ext cx="2423160" cy="115214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6" name="ZS 16"/>
          <p:cNvSpPr/>
          <p:nvPr/>
        </p:nvSpPr>
        <p:spPr>
          <a:xfrm>
            <a:off x="2002536" y="2651760"/>
            <a:ext cx="2276856" cy="10789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没有紧迫感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差不多就行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改善提案归零</a:t>
            </a:r>
          </a:p>
        </p:txBody>
      </p:sp>
      <p:sp>
        <p:nvSpPr>
          <p:cNvPr id="17" name="Shape 17"/>
          <p:cNvSpPr/>
          <p:nvPr/>
        </p:nvSpPr>
        <p:spPr>
          <a:xfrm>
            <a:off x="1929384" y="3840480"/>
            <a:ext cx="2423160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ZA 18"/>
          <p:cNvSpPr/>
          <p:nvPr/>
        </p:nvSpPr>
        <p:spPr>
          <a:xfrm>
            <a:off x="2002536" y="3877056"/>
            <a:ext cx="2276856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加：明确目标</a:t>
            </a:r>
            <a:b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给可见的对比</a:t>
            </a:r>
          </a:p>
        </p:txBody>
      </p:sp>
      <p:sp>
        <p:nvSpPr>
          <p:cNvPr id="19" name="Z 19"/>
          <p:cNvSpPr/>
          <p:nvPr/>
        </p:nvSpPr>
        <p:spPr>
          <a:xfrm>
            <a:off x="4535424" y="2139696"/>
            <a:ext cx="2423160" cy="402336"/>
          </a:xfrm>
          <a:prstGeom prst="roundRect">
            <a:avLst>
              <a:gd name="adj" fmla="val 18000"/>
            </a:avLst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压力适中</a:t>
            </a:r>
          </a:p>
        </p:txBody>
      </p:sp>
      <p:sp>
        <p:nvSpPr>
          <p:cNvPr id="20" name="Shape 20"/>
          <p:cNvSpPr/>
          <p:nvPr/>
        </p:nvSpPr>
        <p:spPr>
          <a:xfrm>
            <a:off x="4535424" y="2615184"/>
            <a:ext cx="2423160" cy="115214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ZS 21"/>
          <p:cNvSpPr/>
          <p:nvPr/>
        </p:nvSpPr>
        <p:spPr>
          <a:xfrm>
            <a:off x="4608576" y="2651760"/>
            <a:ext cx="2276856" cy="10789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注意力集中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愿意想办法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产出与质量都好</a:t>
            </a:r>
          </a:p>
        </p:txBody>
      </p:sp>
      <p:sp>
        <p:nvSpPr>
          <p:cNvPr id="22" name="Shape 22"/>
          <p:cNvSpPr/>
          <p:nvPr/>
        </p:nvSpPr>
        <p:spPr>
          <a:xfrm>
            <a:off x="4535424" y="3840480"/>
            <a:ext cx="2423160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ZA 23"/>
          <p:cNvSpPr/>
          <p:nvPr/>
        </p:nvSpPr>
        <p:spPr>
          <a:xfrm>
            <a:off x="4608576" y="3877056"/>
            <a:ext cx="2276856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维持：稳定节奏</a:t>
            </a:r>
            <a:b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及时反馈</a:t>
            </a:r>
          </a:p>
        </p:txBody>
      </p:sp>
      <p:sp>
        <p:nvSpPr>
          <p:cNvPr id="24" name="Z 24"/>
          <p:cNvSpPr/>
          <p:nvPr/>
        </p:nvSpPr>
        <p:spPr>
          <a:xfrm>
            <a:off x="7141464" y="2139696"/>
            <a:ext cx="2423160" cy="402336"/>
          </a:xfrm>
          <a:prstGeom prst="roundRect">
            <a:avLst>
              <a:gd name="adj" fmla="val 18000"/>
            </a:avLst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压力偏高</a:t>
            </a:r>
          </a:p>
        </p:txBody>
      </p:sp>
      <p:sp>
        <p:nvSpPr>
          <p:cNvPr id="25" name="Shape 25"/>
          <p:cNvSpPr/>
          <p:nvPr/>
        </p:nvSpPr>
        <p:spPr>
          <a:xfrm>
            <a:off x="7141464" y="2615184"/>
            <a:ext cx="2423160" cy="115214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6" name="ZS 26"/>
          <p:cNvSpPr/>
          <p:nvPr/>
        </p:nvSpPr>
        <p:spPr>
          <a:xfrm>
            <a:off x="7214616" y="2651760"/>
            <a:ext cx="2276856" cy="10789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开始抄近路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只顾眼前指标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自检被压缩</a:t>
            </a:r>
          </a:p>
        </p:txBody>
      </p:sp>
      <p:sp>
        <p:nvSpPr>
          <p:cNvPr id="27" name="Shape 27"/>
          <p:cNvSpPr/>
          <p:nvPr/>
        </p:nvSpPr>
        <p:spPr>
          <a:xfrm>
            <a:off x="7141464" y="3840480"/>
            <a:ext cx="2423160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8" name="ZA 28"/>
          <p:cNvSpPr/>
          <p:nvPr/>
        </p:nvSpPr>
        <p:spPr>
          <a:xfrm>
            <a:off x="7214616" y="3877056"/>
            <a:ext cx="2276856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减：拆解任务</a:t>
            </a:r>
            <a:b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E55E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给缓冲产能</a:t>
            </a:r>
          </a:p>
        </p:txBody>
      </p:sp>
      <p:sp>
        <p:nvSpPr>
          <p:cNvPr id="29" name="Z 29"/>
          <p:cNvSpPr/>
          <p:nvPr/>
        </p:nvSpPr>
        <p:spPr>
          <a:xfrm>
            <a:off x="9747504" y="2139696"/>
            <a:ext cx="2423160" cy="402336"/>
          </a:xfrm>
          <a:prstGeom prst="roundRect">
            <a:avLst>
              <a:gd name="adj" fmla="val 18000"/>
            </a:avLst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压力过载</a:t>
            </a:r>
          </a:p>
        </p:txBody>
      </p:sp>
      <p:sp>
        <p:nvSpPr>
          <p:cNvPr id="30" name="Shape 30"/>
          <p:cNvSpPr/>
          <p:nvPr/>
        </p:nvSpPr>
        <p:spPr>
          <a:xfrm>
            <a:off x="9747504" y="2615184"/>
            <a:ext cx="2423160" cy="115214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ZS 31"/>
          <p:cNvSpPr/>
          <p:nvPr/>
        </p:nvSpPr>
        <p:spPr>
          <a:xfrm>
            <a:off x="9820656" y="2651760"/>
            <a:ext cx="2276856" cy="10789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瞒报、逃避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人际摩擦增多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离职意向上升</a:t>
            </a:r>
          </a:p>
        </p:txBody>
      </p:sp>
      <p:sp>
        <p:nvSpPr>
          <p:cNvPr id="32" name="Shape 32"/>
          <p:cNvSpPr/>
          <p:nvPr/>
        </p:nvSpPr>
        <p:spPr>
          <a:xfrm>
            <a:off x="9747504" y="3840480"/>
            <a:ext cx="2423160" cy="89611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3" name="ZA 33"/>
          <p:cNvSpPr/>
          <p:nvPr/>
        </p:nvSpPr>
        <p:spPr>
          <a:xfrm>
            <a:off x="9820656" y="3877056"/>
            <a:ext cx="2276856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停：先减负荷</a:t>
            </a:r>
            <a:b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C02F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再谈要求</a:t>
            </a:r>
          </a:p>
        </p:txBody>
      </p:sp>
      <p:sp>
        <p:nvSpPr>
          <p:cNvPr id="34" name="Shape 34"/>
          <p:cNvSpPr/>
          <p:nvPr/>
        </p:nvSpPr>
        <p:spPr>
          <a:xfrm>
            <a:off x="1929384" y="4882896"/>
            <a:ext cx="10213848" cy="12070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5" name="CardHead 35"/>
          <p:cNvSpPr/>
          <p:nvPr/>
        </p:nvSpPr>
        <p:spPr>
          <a:xfrm>
            <a:off x="1929384" y="4882896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任务难度会改变最佳压力点</a:t>
            </a:r>
          </a:p>
        </p:txBody>
      </p:sp>
      <p:sp>
        <p:nvSpPr>
          <p:cNvPr id="36" name="CardBody 36"/>
          <p:cNvSpPr/>
          <p:nvPr/>
        </p:nvSpPr>
        <p:spPr>
          <a:xfrm>
            <a:off x="2039112" y="5248656"/>
            <a:ext cx="9994392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简单重复的工序（如包装、上料）：压力高一点反而效率高；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复杂判断的工序（如调机、异常处置、首件确认）：压力一高就必然出错——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所以赶单时最该保护的，恰恰是那几道需要动脑子的工序。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知觉归因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人格能力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与态度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情绪价值观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与行为塑造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职业倦怠的三个特征：老员工“突然不行了”的真相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倦怠不是懒，是长期高消耗后的关机保护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03120"/>
            <a:ext cx="3282696" cy="21214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03120"/>
            <a:ext cx="3282696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情绪耗竭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68880"/>
            <a:ext cx="3063240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感觉被掏空，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一想到上班就累。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现场信号：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话变少、不参加班组活动、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交接只说最低限度的内容。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03120"/>
            <a:ext cx="3282696" cy="21214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03120"/>
            <a:ext cx="3282696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去人格化</a:t>
            </a:r>
          </a:p>
        </p:txBody>
      </p:sp>
      <p:sp>
        <p:nvSpPr>
          <p:cNvPr id="19" name="CardBody 19"/>
          <p:cNvSpPr/>
          <p:nvPr/>
        </p:nvSpPr>
        <p:spPr>
          <a:xfrm>
            <a:off x="5504688" y="2468880"/>
            <a:ext cx="3063240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把人当成事来处理，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对同事和新人冷漠。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现场信号：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“不关我事”“按流程走”、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带教敷衍、拒绝帮忙。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03120"/>
            <a:ext cx="3282696" cy="21214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03120"/>
            <a:ext cx="3282696" cy="329184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低成就感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70264" y="2468880"/>
            <a:ext cx="3063240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觉得做什么都没意义，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干好干坏一个样。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现场信号：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不再提改善、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拒绝新任务和培训机会。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4370832"/>
            <a:ext cx="10213848" cy="131673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4370832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班组长能做的三件事（都不需要额外预算）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39112" y="4736592"/>
            <a:ext cx="999439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换内容不换岗位：让他做一段带教、盘点或改善课题，把重复消耗打断；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给可见的成果：把他解决过的问题写进班组记录并署名——倦怠的核心是“我做的事没意义”；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给恢复的时间：连续高压两个月以上，一定要安排一段低强度周期，否则你会先失去他的产出，再失去他。</a:t>
            </a:r>
          </a:p>
        </p:txBody>
      </p:sp>
      <p:sp>
        <p:nvSpPr>
          <p:cNvPr id="26" name="Shape 26"/>
          <p:cNvSpPr/>
          <p:nvPr/>
        </p:nvSpPr>
        <p:spPr>
          <a:xfrm>
            <a:off x="1929384" y="5833872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Banner 27"/>
          <p:cNvSpPr/>
          <p:nvPr/>
        </p:nvSpPr>
        <p:spPr>
          <a:xfrm>
            <a:off x="2093976" y="5833872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识别要点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倦怠和偷懒的区别：偷懒的人躲活但情绪正常，倦怠的人活照干但人已经不在了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规范从众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与角色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协作效能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破窗效应：现场的第一处失序，决定了后面所有的失序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一扇没修的破窗，很快会变成一整栋破楼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84832"/>
            <a:ext cx="4983480" cy="2011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84832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车间里的“第一扇破窗”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50592"/>
            <a:ext cx="4764024" cy="15910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一个没归位的量具、一箱压线的周转框、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一张贴歪三个月没人管的看板、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一次“这回就算了”的违规放行。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损失很小，代价却是：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它宣告了“这里的标准可以不遵守”。</a:t>
            </a:r>
          </a:p>
        </p:txBody>
      </p:sp>
      <p:sp>
        <p:nvSpPr>
          <p:cNvPr id="17" name="Shape 17"/>
          <p:cNvSpPr/>
          <p:nvPr/>
        </p:nvSpPr>
        <p:spPr>
          <a:xfrm>
            <a:off x="7159752" y="2084832"/>
            <a:ext cx="4983480" cy="195681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159752" y="2084832"/>
            <a:ext cx="4983480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为什么会扩散</a:t>
            </a:r>
          </a:p>
        </p:txBody>
      </p:sp>
      <p:sp>
        <p:nvSpPr>
          <p:cNvPr id="19" name="CardBody 19"/>
          <p:cNvSpPr/>
          <p:nvPr/>
        </p:nvSpPr>
        <p:spPr>
          <a:xfrm>
            <a:off x="7269480" y="2450592"/>
            <a:ext cx="4764024" cy="153619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员工判断标准松紧，不看制度写了什么，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看现场实际是什么样。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一处失序没人管 → 推断这类事没人管 →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第二处出现的成本降到几乎为零。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扩散速度远快于你以为的。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206240"/>
            <a:ext cx="10213848" cy="148132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206240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两条现场纪律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572000"/>
            <a:ext cx="999439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24 小时法则：现场发现的任何失序，当天必须有处置动作（修复、标识、或明确责任人和时限）；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不留“这次算了”：真的要放行，就把它写成一次有编号、有条件、有期限的正式让步，而不是口头默许。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口头默许的每一次，都是在给下一次违规发许可证。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888736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93976" y="5888736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5S 真正的价值不是干净，是让“不正常”一眼就能被看见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沉默的螺旋：少数意见是怎么一步步消失的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不是被压制的，是自己退场的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39696"/>
            <a:ext cx="1823314" cy="1078992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139696"/>
            <a:ext cx="1823314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感知气氛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84248" y="2487168"/>
            <a:ext cx="1713586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他先判断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哪种意见是主流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3789274" y="267919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4027018" y="2139696"/>
            <a:ext cx="1823314" cy="1078992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4027018" y="2139696"/>
            <a:ext cx="1823314" cy="310896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评估风险</a:t>
            </a:r>
          </a:p>
        </p:txBody>
      </p:sp>
      <p:sp>
        <p:nvSpPr>
          <p:cNvPr id="20" name="FlowBody 20"/>
          <p:cNvSpPr/>
          <p:nvPr/>
        </p:nvSpPr>
        <p:spPr>
          <a:xfrm>
            <a:off x="4081882" y="2487168"/>
            <a:ext cx="1713586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说出来会不会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被孤立、被针对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5886907" y="267919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6124651" y="2139696"/>
            <a:ext cx="1823314" cy="1078992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6124651" y="2139696"/>
            <a:ext cx="1823314" cy="310896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选择沉默</a:t>
            </a:r>
          </a:p>
        </p:txBody>
      </p:sp>
      <p:sp>
        <p:nvSpPr>
          <p:cNvPr id="24" name="FlowBody 24"/>
          <p:cNvSpPr/>
          <p:nvPr/>
        </p:nvSpPr>
        <p:spPr>
          <a:xfrm>
            <a:off x="6179515" y="2487168"/>
            <a:ext cx="1713586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发现自己是少数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于是不说了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7984541" y="267919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8222285" y="2139696"/>
            <a:ext cx="1823314" cy="1078992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FlowHead 27"/>
          <p:cNvSpPr/>
          <p:nvPr/>
        </p:nvSpPr>
        <p:spPr>
          <a:xfrm>
            <a:off x="8222285" y="2139696"/>
            <a:ext cx="1823314" cy="310896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气氛更强</a:t>
            </a:r>
          </a:p>
        </p:txBody>
      </p:sp>
      <p:sp>
        <p:nvSpPr>
          <p:cNvPr id="28" name="FlowBody 28"/>
          <p:cNvSpPr/>
          <p:nvPr/>
        </p:nvSpPr>
        <p:spPr>
          <a:xfrm>
            <a:off x="8277149" y="2487168"/>
            <a:ext cx="1713586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主流意见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看起来更一致</a:t>
            </a:r>
          </a:p>
        </p:txBody>
      </p:sp>
      <p:cxnSp>
        <p:nvCxnSpPr>
          <p:cNvPr id="29" name="Arrow 29"/>
          <p:cNvCxnSpPr/>
          <p:nvPr/>
        </p:nvCxnSpPr>
        <p:spPr>
          <a:xfrm>
            <a:off x="10082174" y="2679192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0" name="Shape 30"/>
          <p:cNvSpPr/>
          <p:nvPr/>
        </p:nvSpPr>
        <p:spPr>
          <a:xfrm>
            <a:off x="10319918" y="2139696"/>
            <a:ext cx="1823314" cy="1078992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7A1F1C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FlowHead 31"/>
          <p:cNvSpPr/>
          <p:nvPr/>
        </p:nvSpPr>
        <p:spPr>
          <a:xfrm>
            <a:off x="10319918" y="2139696"/>
            <a:ext cx="1823314" cy="310896"/>
          </a:xfrm>
          <a:prstGeom prst="rect">
            <a:avLst/>
          </a:prstGeom>
          <a:solidFill>
            <a:srgbClr val="7A1F1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彻底消失</a:t>
            </a:r>
          </a:p>
        </p:txBody>
      </p:sp>
      <p:sp>
        <p:nvSpPr>
          <p:cNvPr id="32" name="FlowBody 32"/>
          <p:cNvSpPr/>
          <p:nvPr/>
        </p:nvSpPr>
        <p:spPr>
          <a:xfrm>
            <a:off x="10374782" y="2487168"/>
            <a:ext cx="1713586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连想都不想了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最后自己也信了</a:t>
            </a:r>
          </a:p>
        </p:txBody>
      </p:sp>
      <p:sp>
        <p:nvSpPr>
          <p:cNvPr id="33" name="Shape 33"/>
          <p:cNvSpPr/>
          <p:nvPr/>
        </p:nvSpPr>
        <p:spPr>
          <a:xfrm>
            <a:off x="1929384" y="3474720"/>
            <a:ext cx="4983480" cy="17007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CardHead 34"/>
          <p:cNvSpPr/>
          <p:nvPr/>
        </p:nvSpPr>
        <p:spPr>
          <a:xfrm>
            <a:off x="1929384" y="3474720"/>
            <a:ext cx="498348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在班组里的样子</a:t>
            </a:r>
          </a:p>
        </p:txBody>
      </p:sp>
      <p:sp>
        <p:nvSpPr>
          <p:cNvPr id="35" name="CardBody 35"/>
          <p:cNvSpPr/>
          <p:nvPr/>
        </p:nvSpPr>
        <p:spPr>
          <a:xfrm>
            <a:off x="2039112" y="3840480"/>
            <a:ext cx="4764024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第一次：他提了不同看法，没人接话；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第二次：他刚开口，有人说“先按老规矩来”；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第三次：他不说了。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半年后你觉得“这人没什么想法”——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其实是你的会议教会了他闭嘴。</a:t>
            </a:r>
          </a:p>
        </p:txBody>
      </p:sp>
      <p:sp>
        <p:nvSpPr>
          <p:cNvPr id="36" name="Shape 36"/>
          <p:cNvSpPr/>
          <p:nvPr/>
        </p:nvSpPr>
        <p:spPr>
          <a:xfrm>
            <a:off x="7159752" y="3474720"/>
            <a:ext cx="4983480" cy="17007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7" name="CardHead 37"/>
          <p:cNvSpPr/>
          <p:nvPr/>
        </p:nvSpPr>
        <p:spPr>
          <a:xfrm>
            <a:off x="7159752" y="3474720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三个反向动作</a:t>
            </a:r>
          </a:p>
        </p:txBody>
      </p:sp>
      <p:sp>
        <p:nvSpPr>
          <p:cNvPr id="38" name="CardBody 38"/>
          <p:cNvSpPr/>
          <p:nvPr/>
        </p:nvSpPr>
        <p:spPr>
          <a:xfrm>
            <a:off x="7269480" y="3840480"/>
            <a:ext cx="4764024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先问“有没有人看法不一样”，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再问“同意的说说理由”；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公开感谢提反对意见的人，哪怕没采纳；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匿名通道：纸条、二维码问卷，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给不敢当面说的人一条出口。</a:t>
            </a:r>
          </a:p>
        </p:txBody>
      </p:sp>
      <p:sp>
        <p:nvSpPr>
          <p:cNvPr id="39" name="Shape 39"/>
          <p:cNvSpPr/>
          <p:nvPr/>
        </p:nvSpPr>
        <p:spPr>
          <a:xfrm>
            <a:off x="1929384" y="5285232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0" name="Banner 40"/>
          <p:cNvSpPr/>
          <p:nvPr/>
        </p:nvSpPr>
        <p:spPr>
          <a:xfrm>
            <a:off x="2093976" y="5285232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判断标准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一个班组健不健康，不看有没有人提意见，看提了之后那个人后来怎么样</a:t>
            </a:r>
          </a:p>
        </p:txBody>
      </p:sp>
      <p:sp>
        <p:nvSpPr>
          <p:cNvPr id="41" name="Note 41"/>
          <p:cNvSpPr/>
          <p:nvPr/>
        </p:nvSpPr>
        <p:spPr>
          <a:xfrm>
            <a:off x="1929384" y="5888736"/>
            <a:ext cx="10213848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如果提意见的人后来被边缘化，你不需要再做任何调查——班组已经学会了沉默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承诺升级：为什么明知道错了，却越投越多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沉没成本 + 面子，让错误的方案活得比它应得的更久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084832"/>
            <a:ext cx="5577840" cy="20482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084832"/>
            <a:ext cx="5577840" cy="329184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典型过程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450592"/>
            <a:ext cx="5358384" cy="1627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你力推一个改善方案，公开表过态；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第一个月数据不好，你说“再给点时间”；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第二个月更差，你追加投入、加派人手；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第三个月，你已经无法承认它不行了——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　因为承认它错，等于承认前三个月都白费。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于是方案继续，成本继续。</a:t>
            </a:r>
          </a:p>
        </p:txBody>
      </p:sp>
      <p:sp>
        <p:nvSpPr>
          <p:cNvPr id="17" name="Shape 17"/>
          <p:cNvSpPr/>
          <p:nvPr/>
        </p:nvSpPr>
        <p:spPr>
          <a:xfrm>
            <a:off x="7763256" y="2084832"/>
            <a:ext cx="4379976" cy="20482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7763256" y="2084832"/>
            <a:ext cx="4379976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为什么难停</a:t>
            </a:r>
          </a:p>
        </p:txBody>
      </p:sp>
      <p:sp>
        <p:nvSpPr>
          <p:cNvPr id="19" name="CardBody 19"/>
          <p:cNvSpPr/>
          <p:nvPr/>
        </p:nvSpPr>
        <p:spPr>
          <a:xfrm>
            <a:off x="7872984" y="2450592"/>
            <a:ext cx="4160520" cy="162763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沉没成本：已经投入的舍不得；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自我辩护：停下＝承认我错了；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公开承诺：当众说过的话收不回；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责任集中：这是我推的，我得负责。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——四个力量同时把你往前推。</a:t>
            </a:r>
          </a:p>
        </p:txBody>
      </p:sp>
      <p:sp>
        <p:nvSpPr>
          <p:cNvPr id="20" name="Shape 20"/>
          <p:cNvSpPr/>
          <p:nvPr/>
        </p:nvSpPr>
        <p:spPr>
          <a:xfrm>
            <a:off x="1929384" y="4279392"/>
            <a:ext cx="10213848" cy="14630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1929384" y="4279392"/>
            <a:ext cx="10213848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三个刹车装置（要在开始之前就装好）</a:t>
            </a:r>
          </a:p>
        </p:txBody>
      </p:sp>
      <p:sp>
        <p:nvSpPr>
          <p:cNvPr id="22" name="CardBody 22"/>
          <p:cNvSpPr/>
          <p:nvPr/>
        </p:nvSpPr>
        <p:spPr>
          <a:xfrm>
            <a:off x="2039112" y="4645152"/>
            <a:ext cx="999439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设退出条件：立项时就写明“到第几周若某指标未达到多少，方案终止”，把判断交给数据不是面子；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换人评估：让没参与推动的人来做中期评估，当事人评自己一定评不出问题；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允许体面撤退：公开表扬“及时叫停”的行为——如果停下来要挨批，就没人会停。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5870448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Banner 24"/>
          <p:cNvSpPr/>
          <p:nvPr/>
        </p:nvSpPr>
        <p:spPr>
          <a:xfrm>
            <a:off x="2093976" y="5870448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反常识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会喊停的班组长比会坚持的班组长更值钱——坚持很容易，判断什么时候不该坚持才难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工具三：名义群体法——一个 30 分钟就能用上的开会法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专治“全票通过”和“只有两个人发言”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39696"/>
            <a:ext cx="1823314" cy="122529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FlowHead 15"/>
          <p:cNvSpPr/>
          <p:nvPr/>
        </p:nvSpPr>
        <p:spPr>
          <a:xfrm>
            <a:off x="1929384" y="2139696"/>
            <a:ext cx="1823314" cy="310896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①独立写</a:t>
            </a:r>
          </a:p>
        </p:txBody>
      </p:sp>
      <p:sp>
        <p:nvSpPr>
          <p:cNvPr id="16" name="FlowBody 16"/>
          <p:cNvSpPr/>
          <p:nvPr/>
        </p:nvSpPr>
        <p:spPr>
          <a:xfrm>
            <a:off x="1984248" y="2487168"/>
            <a:ext cx="1713586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5分钟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各自写下想法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不讨论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3789274" y="2752344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4027018" y="2139696"/>
            <a:ext cx="1823314" cy="122529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9" name="FlowHead 19"/>
          <p:cNvSpPr/>
          <p:nvPr/>
        </p:nvSpPr>
        <p:spPr>
          <a:xfrm>
            <a:off x="4027018" y="2139696"/>
            <a:ext cx="1823314" cy="310896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②轮流说</a:t>
            </a:r>
          </a:p>
        </p:txBody>
      </p:sp>
      <p:sp>
        <p:nvSpPr>
          <p:cNvPr id="20" name="FlowBody 20"/>
          <p:cNvSpPr/>
          <p:nvPr/>
        </p:nvSpPr>
        <p:spPr>
          <a:xfrm>
            <a:off x="4081882" y="2487168"/>
            <a:ext cx="1713586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每人只说一条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不评价不辩论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5886907" y="2752344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2" name="Shape 22"/>
          <p:cNvSpPr/>
          <p:nvPr/>
        </p:nvSpPr>
        <p:spPr>
          <a:xfrm>
            <a:off x="6124651" y="2139696"/>
            <a:ext cx="1823314" cy="122529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3" name="FlowHead 23"/>
          <p:cNvSpPr/>
          <p:nvPr/>
        </p:nvSpPr>
        <p:spPr>
          <a:xfrm>
            <a:off x="6124651" y="2139696"/>
            <a:ext cx="1823314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③澄清</a:t>
            </a:r>
          </a:p>
        </p:txBody>
      </p:sp>
      <p:sp>
        <p:nvSpPr>
          <p:cNvPr id="24" name="FlowBody 24"/>
          <p:cNvSpPr/>
          <p:nvPr/>
        </p:nvSpPr>
        <p:spPr>
          <a:xfrm>
            <a:off x="6179515" y="2487168"/>
            <a:ext cx="1713586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只问是什么意思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不问为什么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7984541" y="2752344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8222285" y="2139696"/>
            <a:ext cx="1823314" cy="122529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C02F2B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7" name="FlowHead 27"/>
          <p:cNvSpPr/>
          <p:nvPr/>
        </p:nvSpPr>
        <p:spPr>
          <a:xfrm>
            <a:off x="8222285" y="2139696"/>
            <a:ext cx="1823314" cy="310896"/>
          </a:xfrm>
          <a:prstGeom prst="rect">
            <a:avLst/>
          </a:prstGeom>
          <a:solidFill>
            <a:srgbClr val="C02F2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④独立投</a:t>
            </a:r>
          </a:p>
        </p:txBody>
      </p:sp>
      <p:sp>
        <p:nvSpPr>
          <p:cNvPr id="28" name="FlowBody 28"/>
          <p:cNvSpPr/>
          <p:nvPr/>
        </p:nvSpPr>
        <p:spPr>
          <a:xfrm>
            <a:off x="8277149" y="2487168"/>
            <a:ext cx="1713586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心中前三名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不记名排序</a:t>
            </a:r>
          </a:p>
        </p:txBody>
      </p:sp>
      <p:cxnSp>
        <p:nvCxnSpPr>
          <p:cNvPr id="29" name="Arrow 29"/>
          <p:cNvCxnSpPr/>
          <p:nvPr/>
        </p:nvCxnSpPr>
        <p:spPr>
          <a:xfrm>
            <a:off x="10082174" y="2752344"/>
            <a:ext cx="201168" cy="0"/>
          </a:xfrm>
          <a:prstGeom prst="straightConnector1">
            <a:avLst/>
          </a:prstGeom>
          <a:ln w="25400" cap="flat">
            <a:solidFill>
              <a:srgbClr val="FFFFFF"/>
            </a:solidFill>
            <a:tailEnd type="triangle" w="med" len="med"/>
          </a:ln>
        </p:spPr>
      </p:cxnSp>
      <p:sp>
        <p:nvSpPr>
          <p:cNvPr id="30" name="Shape 30"/>
          <p:cNvSpPr/>
          <p:nvPr/>
        </p:nvSpPr>
        <p:spPr>
          <a:xfrm>
            <a:off x="10319918" y="2139696"/>
            <a:ext cx="1823314" cy="122529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 cap="flat" cmpd="sng" algn="ctr">
            <a:solidFill>
              <a:srgbClr val="6A4C9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1" name="FlowHead 31"/>
          <p:cNvSpPr/>
          <p:nvPr/>
        </p:nvSpPr>
        <p:spPr>
          <a:xfrm>
            <a:off x="10319918" y="2139696"/>
            <a:ext cx="1823314" cy="310896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⑤看结果</a:t>
            </a:r>
          </a:p>
        </p:txBody>
      </p:sp>
      <p:sp>
        <p:nvSpPr>
          <p:cNvPr id="32" name="FlowBody 32"/>
          <p:cNvSpPr/>
          <p:nvPr/>
        </p:nvSpPr>
        <p:spPr>
          <a:xfrm>
            <a:off x="10374782" y="2487168"/>
            <a:ext cx="1713586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票数出来</a:t>
            </a:r>
            <a:b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只议分歧最大的</a:t>
            </a:r>
          </a:p>
        </p:txBody>
      </p:sp>
      <p:sp>
        <p:nvSpPr>
          <p:cNvPr id="33" name="Shape 33"/>
          <p:cNvSpPr/>
          <p:nvPr/>
        </p:nvSpPr>
        <p:spPr>
          <a:xfrm>
            <a:off x="1929384" y="3602736"/>
            <a:ext cx="4983480" cy="157276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4" name="CardHead 34"/>
          <p:cNvSpPr/>
          <p:nvPr/>
        </p:nvSpPr>
        <p:spPr>
          <a:xfrm>
            <a:off x="1929384" y="3602736"/>
            <a:ext cx="4983480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它解决了什么</a:t>
            </a:r>
          </a:p>
        </p:txBody>
      </p:sp>
      <p:sp>
        <p:nvSpPr>
          <p:cNvPr id="35" name="CardBody 35"/>
          <p:cNvSpPr/>
          <p:nvPr/>
        </p:nvSpPr>
        <p:spPr>
          <a:xfrm>
            <a:off x="2039112" y="3968496"/>
            <a:ext cx="4764024" cy="115214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独立写 → 破解从众和沉默的螺旋；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轮流说 → 破解“只有敢说的人说话”；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不评价 → 破解自我审查；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不记名投票 → 破解领导先定调和群体极化。</a:t>
            </a:r>
          </a:p>
        </p:txBody>
      </p:sp>
      <p:sp>
        <p:nvSpPr>
          <p:cNvPr id="36" name="Shape 36"/>
          <p:cNvSpPr/>
          <p:nvPr/>
        </p:nvSpPr>
        <p:spPr>
          <a:xfrm>
            <a:off x="7159752" y="3602736"/>
            <a:ext cx="4983480" cy="157276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37" name="CardHead 37"/>
          <p:cNvSpPr/>
          <p:nvPr/>
        </p:nvSpPr>
        <p:spPr>
          <a:xfrm>
            <a:off x="7159752" y="3602736"/>
            <a:ext cx="498348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适用场景</a:t>
            </a:r>
          </a:p>
        </p:txBody>
      </p:sp>
      <p:sp>
        <p:nvSpPr>
          <p:cNvPr id="38" name="CardBody 38"/>
          <p:cNvSpPr/>
          <p:nvPr/>
        </p:nvSpPr>
        <p:spPr>
          <a:xfrm>
            <a:off x="7269480" y="3968496"/>
            <a:ext cx="4764024" cy="115214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班组改善提案征集；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定月度目标、分配难工位；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异常复盘找可能原因（先发散再收敛）；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不适用：安全红线、参数标准——这些不投票。</a:t>
            </a:r>
          </a:p>
        </p:txBody>
      </p:sp>
      <p:sp>
        <p:nvSpPr>
          <p:cNvPr id="39" name="Shape 39"/>
          <p:cNvSpPr/>
          <p:nvPr/>
        </p:nvSpPr>
        <p:spPr>
          <a:xfrm>
            <a:off x="1929384" y="5321808"/>
            <a:ext cx="10213848" cy="566928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40" name="Banner 40"/>
          <p:cNvSpPr/>
          <p:nvPr/>
        </p:nvSpPr>
        <p:spPr>
          <a:xfrm>
            <a:off x="2093976" y="5321808"/>
            <a:ext cx="988466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实测效果　</a:t>
            </a: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同一个班组，用这个方法开会，提出的方案数量通常是自由讨论的 2~3 倍</a:t>
            </a:r>
          </a:p>
        </p:txBody>
      </p:sp>
      <p:sp>
        <p:nvSpPr>
          <p:cNvPr id="41" name="Note 41"/>
          <p:cNvSpPr/>
          <p:nvPr/>
        </p:nvSpPr>
        <p:spPr>
          <a:xfrm>
            <a:off x="1929384" y="5907024"/>
            <a:ext cx="10213848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关键在第①步：只要让大家先写下来，后面所有的群体偏差都会明显减弱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/>
          <p:nvPr/>
        </p:nvSpPr>
        <p:spPr>
          <a:xfrm>
            <a:off x="274320" y="0"/>
            <a:ext cx="11612880" cy="612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个体及群体行为分析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7432" y="603504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4" name="Nav 4"/>
          <p:cNvSpPr/>
          <p:nvPr/>
        </p:nvSpPr>
        <p:spPr>
          <a:xfrm>
            <a:off x="832104" y="658368"/>
            <a:ext cx="3017520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个体行为的底层逻辑</a:t>
            </a:r>
          </a:p>
        </p:txBody>
      </p:sp>
      <p:sp>
        <p:nvSpPr>
          <p:cNvPr id="5" name="Nav 5"/>
          <p:cNvSpPr/>
          <p:nvPr/>
        </p:nvSpPr>
        <p:spPr>
          <a:xfrm>
            <a:off x="4215384" y="658368"/>
            <a:ext cx="3447288" cy="4297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群体、规范与团队</a:t>
            </a:r>
          </a:p>
        </p:txBody>
      </p:sp>
      <p:sp>
        <p:nvSpPr>
          <p:cNvPr id="6" name="Nav 6"/>
          <p:cNvSpPr/>
          <p:nvPr/>
        </p:nvSpPr>
        <p:spPr>
          <a:xfrm>
            <a:off x="7946136" y="658368"/>
            <a:ext cx="2907792" cy="429768"/>
          </a:xfrm>
          <a:prstGeom prst="flowChartAlternateProcess">
            <a:avLst/>
          </a:prstGeom>
          <a:solidFill>
            <a:srgbClr val="FFFF00"/>
          </a:solidFill>
          <a:ln w="25400" cap="flat" cmpd="sng" algn="ctr">
            <a:solidFill>
              <a:srgbClr val="FFFF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群体动力与影响力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6576" y="1133856"/>
            <a:ext cx="12134088" cy="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1819656" y="1179576"/>
            <a:ext cx="0" cy="5577840"/>
          </a:xfrm>
          <a:prstGeom prst="line">
            <a:avLst/>
          </a:prstGeom>
          <a:ln w="12700" cap="flat">
            <a:solidFill>
              <a:srgbClr val="FFFFFF"/>
            </a:solidFill>
          </a:ln>
        </p:spPr>
      </p:cxnSp>
      <p:sp>
        <p:nvSpPr>
          <p:cNvPr id="9" name="Side 9"/>
          <p:cNvSpPr/>
          <p:nvPr/>
        </p:nvSpPr>
        <p:spPr>
          <a:xfrm>
            <a:off x="36576" y="1965960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群体决策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的陷阱</a:t>
            </a:r>
          </a:p>
        </p:txBody>
      </p:sp>
      <p:sp>
        <p:nvSpPr>
          <p:cNvPr id="10" name="Side 10"/>
          <p:cNvSpPr/>
          <p:nvPr/>
        </p:nvSpPr>
        <p:spPr>
          <a:xfrm>
            <a:off x="36576" y="3236976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非正式组织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与沟通网</a:t>
            </a:r>
          </a:p>
        </p:txBody>
      </p:sp>
      <p:sp>
        <p:nvSpPr>
          <p:cNvPr id="11" name="Side 11"/>
          <p:cNvSpPr/>
          <p:nvPr/>
        </p:nvSpPr>
        <p:spPr>
          <a:xfrm>
            <a:off x="36576" y="4453128"/>
            <a:ext cx="1691640" cy="658368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影响力与</a:t>
            </a:r>
          </a:p>
          <a:p>
            <a:pPr algn="ctr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行动落地</a:t>
            </a:r>
          </a:p>
        </p:txBody>
      </p:sp>
      <p:sp>
        <p:nvSpPr>
          <p:cNvPr id="12" name="H1 12"/>
          <p:cNvSpPr/>
          <p:nvPr/>
        </p:nvSpPr>
        <p:spPr>
          <a:xfrm>
            <a:off x="1929384" y="1225296"/>
            <a:ext cx="1021384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5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全课总结：从“他为什么这样”到“我明天做什么”</a:t>
            </a:r>
          </a:p>
        </p:txBody>
      </p:sp>
      <p:sp>
        <p:nvSpPr>
          <p:cNvPr id="13" name="H2 13"/>
          <p:cNvSpPr/>
          <p:nvPr/>
        </p:nvSpPr>
        <p:spPr>
          <a:xfrm>
            <a:off x="1929384" y="1664208"/>
            <a:ext cx="10213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三层认知，一条主线</a:t>
            </a:r>
          </a:p>
        </p:txBody>
      </p:sp>
      <p:sp>
        <p:nvSpPr>
          <p:cNvPr id="14" name="Shape 14"/>
          <p:cNvSpPr/>
          <p:nvPr/>
        </p:nvSpPr>
        <p:spPr>
          <a:xfrm>
            <a:off x="1929384" y="2139696"/>
            <a:ext cx="3282696" cy="26700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C6B5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5" name="CardHead 15"/>
          <p:cNvSpPr/>
          <p:nvPr/>
        </p:nvSpPr>
        <p:spPr>
          <a:xfrm>
            <a:off x="1929384" y="2139696"/>
            <a:ext cx="3282696" cy="329184"/>
          </a:xfrm>
          <a:prstGeom prst="rect">
            <a:avLst/>
          </a:prstGeom>
          <a:solidFill>
            <a:srgbClr val="2C6B5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看懂个体</a:t>
            </a:r>
          </a:p>
        </p:txBody>
      </p:sp>
      <p:sp>
        <p:nvSpPr>
          <p:cNvPr id="16" name="CardBody 16"/>
          <p:cNvSpPr/>
          <p:nvPr/>
        </p:nvSpPr>
        <p:spPr>
          <a:xfrm>
            <a:off x="2039112" y="2505456"/>
            <a:ext cx="3063240" cy="224942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行为=f（人，情境）</a:t>
            </a:r>
          </a:p>
          <a:p>
            <a:pPr algn="l">
              <a:lnSpc>
                <a:spcPct val="110000"/>
              </a:lnSpc>
              <a:spcBef>
                <a:spcPts val="9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先查环境，再查人</a:t>
            </a:r>
          </a:p>
          <a:p>
            <a:pPr algn="l">
              <a:lnSpc>
                <a:spcPct val="110000"/>
              </a:lnSpc>
              <a:spcBef>
                <a:spcPts val="9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归因三问：只有他吗/一直吗/只在这件事吗</a:t>
            </a:r>
          </a:p>
          <a:p>
            <a:pPr algn="l">
              <a:lnSpc>
                <a:spcPct val="110000"/>
              </a:lnSpc>
              <a:spcBef>
                <a:spcPts val="9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你在强化什么，就会得到什么</a:t>
            </a:r>
          </a:p>
        </p:txBody>
      </p:sp>
      <p:sp>
        <p:nvSpPr>
          <p:cNvPr id="17" name="Shape 17"/>
          <p:cNvSpPr/>
          <p:nvPr/>
        </p:nvSpPr>
        <p:spPr>
          <a:xfrm>
            <a:off x="5394960" y="2139696"/>
            <a:ext cx="3282696" cy="26700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55E24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18" name="CardHead 18"/>
          <p:cNvSpPr/>
          <p:nvPr/>
        </p:nvSpPr>
        <p:spPr>
          <a:xfrm>
            <a:off x="5394960" y="2139696"/>
            <a:ext cx="3282696" cy="329184"/>
          </a:xfrm>
          <a:prstGeom prst="rect">
            <a:avLst/>
          </a:prstGeom>
          <a:solidFill>
            <a:srgbClr val="E55E2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看懂群体</a:t>
            </a:r>
          </a:p>
        </p:txBody>
      </p:sp>
      <p:sp>
        <p:nvSpPr>
          <p:cNvPr id="19" name="CardBody 19"/>
          <p:cNvSpPr/>
          <p:nvPr/>
        </p:nvSpPr>
        <p:spPr>
          <a:xfrm>
            <a:off x="5504688" y="2505456"/>
            <a:ext cx="3063240" cy="224942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规范比制度更早生效</a:t>
            </a:r>
          </a:p>
          <a:p>
            <a:pPr algn="l">
              <a:lnSpc>
                <a:spcPct val="110000"/>
              </a:lnSpc>
              <a:spcBef>
                <a:spcPts val="9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角色模糊比冲突更消耗人</a:t>
            </a:r>
          </a:p>
          <a:p>
            <a:pPr algn="l">
              <a:lnSpc>
                <a:spcPct val="110000"/>
              </a:lnSpc>
              <a:spcBef>
                <a:spcPts val="9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人多不等于力量大</a:t>
            </a:r>
          </a:p>
          <a:p>
            <a:pPr algn="l">
              <a:lnSpc>
                <a:spcPct val="110000"/>
              </a:lnSpc>
              <a:spcBef>
                <a:spcPts val="9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凝聚力是放大器，方向对才有用</a:t>
            </a:r>
          </a:p>
        </p:txBody>
      </p:sp>
      <p:sp>
        <p:nvSpPr>
          <p:cNvPr id="20" name="Shape 20"/>
          <p:cNvSpPr/>
          <p:nvPr/>
        </p:nvSpPr>
        <p:spPr>
          <a:xfrm>
            <a:off x="8860536" y="2139696"/>
            <a:ext cx="3282696" cy="26700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2E75B6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1" name="CardHead 21"/>
          <p:cNvSpPr/>
          <p:nvPr/>
        </p:nvSpPr>
        <p:spPr>
          <a:xfrm>
            <a:off x="8860536" y="2139696"/>
            <a:ext cx="3282696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用得上手</a:t>
            </a:r>
          </a:p>
        </p:txBody>
      </p:sp>
      <p:sp>
        <p:nvSpPr>
          <p:cNvPr id="22" name="CardBody 22"/>
          <p:cNvSpPr/>
          <p:nvPr/>
        </p:nvSpPr>
        <p:spPr>
          <a:xfrm>
            <a:off x="8970264" y="2505456"/>
            <a:ext cx="3063240" cy="224942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决策分“对不对”和“愿不愿”</a:t>
            </a:r>
          </a:p>
          <a:p>
            <a:pPr algn="l">
              <a:lnSpc>
                <a:spcPct val="110000"/>
              </a:lnSpc>
              <a:spcBef>
                <a:spcPts val="9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异议要指定，不能靠自愿</a:t>
            </a:r>
          </a:p>
          <a:p>
            <a:pPr algn="l">
              <a:lnSpc>
                <a:spcPct val="110000"/>
              </a:lnSpc>
              <a:spcBef>
                <a:spcPts val="9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专家权和参照权才是你的底牌</a:t>
            </a:r>
          </a:p>
          <a:p>
            <a:pPr algn="l">
              <a:lnSpc>
                <a:spcPct val="110000"/>
              </a:lnSpc>
              <a:spcBef>
                <a:spcPts val="9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 天：看见 → 调整 → 固化</a:t>
            </a:r>
          </a:p>
        </p:txBody>
      </p:sp>
      <p:sp>
        <p:nvSpPr>
          <p:cNvPr id="23" name="Shape 23"/>
          <p:cNvSpPr/>
          <p:nvPr/>
        </p:nvSpPr>
        <p:spPr>
          <a:xfrm>
            <a:off x="1929384" y="4956048"/>
            <a:ext cx="10213848" cy="11887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587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24" name="CardHead 24"/>
          <p:cNvSpPr/>
          <p:nvPr/>
        </p:nvSpPr>
        <p:spPr>
          <a:xfrm>
            <a:off x="1929384" y="4956048"/>
            <a:ext cx="10213848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把课程开始时你写的那张《困境卡》拿出来</a:t>
            </a:r>
          </a:p>
        </p:txBody>
      </p:sp>
      <p:sp>
        <p:nvSpPr>
          <p:cNvPr id="25" name="CardBody 25"/>
          <p:cNvSpPr/>
          <p:nvPr/>
        </p:nvSpPr>
        <p:spPr>
          <a:xfrm>
            <a:off x="2039112" y="5321808"/>
            <a:ext cx="9994392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现在再看一遍：那件让你想不通的事，是 P 的问题还是 E 的问题？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是个体行为，还是群体规范？是能力不足，还是你无意中强化了它？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zh-CN" altLang="en-US" sz="16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如果答案变了，这一天就没白上。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2"/>
          <p:cNvSpPr/>
          <p:nvPr/>
        </p:nvSpPr>
        <p:spPr>
          <a:xfrm>
            <a:off x="365760" y="420624"/>
            <a:ext cx="1691640" cy="512064"/>
          </a:xfrm>
          <a:prstGeom prst="roundRect">
            <a:avLst>
              <a:gd name="adj" fmla="val 22000"/>
            </a:avLst>
          </a:prstGeom>
          <a:solidFill>
            <a:srgbClr val="E67E22"/>
          </a:solidFill>
          <a:ln w="19050" cap="flat" cmpd="sng" algn="ctr">
            <a:solidFill>
              <a:srgbClr val="F5C8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结课任务</a:t>
            </a:r>
          </a:p>
        </p:txBody>
      </p:sp>
      <p:sp>
        <p:nvSpPr>
          <p:cNvPr id="3" name="TTTitle 3"/>
          <p:cNvSpPr/>
          <p:nvPr/>
        </p:nvSpPr>
        <p:spPr>
          <a:xfrm>
            <a:off x="2194560" y="402336"/>
            <a:ext cx="96469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buNone/>
            </a:pPr>
            <a:r>
              <a:rPr lang="zh-CN" altLang="en-US" sz="2100" b="1" dirty="0">
                <a:solidFill>
                  <a:srgbClr val="F5D3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综合情境：一条产线上同时发生的五件事，你怎么排序处理？</a:t>
            </a:r>
          </a:p>
        </p:txBody>
      </p:sp>
      <p:sp>
        <p:nvSpPr>
          <p:cNvPr id="4" name="Shape 4"/>
          <p:cNvSpPr/>
          <p:nvPr/>
        </p:nvSpPr>
        <p:spPr>
          <a:xfrm>
            <a:off x="365760" y="1097280"/>
            <a:ext cx="11475720" cy="212140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7D3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5" name="TTSitHead 5"/>
          <p:cNvSpPr/>
          <p:nvPr/>
        </p:nvSpPr>
        <p:spPr>
          <a:xfrm>
            <a:off x="365760" y="1097280"/>
            <a:ext cx="1188720" cy="21214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  境</a:t>
            </a:r>
          </a:p>
        </p:txBody>
      </p:sp>
      <p:sp>
        <p:nvSpPr>
          <p:cNvPr id="6" name="TTSit 6"/>
          <p:cNvSpPr/>
          <p:nvPr/>
        </p:nvSpPr>
        <p:spPr>
          <a:xfrm>
            <a:off x="1700784" y="1152144"/>
            <a:ext cx="10012680" cy="20116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线 12 人（5 名工龄 5 年以上、4 名 1~3 年、3 名入职不满两月），本月定额 9000 件/日。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本周同时出现：① 连续两周日均只做到 8600，谁问都说“已经尽力”；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新人小王上周主动报了一次来料异常，被追问半天后，本周再没报过任何异常；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班前会推行新点检表，全票通过，两周后执行率剩 40%；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老师傅老李最近对新人说话很冲，两名新人已私下问过能不能换班组；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zh-CN" altLang="en-US" sz="1600" b="1" dirty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车间要调 3 人来支援急单，原班组员工普遍不欢迎。</a:t>
            </a:r>
          </a:p>
        </p:txBody>
      </p:sp>
      <p:sp>
        <p:nvSpPr>
          <p:cNvPr id="7" name="Shape 7"/>
          <p:cNvSpPr/>
          <p:nvPr/>
        </p:nvSpPr>
        <p:spPr>
          <a:xfrm>
            <a:off x="365760" y="3419856"/>
            <a:ext cx="11475720" cy="3072384"/>
          </a:xfrm>
          <a:prstGeom prst="rect">
            <a:avLst/>
          </a:prstGeom>
          <a:solidFill>
            <a:srgbClr val="FFF7E8"/>
          </a:solidFill>
          <a:ln w="22225" cap="flat" cmpd="sng" algn="ctr">
            <a:solidFill>
              <a:srgbClr val="E67E2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buNone/>
            </a:pPr>
          </a:p>
        </p:txBody>
      </p:sp>
      <p:sp>
        <p:nvSpPr>
          <p:cNvPr id="8" name="TTHead 8"/>
          <p:cNvSpPr/>
          <p:nvPr/>
        </p:nvSpPr>
        <p:spPr>
          <a:xfrm>
            <a:off x="365760" y="3419856"/>
            <a:ext cx="11475720" cy="42062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  队  任  务</a:t>
            </a:r>
          </a:p>
        </p:txBody>
      </p:sp>
      <p:sp>
        <p:nvSpPr>
          <p:cNvPr id="9" name="TTTasks 9"/>
          <p:cNvSpPr/>
          <p:nvPr/>
        </p:nvSpPr>
        <p:spPr>
          <a:xfrm>
            <a:off x="566928" y="3895344"/>
            <a:ext cx="11064240" cy="217627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zh-CN" altLang="en-US" sz="17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用「B=f(P,E)」判断：这五件事里，哪几件根本不是“人的问题”？先查哪个 E？</a:t>
            </a:r>
          </a:p>
          <a:p>
            <a:pPr algn="l">
              <a:lnSpc>
                <a:spcPct val="104000"/>
              </a:lnSpc>
              <a:spcBef>
                <a:spcPts val="700"/>
              </a:spcBef>
              <a:buNone/>
            </a:pPr>
            <a:r>
              <a:rPr lang="zh-CN" altLang="en-US" sz="17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用「归因三维度」分析②：小王为什么不报了？你无意中强化了什么行为？</a:t>
            </a:r>
          </a:p>
          <a:p>
            <a:pPr algn="l">
              <a:lnSpc>
                <a:spcPct val="104000"/>
              </a:lnSpc>
              <a:spcBef>
                <a:spcPts val="700"/>
              </a:spcBef>
              <a:buNone/>
            </a:pPr>
            <a:r>
              <a:rPr lang="zh-CN" altLang="en-US" sz="17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用「群体规范」解释①：8600 这个数字背后，班组在保护什么？怎么破？</a:t>
            </a:r>
          </a:p>
          <a:p>
            <a:pPr algn="l">
              <a:lnSpc>
                <a:spcPct val="104000"/>
              </a:lnSpc>
              <a:spcBef>
                <a:spcPts val="700"/>
              </a:spcBef>
              <a:buNone/>
            </a:pPr>
            <a:r>
              <a:rPr lang="zh-CN" altLang="en-US" sz="17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用「群体思维八信号」诊断③：全票通过说明了什么？下次会议你改哪三点？</a:t>
            </a:r>
          </a:p>
          <a:p>
            <a:pPr algn="l">
              <a:lnSpc>
                <a:spcPct val="104000"/>
              </a:lnSpc>
              <a:spcBef>
                <a:spcPts val="700"/>
              </a:spcBef>
              <a:buNone/>
            </a:pPr>
            <a:r>
              <a:rPr lang="zh-CN" altLang="en-US" sz="17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用「一贯性 + 五种权力」处理④：老李的变化起点可能是什么？你用哪种权力？</a:t>
            </a:r>
          </a:p>
          <a:p>
            <a:pPr algn="l">
              <a:lnSpc>
                <a:spcPct val="104000"/>
              </a:lnSpc>
              <a:spcBef>
                <a:spcPts val="700"/>
              </a:spcBef>
              <a:buNone/>
            </a:pPr>
            <a:r>
              <a:rPr lang="zh-CN" altLang="en-US" sz="17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</a:t>
            </a: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用「社会惰化」设计⑤：3 名支援人力怎么安排，才不会让产出反而下降？</a:t>
            </a:r>
          </a:p>
          <a:p>
            <a:pPr algn="l">
              <a:lnSpc>
                <a:spcPct val="104000"/>
              </a:lnSpc>
              <a:spcBef>
                <a:spcPts val="700"/>
              </a:spcBef>
              <a:buNone/>
            </a:pPr>
            <a:r>
              <a:rPr lang="zh-CN" altLang="en-US" sz="1700" b="1" dirty="0">
                <a:solidFill>
                  <a:srgbClr val="2C6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⑦</a:t>
            </a:r>
            <a:r>
              <a:rPr lang="zh-CN" altLang="en-US" sz="1700" b="1" dirty="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　最后：把这五件事排一个处理顺序，并说明为什么先做这一件</a:t>
            </a:r>
          </a:p>
        </p:txBody>
      </p:sp>
      <p:sp>
        <p:nvSpPr>
          <p:cNvPr id="10" name="TTScore 10"/>
          <p:cNvSpPr/>
          <p:nvPr/>
        </p:nvSpPr>
        <p:spPr>
          <a:xfrm>
            <a:off x="365760" y="6089904"/>
            <a:ext cx="11475720" cy="40233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201168" tIns="45720" rIns="91440" bIns="45720" rtlCol="0" anchor="ctr">
            <a:no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2B1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 xml:space="preserve">产　出　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每组一份《A 线处置方案》，10 分钟汇报：排序 + 理由 + 第一周三个具体动作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33.xml><?xml version="1.0" encoding="utf-8"?>
<p:tagLst xmlns:p="http://schemas.openxmlformats.org/presentationml/2006/main">
  <p:tag name="OFFICEPLUS.IMAGE" val="New_Batches_0919_Outline/20231113/images_object_12001_13000/68dcff1f-4e56-4a09-acbf-ec98754c93f1-2.source.default.zh-Hans.jpg"/>
  <p:tag name="OFFICEPLUS.THEME" val="New_Batches_0919_Outline/20231113/images_object_12001_13000/68dcff1f-4e56-4a09-acbf-ec98754c93f1-2.source.default.zh-Hans-6.pptx"/>
  <p:tag name="OFFICEPLUS.OUTLINE" val="306872"/>
  <p:tag name="OFFICEPLUS.OUTLINEEXTERNAL" val="e3b788c9-9a19-a3a8-51f5-3a4d4f4b9ed9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A6191"/>
      </a:accent1>
      <a:accent2>
        <a:srgbClr val="36A5DE"/>
      </a:accent2>
      <a:accent3>
        <a:srgbClr val="009FC3"/>
      </a:accent3>
      <a:accent4>
        <a:srgbClr val="86C0F0"/>
      </a:accent4>
      <a:accent5>
        <a:srgbClr val="6C6C6C"/>
      </a:accent5>
      <a:accent6>
        <a:srgbClr val="8C8C8C"/>
      </a:accent6>
      <a:hlink>
        <a:srgbClr val="4472C4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13865</Words>
  <Application>WPS 演示</Application>
  <PresentationFormat>宽屏</PresentationFormat>
  <Paragraphs>1838</Paragraphs>
  <Slides>60</Slides>
  <Notes>29</Notes>
  <HiddenSlides>0</HiddenSlides>
  <MMClips>0</MMClips>
  <ScaleCrop>false</ScaleCrop>
  <Company>OfficePLUS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个体及群体行为分析｜亚德客企业内训</dc:title>
  <dc:creator>嘉兴大学商学院</dc:creator>
  <cp:lastModifiedBy>蔡鑫宇</cp:lastModifiedBy>
  <cp:revision>170</cp:revision>
  <dcterms:created xsi:type="dcterms:W3CDTF">2023-07-20T03:04:00Z</dcterms:created>
  <dcterms:modified xsi:type="dcterms:W3CDTF">2026-05-29T15:21:53Z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EF00F6A2EFC24B28BC681254F09E400E_12</vt:lpwstr>
  </property>
  <property fmtid="{D5CDD505-2E9C-101B-9397-08002B2CF9AE}" pid="3" name="KSOProductBuildVer">
    <vt:lpwstr>2052-12.1.0.24031</vt:lpwstr>
  </property>
</Properties>
</file>