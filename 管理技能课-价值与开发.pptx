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ableStyles.xml" ContentType="application/vnd.openxmlformats-officedocument.presentationml.tableStyles+xml"/>
  <Override PartName="/ppt/tags/tag3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59" r:id="rId3"/>
  </p:sldMasterIdLst>
  <p:notesMasterIdLst>
    <p:notesMasterId r:id="rId5"/>
  </p:notesMasterIdLst>
  <p:handoutMasterIdLst>
    <p:handoutMasterId r:id="rId56"/>
  </p:handoutMasterIdLst>
  <p:sldIdLst>
    <p:sldId id="256" r:id="rIdSL1"/>
    <p:sldId id="257" r:id="rIdSL2"/>
    <p:sldId id="258" r:id="rIdSL3"/>
    <p:sldId id="259" r:id="rIdSL4"/>
    <p:sldId id="260" r:id="rIdSL5"/>
    <p:sldId id="261" r:id="rIdSL6"/>
    <p:sldId id="262" r:id="rIdSL7"/>
    <p:sldId id="263" r:id="rIdSL8"/>
    <p:sldId id="264" r:id="rIdSL9"/>
    <p:sldId id="265" r:id="rIdSL10"/>
    <p:sldId id="266" r:id="rIdSL11"/>
    <p:sldId id="267" r:id="rIdSL12"/>
    <p:sldId id="268" r:id="rIdSL13"/>
    <p:sldId id="269" r:id="rIdSL14"/>
    <p:sldId id="270" r:id="rIdSL15"/>
    <p:sldId id="271" r:id="rIdSL16"/>
    <p:sldId id="272" r:id="rIdSL17"/>
    <p:sldId id="273" r:id="rIdSL18"/>
    <p:sldId id="274" r:id="rIdSL19"/>
    <p:sldId id="275" r:id="rIdSL20"/>
    <p:sldId id="276" r:id="rIdSL21"/>
    <p:sldId id="277" r:id="rIdSL22"/>
    <p:sldId id="278" r:id="rIdSL23"/>
    <p:sldId id="279" r:id="rIdSL24"/>
    <p:sldId id="280" r:id="rIdSL25"/>
    <p:sldId id="281" r:id="rIdSL26"/>
    <p:sldId id="282" r:id="rIdSL27"/>
    <p:sldId id="283" r:id="rIdSL28"/>
    <p:sldId id="284" r:id="rIdSL29"/>
    <p:sldId id="285" r:id="rIdSL30"/>
    <p:sldId id="286" r:id="rIdSL31"/>
    <p:sldId id="287" r:id="rIdSL32"/>
    <p:sldId id="288" r:id="rIdSL33"/>
    <p:sldId id="289" r:id="rIdSL34"/>
    <p:sldId id="290" r:id="rIdSL35"/>
    <p:sldId id="291" r:id="rIdSL36"/>
    <p:sldId id="292" r:id="rIdSL37"/>
    <p:sldId id="293" r:id="rIdSL38"/>
    <p:sldId id="294" r:id="rIdSL39"/>
    <p:sldId id="295" r:id="rIdSL40"/>
    <p:sldId id="296" r:id="rIdSL41"/>
    <p:sldId id="297" r:id="rIdSL42"/>
    <p:sldId id="298" r:id="rIdSL43"/>
    <p:sldId id="299" r:id="rIdSL44"/>
    <p:sldId id="300" r:id="rIdSL45"/>
    <p:sldId id="301" r:id="rIdSL46"/>
    <p:sldId id="302" r:id="rIdSL47"/>
    <p:sldId id="303" r:id="rIdSL48"/>
    <p:sldId id="304" r:id="rIdSL49"/>
    <p:sldId id="305" r:id="rIdSL50"/>
    <p:sldId id="306" r:id="rIdSL51"/>
    <p:sldId id="307" r:id="rIdSL52"/>
    <p:sldId id="308" r:id="rIdSL53"/>
    <p:sldId id="309" r:id="rIdSL54"/>
    <p:sldId id="310" r:id="rIdSL55"/>
    <p:sldId id="311" r:id="rIdSL56"/>
    <p:sldId id="312" r:id="rIdSL57"/>
    <p:sldId id="313" r:id="rIdSL58"/>
    <p:sldId id="314" r:id="rIdSL59"/>
    <p:sldId id="315" r:id="rIdSL60"/>
  </p:sldIdLst>
  <p:sldSz cx="12192000" cy="6858000"/>
  <p:notesSz cx="6858000" cy="9144000"/>
  <p:custDataLst>
    <p:tags r:id="rId6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C5148"/>
    <a:srgbClr val="D66C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浅色样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31" autoAdjust="0"/>
    <p:restoredTop sz="93909" autoAdjust="0"/>
  </p:normalViewPr>
  <p:slideViewPr>
    <p:cSldViewPr snapToGrid="0">
      <p:cViewPr varScale="1">
        <p:scale>
          <a:sx n="83" d="100"/>
          <a:sy n="83" d="100"/>
        </p:scale>
        <p:origin x="252" y="45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33" d="100"/>
        <a:sy n="133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0" Type="http://schemas.openxmlformats.org/officeDocument/2006/relationships/tags" Target="tags/tag33.xml"/><Relationship Id="rId6" Type="http://schemas.openxmlformats.org/officeDocument/2006/relationships/slide" Target="slides/slide2.xml"/><Relationship Id="rId59" Type="http://schemas.openxmlformats.org/officeDocument/2006/relationships/tableStyles" Target="tableStyles.xml"/><Relationship Id="rId58" Type="http://schemas.openxmlformats.org/officeDocument/2006/relationships/viewProps" Target="viewProps.xml"/><Relationship Id="rId57" Type="http://schemas.openxmlformats.org/officeDocument/2006/relationships/presProps" Target="presProps.xml"/><Relationship Id="rId56" Type="http://schemas.openxmlformats.org/officeDocument/2006/relationships/handoutMaster" Target="handoutMasters/handoutMaster1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Relationship Id="rIdSL1" Type="http://schemas.openxmlformats.org/officeDocument/2006/relationships/slide" Target="slides/slide1.xml"/><Relationship Id="rIdSL2" Type="http://schemas.openxmlformats.org/officeDocument/2006/relationships/slide" Target="slides/slide2.xml"/><Relationship Id="rIdSL3" Type="http://schemas.openxmlformats.org/officeDocument/2006/relationships/slide" Target="slides/slide3.xml"/><Relationship Id="rIdSL4" Type="http://schemas.openxmlformats.org/officeDocument/2006/relationships/slide" Target="slides/slide4.xml"/><Relationship Id="rIdSL5" Type="http://schemas.openxmlformats.org/officeDocument/2006/relationships/slide" Target="slides/slide5.xml"/><Relationship Id="rIdSL6" Type="http://schemas.openxmlformats.org/officeDocument/2006/relationships/slide" Target="slides/slide6.xml"/><Relationship Id="rIdSL7" Type="http://schemas.openxmlformats.org/officeDocument/2006/relationships/slide" Target="slides/slide7.xml"/><Relationship Id="rIdSL8" Type="http://schemas.openxmlformats.org/officeDocument/2006/relationships/slide" Target="slides/slide8.xml"/><Relationship Id="rIdSL9" Type="http://schemas.openxmlformats.org/officeDocument/2006/relationships/slide" Target="slides/slide9.xml"/><Relationship Id="rIdSL10" Type="http://schemas.openxmlformats.org/officeDocument/2006/relationships/slide" Target="slides/slide10.xml"/><Relationship Id="rIdSL11" Type="http://schemas.openxmlformats.org/officeDocument/2006/relationships/slide" Target="slides/slide11.xml"/><Relationship Id="rIdSL12" Type="http://schemas.openxmlformats.org/officeDocument/2006/relationships/slide" Target="slides/slide12.xml"/><Relationship Id="rIdSL13" Type="http://schemas.openxmlformats.org/officeDocument/2006/relationships/slide" Target="slides/slide13.xml"/><Relationship Id="rIdSL14" Type="http://schemas.openxmlformats.org/officeDocument/2006/relationships/slide" Target="slides/slide14.xml"/><Relationship Id="rIdSL15" Type="http://schemas.openxmlformats.org/officeDocument/2006/relationships/slide" Target="slides/slide15.xml"/><Relationship Id="rIdSL16" Type="http://schemas.openxmlformats.org/officeDocument/2006/relationships/slide" Target="slides/slide16.xml"/><Relationship Id="rIdSL17" Type="http://schemas.openxmlformats.org/officeDocument/2006/relationships/slide" Target="slides/slide17.xml"/><Relationship Id="rIdSL18" Type="http://schemas.openxmlformats.org/officeDocument/2006/relationships/slide" Target="slides/slide18.xml"/><Relationship Id="rIdSL19" Type="http://schemas.openxmlformats.org/officeDocument/2006/relationships/slide" Target="slides/slide19.xml"/><Relationship Id="rIdSL20" Type="http://schemas.openxmlformats.org/officeDocument/2006/relationships/slide" Target="slides/slide20.xml"/><Relationship Id="rIdSL21" Type="http://schemas.openxmlformats.org/officeDocument/2006/relationships/slide" Target="slides/slide21.xml"/><Relationship Id="rIdSL22" Type="http://schemas.openxmlformats.org/officeDocument/2006/relationships/slide" Target="slides/slide22.xml"/><Relationship Id="rIdSL23" Type="http://schemas.openxmlformats.org/officeDocument/2006/relationships/slide" Target="slides/slide23.xml"/><Relationship Id="rIdSL24" Type="http://schemas.openxmlformats.org/officeDocument/2006/relationships/slide" Target="slides/slide24.xml"/><Relationship Id="rIdSL25" Type="http://schemas.openxmlformats.org/officeDocument/2006/relationships/slide" Target="slides/slide25.xml"/><Relationship Id="rIdSL26" Type="http://schemas.openxmlformats.org/officeDocument/2006/relationships/slide" Target="slides/slide26.xml"/><Relationship Id="rIdSL27" Type="http://schemas.openxmlformats.org/officeDocument/2006/relationships/slide" Target="slides/slide27.xml"/><Relationship Id="rIdSL28" Type="http://schemas.openxmlformats.org/officeDocument/2006/relationships/slide" Target="slides/slide28.xml"/><Relationship Id="rIdSL29" Type="http://schemas.openxmlformats.org/officeDocument/2006/relationships/slide" Target="slides/slide29.xml"/><Relationship Id="rIdSL30" Type="http://schemas.openxmlformats.org/officeDocument/2006/relationships/slide" Target="slides/slide30.xml"/><Relationship Id="rIdSL31" Type="http://schemas.openxmlformats.org/officeDocument/2006/relationships/slide" Target="slides/slide31.xml"/><Relationship Id="rIdSL32" Type="http://schemas.openxmlformats.org/officeDocument/2006/relationships/slide" Target="slides/slide32.xml"/><Relationship Id="rIdSL33" Type="http://schemas.openxmlformats.org/officeDocument/2006/relationships/slide" Target="slides/slide33.xml"/><Relationship Id="rIdSL34" Type="http://schemas.openxmlformats.org/officeDocument/2006/relationships/slide" Target="slides/slide34.xml"/><Relationship Id="rIdSL35" Type="http://schemas.openxmlformats.org/officeDocument/2006/relationships/slide" Target="slides/slide35.xml"/><Relationship Id="rIdSL36" Type="http://schemas.openxmlformats.org/officeDocument/2006/relationships/slide" Target="slides/slide36.xml"/><Relationship Id="rIdSL37" Type="http://schemas.openxmlformats.org/officeDocument/2006/relationships/slide" Target="slides/slide37.xml"/><Relationship Id="rIdSL38" Type="http://schemas.openxmlformats.org/officeDocument/2006/relationships/slide" Target="slides/slide38.xml"/><Relationship Id="rIdSL39" Type="http://schemas.openxmlformats.org/officeDocument/2006/relationships/slide" Target="slides/slide39.xml"/><Relationship Id="rIdSL40" Type="http://schemas.openxmlformats.org/officeDocument/2006/relationships/slide" Target="slides/slide40.xml"/><Relationship Id="rIdSL41" Type="http://schemas.openxmlformats.org/officeDocument/2006/relationships/slide" Target="slides/slide41.xml"/><Relationship Id="rIdSL42" Type="http://schemas.openxmlformats.org/officeDocument/2006/relationships/slide" Target="slides/slide42.xml"/><Relationship Id="rIdSL43" Type="http://schemas.openxmlformats.org/officeDocument/2006/relationships/slide" Target="slides/slide43.xml"/><Relationship Id="rIdSL44" Type="http://schemas.openxmlformats.org/officeDocument/2006/relationships/slide" Target="slides/slide44.xml"/><Relationship Id="rIdSL45" Type="http://schemas.openxmlformats.org/officeDocument/2006/relationships/slide" Target="slides/slide45.xml"/><Relationship Id="rIdSL46" Type="http://schemas.openxmlformats.org/officeDocument/2006/relationships/slide" Target="slides/slide46.xml"/><Relationship Id="rIdSL47" Type="http://schemas.openxmlformats.org/officeDocument/2006/relationships/slide" Target="slides/slide47.xml"/><Relationship Id="rIdSL48" Type="http://schemas.openxmlformats.org/officeDocument/2006/relationships/slide" Target="slides/slide48.xml"/><Relationship Id="rIdSL49" Type="http://schemas.openxmlformats.org/officeDocument/2006/relationships/slide" Target="slides/slide49.xml"/><Relationship Id="rIdSL50" Type="http://schemas.openxmlformats.org/officeDocument/2006/relationships/slide" Target="slides/slide50.xml"/><Relationship Id="rIdSL51" Type="http://schemas.openxmlformats.org/officeDocument/2006/relationships/slide" Target="slides/slide51.xml"/><Relationship Id="rIdSL52" Type="http://schemas.openxmlformats.org/officeDocument/2006/relationships/slide" Target="slides/slide52.xml"/><Relationship Id="rIdSL53" Type="http://schemas.openxmlformats.org/officeDocument/2006/relationships/slide" Target="slides/slide53.xml"/><Relationship Id="rIdSL54" Type="http://schemas.openxmlformats.org/officeDocument/2006/relationships/slide" Target="slides/slide54.xml"/><Relationship Id="rIdSL55" Type="http://schemas.openxmlformats.org/officeDocument/2006/relationships/slide" Target="slides/slide55.xml"/><Relationship Id="rIdSL56" Type="http://schemas.openxmlformats.org/officeDocument/2006/relationships/slide" Target="slides/slide56.xml"/><Relationship Id="rIdSL57" Type="http://schemas.openxmlformats.org/officeDocument/2006/relationships/slide" Target="slides/slide57.xml"/><Relationship Id="rIdSL58" Type="http://schemas.openxmlformats.org/officeDocument/2006/relationships/slide" Target="slides/slide58.xml"/><Relationship Id="rIdSL59" Type="http://schemas.openxmlformats.org/officeDocument/2006/relationships/slide" Target="slides/slide59.xml"/><Relationship Id="rIdSL60" Type="http://schemas.openxmlformats.org/officeDocument/2006/relationships/slide" Target="slides/slide6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9A9E8B-8668-4EE9-81CF-39121E27677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3DABDA-89F0-4727-B28F-05A90B0069B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/>
              <a:t>开场白：今天这门课不谈“人才理念”，只谈三件事——你的价值怎么被看见、怎么被量出来、怎么被做大。</a:t>
            </a:r>
          </a:p>
          <a:p>
            <a:r>
              <a:rPr lang="zh-CN" altLang="en-US" sz="1200" dirty="0"/>
              <a:t>段子：培训界有个规律——凡是标题里带“赋能”“抓手”“打法”的课，学员回去第一件事是把 PPT 存进网盘，第二件事是再也不打开。所以今天每一页都会留一个能立刻动手的动作，你带走动作就行，PPT 我不检查。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/>
              <a:t>带法：不要让他们讲“理念”，只让他讲事。听到“我们团队整体氛围不太好”就打断，问“具体哪个人、哪一天、说了什么”。</a:t>
            </a:r>
          </a:p>
          <a:p>
            <a:r>
              <a:rPr lang="zh-CN" altLang="en-US" sz="1200" dirty="0"/>
              <a:t>这一步做扎实，后面九宫格、IDP、GROW 才有真素材可套；做虚了，下午的演练就会变成编故事。</a:t>
            </a:r>
          </a:p>
          <a:p>
            <a:r>
              <a:rPr lang="zh-CN" altLang="en-US" sz="1200" dirty="0"/>
              <a:t>段子：培训第一句话最好别问“大家有什么问题吗”——没人会举手。要问“最近哪件事让你想换个工作”，这时候手会举得很整齐。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/>
              <a:t>课程主线：上午把尺子做准（价值看得见、量得出），下午把人做大（开发、辅导、落地）。</a:t>
            </a:r>
          </a:p>
          <a:p>
            <a:r>
              <a:rPr lang="zh-CN" altLang="en-US" sz="1200" dirty="0"/>
              <a:t>四讲之间是链条：量不准 → 开发就会用错力；开发了不落地 → 三个月后回到原点。</a:t>
            </a:r>
          </a:p>
          <a:p>
            <a:r>
              <a:rPr lang="zh-CN" altLang="en-US" sz="1200" dirty="0"/>
              <a:t>段子：管理课上最危险的四个字是“我们知道”。知道和做到之间，隔着一个“下周一早上八点”。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/>
              <a:t>这一页只讲三分钟，重点是把“价值”从形容词拉回名词：差别、可测、有人愿意付钱。</a:t>
            </a:r>
          </a:p>
          <a:p>
            <a:r>
              <a:rPr lang="zh-CN" altLang="en-US" sz="1200" dirty="0"/>
              <a:t>段子：销售最怕两句话。客户说“你们和别家有什么不一样”，我们答“我们服务好”；客户接着问“怎么个好法”，空气就安静了。今天上午就是来把这段空气填满的。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/>
              <a:t>带法：讲完“乘法”那一句停一下，让每组说出本部门最堵的一个接口，写在难题卡背面，下午做 IDP 时要用。</a:t>
            </a:r>
          </a:p>
          <a:p>
            <a:r>
              <a:rPr lang="zh-CN" altLang="en-US" sz="1200" dirty="0"/>
              <a:t>段子：所谓“协同”，在很多公司的真实含义是——这件事到底该谁干，我们先开三次会确认一下，然后由最先松口的那个人干。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/>
              <a:t>带法：让学员当场估一下自己三类的比例，再问“你估的和你记的，会差多少”。</a:t>
            </a:r>
          </a:p>
          <a:p>
            <a:r>
              <a:rPr lang="zh-CN" altLang="en-US" sz="1200" dirty="0"/>
              <a:t>这个练习的价值不在数字，在于把“我很忙”翻译成“我忙在第几类”。</a:t>
            </a:r>
          </a:p>
          <a:p>
            <a:r>
              <a:rPr lang="zh-CN" altLang="en-US" sz="1200" dirty="0"/>
              <a:t>段子：销售的时间管理有个铁律——凡是没写进日程的事，都会自动被微信占领。一天下来手机步数一万二，客户档案一个字没多。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/>
              <a:t>这一页是全天最实用的一页，务必留 8 分钟让学员两两演练问这四个问题。</a:t>
            </a:r>
          </a:p>
          <a:p>
            <a:r>
              <a:rPr lang="zh-CN" altLang="en-US" sz="1200" dirty="0"/>
              <a:t>提醒：四个问题要在拜访现场问，不要变成发问卷。问完当场用手机算，算给客户看。</a:t>
            </a:r>
          </a:p>
          <a:p>
            <a:r>
              <a:rPr lang="zh-CN" altLang="en-US" sz="1200" dirty="0"/>
              <a:t>段子：客户说“我们只看价格”的时候，通常不是真的只看价格，而是你除了价格没给他别的可看的。就像相亲时对方说“看感觉”——感觉是结果，不是标准。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/>
              <a:t>带法：问一句“你们年底述职时，第二类东西是怎么被看见的？”多数人会回答“靠领导知道”。这就是问题——靠人记，就一定有人被漏掉。</a:t>
            </a:r>
          </a:p>
          <a:p>
            <a:r>
              <a:rPr lang="zh-CN" altLang="en-US" sz="1200" dirty="0"/>
              <a:t>段子：非量化贡献的经典下场是——你默默做了三年，直到你离职那天，大家才发现原来那件事一直是你在做。追悼会式认可，还是别等了，自己先记下来。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/>
              <a:t>这一页要讲透一件事：培训预算的投放顺序应该是「技能 &gt; 知识 &gt; 自我认知 &gt; 其余」，而招聘筛选的顺序正好相反，先看动机和特质。</a:t>
            </a:r>
          </a:p>
          <a:p>
            <a:r>
              <a:rPr lang="zh-CN" altLang="en-US" sz="1200" dirty="0"/>
              <a:t>很多公司把两者搞反了：招人时考产品知识，培养时试图改性格，两头都费钱。</a:t>
            </a:r>
          </a:p>
          <a:p>
            <a:r>
              <a:rPr lang="zh-CN" altLang="en-US" sz="1200" dirty="0"/>
              <a:t>段子：冰山模型原本是用来解释泰坦尼克号的。用在人身上的意思是——你面试时看到的，通常正是那不会撞沉船的百分之十。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/>
              <a:t>强调「行为证据」这一列：没有行为证据的能力项，最后一定变成印象分。</a:t>
            </a:r>
          </a:p>
          <a:p>
            <a:r>
              <a:rPr lang="zh-CN" altLang="en-US" sz="1200" dirty="0"/>
              <a:t>让学员当场用这六项给自己打一次分（1~5），标出最低的一项——下午写 IDP 时直接用。</a:t>
            </a:r>
          </a:p>
          <a:p>
            <a:r>
              <a:rPr lang="zh-CN" altLang="en-US" sz="1200" dirty="0"/>
              <a:t>段子：胜任力模型最怕写成「具有良好的沟通能力」。什么叫良好？按这个标准，全公司只有两种人：良好的，和还没被投诉过的。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/>
              <a:t>这一页是给中层管理者的。让他们现场为自己团队里最容易被低估的那个岗位，写出一条可观察的成果口径。</a:t>
            </a:r>
          </a:p>
          <a:p>
            <a:r>
              <a:rPr lang="zh-CN" altLang="en-US" sz="1200" dirty="0"/>
              <a:t>段子：内勤的绩效有个悖论——干得越好越像没干活。就像空调，凉快的时候没人夸它，坏了才发现整个办公室都是靠它撑着的。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/>
              <a:t>【反常识做法 · 讲师用，讨论后再揭示】</a:t>
            </a:r>
          </a:p>
          <a:p>
            <a:r>
              <a:rPr lang="zh-CN" altLang="en-US" sz="1200" dirty="0"/>
              <a:t>输的不是价格，是顺序。报价一旦先出，后面所有对话都只能围着那个数字转。</a:t>
            </a:r>
          </a:p>
          <a:p>
            <a:r>
              <a:rPr lang="zh-CN" altLang="en-US" sz="1200" dirty="0"/>
              <a:t>正确的第一步是在见技术的那一次就把四个问题问完：这条线一小时产值多少？去年因气动件停过几次、每次多久？仓库里有多少个气动件型号一年没动过？换一次型的调整时间是几分钟？</a:t>
            </a:r>
          </a:p>
          <a:p>
            <a:r>
              <a:rPr lang="zh-CN" altLang="en-US" sz="1200" dirty="0"/>
              <a:t>把答案填进算账卡，报价单后面就多了一页「一年省多少」。采购再压价，砍的就不只是你的价，而是他自己刚认下的那笔账。</a:t>
            </a:r>
          </a:p>
          <a:p>
            <a:r>
              <a:rPr lang="zh-CN" altLang="en-US" sz="1200" dirty="0"/>
              <a:t>反常识之一：让价不能白让。每一次让价都要换回一个明确的东西——试用工位、年度框架、账期缩短、把型号写进图纸。白让的价格，只会让客户认定你原来的报价是虚的。</a:t>
            </a:r>
          </a:p>
          <a:p>
            <a:r>
              <a:rPr lang="zh-CN" altLang="en-US" sz="1200" dirty="0"/>
              <a:t>反常识之二：对一家毛利率接近一半的公司来说，降价是最贵的成交方式。让 5 个点，等于把这一单一年的服务成本全部倒贴进去；同样这 5 个点拿去做一次免费的工况改善试用，换回来的往往是三年的独家。</a:t>
            </a:r>
          </a:p>
          <a:p>
            <a:r>
              <a:rPr lang="zh-CN" altLang="en-US" sz="1200" dirty="0"/>
              <a:t>段子：客户说「我们只看价格」的时候，多半不是真的只看价格，而是你除了价格没给他别的可看。就像相亲时对方说「看感觉」——感觉是结果，不是标准。</a:t>
            </a:r>
          </a:p>
          <a:p>
            <a:r>
              <a:rPr lang="zh-CN" altLang="en-US" sz="1200" dirty="0"/>
              <a:t>带法建议：先让各组讲完「普遍做法」，把它写到白板上，再逐条对照上面的反常识观点；不要一上来就给答案，学员自己推翻自己的结论，记忆才留得住。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/>
              <a:t>这一页可以留 10 分钟做小组讨论。多数团队会发现：他们抱怨的“压货”“只做熟客”“不推新品”，在提成表里都能找到对应的那一行。</a:t>
            </a:r>
          </a:p>
          <a:p>
            <a:r>
              <a:rPr lang="zh-CN" altLang="en-US" sz="1200" dirty="0"/>
              <a:t>段子：提成制最诚实的地方在于，它从不听你说什么。你考核销量，员工就给你销量——连带把货压进经销商仓库，一起给你。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/>
              <a:t>这一页请管理者对号入座，每人认领一条最像自家的，写下一个本季度可以改的动作。</a:t>
            </a:r>
          </a:p>
          <a:p>
            <a:r>
              <a:rPr lang="zh-CN" altLang="en-US" sz="1200" dirty="0"/>
              <a:t>注意：四条解法都不需要加预算，只需要改规则。这是全天成本最低的一页。</a:t>
            </a:r>
          </a:p>
          <a:p>
            <a:r>
              <a:rPr lang="zh-CN" altLang="en-US" sz="1200" dirty="0"/>
              <a:t>段子：季末压货有个经典画面——月底最后一天大家都在拼命发货，一号早上销售最关心的问题变成了「经销商仓库还塞得下吗」。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/>
              <a:t>面对营业部经理这一层，重点讲最后一张卡：他们真正能调动的是分配权与推荐权，不是薪酬方案。</a:t>
            </a:r>
          </a:p>
          <a:p>
            <a:r>
              <a:rPr lang="zh-CN" altLang="en-US" sz="1200" dirty="0"/>
              <a:t>段子：长期激励最怕的一句话是「等公司好起来再说」。员工听懂的版本通常是——那我先看看别家公司好没好起来。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/>
              <a:t>让每位管理者现场把团队成员贴到四个台阶上，通常会发现大部分人堆在「可用」和「胜任」之间。</a:t>
            </a:r>
          </a:p>
          <a:p>
            <a:r>
              <a:rPr lang="zh-CN" altLang="en-US" sz="1200" dirty="0"/>
              <a:t>这也解释了为什么营业部的产出上不去：不是人不够，是人卡在同一级太久。</a:t>
            </a:r>
          </a:p>
          <a:p>
            <a:r>
              <a:rPr lang="zh-CN" altLang="en-US" sz="1200" dirty="0"/>
              <a:t>段子：从「胜任」到「胜任愉快」之间，隔着一个「能干但不想干」。这一段最费管理者——因为你既没法批评他，也没法表扬他。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/>
              <a:t>【反常识做法 · 讲师用，讨论后再揭示】</a:t>
            </a:r>
          </a:p>
          <a:p>
            <a:r>
              <a:rPr lang="zh-CN" altLang="en-US" sz="1200" dirty="0"/>
              <a:t>先把话说清楚：老王的问题不是不努力，是他停在「胜任」这一级已经太久，而组织默许了这件事。</a:t>
            </a:r>
          </a:p>
          <a:p>
            <a:r>
              <a:rPr lang="zh-CN" altLang="en-US" sz="1200" dirty="0"/>
              <a:t>用三本账去看他：个人账很漂亮；团队账是负的（占着最好的资源，没有产出人）；组织账是危险的（92% 集中在五家客户，其中一家一动，营业部当年目标就塌一块）。</a:t>
            </a:r>
          </a:p>
          <a:p>
            <a:r>
              <a:rPr lang="zh-CN" altLang="en-US" sz="1200" dirty="0"/>
              <a:t>正确的谈法不是谈态度，是谈风险和机会：把客户集中度算给他看，再把线性滑轨、真空这些新品类在他现有客户身上的空间算给他看——他最不缺的就是进这些门的资格。</a:t>
            </a:r>
          </a:p>
          <a:p>
            <a:r>
              <a:rPr lang="zh-CN" altLang="en-US" sz="1200" dirty="0"/>
              <a:t>反常识之一：对老王这样的人，最有效的激励往往不是加钱，是「给名分」。带教资格、行业开发试点、把他的选型经验整理成部门标准并署他的名——让他从「跑单的人」变成「定标准的人」，他才愿意把东西交出来。</a:t>
            </a:r>
          </a:p>
          <a:p>
            <a:r>
              <a:rPr lang="zh-CN" altLang="en-US" sz="1200" dirty="0"/>
              <a:t>反常识之二：不要让他去带新人「顺便」学。把带教做成一件有交付物、有时间、有回报的正式任务：三个月内让小周独立完成 20 次选型，交付一份《常见工况选型对照表》，完成了老王拿带教奖金。没有交付物的带教，等于没有带教。</a:t>
            </a:r>
          </a:p>
          <a:p>
            <a:r>
              <a:rPr lang="zh-CN" altLang="en-US" sz="1200" dirty="0"/>
              <a:t>段子：每个团队都有一位「老法师」。他的知识都在脑子里，加密方式是「你问我就说，你不问我就不说」，而新人最不敢做的事，恰好就是问。</a:t>
            </a:r>
          </a:p>
          <a:p>
            <a:r>
              <a:rPr lang="zh-CN" altLang="en-US" sz="1200" dirty="0"/>
              <a:t>带法建议：先让各组讲完「普遍做法」，把它写到白板上，再逐条对照上面的反常识观点；不要一上来就给答案，学员自己推翻自己的结论，记忆才留得住。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/>
              <a:t>小结页快讲，三分钟以内。重点是让每个人在纸上写下四个动作里自己下周要做的那一个。</a:t>
            </a:r>
          </a:p>
          <a:p>
            <a:r>
              <a:rPr lang="zh-CN" altLang="en-US" sz="1200" dirty="0"/>
              <a:t>段子：培训中场休息的真正功能是——让大家把刚才没听懂的部分，在走廊里互相解释一遍。经常比我讲得还准。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/>
              <a:t>开场问一句：“你们上一次人才盘点的结论，今天还记得几条？”通常没人答得上来。</a:t>
            </a:r>
          </a:p>
          <a:p>
            <a:r>
              <a:rPr lang="zh-CN" altLang="en-US" sz="1200" dirty="0"/>
              <a:t>这就是本讲要解决的：评完之后什么都没发生，就等于没评。</a:t>
            </a:r>
          </a:p>
          <a:p>
            <a:r>
              <a:rPr lang="zh-CN" altLang="en-US" sz="1200" dirty="0"/>
              <a:t>段子：绩效评估最微妙的一刻，是你打完分之后对方问“那我明年怎么才能拿 A”，而你发现自己也不知道。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/>
              <a:t>第六格是本页真正的干货：SMART 只管结果，过程指标才管得住过程。下一页展开。</a:t>
            </a:r>
          </a:p>
          <a:p>
            <a:r>
              <a:rPr lang="zh-CN" altLang="en-US" sz="1200" dirty="0"/>
              <a:t>段子：目标写成“大幅提升业绩”的好处是年底怎么解释都对，坏处是年中你自己也不知道该干什么。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/>
              <a:t>这一页的杀伤力在右边第一条：让学员算一下自己上一批丢掉的单，平均跟进了几次。</a:t>
            </a:r>
          </a:p>
          <a:p>
            <a:r>
              <a:rPr lang="zh-CN" altLang="en-US" sz="1200" dirty="0"/>
              <a:t>结论通常是 2~3 次。这不是能力问题，是没有机制提醒他第 4 次、第 5 次。</a:t>
            </a:r>
          </a:p>
          <a:p>
            <a:r>
              <a:rPr lang="zh-CN" altLang="en-US" sz="1200" dirty="0"/>
              <a:t>段子：销售漏斗最真实的形状不是漏斗，是筛子——每一环都在漏，只是我们只在最后一环才发现。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/>
              <a:t>现场两两演练：一人用刚才自评最低的那项胜任力做被反馈者，另一人用 SBI+下一步讲三分钟，然后互换。</a:t>
            </a:r>
          </a:p>
          <a:p>
            <a:r>
              <a:rPr lang="zh-CN" altLang="en-US" sz="1200" dirty="0"/>
              <a:t>段子：中国式反馈的经典结构是——先夸两句、但是、真话、再夸一句。久而久之大家都练成了一项技能：自动跳过前两句。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/>
              <a:t>控场：20 分钟里前 10 分钟自己写，后 10 分钟两两互查。走动巡场，专挑写了“提升”“加强”的当场改。</a:t>
            </a:r>
          </a:p>
          <a:p>
            <a:r>
              <a:rPr lang="zh-CN" altLang="en-US" sz="1200" dirty="0"/>
              <a:t>收尾请两位学员念出来，一位销售、一位管理者，全班一起挑毛病。</a:t>
            </a:r>
          </a:p>
          <a:p>
            <a:r>
              <a:rPr lang="zh-CN" altLang="en-US" sz="1200" dirty="0"/>
              <a:t>段子：目标管理的最大障碍不是不会写，是写太好看。很多目标写完可以直接贴在墙上——除了没法执行，哪儿都好。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/>
              <a:t>【反常识做法 · 讲师用，讨论后再揭示】</a:t>
            </a:r>
          </a:p>
          <a:p>
            <a:r>
              <a:rPr lang="zh-CN" altLang="en-US" sz="1200" dirty="0"/>
              <a:t>问题不在「考核过程」，在于选错了过程指标：拜访量是最容易造假、也最不解释结果的一个数。</a:t>
            </a:r>
          </a:p>
          <a:p>
            <a:r>
              <a:rPr lang="zh-CN" altLang="en-US" sz="1200" dirty="0"/>
              <a:t>工业品从线索到成交平均需要 7 次以上触达，而多数人在第 3 次之后就停了。真正卡住结果的不是「见的家数不够」，是「同一家跟得不够久」。</a:t>
            </a:r>
          </a:p>
          <a:p>
            <a:r>
              <a:rPr lang="zh-CN" altLang="en-US" sz="1200" dirty="0"/>
              <a:t>换掉指标：把「本周拜访几家」换成「本周有几家从上一环推进到了下一环」——拿到工况参数的家数、送样上机的工位数、试用后两周内完成跟进的家数。这些数造不了假，因为每一条背后都有一个客户端的动作。</a:t>
            </a:r>
          </a:p>
          <a:p>
            <a:r>
              <a:rPr lang="zh-CN" altLang="en-US" sz="1200" dirty="0"/>
              <a:t>反常识之一：过程指标越容易统计，越容易失真。凡是业务员一个人就能完成的动作（打卡、拍照、填表），都会被优化成表演；凡是需要客户配合才能完成的动作（给参数、给工位、给试用），才是真的。</a:t>
            </a:r>
          </a:p>
          <a:p>
            <a:r>
              <a:rPr lang="zh-CN" altLang="en-US" sz="1200" dirty="0"/>
              <a:t>反常识之二：当团队开始凑数时，先别加监控。加监控只会提高表演的成本，不会提高真实的产出。要做的是把指标换成「客户侧动作」，并且把跟进次数的下限写进流程——例如「重点目标客户在关闭前必须触达 6 次」。</a:t>
            </a:r>
          </a:p>
          <a:p>
            <a:r>
              <a:rPr lang="zh-CN" altLang="en-US" sz="1200" dirty="0"/>
              <a:t>段子：所有能被拍照证明的努力，最后都会变成拍照。这大概就是为什么健身房里最热闹的地方是镜子前面。</a:t>
            </a:r>
          </a:p>
          <a:p>
            <a:r>
              <a:rPr lang="zh-CN" altLang="en-US" sz="1200" dirty="0"/>
              <a:t>带法建议：先让各组讲完「普遍做法」，把它写到白板上，再逐条对照上面的反常识观点；不要一上来就给答案，学员自己推翻自己的结论，记忆才留得住。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/>
              <a:t>强调「三年、结构、质量」这三看。很多营业部只看当年销售额排名，结果把靠一个客户扩产吃饱的人评成了高绩效。</a:t>
            </a:r>
          </a:p>
          <a:p>
            <a:r>
              <a:rPr lang="zh-CN" altLang="en-US" sz="1200" dirty="0"/>
              <a:t>段子：人才盘点最怕开成表彰会。第一句话如果是“大家都辛苦了”，后面两小时基本上就是轮流说好话，最后一致同意大家都很优秀。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/>
              <a:t>操作提示：先让每位主管独立贴，再合并。分歧最大的那几个人要单独讨论 —— 通常分歧来自「潜力」这一维，因为大家心里的潜力定义不一样，这时候要回到第 25 页的四条行为口径。</a:t>
            </a:r>
          </a:p>
          <a:p>
            <a:r>
              <a:rPr lang="zh-CN" altLang="en-US" sz="1200" dirty="0"/>
              <a:t>段子：九宫格最怕的一件事，是所有人都被放进中间那一格。那不叫盘点，那叫合影。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/>
              <a:t>“重点培养名单不超过 20%”这一条要讲清理由：资源有限，人人重点等于没有重点。</a:t>
            </a:r>
          </a:p>
          <a:p>
            <a:r>
              <a:rPr lang="zh-CN" altLang="en-US" sz="1200" dirty="0"/>
              <a:t>段子：限期改进名单之所以难写，是因为写的时候大家都清楚——到期那天要有人去做那个不受欢迎的谈话，而那个人通常就是写名单的自己。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/>
              <a:t>标准答案不唯一，但有几个关键判断：老王是「中潜高绩」而非明星（组织账为负）；小李是明日之星；小周是潜力新秀；老陈接近「专才熟手」，要认可但不要硬提拔；小张是典型的「疑似错配」——业绩下滑与换主管同时发生，先看关系再看能力。</a:t>
            </a:r>
          </a:p>
          <a:p>
            <a:r>
              <a:rPr lang="zh-CN" altLang="en-US" sz="1200" dirty="0"/>
              <a:t>把小张这个点讲透：高潜低绩，八成不是人的问题。</a:t>
            </a:r>
          </a:p>
          <a:p>
            <a:r>
              <a:rPr lang="zh-CN" altLang="en-US" sz="1200" dirty="0"/>
              <a:t>段子：盘点会上最常出现的一句话是“他其实挺不错的，就是……”。这句话后面接的内容，才是他真正的评价。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/>
              <a:t>第 ② 条最关键：把问卷题目从形容词改成可观察行为，是 360 度能不能用起来的分水岭。</a:t>
            </a:r>
          </a:p>
          <a:p>
            <a:r>
              <a:rPr lang="zh-CN" altLang="en-US" sz="1200" dirty="0"/>
              <a:t>现场可以让学员改一道题：把“该同事沟通能力良好”改成“该同事在承诺的时间内回复了我的请求”。</a:t>
            </a:r>
          </a:p>
          <a:p>
            <a:r>
              <a:rPr lang="zh-CN" altLang="en-US" sz="1200" dirty="0"/>
              <a:t>段子：360 度评估最难的一步不是收集，是发出去之后大家开始破案。有时候一份匿名问卷，能让一个部门查上三天。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/>
              <a:t>控场：第三步是最容易破功的一步，多数人会不自觉地替评价者解释动机。听到就打断，让他回到行为。</a:t>
            </a:r>
          </a:p>
          <a:p>
            <a:r>
              <a:rPr lang="zh-CN" altLang="en-US" sz="1200" dirty="0"/>
              <a:t>段子：反馈沟通里最没用的开场白是“我这个人说话比较直”。这句话真正的含义是——接下来我要说的话我自己也知道不太好听，但我不打算换个说法。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/>
              <a:t>提醒一个常见陷阱：人才画像画着画着容易画成自画像。让他们检查一下——这张画像里，有没有哪一条其实只是「像我」。</a:t>
            </a:r>
          </a:p>
          <a:p>
            <a:r>
              <a:rPr lang="zh-CN" altLang="en-US" sz="1200" dirty="0"/>
              <a:t>段子：招聘要求里最不诚实的一条是“抗压能力强”。翻译过来通常是：这个岗位压力很大，而我们暂时没打算解决它。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/>
              <a:t>【反常识做法 · 讲师用，讨论后再揭示】</a:t>
            </a:r>
          </a:p>
          <a:p>
            <a:r>
              <a:rPr lang="zh-CN" altLang="en-US" sz="1200" dirty="0"/>
              <a:t>错的不是 360 度这个工具，是三个环节同时失守。</a:t>
            </a:r>
          </a:p>
          <a:p>
            <a:r>
              <a:rPr lang="zh-CN" altLang="en-US" sz="1200" dirty="0"/>
              <a:t>一错在设计：评价人只有 6 位且范围很窄，匿名形同虚设——评价人数太少时，匿名反而比署名更伤人，因为当事人会去猜，而且往往猜错。</a:t>
            </a:r>
          </a:p>
          <a:p>
            <a:r>
              <a:rPr lang="zh-CN" altLang="en-US" sz="1200" dirty="0"/>
              <a:t>二错在题目：「配合意愿一般」是印象不是行为。如果题目问的是「他是否在承诺时间内给了答复」，讨论的就是一件可以改的事，而不是一句对人的判决。</a:t>
            </a:r>
          </a:p>
          <a:p>
            <a:r>
              <a:rPr lang="zh-CN" altLang="en-US" sz="1200" dirty="0"/>
              <a:t>三错在反馈方式：群发报告等于公开处刑。360 度的结果只能一对一当面谈，而且必须由主管先讲一致的部分、再进入分歧、最后落到一个动作。</a:t>
            </a:r>
          </a:p>
          <a:p>
            <a:r>
              <a:rPr lang="zh-CN" altLang="en-US" sz="1200" dirty="0"/>
              <a:t>反常识之一：评价人越少，越应该署名而不是匿名。小范围匿名制造的是猜疑，署名反而会让评价更负责、更具体。</a:t>
            </a:r>
          </a:p>
          <a:p>
            <a:r>
              <a:rPr lang="zh-CN" altLang="en-US" sz="1200" dirty="0"/>
              <a:t>反常识之二：出现「协同意愿低」这类评价时，先别改人，先查机制。临时提需求往往是因为前端没有稳定的技术支持排期——当资源要靠抢，抢得凶的人自然会被评为「不配合」。</a:t>
            </a:r>
          </a:p>
          <a:p>
            <a:r>
              <a:rPr lang="zh-CN" altLang="en-US" sz="1200" dirty="0"/>
              <a:t>段子：匿名评价的真正效果，是把一次沟通变成一桩悬案。而且这桩案子每个人都在破，只有当事人自己破得最投入。</a:t>
            </a:r>
          </a:p>
          <a:p>
            <a:r>
              <a:rPr lang="zh-CN" altLang="en-US" sz="1200" dirty="0"/>
              <a:t>带法建议：先让各组讲完「普遍做法」，把它写到白板上，再逐条对照上面的反常识观点；不要一上来就给答案，学员自己推翻自己的结论，记忆才留得住。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/>
              <a:t>上午收尾，快讲。请每人在自己的难题卡背面写下上午带走的一个动作，下午开场时抽两位念一下。</a:t>
            </a:r>
          </a:p>
          <a:p>
            <a:r>
              <a:rPr lang="zh-CN" altLang="en-US" sz="1200" dirty="0"/>
              <a:t>段子：午餐后的第一节课是全天最难讲的。所以下午第一页我放了一组会让人清醒的数字。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/>
              <a:t>开场就让每位管理者点名一个下属，说出他卡在哪一格。多数人第一反应会说“不想”，这时候追问一句“你怎么知道是不想，不是不敢”，往往就翻盘了。</a:t>
            </a:r>
          </a:p>
          <a:p>
            <a:r>
              <a:rPr lang="zh-CN" altLang="en-US" sz="1200" dirty="0"/>
              <a:t>段子：管理者最常见的误诊是把“不敢”当成“不想”。就像看到一个人站在跳水台上不跳，就断定他不喜欢游泳。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/>
              <a:t>第三张卡（员工这边的账）对中层最有触动。可以请他们回忆最近离职的一位骨干，当时他真正想要的是什么。</a:t>
            </a:r>
          </a:p>
          <a:p>
            <a:r>
              <a:rPr lang="zh-CN" altLang="en-US" sz="1200" dirty="0"/>
              <a:t>段子：培养人的经典顾虑是“培养好了他跑了怎么办”。标准答案是——比这更糟的情况是，你没培养他，而他留下来了。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/>
              <a:t>这一页要诚实：70-20-10 是启发式，不是定律。学员里如果有人较真，这个坦白反而会加分。</a:t>
            </a:r>
          </a:p>
          <a:p>
            <a:r>
              <a:rPr lang="zh-CN" altLang="en-US" sz="1200" dirty="0"/>
              <a:t>段子：培训效果最好的检验方法，是三周后随机问一位学员：上次那门课讲了什么。如果他能说出一个动作而不是一个词，这门课就没白上。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/>
              <a:t>“我做你看”这一步的关键是出声思考（think aloud）。让老销售在车上或饭桌上把当天的三个判断说给新人听。</a:t>
            </a:r>
          </a:p>
          <a:p>
            <a:r>
              <a:rPr lang="zh-CN" altLang="en-US" sz="1200" dirty="0"/>
              <a:t>段子：很多师傅带徒弟的方式是——你跟着我，别问，看着学。三个月后徒弟确实学会了一件事：别问。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/>
              <a:t>这一页请当场落实“承接安排”，把两周后的部门会时间定下来。不定时间的承接，等于没有承接。</a:t>
            </a:r>
          </a:p>
          <a:p>
            <a:r>
              <a:rPr lang="zh-CN" altLang="en-US" sz="1200" dirty="0"/>
              <a:t>段子：培训的半衰期大约是两周。两周之后还记得的部分，通常不是讲得最精彩的，而是回去之后正好用上了的。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/>
              <a:t>“考核口径”这一条最容易漏。轮岗第一年业绩必然下滑，如果考核不变，等于用制度惩罚愿意尝试的人，一次之后就再也没人报名了。</a:t>
            </a:r>
          </a:p>
          <a:p>
            <a:r>
              <a:rPr lang="zh-CN" altLang="en-US" sz="1200" dirty="0"/>
              <a:t>段子：轮岗最怕的一句话是“先去支援三个月”。在多数公司，这句话的完整版本是“先去支援三个月，然后我们就把这件事忘了”。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/>
              <a:t>【反常识做法 · 讲师用，讨论后再揭示】</a:t>
            </a:r>
          </a:p>
          <a:p>
            <a:r>
              <a:rPr lang="zh-CN" altLang="en-US" sz="1200" dirty="0"/>
              <a:t>先把话说清楚：「教会徒弟饿死师傅」不是人品问题，是我们的规则没有回答「他带人能得到什么、会失去什么」。只靠强调，等于要求一个人自愿受损。</a:t>
            </a:r>
          </a:p>
          <a:p>
            <a:r>
              <a:rPr lang="zh-CN" altLang="en-US" sz="1200" dirty="0"/>
              <a:t>要改的第一件事是把带教变成一项有交付物、有资源、有回报的正式任务：交付物（三个月内新人独立完成 20 次选型、产出一份《常见工况选型对照表》）、资源（师傅当季新客户开发指标下调 15%）、回报（带教奖金 + 带教资格作为晋升前置条件）。</a:t>
            </a:r>
          </a:p>
          <a:p>
            <a:r>
              <a:rPr lang="zh-CN" altLang="en-US" sz="1200" dirty="0"/>
              <a:t>要改的第二件事是把「跟着看」换成四个台阶：我做你看 → 你做我看 → 你做我问 → 你做你说。关键在第一步——要求师傅出声讲判断，而不只是演示动作。</a:t>
            </a:r>
          </a:p>
          <a:p>
            <a:r>
              <a:rPr lang="zh-CN" altLang="en-US" sz="1200" dirty="0"/>
              <a:t>反常识之一：最会成单的销售，往往最说不清自己为什么能成单。所以不要默认业绩第一的人就是最好的师傅；先让他把三条判断写下来，写得出来才带人。</a:t>
            </a:r>
          </a:p>
          <a:p>
            <a:r>
              <a:rPr lang="zh-CN" altLang="en-US" sz="1200" dirty="0"/>
              <a:t>反常识之二：客户归属要先说清楚再谈带教。与其让师傅猜「明年这块客户会不会被分走」，不如明确写下来：新人独立后接哪一部分、师傅保留哪一部分、过渡期怎么算业绩。模糊地带才是抗拒的真正来源。</a:t>
            </a:r>
          </a:p>
          <a:p>
            <a:r>
              <a:rPr lang="zh-CN" altLang="en-US" sz="1200" dirty="0"/>
              <a:t>段子：老销售的知识都在脑子里，加密方式是「你问我就说，你不问我就不说」。而新人最不敢做的事，恰好就是问。</a:t>
            </a:r>
          </a:p>
          <a:p>
            <a:r>
              <a:rPr lang="zh-CN" altLang="en-US" sz="1200" dirty="0"/>
              <a:t>带法建议：先让各组讲完「普遍做法」，把它写到白板上，再逐条对照上面的反常识观点；不要一上来就给答案，学员自己推翻自己的结论，记忆才留得住。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/>
              <a:t>行业数据是集团层面的公开口径，讲的时候说明是「大盘结构」，各营业部实际结构会不同。</a:t>
            </a:r>
          </a:p>
          <a:p>
            <a:r>
              <a:rPr lang="zh-CN" altLang="en-US" sz="1200" dirty="0"/>
              <a:t>重点在右卡：让每人现场挑一家重点客户，把三类关键人写出来，写不全的当场标红。</a:t>
            </a:r>
          </a:p>
          <a:p>
            <a:r>
              <a:rPr lang="zh-CN" altLang="en-US" sz="1200" dirty="0"/>
              <a:t>段子：很多销售说「我跟这家客户关系很好」，问下去发现好的是采购，而采购正是那个被考核降本的人。这叫和裁判处成了朋友。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/>
              <a:t>四个锚点要求学员当场抄进手机备忘录。下次拜访开口就问「你这条线停一小时多少钱」。</a:t>
            </a:r>
          </a:p>
          <a:p>
            <a:r>
              <a:rPr lang="zh-CN" altLang="en-US" sz="1200" dirty="0"/>
              <a:t>「敢说不打的仗」这一条要重点讲：销售最稀缺的信用，来自他说过的那句「这个我们不合适」。</a:t>
            </a:r>
          </a:p>
          <a:p>
            <a:r>
              <a:rPr lang="zh-CN" altLang="en-US" sz="1200" dirty="0"/>
              <a:t>段子：客户问「你们和 SMC 差在哪」，最差的回答是「差不多」。差不多的意思是——那我为什么要换。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/>
              <a:t>“陪标判断”那三个问题非常实用，建议让学员当场对照自己手上的一个在跟项目自测。</a:t>
            </a:r>
          </a:p>
          <a:p>
            <a:r>
              <a:rPr lang="zh-CN" altLang="en-US" sz="1200" dirty="0"/>
              <a:t>段子：销售最伤士气的不是被拒绝，是跟了半年才发现自己一直在陪跑。就像陪朋友去相亲，全程你话最多。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/>
              <a:t>这一页对新晋经理最有用。可以问一句：“上个季度部门最大的三单，有几单是你自己谈下来的？”</a:t>
            </a:r>
          </a:p>
          <a:p>
            <a:r>
              <a:rPr lang="zh-CN" altLang="en-US" sz="1200" dirty="0"/>
              <a:t>段子：从销售冠军到销售经理，最难的不是学新东西，是忍住不自己上。就像当了教练之后，还老想穿球衣下场。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/>
              <a:t>这一页可以和上午《问题分析与解决》那门课呼应：出现三次以上就查机制，不查人。</a:t>
            </a:r>
          </a:p>
          <a:p>
            <a:r>
              <a:rPr lang="zh-CN" altLang="en-US" sz="1200" dirty="0"/>
              <a:t>段子：管理者最容易上瘾的动作是“再强调一次”。强调是免费的，改流程是要得罪人的——所以大家都很爱强调。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/>
              <a:t>现场可以让管理者互相演一次 20 分钟一对一的开头三分钟，重点观察谁在说话。</a:t>
            </a:r>
          </a:p>
          <a:p>
            <a:r>
              <a:rPr lang="zh-CN" altLang="en-US" sz="1200" dirty="0"/>
              <a:t>段子：一对一谈话最常见的结构是——你说说吧（三秒沉默）算了我先说。然后二十分钟过去了。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/>
              <a:t>小结快讲。请每人确认自己第三讲带走的动作已经写在难题卡上。</a:t>
            </a:r>
          </a:p>
          <a:p>
            <a:r>
              <a:rPr lang="zh-CN" altLang="en-US" sz="1200" dirty="0"/>
              <a:t>段子：所有培训的第三讲之后，都会出现一个现象——大家开始看表。所以第四讲我只做三件事：写、练、定时间。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/>
              <a:t>开场直接说明：这一讲是动手课，讲的比例最低。</a:t>
            </a:r>
          </a:p>
          <a:p>
            <a:r>
              <a:rPr lang="zh-CN" altLang="en-US" sz="1200" dirty="0"/>
              <a:t>段子：培训的效果曲线和健身卡很像——办卡那天最有斗志，第三周开始怀疑自己当时是不是被什么冲昏了头。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/>
              <a:t>第 ③ 条“第一个动作在两周之内”是这一页的核心。把启动时间拉近，是让计划活下来最便宜的办法。</a:t>
            </a:r>
          </a:p>
          <a:p>
            <a:r>
              <a:rPr lang="zh-CN" altLang="en-US" sz="1200" dirty="0"/>
              <a:t>段子：个人发展计划最常见的下场，是被存进一个叫「我的文档」的文件夹，然后在下次换电脑时光荣完成使命。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/>
              <a:t>巡场重点：检查第 ③ 格是不是真任务。写「多拜访客户」的当场退回。</a:t>
            </a:r>
          </a:p>
          <a:p>
            <a:r>
              <a:rPr lang="zh-CN" altLang="en-US" sz="1200" dirty="0"/>
              <a:t>段子：填 IDP 时最诚实的一格是第 ⑥ 格。凡是不肯写具体日期的，基本都是不打算做的。</a:t>
            </a: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/>
              <a:t>控场：12 分钟写作时间要严格，时间一到就转互查。写不完的人往往是想得太大，互查环节自然会帮他收窄。</a:t>
            </a:r>
          </a:p>
          <a:p>
            <a:r>
              <a:rPr lang="zh-CN" altLang="en-US" sz="1200" dirty="0"/>
              <a:t>段子：让人当众念出自己的计划，效果比任何跟踪表都好。因为人可以骗过表格，但很难骗过同事的记性。</a:t>
            </a: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/>
              <a:t>最常见的两个破功点（讲的时候现场提醒）：一是在 R 阶段忍不住给答案——你一开口给方案，后面他就只会等你给；二是在 W 阶段接受「我尽快」——没有日期就等于没有承诺，要追问到具体哪一天。</a:t>
            </a:r>
          </a:p>
          <a:p>
            <a:r>
              <a:rPr lang="zh-CN" altLang="en-US" sz="1200" dirty="0"/>
              <a:t>演练建议：两两一组，用对方真实的一个在跟客户走一遍 GROW，全程 8 分钟，然后互换。</a:t>
            </a:r>
          </a:p>
          <a:p>
            <a:r>
              <a:rPr lang="zh-CN" altLang="en-US" sz="1200" dirty="0"/>
              <a:t>观察员只记录一件事：辅导者有没有在 R 阶段提前给方案。</a:t>
            </a:r>
          </a:p>
          <a:p>
            <a:r>
              <a:rPr lang="zh-CN" altLang="en-US" sz="1200" dirty="0"/>
              <a:t>段子：GROW 四个字母里最难的是 W。前面三步聊得再热闹，一句「那你打算什么时候做」问出去，空气会突然安静。</a:t>
            </a: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/>
              <a:t>强调最后一张卡：多数管理者的正面反馈都太笼统，导致好行为没有被强化。</a:t>
            </a:r>
          </a:p>
          <a:p>
            <a:r>
              <a:rPr lang="zh-CN" altLang="en-US" sz="1200" dirty="0"/>
              <a:t>段子：中国式反馈的经典结构是——先夸两句、但是、真话、再夸一句。所以大家都练成了一项本事：自动跳到「但是」后面听。</a:t>
            </a: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/>
              <a:t>【反常识做法 · 讲师用，讨论后再揭示】</a:t>
            </a:r>
          </a:p>
          <a:p>
            <a:r>
              <a:rPr lang="zh-CN" altLang="en-US" sz="1200" dirty="0"/>
              <a:t>先纠正定性：这不是人品问题，也主要不是薪酬问题，是机制问题——我们默认了「客户关系属于个人」，那它离职时当然跟着人走。</a:t>
            </a:r>
          </a:p>
          <a:p>
            <a:r>
              <a:rPr lang="zh-CN" altLang="en-US" sz="1200" dirty="0"/>
              <a:t>第一件事：把客户关系从单点变成多点。重点客户必须有第二联系人（技术支持或营业部经理）在半年内至少露过两次面。客户认识你们两个人，比只认识一个人牢固得多。</a:t>
            </a:r>
          </a:p>
          <a:p>
            <a:r>
              <a:rPr lang="zh-CN" altLang="en-US" sz="1200" dirty="0"/>
              <a:t>第二件事：把「记录」变成流程里必须完成的动作，而不是额外的负担。报价单生成前必须先填工况；申请特价前必须先补齐决策链三类人——把记录挂在他本来就要做的事情上，才不用靠自觉。</a:t>
            </a:r>
          </a:p>
          <a:p>
            <a:r>
              <a:rPr lang="zh-CN" altLang="en-US" sz="1200" dirty="0"/>
              <a:t>第三件事：把个人经验做成部门资产，并给做这件事的人回报。让骨干把「常见工况选型对照」「四句异议应答」整理成一页纸，署他的名，作为带教资格与晋升的前置条件。</a:t>
            </a:r>
          </a:p>
          <a:p>
            <a:r>
              <a:rPr lang="zh-CN" altLang="en-US" sz="1200" dirty="0"/>
              <a:t>反常识之一：签竞业协议基本无效，而且会加速他走。真正降低离职冲击的是「客户多点对接」，不是法律文件。</a:t>
            </a:r>
          </a:p>
          <a:p>
            <a:r>
              <a:rPr lang="zh-CN" altLang="en-US" sz="1200" dirty="0"/>
              <a:t>反常识之二：知识沉淀不能靠「要求他写」，要靠「不写就走不下去」。任何需要额外自觉的沉淀机制，三个月内一定荒废。</a:t>
            </a:r>
          </a:p>
          <a:p>
            <a:r>
              <a:rPr lang="zh-CN" altLang="en-US" sz="1200" dirty="0"/>
              <a:t>段子：很多公司的客户资料管理系统，最完整的部分是员工离职那一周填的。而那一周填的东西，通常也是最不准的。</a:t>
            </a:r>
          </a:p>
          <a:p>
            <a:r>
              <a:rPr lang="zh-CN" altLang="en-US" sz="1200" dirty="0"/>
              <a:t>带法建议：先让各组讲完「普遍做法」，把它写到白板上，再逐条对照上面的反常识观点；不要一上来就给答案，学员自己推翻自己的结论，记忆才留得住。</a:t>
            </a: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/>
              <a:t>“丢单复盘不追责”这一条要讲透。追责一次，之后所有丢单原因都会变成“客户预算问题”。</a:t>
            </a:r>
          </a:p>
          <a:p>
            <a:r>
              <a:rPr lang="zh-CN" altLang="en-US" sz="1200" dirty="0"/>
              <a:t>段子：所谓知识管理，就是把「只有老王知道」变成「查一下就知道」。难点在于，老王往往觉得「只有我知道」这件事本身挺好的。</a:t>
            </a: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/>
              <a:t>把三个产出指标抄给管理者，这是他们向上汇报「人才开发有没有用」的最好口径。</a:t>
            </a:r>
          </a:p>
          <a:p>
            <a:r>
              <a:rPr lang="zh-CN" altLang="en-US" sz="1200" dirty="0"/>
              <a:t>段子：季度回顾最怕开成检讨会。第一次开成检讨会，第二次大家就会带着已经排练好的答案来。</a:t>
            </a: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/>
              <a:t>快讲。重点是提醒大家把回顾时间当场放进手机日历，这个动作现场就能完成。</a:t>
            </a:r>
          </a:p>
          <a:p>
            <a:r>
              <a:rPr lang="zh-CN" altLang="en-US" sz="1200" dirty="0"/>
              <a:t>段子：最好的执行保障不是意志力，是日历提醒。意志力会累，日历不会。</a:t>
            </a: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/>
              <a:t>这一页是给学员拍照用的。讲的时候只点名三件最该先做的：算账卡、可查目标、GROW。</a:t>
            </a:r>
          </a:p>
          <a:p>
            <a:r>
              <a:rPr lang="zh-CN" altLang="en-US" sz="1200" dirty="0"/>
              <a:t>段子：工具这种东西和健身器材一样——买齐了不等于练了。真正有用的永远是你天天摸的那一件。</a:t>
            </a: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/>
              <a:t>现场务必留 5 分钟真的填日期、真的拍照。这一步做了，这门课就有一半的效果被锁住了。</a:t>
            </a:r>
          </a:p>
          <a:p>
            <a:r>
              <a:rPr lang="zh-CN" altLang="en-US" sz="1200" dirty="0"/>
              <a:t>段子：九十天之后你会发现一个规律——做成的那几件，都是当初写了具体日期的；没做的那几件，当初写的是「尽快」。</a:t>
            </a: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/>
              <a:t>评分口径（讲师用）：</a:t>
            </a:r>
          </a:p>
          <a:p>
            <a:r>
              <a:rPr lang="zh-CN" altLang="en-US" sz="1200" dirty="0"/>
              <a:t>① 三本账——个人账（老王）好、团队账为负（无人产出、技术被占满）、组织账危险（客户集中、新客枯竭）；</a:t>
            </a:r>
          </a:p>
          <a:p>
            <a:r>
              <a:rPr lang="zh-CN" altLang="en-US" sz="1200" dirty="0"/>
              <a:t>② 九宫格分歧最大的通常是老王：绩效高但潜力与组织贡献低，属「专才熟手/中坚骨干」而非明星；</a:t>
            </a:r>
          </a:p>
          <a:p>
            <a:r>
              <a:rPr lang="zh-CN" altLang="en-US" sz="1200" dirty="0"/>
              <a:t>③ 提成三宗罪：按开票额算 → 季末压货与超期应收；新老同系数 → 新客户开发塌方；不分结构 → 只卖标准气缸、线轨与真空推不动。可改的一条：提成基数改回款额并加新客户系数。</a:t>
            </a:r>
          </a:p>
          <a:p>
            <a:r>
              <a:rPr lang="zh-CN" altLang="en-US" sz="1200" dirty="0"/>
              <a:t>④ 老王的 IDP 差距不在能力，在「停留过久」，处方是名分与新品类，不是培训；新人的差距在带教方式，处方是四台阶＋交付物。</a:t>
            </a:r>
          </a:p>
          <a:p>
            <a:r>
              <a:rPr lang="zh-CN" altLang="en-US" sz="1200" dirty="0"/>
              <a:t>⑤ 四个问题：产线小时产值、去年因气动件停机次数与时长、备件型号数与呆滞情况、换型时间；锚点：停机成本量级、寿命换算、库存持有成本、换型对 OEE 的影响。</a:t>
            </a:r>
          </a:p>
          <a:p>
            <a:r>
              <a:rPr lang="zh-CN" altLang="en-US" sz="1200" dirty="0"/>
              <a:t>⑥ 三个动作的合理答案通常是：改提成基数、把带教做成有交付物的正式任务、给最大客户做一次价值算账并重新谈框架。</a:t>
            </a:r>
          </a:p>
          <a:p>
            <a:r>
              <a:rPr lang="zh-CN" altLang="en-US" sz="1200" dirty="0"/>
              <a:t>段子：这个案例里没有一个坏人。每个人都在按规则做对自己最有利的事——这恰恰是最难办的一种局面，也是管理者存在的理由。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accent1">
            <a:lumMod val="20000"/>
            <a:lumOff val="80000"/>
            <a:alpha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/>
          <p:cNvGrpSpPr/>
          <p:nvPr userDrawn="1"/>
        </p:nvGrpSpPr>
        <p:grpSpPr>
          <a:xfrm>
            <a:off x="-1" y="0"/>
            <a:ext cx="12195175" cy="6858000"/>
            <a:chOff x="-1" y="0"/>
            <a:chExt cx="12195175" cy="6858000"/>
          </a:xfrm>
        </p:grpSpPr>
        <p:sp>
          <p:nvSpPr>
            <p:cNvPr id="22" name="Freeform: Shape 21"/>
            <p:cNvSpPr/>
            <p:nvPr userDrawn="1"/>
          </p:nvSpPr>
          <p:spPr>
            <a:xfrm>
              <a:off x="6480174" y="0"/>
              <a:ext cx="4248150" cy="5417156"/>
            </a:xfrm>
            <a:custGeom>
              <a:avLst/>
              <a:gdLst>
                <a:gd name="connsiteX0" fmla="*/ 0 w 4248150"/>
                <a:gd name="connsiteY0" fmla="*/ 0 h 5417156"/>
                <a:gd name="connsiteX1" fmla="*/ 4248150 w 4248150"/>
                <a:gd name="connsiteY1" fmla="*/ 0 h 5417156"/>
                <a:gd name="connsiteX2" fmla="*/ 4248150 w 4248150"/>
                <a:gd name="connsiteY2" fmla="*/ 4632905 h 5417156"/>
                <a:gd name="connsiteX3" fmla="*/ 3463899 w 4248150"/>
                <a:gd name="connsiteY3" fmla="*/ 5417156 h 5417156"/>
                <a:gd name="connsiteX4" fmla="*/ 784251 w 4248150"/>
                <a:gd name="connsiteY4" fmla="*/ 5417156 h 5417156"/>
                <a:gd name="connsiteX5" fmla="*/ 0 w 4248150"/>
                <a:gd name="connsiteY5" fmla="*/ 4632905 h 541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48150" h="5417156">
                  <a:moveTo>
                    <a:pt x="0" y="0"/>
                  </a:moveTo>
                  <a:lnTo>
                    <a:pt x="4248150" y="0"/>
                  </a:lnTo>
                  <a:lnTo>
                    <a:pt x="4248150" y="4632905"/>
                  </a:lnTo>
                  <a:cubicBezTo>
                    <a:pt x="4248150" y="5066035"/>
                    <a:pt x="3897029" y="5417156"/>
                    <a:pt x="3463899" y="5417156"/>
                  </a:cubicBezTo>
                  <a:lnTo>
                    <a:pt x="784251" y="5417156"/>
                  </a:lnTo>
                  <a:cubicBezTo>
                    <a:pt x="351121" y="5417156"/>
                    <a:pt x="0" y="5066035"/>
                    <a:pt x="0" y="4632905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17" name="Group 16"/>
            <p:cNvGrpSpPr/>
            <p:nvPr userDrawn="1"/>
          </p:nvGrpSpPr>
          <p:grpSpPr>
            <a:xfrm flipH="1">
              <a:off x="-1" y="4762501"/>
              <a:ext cx="12195175" cy="2095499"/>
              <a:chOff x="0" y="-2873375"/>
              <a:chExt cx="12195175" cy="1895475"/>
            </a:xfrm>
          </p:grpSpPr>
          <p:sp>
            <p:nvSpPr>
              <p:cNvPr id="14" name="Freeform: Shape 13"/>
              <p:cNvSpPr/>
              <p:nvPr userDrawn="1"/>
            </p:nvSpPr>
            <p:spPr bwMode="auto">
              <a:xfrm>
                <a:off x="0" y="-2873375"/>
                <a:ext cx="12195175" cy="1895475"/>
              </a:xfrm>
              <a:custGeom>
                <a:avLst/>
                <a:gdLst>
                  <a:gd name="T0" fmla="*/ 7682 w 7682"/>
                  <a:gd name="T1" fmla="*/ 1194 h 1194"/>
                  <a:gd name="T2" fmla="*/ 0 w 7682"/>
                  <a:gd name="T3" fmla="*/ 1194 h 1194"/>
                  <a:gd name="T4" fmla="*/ 0 w 7682"/>
                  <a:gd name="T5" fmla="*/ 0 h 1194"/>
                  <a:gd name="T6" fmla="*/ 7682 w 7682"/>
                  <a:gd name="T7" fmla="*/ 807 h 1194"/>
                  <a:gd name="T8" fmla="*/ 7682 w 7682"/>
                  <a:gd name="T9" fmla="*/ 1194 h 1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682" h="1194">
                    <a:moveTo>
                      <a:pt x="7682" y="1194"/>
                    </a:moveTo>
                    <a:lnTo>
                      <a:pt x="0" y="1194"/>
                    </a:lnTo>
                    <a:lnTo>
                      <a:pt x="0" y="0"/>
                    </a:lnTo>
                    <a:lnTo>
                      <a:pt x="7682" y="807"/>
                    </a:lnTo>
                    <a:lnTo>
                      <a:pt x="7682" y="1194"/>
                    </a:ln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" name="Freeform: Shape 14"/>
              <p:cNvSpPr/>
              <p:nvPr userDrawn="1"/>
            </p:nvSpPr>
            <p:spPr bwMode="auto">
              <a:xfrm>
                <a:off x="0" y="-2151063"/>
                <a:ext cx="12195175" cy="1173163"/>
              </a:xfrm>
              <a:custGeom>
                <a:avLst/>
                <a:gdLst>
                  <a:gd name="T0" fmla="*/ 7682 w 7682"/>
                  <a:gd name="T1" fmla="*/ 739 h 739"/>
                  <a:gd name="T2" fmla="*/ 0 w 7682"/>
                  <a:gd name="T3" fmla="*/ 739 h 739"/>
                  <a:gd name="T4" fmla="*/ 0 w 7682"/>
                  <a:gd name="T5" fmla="*/ 0 h 739"/>
                  <a:gd name="T6" fmla="*/ 7682 w 7682"/>
                  <a:gd name="T7" fmla="*/ 379 h 739"/>
                  <a:gd name="T8" fmla="*/ 7682 w 7682"/>
                  <a:gd name="T9" fmla="*/ 739 h 7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682" h="739">
                    <a:moveTo>
                      <a:pt x="7682" y="739"/>
                    </a:moveTo>
                    <a:lnTo>
                      <a:pt x="0" y="739"/>
                    </a:lnTo>
                    <a:lnTo>
                      <a:pt x="0" y="0"/>
                    </a:lnTo>
                    <a:lnTo>
                      <a:pt x="7682" y="379"/>
                    </a:lnTo>
                    <a:lnTo>
                      <a:pt x="7682" y="739"/>
                    </a:ln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6" name="Freeform: Shape 15"/>
              <p:cNvSpPr/>
              <p:nvPr userDrawn="1"/>
            </p:nvSpPr>
            <p:spPr bwMode="auto">
              <a:xfrm>
                <a:off x="0" y="-1549400"/>
                <a:ext cx="12195175" cy="571500"/>
              </a:xfrm>
              <a:custGeom>
                <a:avLst/>
                <a:gdLst>
                  <a:gd name="T0" fmla="*/ 7682 w 7682"/>
                  <a:gd name="T1" fmla="*/ 360 h 360"/>
                  <a:gd name="T2" fmla="*/ 0 w 7682"/>
                  <a:gd name="T3" fmla="*/ 360 h 360"/>
                  <a:gd name="T4" fmla="*/ 7682 w 7682"/>
                  <a:gd name="T5" fmla="*/ 0 h 360"/>
                  <a:gd name="T6" fmla="*/ 7682 w 7682"/>
                  <a:gd name="T7" fmla="*/ 360 h 3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682" h="360">
                    <a:moveTo>
                      <a:pt x="7682" y="360"/>
                    </a:moveTo>
                    <a:lnTo>
                      <a:pt x="0" y="360"/>
                    </a:lnTo>
                    <a:lnTo>
                      <a:pt x="7682" y="0"/>
                    </a:lnTo>
                    <a:lnTo>
                      <a:pt x="7682" y="360"/>
                    </a:lnTo>
                    <a:close/>
                  </a:path>
                </a:pathLst>
              </a:cu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sp>
          <p:nvSpPr>
            <p:cNvPr id="30" name="Freeform: Shape 29"/>
            <p:cNvSpPr/>
            <p:nvPr userDrawn="1"/>
          </p:nvSpPr>
          <p:spPr>
            <a:xfrm flipV="1">
              <a:off x="6915150" y="0"/>
              <a:ext cx="4248150" cy="5925148"/>
            </a:xfrm>
            <a:custGeom>
              <a:avLst/>
              <a:gdLst>
                <a:gd name="connsiteX0" fmla="*/ 0 w 4248150"/>
                <a:gd name="connsiteY0" fmla="*/ 5925148 h 5925148"/>
                <a:gd name="connsiteX1" fmla="*/ 4248150 w 4248150"/>
                <a:gd name="connsiteY1" fmla="*/ 5925148 h 5925148"/>
                <a:gd name="connsiteX2" fmla="*/ 4248150 w 4248150"/>
                <a:gd name="connsiteY2" fmla="*/ 1249194 h 5925148"/>
                <a:gd name="connsiteX3" fmla="*/ 4114212 w 4248150"/>
                <a:gd name="connsiteY3" fmla="*/ 810712 h 5925148"/>
                <a:gd name="connsiteX4" fmla="*/ 4035071 w 4248150"/>
                <a:gd name="connsiteY4" fmla="*/ 714792 h 5925148"/>
                <a:gd name="connsiteX5" fmla="*/ 4040892 w 4248150"/>
                <a:gd name="connsiteY5" fmla="*/ 714792 h 5925148"/>
                <a:gd name="connsiteX6" fmla="*/ 3260654 w 4248150"/>
                <a:gd name="connsiteY6" fmla="*/ 0 h 5925148"/>
                <a:gd name="connsiteX7" fmla="*/ 3233852 w 4248150"/>
                <a:gd name="connsiteY7" fmla="*/ 464943 h 5925148"/>
                <a:gd name="connsiteX8" fmla="*/ 784251 w 4248150"/>
                <a:gd name="connsiteY8" fmla="*/ 464943 h 5925148"/>
                <a:gd name="connsiteX9" fmla="*/ 0 w 4248150"/>
                <a:gd name="connsiteY9" fmla="*/ 1249194 h 5925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48150" h="5925148">
                  <a:moveTo>
                    <a:pt x="0" y="5925148"/>
                  </a:moveTo>
                  <a:lnTo>
                    <a:pt x="4248150" y="5925148"/>
                  </a:lnTo>
                  <a:lnTo>
                    <a:pt x="4248150" y="1249194"/>
                  </a:lnTo>
                  <a:cubicBezTo>
                    <a:pt x="4248150" y="1086771"/>
                    <a:pt x="4198774" y="935879"/>
                    <a:pt x="4114212" y="810712"/>
                  </a:cubicBezTo>
                  <a:lnTo>
                    <a:pt x="4035071" y="714792"/>
                  </a:lnTo>
                  <a:lnTo>
                    <a:pt x="4040892" y="714792"/>
                  </a:lnTo>
                  <a:lnTo>
                    <a:pt x="3260654" y="0"/>
                  </a:lnTo>
                  <a:lnTo>
                    <a:pt x="3233852" y="464943"/>
                  </a:lnTo>
                  <a:lnTo>
                    <a:pt x="784251" y="464943"/>
                  </a:lnTo>
                  <a:cubicBezTo>
                    <a:pt x="351121" y="464943"/>
                    <a:pt x="0" y="816064"/>
                    <a:pt x="0" y="1249194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9" name="Freeform: Shape 28"/>
            <p:cNvSpPr/>
            <p:nvPr userDrawn="1"/>
          </p:nvSpPr>
          <p:spPr>
            <a:xfrm>
              <a:off x="7046409" y="0"/>
              <a:ext cx="3985632" cy="5249068"/>
            </a:xfrm>
            <a:custGeom>
              <a:avLst/>
              <a:gdLst>
                <a:gd name="connsiteX0" fmla="*/ 0 w 3985632"/>
                <a:gd name="connsiteY0" fmla="*/ 0 h 5249068"/>
                <a:gd name="connsiteX1" fmla="*/ 3985632 w 3985632"/>
                <a:gd name="connsiteY1" fmla="*/ 0 h 5249068"/>
                <a:gd name="connsiteX2" fmla="*/ 3985632 w 3985632"/>
                <a:gd name="connsiteY2" fmla="*/ 4513280 h 5249068"/>
                <a:gd name="connsiteX3" fmla="*/ 3249844 w 3985632"/>
                <a:gd name="connsiteY3" fmla="*/ 5249068 h 5249068"/>
                <a:gd name="connsiteX4" fmla="*/ 735788 w 3985632"/>
                <a:gd name="connsiteY4" fmla="*/ 5249068 h 5249068"/>
                <a:gd name="connsiteX5" fmla="*/ 0 w 3985632"/>
                <a:gd name="connsiteY5" fmla="*/ 4513280 h 5249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985632" h="5249068">
                  <a:moveTo>
                    <a:pt x="0" y="0"/>
                  </a:moveTo>
                  <a:lnTo>
                    <a:pt x="3985632" y="0"/>
                  </a:lnTo>
                  <a:lnTo>
                    <a:pt x="3985632" y="4513280"/>
                  </a:lnTo>
                  <a:cubicBezTo>
                    <a:pt x="3985632" y="4919644"/>
                    <a:pt x="3656208" y="5249068"/>
                    <a:pt x="3249844" y="5249068"/>
                  </a:cubicBezTo>
                  <a:lnTo>
                    <a:pt x="735788" y="5249068"/>
                  </a:lnTo>
                  <a:cubicBezTo>
                    <a:pt x="329424" y="5249068"/>
                    <a:pt x="0" y="4919644"/>
                    <a:pt x="0" y="4513280"/>
                  </a:cubicBezTo>
                  <a:close/>
                </a:path>
              </a:pathLst>
            </a:custGeom>
            <a:blipFill rotWithShape="0">
              <a:blip r:embed="rId2"/>
              <a:srcRect/>
              <a:stretch>
                <a:fillRect r="-97720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lvl="0" algn="ctr"/>
              <a:endParaRPr lang="zh-CN" altLang="en-US"/>
            </a:p>
          </p:txBody>
        </p:sp>
        <p:sp>
          <p:nvSpPr>
            <p:cNvPr id="32" name="Freeform: Shape 31"/>
            <p:cNvSpPr/>
            <p:nvPr userDrawn="1"/>
          </p:nvSpPr>
          <p:spPr>
            <a:xfrm>
              <a:off x="7046409" y="0"/>
              <a:ext cx="3985632" cy="5249068"/>
            </a:xfrm>
            <a:custGeom>
              <a:avLst/>
              <a:gdLst>
                <a:gd name="connsiteX0" fmla="*/ 0 w 3985632"/>
                <a:gd name="connsiteY0" fmla="*/ 0 h 5249068"/>
                <a:gd name="connsiteX1" fmla="*/ 3985632 w 3985632"/>
                <a:gd name="connsiteY1" fmla="*/ 0 h 5249068"/>
                <a:gd name="connsiteX2" fmla="*/ 3985632 w 3985632"/>
                <a:gd name="connsiteY2" fmla="*/ 4513280 h 5249068"/>
                <a:gd name="connsiteX3" fmla="*/ 3249844 w 3985632"/>
                <a:gd name="connsiteY3" fmla="*/ 5249068 h 5249068"/>
                <a:gd name="connsiteX4" fmla="*/ 735788 w 3985632"/>
                <a:gd name="connsiteY4" fmla="*/ 5249068 h 5249068"/>
                <a:gd name="connsiteX5" fmla="*/ 0 w 3985632"/>
                <a:gd name="connsiteY5" fmla="*/ 4513280 h 5249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985632" h="5249068">
                  <a:moveTo>
                    <a:pt x="0" y="0"/>
                  </a:moveTo>
                  <a:lnTo>
                    <a:pt x="3985632" y="0"/>
                  </a:lnTo>
                  <a:lnTo>
                    <a:pt x="3985632" y="4513280"/>
                  </a:lnTo>
                  <a:cubicBezTo>
                    <a:pt x="3985632" y="4919644"/>
                    <a:pt x="3656208" y="5249068"/>
                    <a:pt x="3249844" y="5249068"/>
                  </a:cubicBezTo>
                  <a:lnTo>
                    <a:pt x="735788" y="5249068"/>
                  </a:lnTo>
                  <a:cubicBezTo>
                    <a:pt x="329424" y="5249068"/>
                    <a:pt x="0" y="4919644"/>
                    <a:pt x="0" y="4513280"/>
                  </a:cubicBezTo>
                  <a:close/>
                </a:path>
              </a:pathLst>
            </a:custGeom>
            <a:solidFill>
              <a:schemeClr val="bg1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5" name="Title 4"/>
          <p:cNvSpPr>
            <a:spLocks noGrp="1"/>
          </p:cNvSpPr>
          <p:nvPr userDrawn="1">
            <p:ph type="ctrTitle" hasCustomPrompt="1"/>
          </p:nvPr>
        </p:nvSpPr>
        <p:spPr>
          <a:xfrm>
            <a:off x="660400" y="1089026"/>
            <a:ext cx="5819774" cy="2716006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>
              <a:lnSpc>
                <a:spcPct val="100000"/>
              </a:lnSpc>
              <a:defRPr sz="5400">
                <a:ln w="19050">
                  <a:noFill/>
                </a:ln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9" name="Subtitle 8"/>
          <p:cNvSpPr>
            <a:spLocks noGrp="1"/>
          </p:cNvSpPr>
          <p:nvPr userDrawn="1">
            <p:ph type="subTitle" sz="quarter" idx="1" hasCustomPrompt="1"/>
          </p:nvPr>
        </p:nvSpPr>
        <p:spPr>
          <a:xfrm>
            <a:off x="660400" y="3970410"/>
            <a:ext cx="3441700" cy="706106"/>
          </a:xfrm>
          <a:prstGeom prst="round2DiagRect">
            <a:avLst>
              <a:gd name="adj1" fmla="val 0"/>
              <a:gd name="adj2" fmla="val 41007"/>
            </a:avLst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rtlCol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lang="en-US" sz="1800" dirty="0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660400" y="5032395"/>
            <a:ext cx="1701801" cy="276999"/>
          </a:xfrm>
          <a:prstGeom prst="rect">
            <a:avLst/>
          </a:prstGeom>
        </p:spPr>
        <p:txBody>
          <a:bodyPr wrap="square" lIns="90000">
            <a:normAutofit/>
          </a:bodyPr>
          <a:lstStyle>
            <a:lvl1pPr marL="0" indent="0" algn="l">
              <a:lnSpc>
                <a:spcPct val="100000"/>
              </a:lnSpc>
              <a:buNone/>
              <a:defRPr sz="1200"/>
            </a:lvl1pPr>
          </a:lstStyle>
          <a:p>
            <a:pPr lvl="0"/>
            <a:r>
              <a:rPr lang="en-US"/>
              <a:t>Presenter name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660399" y="5372121"/>
            <a:ext cx="1701801" cy="276999"/>
          </a:xfrm>
          <a:prstGeom prst="rect">
            <a:avLst/>
          </a:prstGeom>
        </p:spPr>
        <p:txBody>
          <a:bodyPr wrap="none">
            <a:normAutofit/>
          </a:bodyPr>
          <a:lstStyle>
            <a:lvl1pPr marL="0" indent="0" algn="l">
              <a:lnSpc>
                <a:spcPct val="100000"/>
              </a:lnSpc>
              <a:buNone/>
              <a:defRPr sz="1200"/>
            </a:lvl1pPr>
          </a:lstStyle>
          <a:p>
            <a:pPr lvl="0"/>
            <a:r>
              <a:rPr lang="en-US"/>
              <a:t>www.officeplus.cn</a:t>
            </a: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 userDrawn="1"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0">
              <a:blip r:embed="rId2"/>
              <a:srcRect/>
              <a:stretch>
                <a:fillRect t="-18520" b="-9260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lvl="0" algn="ctr"/>
              <a:endParaRPr lang="zh-CN" altLang="en-US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660400" y="0"/>
            <a:ext cx="10858500" cy="10287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 hasCustomPrompt="1"/>
          </p:nvPr>
        </p:nvSpPr>
        <p:spPr>
          <a:xfrm>
            <a:off x="660400" y="1092200"/>
            <a:ext cx="10858500" cy="50419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/>
            </a:lvl1pPr>
            <a:lvl2pPr marL="742950" indent="-285750"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82A54-1ED4-49C6-8154-FC2019FF8FB3}" type="datetime1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OfficePLUS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zh-CN" altLang="en-US" smtClean="0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660400" y="1500188"/>
            <a:ext cx="2836800" cy="914400"/>
          </a:xfrm>
          <a:prstGeom prst="rect">
            <a:avLst/>
          </a:prstGeom>
        </p:spPr>
        <p:txBody>
          <a:bodyPr wrap="none" anchor="t">
            <a:normAutofit/>
          </a:bodyPr>
          <a:lstStyle>
            <a:lvl1pPr algn="r">
              <a:lnSpc>
                <a:spcPct val="100000"/>
              </a:lnSpc>
              <a:defRPr sz="2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Agenda</a:t>
            </a:r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" hasCustomPrompt="1"/>
          </p:nvPr>
        </p:nvSpPr>
        <p:spPr>
          <a:xfrm>
            <a:off x="3746500" y="1500187"/>
            <a:ext cx="7772400" cy="4633200"/>
          </a:xfrm>
          <a:prstGeom prst="rect">
            <a:avLst/>
          </a:prstGeom>
        </p:spPr>
        <p:txBody>
          <a:bodyPr wrap="square">
            <a:normAutofit/>
          </a:bodyPr>
          <a:lstStyle>
            <a:lvl1pPr marL="457200" indent="-457200">
              <a:lnSpc>
                <a:spcPct val="130000"/>
              </a:lnSpc>
              <a:buFont typeface="+mj-lt"/>
              <a:buAutoNum type="arabicPeriod"/>
              <a:defRPr sz="2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7A813-B2FD-42E1-9222-83B574E99074}" type="datetime1">
              <a:rPr lang="zh-CN" altLang="en-US" smtClean="0"/>
            </a:fld>
            <a:endParaRPr lang="en-US" alt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OfficePLUS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</a:fld>
            <a:endParaRPr lang="en-US" altLang="zh-CN"/>
          </a:p>
        </p:txBody>
      </p:sp>
      <p:grpSp>
        <p:nvGrpSpPr>
          <p:cNvPr id="6" name="Group 5"/>
          <p:cNvGrpSpPr/>
          <p:nvPr/>
        </p:nvGrpSpPr>
        <p:grpSpPr>
          <a:xfrm>
            <a:off x="2626456" y="1500188"/>
            <a:ext cx="994563" cy="4634686"/>
            <a:chOff x="2626456" y="1500188"/>
            <a:chExt cx="994563" cy="4634686"/>
          </a:xfrm>
        </p:grpSpPr>
        <p:cxnSp>
          <p:nvCxnSpPr>
            <p:cNvPr id="8" name="Straight Connector 7"/>
            <p:cNvCxnSpPr/>
            <p:nvPr/>
          </p:nvCxnSpPr>
          <p:spPr>
            <a:xfrm>
              <a:off x="3621019" y="1500188"/>
              <a:ext cx="0" cy="4633913"/>
            </a:xfrm>
            <a:prstGeom prst="line">
              <a:avLst/>
            </a:prstGeom>
            <a:solidFill>
              <a:srgbClr val="FFCC00"/>
            </a:solidFill>
            <a:ln w="3175" cap="flat" cmpd="sng" algn="ctr">
              <a:solidFill>
                <a:schemeClr val="tx1">
                  <a:alpha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9" name="Freeform: Shape 8"/>
            <p:cNvSpPr>
              <a:spLocks noChangeAspect="1"/>
            </p:cNvSpPr>
            <p:nvPr/>
          </p:nvSpPr>
          <p:spPr bwMode="auto">
            <a:xfrm>
              <a:off x="2626456" y="5219207"/>
              <a:ext cx="870506" cy="915667"/>
            </a:xfrm>
            <a:custGeom>
              <a:avLst/>
              <a:gdLst>
                <a:gd name="T0" fmla="*/ 3353 w 5127"/>
                <a:gd name="T1" fmla="*/ 1728 h 5401"/>
                <a:gd name="T2" fmla="*/ 2183 w 5127"/>
                <a:gd name="T3" fmla="*/ 1608 h 5401"/>
                <a:gd name="T4" fmla="*/ 3353 w 5127"/>
                <a:gd name="T5" fmla="*/ 1488 h 5401"/>
                <a:gd name="T6" fmla="*/ 3103 w 5127"/>
                <a:gd name="T7" fmla="*/ 2231 h 5401"/>
                <a:gd name="T8" fmla="*/ 3103 w 5127"/>
                <a:gd name="T9" fmla="*/ 1991 h 5401"/>
                <a:gd name="T10" fmla="*/ 2432 w 5127"/>
                <a:gd name="T11" fmla="*/ 2111 h 5401"/>
                <a:gd name="T12" fmla="*/ 3103 w 5127"/>
                <a:gd name="T13" fmla="*/ 2231 h 5401"/>
                <a:gd name="T14" fmla="*/ 3353 w 5127"/>
                <a:gd name="T15" fmla="*/ 2648 h 5401"/>
                <a:gd name="T16" fmla="*/ 2183 w 5127"/>
                <a:gd name="T17" fmla="*/ 2768 h 5401"/>
                <a:gd name="T18" fmla="*/ 3353 w 5127"/>
                <a:gd name="T19" fmla="*/ 2888 h 5401"/>
                <a:gd name="T20" fmla="*/ 2552 w 5127"/>
                <a:gd name="T21" fmla="*/ 3151 h 5401"/>
                <a:gd name="T22" fmla="*/ 2552 w 5127"/>
                <a:gd name="T23" fmla="*/ 3391 h 5401"/>
                <a:gd name="T24" fmla="*/ 3223 w 5127"/>
                <a:gd name="T25" fmla="*/ 3271 h 5401"/>
                <a:gd name="T26" fmla="*/ 2552 w 5127"/>
                <a:gd name="T27" fmla="*/ 3151 h 5401"/>
                <a:gd name="T28" fmla="*/ 4448 w 5127"/>
                <a:gd name="T29" fmla="*/ 1442 h 5401"/>
                <a:gd name="T30" fmla="*/ 4688 w 5127"/>
                <a:gd name="T31" fmla="*/ 1442 h 5401"/>
                <a:gd name="T32" fmla="*/ 3988 w 5127"/>
                <a:gd name="T33" fmla="*/ 0 h 5401"/>
                <a:gd name="T34" fmla="*/ 0 w 5127"/>
                <a:gd name="T35" fmla="*/ 604 h 5401"/>
                <a:gd name="T36" fmla="*/ 120 w 5127"/>
                <a:gd name="T37" fmla="*/ 1792 h 5401"/>
                <a:gd name="T38" fmla="*/ 686 w 5127"/>
                <a:gd name="T39" fmla="*/ 1672 h 5401"/>
                <a:gd name="T40" fmla="*/ 240 w 5127"/>
                <a:gd name="T41" fmla="*/ 1552 h 5401"/>
                <a:gd name="T42" fmla="*/ 604 w 5127"/>
                <a:gd name="T43" fmla="*/ 240 h 5401"/>
                <a:gd name="T44" fmla="*/ 968 w 5127"/>
                <a:gd name="T45" fmla="*/ 4179 h 5401"/>
                <a:gd name="T46" fmla="*/ 3904 w 5127"/>
                <a:gd name="T47" fmla="*/ 4879 h 5401"/>
                <a:gd name="T48" fmla="*/ 3904 w 5127"/>
                <a:gd name="T49" fmla="*/ 4639 h 5401"/>
                <a:gd name="T50" fmla="*/ 1208 w 5127"/>
                <a:gd name="T51" fmla="*/ 4179 h 5401"/>
                <a:gd name="T52" fmla="*/ 1086 w 5127"/>
                <a:gd name="T53" fmla="*/ 240 h 5401"/>
                <a:gd name="T54" fmla="*/ 4448 w 5127"/>
                <a:gd name="T55" fmla="*/ 700 h 5401"/>
                <a:gd name="T56" fmla="*/ 4568 w 5127"/>
                <a:gd name="T57" fmla="*/ 2000 h 5401"/>
                <a:gd name="T58" fmla="*/ 4568 w 5127"/>
                <a:gd name="T59" fmla="*/ 2240 h 5401"/>
                <a:gd name="T60" fmla="*/ 4887 w 5127"/>
                <a:gd name="T61" fmla="*/ 2340 h 5401"/>
                <a:gd name="T62" fmla="*/ 5007 w 5127"/>
                <a:gd name="T63" fmla="*/ 3838 h 5401"/>
                <a:gd name="T64" fmla="*/ 5127 w 5127"/>
                <a:gd name="T65" fmla="*/ 2340 h 5401"/>
                <a:gd name="T66" fmla="*/ 4568 w 5127"/>
                <a:gd name="T67" fmla="*/ 5139 h 5401"/>
                <a:gd name="T68" fmla="*/ 4448 w 5127"/>
                <a:gd name="T69" fmla="*/ 5281 h 5401"/>
                <a:gd name="T70" fmla="*/ 4688 w 5127"/>
                <a:gd name="T71" fmla="*/ 5281 h 5401"/>
                <a:gd name="T72" fmla="*/ 4568 w 5127"/>
                <a:gd name="T73" fmla="*/ 5139 h 5401"/>
                <a:gd name="T74" fmla="*/ 4448 w 5127"/>
                <a:gd name="T75" fmla="*/ 2559 h 5401"/>
                <a:gd name="T76" fmla="*/ 4568 w 5127"/>
                <a:gd name="T77" fmla="*/ 4974 h 5401"/>
                <a:gd name="T78" fmla="*/ 4688 w 5127"/>
                <a:gd name="T79" fmla="*/ 2559 h 5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127" h="5401">
                  <a:moveTo>
                    <a:pt x="3473" y="1608"/>
                  </a:moveTo>
                  <a:cubicBezTo>
                    <a:pt x="3473" y="1674"/>
                    <a:pt x="3419" y="1728"/>
                    <a:pt x="3353" y="1728"/>
                  </a:cubicBezTo>
                  <a:lnTo>
                    <a:pt x="2303" y="1728"/>
                  </a:lnTo>
                  <a:cubicBezTo>
                    <a:pt x="2236" y="1728"/>
                    <a:pt x="2183" y="1674"/>
                    <a:pt x="2183" y="1608"/>
                  </a:cubicBezTo>
                  <a:cubicBezTo>
                    <a:pt x="2183" y="1542"/>
                    <a:pt x="2236" y="1488"/>
                    <a:pt x="2303" y="1488"/>
                  </a:cubicBezTo>
                  <a:lnTo>
                    <a:pt x="3353" y="1488"/>
                  </a:lnTo>
                  <a:cubicBezTo>
                    <a:pt x="3419" y="1488"/>
                    <a:pt x="3473" y="1542"/>
                    <a:pt x="3473" y="1608"/>
                  </a:cubicBezTo>
                  <a:close/>
                  <a:moveTo>
                    <a:pt x="3103" y="2231"/>
                  </a:moveTo>
                  <a:cubicBezTo>
                    <a:pt x="3170" y="2231"/>
                    <a:pt x="3223" y="2178"/>
                    <a:pt x="3223" y="2111"/>
                  </a:cubicBezTo>
                  <a:cubicBezTo>
                    <a:pt x="3223" y="2045"/>
                    <a:pt x="3170" y="1991"/>
                    <a:pt x="3103" y="1991"/>
                  </a:cubicBezTo>
                  <a:lnTo>
                    <a:pt x="2552" y="1991"/>
                  </a:lnTo>
                  <a:cubicBezTo>
                    <a:pt x="2486" y="1991"/>
                    <a:pt x="2432" y="2045"/>
                    <a:pt x="2432" y="2111"/>
                  </a:cubicBezTo>
                  <a:cubicBezTo>
                    <a:pt x="2432" y="2178"/>
                    <a:pt x="2486" y="2231"/>
                    <a:pt x="2552" y="2231"/>
                  </a:cubicBezTo>
                  <a:lnTo>
                    <a:pt x="3103" y="2231"/>
                  </a:lnTo>
                  <a:close/>
                  <a:moveTo>
                    <a:pt x="3473" y="2768"/>
                  </a:moveTo>
                  <a:cubicBezTo>
                    <a:pt x="3473" y="2701"/>
                    <a:pt x="3419" y="2648"/>
                    <a:pt x="3353" y="2648"/>
                  </a:cubicBezTo>
                  <a:lnTo>
                    <a:pt x="2303" y="2648"/>
                  </a:lnTo>
                  <a:cubicBezTo>
                    <a:pt x="2236" y="2648"/>
                    <a:pt x="2183" y="2701"/>
                    <a:pt x="2183" y="2768"/>
                  </a:cubicBezTo>
                  <a:cubicBezTo>
                    <a:pt x="2183" y="2834"/>
                    <a:pt x="2236" y="2888"/>
                    <a:pt x="2303" y="2888"/>
                  </a:cubicBezTo>
                  <a:lnTo>
                    <a:pt x="3353" y="2888"/>
                  </a:lnTo>
                  <a:cubicBezTo>
                    <a:pt x="3419" y="2888"/>
                    <a:pt x="3473" y="2834"/>
                    <a:pt x="3473" y="2768"/>
                  </a:cubicBezTo>
                  <a:close/>
                  <a:moveTo>
                    <a:pt x="2552" y="3151"/>
                  </a:moveTo>
                  <a:cubicBezTo>
                    <a:pt x="2486" y="3151"/>
                    <a:pt x="2432" y="3205"/>
                    <a:pt x="2432" y="3271"/>
                  </a:cubicBezTo>
                  <a:cubicBezTo>
                    <a:pt x="2432" y="3338"/>
                    <a:pt x="2486" y="3391"/>
                    <a:pt x="2552" y="3391"/>
                  </a:cubicBezTo>
                  <a:lnTo>
                    <a:pt x="3103" y="3391"/>
                  </a:lnTo>
                  <a:cubicBezTo>
                    <a:pt x="3170" y="3391"/>
                    <a:pt x="3223" y="3338"/>
                    <a:pt x="3223" y="3271"/>
                  </a:cubicBezTo>
                  <a:cubicBezTo>
                    <a:pt x="3223" y="3205"/>
                    <a:pt x="3170" y="3151"/>
                    <a:pt x="3103" y="3151"/>
                  </a:cubicBezTo>
                  <a:lnTo>
                    <a:pt x="2552" y="3151"/>
                  </a:lnTo>
                  <a:close/>
                  <a:moveTo>
                    <a:pt x="4448" y="700"/>
                  </a:moveTo>
                  <a:lnTo>
                    <a:pt x="4448" y="1442"/>
                  </a:lnTo>
                  <a:cubicBezTo>
                    <a:pt x="4448" y="1509"/>
                    <a:pt x="4501" y="1562"/>
                    <a:pt x="4568" y="1562"/>
                  </a:cubicBezTo>
                  <a:cubicBezTo>
                    <a:pt x="4634" y="1562"/>
                    <a:pt x="4688" y="1509"/>
                    <a:pt x="4688" y="1442"/>
                  </a:cubicBezTo>
                  <a:lnTo>
                    <a:pt x="4688" y="700"/>
                  </a:lnTo>
                  <a:cubicBezTo>
                    <a:pt x="4688" y="314"/>
                    <a:pt x="4374" y="0"/>
                    <a:pt x="3988" y="0"/>
                  </a:cubicBezTo>
                  <a:lnTo>
                    <a:pt x="604" y="0"/>
                  </a:lnTo>
                  <a:cubicBezTo>
                    <a:pt x="271" y="0"/>
                    <a:pt x="0" y="271"/>
                    <a:pt x="0" y="604"/>
                  </a:cubicBezTo>
                  <a:lnTo>
                    <a:pt x="0" y="1672"/>
                  </a:lnTo>
                  <a:cubicBezTo>
                    <a:pt x="0" y="1738"/>
                    <a:pt x="53" y="1792"/>
                    <a:pt x="120" y="1792"/>
                  </a:cubicBezTo>
                  <a:lnTo>
                    <a:pt x="566" y="1792"/>
                  </a:lnTo>
                  <a:cubicBezTo>
                    <a:pt x="632" y="1792"/>
                    <a:pt x="686" y="1738"/>
                    <a:pt x="686" y="1672"/>
                  </a:cubicBezTo>
                  <a:cubicBezTo>
                    <a:pt x="686" y="1606"/>
                    <a:pt x="632" y="1552"/>
                    <a:pt x="566" y="1552"/>
                  </a:cubicBezTo>
                  <a:lnTo>
                    <a:pt x="240" y="1552"/>
                  </a:lnTo>
                  <a:lnTo>
                    <a:pt x="240" y="604"/>
                  </a:lnTo>
                  <a:cubicBezTo>
                    <a:pt x="240" y="403"/>
                    <a:pt x="403" y="240"/>
                    <a:pt x="604" y="240"/>
                  </a:cubicBezTo>
                  <a:cubicBezTo>
                    <a:pt x="805" y="240"/>
                    <a:pt x="968" y="403"/>
                    <a:pt x="968" y="604"/>
                  </a:cubicBezTo>
                  <a:lnTo>
                    <a:pt x="968" y="4179"/>
                  </a:lnTo>
                  <a:cubicBezTo>
                    <a:pt x="968" y="4565"/>
                    <a:pt x="1282" y="4879"/>
                    <a:pt x="1668" y="4879"/>
                  </a:cubicBezTo>
                  <a:lnTo>
                    <a:pt x="3904" y="4879"/>
                  </a:lnTo>
                  <a:cubicBezTo>
                    <a:pt x="3970" y="4879"/>
                    <a:pt x="4024" y="4825"/>
                    <a:pt x="4024" y="4759"/>
                  </a:cubicBezTo>
                  <a:cubicBezTo>
                    <a:pt x="4024" y="4693"/>
                    <a:pt x="3970" y="4639"/>
                    <a:pt x="3904" y="4639"/>
                  </a:cubicBezTo>
                  <a:lnTo>
                    <a:pt x="1668" y="4639"/>
                  </a:lnTo>
                  <a:cubicBezTo>
                    <a:pt x="1415" y="4639"/>
                    <a:pt x="1208" y="4433"/>
                    <a:pt x="1208" y="4179"/>
                  </a:cubicBezTo>
                  <a:lnTo>
                    <a:pt x="1208" y="604"/>
                  </a:lnTo>
                  <a:cubicBezTo>
                    <a:pt x="1208" y="468"/>
                    <a:pt x="1163" y="341"/>
                    <a:pt x="1086" y="240"/>
                  </a:cubicBezTo>
                  <a:lnTo>
                    <a:pt x="3988" y="240"/>
                  </a:lnTo>
                  <a:cubicBezTo>
                    <a:pt x="4241" y="240"/>
                    <a:pt x="4448" y="446"/>
                    <a:pt x="4448" y="700"/>
                  </a:cubicBezTo>
                  <a:close/>
                  <a:moveTo>
                    <a:pt x="4787" y="2000"/>
                  </a:moveTo>
                  <a:lnTo>
                    <a:pt x="4568" y="2000"/>
                  </a:lnTo>
                  <a:cubicBezTo>
                    <a:pt x="4501" y="2000"/>
                    <a:pt x="4448" y="2054"/>
                    <a:pt x="4448" y="2120"/>
                  </a:cubicBezTo>
                  <a:cubicBezTo>
                    <a:pt x="4448" y="2187"/>
                    <a:pt x="4501" y="2240"/>
                    <a:pt x="4568" y="2240"/>
                  </a:cubicBezTo>
                  <a:lnTo>
                    <a:pt x="4787" y="2240"/>
                  </a:lnTo>
                  <a:cubicBezTo>
                    <a:pt x="4842" y="2240"/>
                    <a:pt x="4887" y="2285"/>
                    <a:pt x="4887" y="2340"/>
                  </a:cubicBezTo>
                  <a:lnTo>
                    <a:pt x="4887" y="3718"/>
                  </a:lnTo>
                  <a:cubicBezTo>
                    <a:pt x="4887" y="3785"/>
                    <a:pt x="4941" y="3838"/>
                    <a:pt x="5007" y="3838"/>
                  </a:cubicBezTo>
                  <a:cubicBezTo>
                    <a:pt x="5073" y="3838"/>
                    <a:pt x="5127" y="3785"/>
                    <a:pt x="5127" y="3718"/>
                  </a:cubicBezTo>
                  <a:lnTo>
                    <a:pt x="5127" y="2340"/>
                  </a:lnTo>
                  <a:cubicBezTo>
                    <a:pt x="5127" y="2153"/>
                    <a:pt x="4975" y="2000"/>
                    <a:pt x="4787" y="2000"/>
                  </a:cubicBezTo>
                  <a:close/>
                  <a:moveTo>
                    <a:pt x="4568" y="5139"/>
                  </a:moveTo>
                  <a:cubicBezTo>
                    <a:pt x="4501" y="5139"/>
                    <a:pt x="4448" y="5193"/>
                    <a:pt x="4448" y="5259"/>
                  </a:cubicBezTo>
                  <a:lnTo>
                    <a:pt x="4448" y="5281"/>
                  </a:lnTo>
                  <a:cubicBezTo>
                    <a:pt x="4448" y="5347"/>
                    <a:pt x="4501" y="5401"/>
                    <a:pt x="4568" y="5401"/>
                  </a:cubicBezTo>
                  <a:cubicBezTo>
                    <a:pt x="4634" y="5401"/>
                    <a:pt x="4688" y="5347"/>
                    <a:pt x="4688" y="5281"/>
                  </a:cubicBezTo>
                  <a:lnTo>
                    <a:pt x="4688" y="5259"/>
                  </a:lnTo>
                  <a:cubicBezTo>
                    <a:pt x="4688" y="5193"/>
                    <a:pt x="4634" y="5139"/>
                    <a:pt x="4568" y="5139"/>
                  </a:cubicBezTo>
                  <a:close/>
                  <a:moveTo>
                    <a:pt x="4568" y="2439"/>
                  </a:moveTo>
                  <a:cubicBezTo>
                    <a:pt x="4501" y="2439"/>
                    <a:pt x="4448" y="2492"/>
                    <a:pt x="4448" y="2559"/>
                  </a:cubicBezTo>
                  <a:lnTo>
                    <a:pt x="4448" y="4854"/>
                  </a:lnTo>
                  <a:cubicBezTo>
                    <a:pt x="4448" y="4920"/>
                    <a:pt x="4501" y="4974"/>
                    <a:pt x="4568" y="4974"/>
                  </a:cubicBezTo>
                  <a:cubicBezTo>
                    <a:pt x="4634" y="4974"/>
                    <a:pt x="4688" y="4920"/>
                    <a:pt x="4688" y="4854"/>
                  </a:cubicBezTo>
                  <a:lnTo>
                    <a:pt x="4688" y="2559"/>
                  </a:lnTo>
                  <a:cubicBezTo>
                    <a:pt x="4688" y="2492"/>
                    <a:pt x="4634" y="2439"/>
                    <a:pt x="4568" y="2439"/>
                  </a:cubicBezTo>
                  <a:close/>
                </a:path>
              </a:pathLst>
            </a:custGeom>
            <a:solidFill>
              <a:schemeClr val="tx1">
                <a:alpha val="1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Pr>
        <a:solidFill>
          <a:schemeClr val="accent1">
            <a:lumMod val="20000"/>
            <a:lumOff val="80000"/>
            <a:alpha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 userDrawn="1"/>
        </p:nvGrpSpPr>
        <p:grpSpPr>
          <a:xfrm flipH="1">
            <a:off x="-3175" y="0"/>
            <a:ext cx="12195175" cy="6858000"/>
            <a:chOff x="-1" y="0"/>
            <a:chExt cx="12195175" cy="6858000"/>
          </a:xfrm>
        </p:grpSpPr>
        <p:sp>
          <p:nvSpPr>
            <p:cNvPr id="3" name="Freeform: Shape 2"/>
            <p:cNvSpPr/>
            <p:nvPr userDrawn="1"/>
          </p:nvSpPr>
          <p:spPr>
            <a:xfrm>
              <a:off x="6480174" y="0"/>
              <a:ext cx="4248150" cy="5417156"/>
            </a:xfrm>
            <a:custGeom>
              <a:avLst/>
              <a:gdLst>
                <a:gd name="connsiteX0" fmla="*/ 0 w 4248150"/>
                <a:gd name="connsiteY0" fmla="*/ 0 h 5417156"/>
                <a:gd name="connsiteX1" fmla="*/ 4248150 w 4248150"/>
                <a:gd name="connsiteY1" fmla="*/ 0 h 5417156"/>
                <a:gd name="connsiteX2" fmla="*/ 4248150 w 4248150"/>
                <a:gd name="connsiteY2" fmla="*/ 4632905 h 5417156"/>
                <a:gd name="connsiteX3" fmla="*/ 3463899 w 4248150"/>
                <a:gd name="connsiteY3" fmla="*/ 5417156 h 5417156"/>
                <a:gd name="connsiteX4" fmla="*/ 784251 w 4248150"/>
                <a:gd name="connsiteY4" fmla="*/ 5417156 h 5417156"/>
                <a:gd name="connsiteX5" fmla="*/ 0 w 4248150"/>
                <a:gd name="connsiteY5" fmla="*/ 4632905 h 541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48150" h="5417156">
                  <a:moveTo>
                    <a:pt x="0" y="0"/>
                  </a:moveTo>
                  <a:lnTo>
                    <a:pt x="4248150" y="0"/>
                  </a:lnTo>
                  <a:lnTo>
                    <a:pt x="4248150" y="4632905"/>
                  </a:lnTo>
                  <a:cubicBezTo>
                    <a:pt x="4248150" y="5066035"/>
                    <a:pt x="3897029" y="5417156"/>
                    <a:pt x="3463899" y="5417156"/>
                  </a:cubicBezTo>
                  <a:lnTo>
                    <a:pt x="784251" y="5417156"/>
                  </a:lnTo>
                  <a:cubicBezTo>
                    <a:pt x="351121" y="5417156"/>
                    <a:pt x="0" y="5066035"/>
                    <a:pt x="0" y="4632905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7" name="Group 6"/>
            <p:cNvGrpSpPr/>
            <p:nvPr userDrawn="1"/>
          </p:nvGrpSpPr>
          <p:grpSpPr>
            <a:xfrm flipH="1">
              <a:off x="-1" y="4762501"/>
              <a:ext cx="12195175" cy="2095499"/>
              <a:chOff x="0" y="-2873375"/>
              <a:chExt cx="12195175" cy="1895475"/>
            </a:xfrm>
          </p:grpSpPr>
          <p:sp>
            <p:nvSpPr>
              <p:cNvPr id="12" name="Freeform: Shape 11"/>
              <p:cNvSpPr/>
              <p:nvPr userDrawn="1"/>
            </p:nvSpPr>
            <p:spPr bwMode="auto">
              <a:xfrm>
                <a:off x="0" y="-2873375"/>
                <a:ext cx="12195175" cy="1895475"/>
              </a:xfrm>
              <a:custGeom>
                <a:avLst/>
                <a:gdLst>
                  <a:gd name="T0" fmla="*/ 7682 w 7682"/>
                  <a:gd name="T1" fmla="*/ 1194 h 1194"/>
                  <a:gd name="T2" fmla="*/ 0 w 7682"/>
                  <a:gd name="T3" fmla="*/ 1194 h 1194"/>
                  <a:gd name="T4" fmla="*/ 0 w 7682"/>
                  <a:gd name="T5" fmla="*/ 0 h 1194"/>
                  <a:gd name="T6" fmla="*/ 7682 w 7682"/>
                  <a:gd name="T7" fmla="*/ 807 h 1194"/>
                  <a:gd name="T8" fmla="*/ 7682 w 7682"/>
                  <a:gd name="T9" fmla="*/ 1194 h 1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682" h="1194">
                    <a:moveTo>
                      <a:pt x="7682" y="1194"/>
                    </a:moveTo>
                    <a:lnTo>
                      <a:pt x="0" y="1194"/>
                    </a:lnTo>
                    <a:lnTo>
                      <a:pt x="0" y="0"/>
                    </a:lnTo>
                    <a:lnTo>
                      <a:pt x="7682" y="807"/>
                    </a:lnTo>
                    <a:lnTo>
                      <a:pt x="7682" y="1194"/>
                    </a:ln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" name="Freeform: Shape 12"/>
              <p:cNvSpPr/>
              <p:nvPr userDrawn="1"/>
            </p:nvSpPr>
            <p:spPr bwMode="auto">
              <a:xfrm>
                <a:off x="0" y="-2151063"/>
                <a:ext cx="12195175" cy="1173163"/>
              </a:xfrm>
              <a:custGeom>
                <a:avLst/>
                <a:gdLst>
                  <a:gd name="T0" fmla="*/ 7682 w 7682"/>
                  <a:gd name="T1" fmla="*/ 739 h 739"/>
                  <a:gd name="T2" fmla="*/ 0 w 7682"/>
                  <a:gd name="T3" fmla="*/ 739 h 739"/>
                  <a:gd name="T4" fmla="*/ 0 w 7682"/>
                  <a:gd name="T5" fmla="*/ 0 h 739"/>
                  <a:gd name="T6" fmla="*/ 7682 w 7682"/>
                  <a:gd name="T7" fmla="*/ 379 h 739"/>
                  <a:gd name="T8" fmla="*/ 7682 w 7682"/>
                  <a:gd name="T9" fmla="*/ 739 h 7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682" h="739">
                    <a:moveTo>
                      <a:pt x="7682" y="739"/>
                    </a:moveTo>
                    <a:lnTo>
                      <a:pt x="0" y="739"/>
                    </a:lnTo>
                    <a:lnTo>
                      <a:pt x="0" y="0"/>
                    </a:lnTo>
                    <a:lnTo>
                      <a:pt x="7682" y="379"/>
                    </a:lnTo>
                    <a:lnTo>
                      <a:pt x="7682" y="739"/>
                    </a:ln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" name="Freeform: Shape 13"/>
              <p:cNvSpPr/>
              <p:nvPr userDrawn="1"/>
            </p:nvSpPr>
            <p:spPr bwMode="auto">
              <a:xfrm>
                <a:off x="0" y="-1549400"/>
                <a:ext cx="12195175" cy="571500"/>
              </a:xfrm>
              <a:custGeom>
                <a:avLst/>
                <a:gdLst>
                  <a:gd name="T0" fmla="*/ 7682 w 7682"/>
                  <a:gd name="T1" fmla="*/ 360 h 360"/>
                  <a:gd name="T2" fmla="*/ 0 w 7682"/>
                  <a:gd name="T3" fmla="*/ 360 h 360"/>
                  <a:gd name="T4" fmla="*/ 7682 w 7682"/>
                  <a:gd name="T5" fmla="*/ 0 h 360"/>
                  <a:gd name="T6" fmla="*/ 7682 w 7682"/>
                  <a:gd name="T7" fmla="*/ 360 h 3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682" h="360">
                    <a:moveTo>
                      <a:pt x="7682" y="360"/>
                    </a:moveTo>
                    <a:lnTo>
                      <a:pt x="0" y="360"/>
                    </a:lnTo>
                    <a:lnTo>
                      <a:pt x="7682" y="0"/>
                    </a:lnTo>
                    <a:lnTo>
                      <a:pt x="7682" y="360"/>
                    </a:lnTo>
                    <a:close/>
                  </a:path>
                </a:pathLst>
              </a:cu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sp>
          <p:nvSpPr>
            <p:cNvPr id="9" name="Freeform: Shape 8"/>
            <p:cNvSpPr/>
            <p:nvPr userDrawn="1"/>
          </p:nvSpPr>
          <p:spPr>
            <a:xfrm flipV="1">
              <a:off x="6915150" y="0"/>
              <a:ext cx="4248150" cy="5925148"/>
            </a:xfrm>
            <a:custGeom>
              <a:avLst/>
              <a:gdLst>
                <a:gd name="connsiteX0" fmla="*/ 0 w 4248150"/>
                <a:gd name="connsiteY0" fmla="*/ 5925148 h 5925148"/>
                <a:gd name="connsiteX1" fmla="*/ 4248150 w 4248150"/>
                <a:gd name="connsiteY1" fmla="*/ 5925148 h 5925148"/>
                <a:gd name="connsiteX2" fmla="*/ 4248150 w 4248150"/>
                <a:gd name="connsiteY2" fmla="*/ 1249194 h 5925148"/>
                <a:gd name="connsiteX3" fmla="*/ 4114212 w 4248150"/>
                <a:gd name="connsiteY3" fmla="*/ 810712 h 5925148"/>
                <a:gd name="connsiteX4" fmla="*/ 4035071 w 4248150"/>
                <a:gd name="connsiteY4" fmla="*/ 714792 h 5925148"/>
                <a:gd name="connsiteX5" fmla="*/ 4040892 w 4248150"/>
                <a:gd name="connsiteY5" fmla="*/ 714792 h 5925148"/>
                <a:gd name="connsiteX6" fmla="*/ 3260654 w 4248150"/>
                <a:gd name="connsiteY6" fmla="*/ 0 h 5925148"/>
                <a:gd name="connsiteX7" fmla="*/ 3233852 w 4248150"/>
                <a:gd name="connsiteY7" fmla="*/ 464943 h 5925148"/>
                <a:gd name="connsiteX8" fmla="*/ 784251 w 4248150"/>
                <a:gd name="connsiteY8" fmla="*/ 464943 h 5925148"/>
                <a:gd name="connsiteX9" fmla="*/ 0 w 4248150"/>
                <a:gd name="connsiteY9" fmla="*/ 1249194 h 5925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48150" h="5925148">
                  <a:moveTo>
                    <a:pt x="0" y="5925148"/>
                  </a:moveTo>
                  <a:lnTo>
                    <a:pt x="4248150" y="5925148"/>
                  </a:lnTo>
                  <a:lnTo>
                    <a:pt x="4248150" y="1249194"/>
                  </a:lnTo>
                  <a:cubicBezTo>
                    <a:pt x="4248150" y="1086771"/>
                    <a:pt x="4198774" y="935879"/>
                    <a:pt x="4114212" y="810712"/>
                  </a:cubicBezTo>
                  <a:lnTo>
                    <a:pt x="4035071" y="714792"/>
                  </a:lnTo>
                  <a:lnTo>
                    <a:pt x="4040892" y="714792"/>
                  </a:lnTo>
                  <a:lnTo>
                    <a:pt x="3260654" y="0"/>
                  </a:lnTo>
                  <a:lnTo>
                    <a:pt x="3233852" y="464943"/>
                  </a:lnTo>
                  <a:lnTo>
                    <a:pt x="784251" y="464943"/>
                  </a:lnTo>
                  <a:cubicBezTo>
                    <a:pt x="351121" y="464943"/>
                    <a:pt x="0" y="816064"/>
                    <a:pt x="0" y="1249194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Freeform: Shape 9"/>
            <p:cNvSpPr/>
            <p:nvPr userDrawn="1"/>
          </p:nvSpPr>
          <p:spPr>
            <a:xfrm>
              <a:off x="7046409" y="0"/>
              <a:ext cx="3985632" cy="5249068"/>
            </a:xfrm>
            <a:custGeom>
              <a:avLst/>
              <a:gdLst>
                <a:gd name="connsiteX0" fmla="*/ 0 w 3985632"/>
                <a:gd name="connsiteY0" fmla="*/ 0 h 5249068"/>
                <a:gd name="connsiteX1" fmla="*/ 3985632 w 3985632"/>
                <a:gd name="connsiteY1" fmla="*/ 0 h 5249068"/>
                <a:gd name="connsiteX2" fmla="*/ 3985632 w 3985632"/>
                <a:gd name="connsiteY2" fmla="*/ 4513280 h 5249068"/>
                <a:gd name="connsiteX3" fmla="*/ 3249844 w 3985632"/>
                <a:gd name="connsiteY3" fmla="*/ 5249068 h 5249068"/>
                <a:gd name="connsiteX4" fmla="*/ 735788 w 3985632"/>
                <a:gd name="connsiteY4" fmla="*/ 5249068 h 5249068"/>
                <a:gd name="connsiteX5" fmla="*/ 0 w 3985632"/>
                <a:gd name="connsiteY5" fmla="*/ 4513280 h 5249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985632" h="5249068">
                  <a:moveTo>
                    <a:pt x="0" y="0"/>
                  </a:moveTo>
                  <a:lnTo>
                    <a:pt x="3985632" y="0"/>
                  </a:lnTo>
                  <a:lnTo>
                    <a:pt x="3985632" y="4513280"/>
                  </a:lnTo>
                  <a:cubicBezTo>
                    <a:pt x="3985632" y="4919644"/>
                    <a:pt x="3656208" y="5249068"/>
                    <a:pt x="3249844" y="5249068"/>
                  </a:cubicBezTo>
                  <a:lnTo>
                    <a:pt x="735788" y="5249068"/>
                  </a:lnTo>
                  <a:cubicBezTo>
                    <a:pt x="329424" y="5249068"/>
                    <a:pt x="0" y="4919644"/>
                    <a:pt x="0" y="4513280"/>
                  </a:cubicBezTo>
                  <a:close/>
                </a:path>
              </a:pathLst>
            </a:custGeom>
            <a:blipFill rotWithShape="0">
              <a:blip r:embed="rId2"/>
              <a:srcRect/>
              <a:stretch>
                <a:fillRect r="-97720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lvl="0" algn="ctr"/>
              <a:endParaRPr lang="zh-CN" altLang="en-US"/>
            </a:p>
          </p:txBody>
        </p:sp>
        <p:sp>
          <p:nvSpPr>
            <p:cNvPr id="11" name="Freeform: Shape 10"/>
            <p:cNvSpPr/>
            <p:nvPr userDrawn="1"/>
          </p:nvSpPr>
          <p:spPr>
            <a:xfrm>
              <a:off x="7046409" y="0"/>
              <a:ext cx="3985632" cy="5249068"/>
            </a:xfrm>
            <a:custGeom>
              <a:avLst/>
              <a:gdLst>
                <a:gd name="connsiteX0" fmla="*/ 0 w 3985632"/>
                <a:gd name="connsiteY0" fmla="*/ 0 h 5249068"/>
                <a:gd name="connsiteX1" fmla="*/ 3985632 w 3985632"/>
                <a:gd name="connsiteY1" fmla="*/ 0 h 5249068"/>
                <a:gd name="connsiteX2" fmla="*/ 3985632 w 3985632"/>
                <a:gd name="connsiteY2" fmla="*/ 4513280 h 5249068"/>
                <a:gd name="connsiteX3" fmla="*/ 3249844 w 3985632"/>
                <a:gd name="connsiteY3" fmla="*/ 5249068 h 5249068"/>
                <a:gd name="connsiteX4" fmla="*/ 735788 w 3985632"/>
                <a:gd name="connsiteY4" fmla="*/ 5249068 h 5249068"/>
                <a:gd name="connsiteX5" fmla="*/ 0 w 3985632"/>
                <a:gd name="connsiteY5" fmla="*/ 4513280 h 5249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985632" h="5249068">
                  <a:moveTo>
                    <a:pt x="0" y="0"/>
                  </a:moveTo>
                  <a:lnTo>
                    <a:pt x="3985632" y="0"/>
                  </a:lnTo>
                  <a:lnTo>
                    <a:pt x="3985632" y="4513280"/>
                  </a:lnTo>
                  <a:cubicBezTo>
                    <a:pt x="3985632" y="4919644"/>
                    <a:pt x="3656208" y="5249068"/>
                    <a:pt x="3249844" y="5249068"/>
                  </a:cubicBezTo>
                  <a:lnTo>
                    <a:pt x="735788" y="5249068"/>
                  </a:lnTo>
                  <a:cubicBezTo>
                    <a:pt x="329424" y="5249068"/>
                    <a:pt x="0" y="4919644"/>
                    <a:pt x="0" y="4513280"/>
                  </a:cubicBezTo>
                  <a:close/>
                </a:path>
              </a:pathLst>
            </a:custGeom>
            <a:solidFill>
              <a:schemeClr val="bg1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6146801" y="2147327"/>
            <a:ext cx="5372098" cy="1104990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pPr lvl="0"/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1" hasCustomPrompt="1"/>
          </p:nvPr>
        </p:nvSpPr>
        <p:spPr>
          <a:xfrm>
            <a:off x="6146801" y="3264170"/>
            <a:ext cx="5372098" cy="110499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120000"/>
              </a:lnSpc>
              <a:buFont typeface="+mj-lt"/>
              <a:buNone/>
              <a:defRPr sz="16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7A813-B2FD-42E1-9222-83B574E99074}" type="datetime1">
              <a:rPr lang="zh-CN" altLang="en-US" smtClean="0"/>
            </a:fld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OfficePLUS</a:t>
            </a:r>
            <a:endParaRPr lang="zh-CN" alt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>
          <a:xfrm>
            <a:off x="660399" y="0"/>
            <a:ext cx="10858500" cy="1028700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43B38-FCD2-4D0A-90BC-740ACC77290F}" type="datetime1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OfficePLUS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zh-CN" altLang="en-US" smtClean="0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3D36A-0885-4071-9EF1-0FE4286E17CF}" type="datetime1">
              <a:rPr lang="zh-CN" alt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OfficePLUS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Closing">
    <p:bg>
      <p:bgPr>
        <a:solidFill>
          <a:schemeClr val="accent1">
            <a:lumMod val="20000"/>
            <a:lumOff val="80000"/>
            <a:alpha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 userDrawn="1"/>
        </p:nvGrpSpPr>
        <p:grpSpPr>
          <a:xfrm>
            <a:off x="-1" y="0"/>
            <a:ext cx="12195175" cy="6858000"/>
            <a:chOff x="-1" y="0"/>
            <a:chExt cx="12195175" cy="6858000"/>
          </a:xfrm>
        </p:grpSpPr>
        <p:sp>
          <p:nvSpPr>
            <p:cNvPr id="15" name="Freeform: Shape 14"/>
            <p:cNvSpPr/>
            <p:nvPr userDrawn="1"/>
          </p:nvSpPr>
          <p:spPr>
            <a:xfrm>
              <a:off x="6480174" y="0"/>
              <a:ext cx="4248150" cy="5417156"/>
            </a:xfrm>
            <a:custGeom>
              <a:avLst/>
              <a:gdLst>
                <a:gd name="connsiteX0" fmla="*/ 0 w 4248150"/>
                <a:gd name="connsiteY0" fmla="*/ 0 h 5417156"/>
                <a:gd name="connsiteX1" fmla="*/ 4248150 w 4248150"/>
                <a:gd name="connsiteY1" fmla="*/ 0 h 5417156"/>
                <a:gd name="connsiteX2" fmla="*/ 4248150 w 4248150"/>
                <a:gd name="connsiteY2" fmla="*/ 4632905 h 5417156"/>
                <a:gd name="connsiteX3" fmla="*/ 3463899 w 4248150"/>
                <a:gd name="connsiteY3" fmla="*/ 5417156 h 5417156"/>
                <a:gd name="connsiteX4" fmla="*/ 784251 w 4248150"/>
                <a:gd name="connsiteY4" fmla="*/ 5417156 h 5417156"/>
                <a:gd name="connsiteX5" fmla="*/ 0 w 4248150"/>
                <a:gd name="connsiteY5" fmla="*/ 4632905 h 541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48150" h="5417156">
                  <a:moveTo>
                    <a:pt x="0" y="0"/>
                  </a:moveTo>
                  <a:lnTo>
                    <a:pt x="4248150" y="0"/>
                  </a:lnTo>
                  <a:lnTo>
                    <a:pt x="4248150" y="4632905"/>
                  </a:lnTo>
                  <a:cubicBezTo>
                    <a:pt x="4248150" y="5066035"/>
                    <a:pt x="3897029" y="5417156"/>
                    <a:pt x="3463899" y="5417156"/>
                  </a:cubicBezTo>
                  <a:lnTo>
                    <a:pt x="784251" y="5417156"/>
                  </a:lnTo>
                  <a:cubicBezTo>
                    <a:pt x="351121" y="5417156"/>
                    <a:pt x="0" y="5066035"/>
                    <a:pt x="0" y="4632905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16" name="Group 15"/>
            <p:cNvGrpSpPr/>
            <p:nvPr userDrawn="1"/>
          </p:nvGrpSpPr>
          <p:grpSpPr>
            <a:xfrm flipH="1">
              <a:off x="-1" y="4762501"/>
              <a:ext cx="12195175" cy="2095499"/>
              <a:chOff x="0" y="-2873375"/>
              <a:chExt cx="12195175" cy="1895475"/>
            </a:xfrm>
          </p:grpSpPr>
          <p:sp>
            <p:nvSpPr>
              <p:cNvPr id="20" name="Freeform: Shape 19"/>
              <p:cNvSpPr/>
              <p:nvPr userDrawn="1"/>
            </p:nvSpPr>
            <p:spPr bwMode="auto">
              <a:xfrm>
                <a:off x="0" y="-2873375"/>
                <a:ext cx="12195175" cy="1895475"/>
              </a:xfrm>
              <a:custGeom>
                <a:avLst/>
                <a:gdLst>
                  <a:gd name="T0" fmla="*/ 7682 w 7682"/>
                  <a:gd name="T1" fmla="*/ 1194 h 1194"/>
                  <a:gd name="T2" fmla="*/ 0 w 7682"/>
                  <a:gd name="T3" fmla="*/ 1194 h 1194"/>
                  <a:gd name="T4" fmla="*/ 0 w 7682"/>
                  <a:gd name="T5" fmla="*/ 0 h 1194"/>
                  <a:gd name="T6" fmla="*/ 7682 w 7682"/>
                  <a:gd name="T7" fmla="*/ 807 h 1194"/>
                  <a:gd name="T8" fmla="*/ 7682 w 7682"/>
                  <a:gd name="T9" fmla="*/ 1194 h 1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682" h="1194">
                    <a:moveTo>
                      <a:pt x="7682" y="1194"/>
                    </a:moveTo>
                    <a:lnTo>
                      <a:pt x="0" y="1194"/>
                    </a:lnTo>
                    <a:lnTo>
                      <a:pt x="0" y="0"/>
                    </a:lnTo>
                    <a:lnTo>
                      <a:pt x="7682" y="807"/>
                    </a:lnTo>
                    <a:lnTo>
                      <a:pt x="7682" y="1194"/>
                    </a:ln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" name="Freeform: Shape 20"/>
              <p:cNvSpPr/>
              <p:nvPr userDrawn="1"/>
            </p:nvSpPr>
            <p:spPr bwMode="auto">
              <a:xfrm>
                <a:off x="0" y="-2151063"/>
                <a:ext cx="12195175" cy="1173163"/>
              </a:xfrm>
              <a:custGeom>
                <a:avLst/>
                <a:gdLst>
                  <a:gd name="T0" fmla="*/ 7682 w 7682"/>
                  <a:gd name="T1" fmla="*/ 739 h 739"/>
                  <a:gd name="T2" fmla="*/ 0 w 7682"/>
                  <a:gd name="T3" fmla="*/ 739 h 739"/>
                  <a:gd name="T4" fmla="*/ 0 w 7682"/>
                  <a:gd name="T5" fmla="*/ 0 h 739"/>
                  <a:gd name="T6" fmla="*/ 7682 w 7682"/>
                  <a:gd name="T7" fmla="*/ 379 h 739"/>
                  <a:gd name="T8" fmla="*/ 7682 w 7682"/>
                  <a:gd name="T9" fmla="*/ 739 h 7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682" h="739">
                    <a:moveTo>
                      <a:pt x="7682" y="739"/>
                    </a:moveTo>
                    <a:lnTo>
                      <a:pt x="0" y="739"/>
                    </a:lnTo>
                    <a:lnTo>
                      <a:pt x="0" y="0"/>
                    </a:lnTo>
                    <a:lnTo>
                      <a:pt x="7682" y="379"/>
                    </a:lnTo>
                    <a:lnTo>
                      <a:pt x="7682" y="739"/>
                    </a:ln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" name="Freeform: Shape 21"/>
              <p:cNvSpPr/>
              <p:nvPr userDrawn="1"/>
            </p:nvSpPr>
            <p:spPr bwMode="auto">
              <a:xfrm>
                <a:off x="0" y="-1549400"/>
                <a:ext cx="12195175" cy="571500"/>
              </a:xfrm>
              <a:custGeom>
                <a:avLst/>
                <a:gdLst>
                  <a:gd name="T0" fmla="*/ 7682 w 7682"/>
                  <a:gd name="T1" fmla="*/ 360 h 360"/>
                  <a:gd name="T2" fmla="*/ 0 w 7682"/>
                  <a:gd name="T3" fmla="*/ 360 h 360"/>
                  <a:gd name="T4" fmla="*/ 7682 w 7682"/>
                  <a:gd name="T5" fmla="*/ 0 h 360"/>
                  <a:gd name="T6" fmla="*/ 7682 w 7682"/>
                  <a:gd name="T7" fmla="*/ 360 h 3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682" h="360">
                    <a:moveTo>
                      <a:pt x="7682" y="360"/>
                    </a:moveTo>
                    <a:lnTo>
                      <a:pt x="0" y="360"/>
                    </a:lnTo>
                    <a:lnTo>
                      <a:pt x="7682" y="0"/>
                    </a:lnTo>
                    <a:lnTo>
                      <a:pt x="7682" y="360"/>
                    </a:lnTo>
                    <a:close/>
                  </a:path>
                </a:pathLst>
              </a:cu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sp>
          <p:nvSpPr>
            <p:cNvPr id="17" name="Freeform: Shape 16"/>
            <p:cNvSpPr/>
            <p:nvPr userDrawn="1"/>
          </p:nvSpPr>
          <p:spPr>
            <a:xfrm flipV="1">
              <a:off x="6915150" y="0"/>
              <a:ext cx="4248150" cy="5925148"/>
            </a:xfrm>
            <a:custGeom>
              <a:avLst/>
              <a:gdLst>
                <a:gd name="connsiteX0" fmla="*/ 0 w 4248150"/>
                <a:gd name="connsiteY0" fmla="*/ 5925148 h 5925148"/>
                <a:gd name="connsiteX1" fmla="*/ 4248150 w 4248150"/>
                <a:gd name="connsiteY1" fmla="*/ 5925148 h 5925148"/>
                <a:gd name="connsiteX2" fmla="*/ 4248150 w 4248150"/>
                <a:gd name="connsiteY2" fmla="*/ 1249194 h 5925148"/>
                <a:gd name="connsiteX3" fmla="*/ 4114212 w 4248150"/>
                <a:gd name="connsiteY3" fmla="*/ 810712 h 5925148"/>
                <a:gd name="connsiteX4" fmla="*/ 4035071 w 4248150"/>
                <a:gd name="connsiteY4" fmla="*/ 714792 h 5925148"/>
                <a:gd name="connsiteX5" fmla="*/ 4040892 w 4248150"/>
                <a:gd name="connsiteY5" fmla="*/ 714792 h 5925148"/>
                <a:gd name="connsiteX6" fmla="*/ 3260654 w 4248150"/>
                <a:gd name="connsiteY6" fmla="*/ 0 h 5925148"/>
                <a:gd name="connsiteX7" fmla="*/ 3233852 w 4248150"/>
                <a:gd name="connsiteY7" fmla="*/ 464943 h 5925148"/>
                <a:gd name="connsiteX8" fmla="*/ 784251 w 4248150"/>
                <a:gd name="connsiteY8" fmla="*/ 464943 h 5925148"/>
                <a:gd name="connsiteX9" fmla="*/ 0 w 4248150"/>
                <a:gd name="connsiteY9" fmla="*/ 1249194 h 5925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48150" h="5925148">
                  <a:moveTo>
                    <a:pt x="0" y="5925148"/>
                  </a:moveTo>
                  <a:lnTo>
                    <a:pt x="4248150" y="5925148"/>
                  </a:lnTo>
                  <a:lnTo>
                    <a:pt x="4248150" y="1249194"/>
                  </a:lnTo>
                  <a:cubicBezTo>
                    <a:pt x="4248150" y="1086771"/>
                    <a:pt x="4198774" y="935879"/>
                    <a:pt x="4114212" y="810712"/>
                  </a:cubicBezTo>
                  <a:lnTo>
                    <a:pt x="4035071" y="714792"/>
                  </a:lnTo>
                  <a:lnTo>
                    <a:pt x="4040892" y="714792"/>
                  </a:lnTo>
                  <a:lnTo>
                    <a:pt x="3260654" y="0"/>
                  </a:lnTo>
                  <a:lnTo>
                    <a:pt x="3233852" y="464943"/>
                  </a:lnTo>
                  <a:lnTo>
                    <a:pt x="784251" y="464943"/>
                  </a:lnTo>
                  <a:cubicBezTo>
                    <a:pt x="351121" y="464943"/>
                    <a:pt x="0" y="816064"/>
                    <a:pt x="0" y="1249194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8" name="Freeform: Shape 17"/>
            <p:cNvSpPr/>
            <p:nvPr userDrawn="1"/>
          </p:nvSpPr>
          <p:spPr>
            <a:xfrm>
              <a:off x="7046409" y="0"/>
              <a:ext cx="3985632" cy="5249068"/>
            </a:xfrm>
            <a:custGeom>
              <a:avLst/>
              <a:gdLst>
                <a:gd name="connsiteX0" fmla="*/ 0 w 3985632"/>
                <a:gd name="connsiteY0" fmla="*/ 0 h 5249068"/>
                <a:gd name="connsiteX1" fmla="*/ 3985632 w 3985632"/>
                <a:gd name="connsiteY1" fmla="*/ 0 h 5249068"/>
                <a:gd name="connsiteX2" fmla="*/ 3985632 w 3985632"/>
                <a:gd name="connsiteY2" fmla="*/ 4513280 h 5249068"/>
                <a:gd name="connsiteX3" fmla="*/ 3249844 w 3985632"/>
                <a:gd name="connsiteY3" fmla="*/ 5249068 h 5249068"/>
                <a:gd name="connsiteX4" fmla="*/ 735788 w 3985632"/>
                <a:gd name="connsiteY4" fmla="*/ 5249068 h 5249068"/>
                <a:gd name="connsiteX5" fmla="*/ 0 w 3985632"/>
                <a:gd name="connsiteY5" fmla="*/ 4513280 h 5249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985632" h="5249068">
                  <a:moveTo>
                    <a:pt x="0" y="0"/>
                  </a:moveTo>
                  <a:lnTo>
                    <a:pt x="3985632" y="0"/>
                  </a:lnTo>
                  <a:lnTo>
                    <a:pt x="3985632" y="4513280"/>
                  </a:lnTo>
                  <a:cubicBezTo>
                    <a:pt x="3985632" y="4919644"/>
                    <a:pt x="3656208" y="5249068"/>
                    <a:pt x="3249844" y="5249068"/>
                  </a:cubicBezTo>
                  <a:lnTo>
                    <a:pt x="735788" y="5249068"/>
                  </a:lnTo>
                  <a:cubicBezTo>
                    <a:pt x="329424" y="5249068"/>
                    <a:pt x="0" y="4919644"/>
                    <a:pt x="0" y="4513280"/>
                  </a:cubicBezTo>
                  <a:close/>
                </a:path>
              </a:pathLst>
            </a:custGeom>
            <a:blipFill rotWithShape="0">
              <a:blip r:embed="rId2"/>
              <a:srcRect/>
              <a:stretch>
                <a:fillRect r="-97720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lvl="0" algn="ctr"/>
              <a:endParaRPr lang="zh-CN" altLang="en-US"/>
            </a:p>
          </p:txBody>
        </p:sp>
        <p:sp>
          <p:nvSpPr>
            <p:cNvPr id="19" name="Freeform: Shape 18"/>
            <p:cNvSpPr/>
            <p:nvPr userDrawn="1"/>
          </p:nvSpPr>
          <p:spPr>
            <a:xfrm>
              <a:off x="7046409" y="0"/>
              <a:ext cx="3985632" cy="5249068"/>
            </a:xfrm>
            <a:custGeom>
              <a:avLst/>
              <a:gdLst>
                <a:gd name="connsiteX0" fmla="*/ 0 w 3985632"/>
                <a:gd name="connsiteY0" fmla="*/ 0 h 5249068"/>
                <a:gd name="connsiteX1" fmla="*/ 3985632 w 3985632"/>
                <a:gd name="connsiteY1" fmla="*/ 0 h 5249068"/>
                <a:gd name="connsiteX2" fmla="*/ 3985632 w 3985632"/>
                <a:gd name="connsiteY2" fmla="*/ 4513280 h 5249068"/>
                <a:gd name="connsiteX3" fmla="*/ 3249844 w 3985632"/>
                <a:gd name="connsiteY3" fmla="*/ 5249068 h 5249068"/>
                <a:gd name="connsiteX4" fmla="*/ 735788 w 3985632"/>
                <a:gd name="connsiteY4" fmla="*/ 5249068 h 5249068"/>
                <a:gd name="connsiteX5" fmla="*/ 0 w 3985632"/>
                <a:gd name="connsiteY5" fmla="*/ 4513280 h 5249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985632" h="5249068">
                  <a:moveTo>
                    <a:pt x="0" y="0"/>
                  </a:moveTo>
                  <a:lnTo>
                    <a:pt x="3985632" y="0"/>
                  </a:lnTo>
                  <a:lnTo>
                    <a:pt x="3985632" y="4513280"/>
                  </a:lnTo>
                  <a:cubicBezTo>
                    <a:pt x="3985632" y="4919644"/>
                    <a:pt x="3656208" y="5249068"/>
                    <a:pt x="3249844" y="5249068"/>
                  </a:cubicBezTo>
                  <a:lnTo>
                    <a:pt x="735788" y="5249068"/>
                  </a:lnTo>
                  <a:cubicBezTo>
                    <a:pt x="329424" y="5249068"/>
                    <a:pt x="0" y="4919644"/>
                    <a:pt x="0" y="4513280"/>
                  </a:cubicBezTo>
                  <a:close/>
                </a:path>
              </a:pathLst>
            </a:custGeom>
            <a:solidFill>
              <a:schemeClr val="bg1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660402" y="1089025"/>
            <a:ext cx="5516056" cy="3634206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>
              <a:lnSpc>
                <a:spcPct val="100000"/>
              </a:lnSpc>
              <a:defRPr sz="7200">
                <a:ln w="19050">
                  <a:noFill/>
                </a:ln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660400" y="5180447"/>
            <a:ext cx="1698670" cy="276999"/>
          </a:xfrm>
          <a:prstGeom prst="rect">
            <a:avLst/>
          </a:prstGeom>
        </p:spPr>
        <p:txBody>
          <a:bodyPr wrap="square" lIns="90000">
            <a:normAutofit/>
          </a:bodyPr>
          <a:lstStyle>
            <a:lvl1pPr marL="0" indent="0" algn="l">
              <a:lnSpc>
                <a:spcPct val="100000"/>
              </a:lnSpc>
              <a:buNone/>
              <a:defRPr sz="1200"/>
            </a:lvl1pPr>
          </a:lstStyle>
          <a:p>
            <a:pPr lvl="0"/>
            <a:r>
              <a:rPr lang="en-US"/>
              <a:t>Presenter name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660400" y="5491976"/>
            <a:ext cx="1698670" cy="276999"/>
          </a:xfrm>
          <a:prstGeom prst="rect">
            <a:avLst/>
          </a:prstGeom>
        </p:spPr>
        <p:txBody>
          <a:bodyPr wrap="none">
            <a:normAutofit/>
          </a:bodyPr>
          <a:lstStyle>
            <a:lvl1pPr marL="0" indent="0" algn="l">
              <a:lnSpc>
                <a:spcPct val="100000"/>
              </a:lnSpc>
              <a:buNone/>
              <a:defRPr sz="1200"/>
            </a:lvl1pPr>
          </a:lstStyle>
          <a:p>
            <a:pPr lvl="0"/>
            <a:r>
              <a:rPr lang="en-US"/>
              <a:t>www.officeplus.cn</a:t>
            </a: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B41BC-062A-4A37-98A7-A4093DA809B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EB6D7-9E7A-4D93-8915-FE4BCCB2A5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2DB480-9CDF-4800-882C-FE5483CB238B}" type="datetimeFigureOut">
              <a:rPr kumimoji="1" lang="zh-CN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</a:fld>
            <a:endParaRPr kumimoji="1" lang="zh-CN" altLang="en-US" sz="9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900" b="1" i="0" u="none" strike="noStrike" kern="1200" cap="all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EB71EDC-3402-4FF9-9F3C-2A94A9876D12}" type="slidenum">
              <a:rPr kumimoji="1" lang="zh-CN" altLang="en-US" sz="10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</a:fld>
            <a:endParaRPr kumimoji="1" lang="zh-CN" altLang="en-US" sz="105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C:/Users/Administrator/Desktop/微信图片_20250109153514.jpg微信图片_20250109153514"/>
          <p:cNvPicPr>
            <a:picLocks noChangeAspect="1"/>
          </p:cNvPicPr>
          <p:nvPr userDrawn="1"/>
        </p:nvPicPr>
        <p:blipFill rotWithShape="1">
          <a:blip r:embed="rId2"/>
          <a:srcRect l="-4212" t="10" r="26035" b="32602"/>
          <a:stretch>
            <a:fillRect/>
          </a:stretch>
        </p:blipFill>
        <p:spPr>
          <a:xfrm>
            <a:off x="7190105" y="1392555"/>
            <a:ext cx="5005070" cy="3354705"/>
          </a:xfrm>
          <a:prstGeom prst="rect">
            <a:avLst/>
          </a:prstGeom>
        </p:spPr>
      </p:pic>
      <p:sp>
        <p:nvSpPr>
          <p:cNvPr id="8" name="平行四边形 7"/>
          <p:cNvSpPr/>
          <p:nvPr userDrawn="1"/>
        </p:nvSpPr>
        <p:spPr>
          <a:xfrm>
            <a:off x="1043940" y="552448"/>
            <a:ext cx="9098280" cy="4876800"/>
          </a:xfrm>
          <a:prstGeom prst="parallelogram">
            <a:avLst>
              <a:gd name="adj" fmla="val 5567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任意多边形: 形状 8"/>
          <p:cNvSpPr/>
          <p:nvPr userDrawn="1"/>
        </p:nvSpPr>
        <p:spPr>
          <a:xfrm>
            <a:off x="-7620" y="1390650"/>
            <a:ext cx="9601200" cy="3611880"/>
          </a:xfrm>
          <a:custGeom>
            <a:avLst/>
            <a:gdLst>
              <a:gd name="connsiteX0" fmla="*/ 0 w 9601200"/>
              <a:gd name="connsiteY0" fmla="*/ 0 h 3611880"/>
              <a:gd name="connsiteX1" fmla="*/ 9601200 w 9601200"/>
              <a:gd name="connsiteY1" fmla="*/ 0 h 3611880"/>
              <a:gd name="connsiteX2" fmla="*/ 7590177 w 9601200"/>
              <a:gd name="connsiteY2" fmla="*/ 3611880 h 3611880"/>
              <a:gd name="connsiteX3" fmla="*/ 0 w 9601200"/>
              <a:gd name="connsiteY3" fmla="*/ 3611880 h 3611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601200" h="3611880">
                <a:moveTo>
                  <a:pt x="0" y="0"/>
                </a:moveTo>
                <a:lnTo>
                  <a:pt x="9601200" y="0"/>
                </a:lnTo>
                <a:lnTo>
                  <a:pt x="7590177" y="3611880"/>
                </a:lnTo>
                <a:lnTo>
                  <a:pt x="0" y="3611880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任意多边形: 形状 9"/>
          <p:cNvSpPr/>
          <p:nvPr userDrawn="1"/>
        </p:nvSpPr>
        <p:spPr>
          <a:xfrm>
            <a:off x="7658100" y="4804410"/>
            <a:ext cx="4526280" cy="198120"/>
          </a:xfrm>
          <a:custGeom>
            <a:avLst/>
            <a:gdLst>
              <a:gd name="connsiteX0" fmla="*/ 114301 w 4526280"/>
              <a:gd name="connsiteY0" fmla="*/ 0 h 198120"/>
              <a:gd name="connsiteX1" fmla="*/ 4526280 w 4526280"/>
              <a:gd name="connsiteY1" fmla="*/ 0 h 198120"/>
              <a:gd name="connsiteX2" fmla="*/ 4526280 w 4526280"/>
              <a:gd name="connsiteY2" fmla="*/ 198120 h 198120"/>
              <a:gd name="connsiteX3" fmla="*/ 0 w 4526280"/>
              <a:gd name="connsiteY3" fmla="*/ 198120 h 198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26280" h="198120">
                <a:moveTo>
                  <a:pt x="114301" y="0"/>
                </a:moveTo>
                <a:lnTo>
                  <a:pt x="4526280" y="0"/>
                </a:lnTo>
                <a:lnTo>
                  <a:pt x="4526280" y="198120"/>
                </a:lnTo>
                <a:lnTo>
                  <a:pt x="0" y="19812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5212080" y="1306830"/>
            <a:ext cx="6983095" cy="508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32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4677B-B353-4C87-8EEF-2EA44851886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C9A05-FB33-4818-A248-F912A288062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4677B-B353-4C87-8EEF-2EA44851886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C9A05-FB33-4818-A248-F912A288062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7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4677B-B353-4C87-8EEF-2EA44851886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C9A05-FB33-4818-A248-F912A288062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12800" y="1600206"/>
            <a:ext cx="7213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229600" y="1600206"/>
            <a:ext cx="7213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4677B-B353-4C87-8EEF-2EA44851886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C9A05-FB33-4818-A248-F912A288062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4677B-B353-4C87-8EEF-2EA44851886A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C9A05-FB33-4818-A248-F912A288062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4677B-B353-4C87-8EEF-2EA44851886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C9A05-FB33-4818-A248-F912A288062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C9A05-FB33-4818-A248-F912A288062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7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C9A05-FB33-4818-A248-F912A288062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4677B-B353-4C87-8EEF-2EA44851886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C9A05-FB33-4818-A248-F912A288062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/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400"/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400"/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  <p:transition spd="slow">
    <p:push dir="u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1785600" y="274645"/>
            <a:ext cx="36576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12800" y="274645"/>
            <a:ext cx="107696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/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400"/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400"/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3" Type="http://schemas.openxmlformats.org/officeDocument/2006/relationships/theme" Target="../theme/theme2.xml"/><Relationship Id="rId12" Type="http://schemas.openxmlformats.org/officeDocument/2006/relationships/image" Target="../media/image3.png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</a:t>
            </a:r>
            <a:r>
              <a:rPr lang="en-US" altLang="zh-CN" dirty="0"/>
              <a:t>add text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8AEBC5-1D0D-411D-9EE3-C6F41EFD080C}" type="datetime1">
              <a:rPr lang="zh-CN" alt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OfficePLUS</a:t>
            </a:r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6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7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B4677B-B353-4C87-8EEF-2EA44851886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7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7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7C9A05-FB33-4818-A248-F912A288062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transition spd="slow">
    <p:push dir="u"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NS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NS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NS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NS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NS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NS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NS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NS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Img1" Type="http://schemas.openxmlformats.org/officeDocument/2006/relationships/image" Target="../media/gen9_rIdImg1.png"/><Relationship Id="rIdNS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NS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NS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NS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NS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NS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NS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Img1" Type="http://schemas.openxmlformats.org/officeDocument/2006/relationships/image" Target="../media/gen16_rIdImg1.png"/><Relationship Id="rIdNS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NS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NS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NS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NS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Img1" Type="http://schemas.openxmlformats.org/officeDocument/2006/relationships/image" Target="../media/gen21_rIdImg1.png"/><Relationship Id="rIdNS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NS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NS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NS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NS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Img1" Type="http://schemas.openxmlformats.org/officeDocument/2006/relationships/image" Target="../media/gen26_rIdImg1.png"/><Relationship Id="rIdNS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NS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NS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NS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NS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NS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NS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NS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NS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NS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Img1" Type="http://schemas.openxmlformats.org/officeDocument/2006/relationships/image" Target="../media/gen36_rIdImg1.png"/><Relationship Id="rIdNS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Img1" Type="http://schemas.openxmlformats.org/officeDocument/2006/relationships/image" Target="../media/gen37_rIdImg1.png"/><Relationship Id="rIdNS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NS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NS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NS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NS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Img1" Type="http://schemas.openxmlformats.org/officeDocument/2006/relationships/image" Target="../media/gen42_rIdImg1.png"/><Relationship Id="rIdNS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NS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NS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NS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NS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NS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NS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NS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NS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NS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Img1" Type="http://schemas.openxmlformats.org/officeDocument/2006/relationships/image" Target="../media/gen52_rIdImg1.png"/><Relationship Id="rIdNS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NS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NS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NS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NS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NS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NS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NS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NS" Type="http://schemas.openxmlformats.org/officeDocument/2006/relationships/notesSlide" Target="../notesSlides/notesSlide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48640" y="512064"/>
            <a:ext cx="11091672" cy="1700784"/>
          </a:xfrm>
          <a:prstGeom prst="roundRect">
            <a:avLst>
              <a:gd name="adj" fmla="val 8000"/>
            </a:avLst>
          </a:prstGeom>
          <a:noFill/>
          <a:ln w="31750" cap="flat" cmpd="sng" algn="ctr">
            <a:solidFill>
              <a:srgbClr val="F5D349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" name="CoverTitle 3"/>
          <p:cNvSpPr/>
          <p:nvPr/>
        </p:nvSpPr>
        <p:spPr>
          <a:xfrm>
            <a:off x="731520" y="603504"/>
            <a:ext cx="10725912" cy="96926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48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 &amp; 开发</a:t>
            </a:r>
          </a:p>
        </p:txBody>
      </p:sp>
      <p:sp>
        <p:nvSpPr>
          <p:cNvPr id="4" name="CoverSub 4"/>
          <p:cNvSpPr/>
          <p:nvPr/>
        </p:nvSpPr>
        <p:spPr>
          <a:xfrm>
            <a:off x="731520" y="1591056"/>
            <a:ext cx="10725912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buNone/>
            </a:pPr>
            <a:r>
              <a:rPr lang="zh-CN" altLang="en-US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把「我值多少」和「我还能值多少」，变成明天就能动手的两件事</a:t>
            </a:r>
          </a:p>
        </p:txBody>
      </p:sp>
      <p:sp>
        <p:nvSpPr>
          <p:cNvPr id="5" name="Shape 5"/>
          <p:cNvSpPr/>
          <p:nvPr/>
        </p:nvSpPr>
        <p:spPr>
          <a:xfrm>
            <a:off x="548640" y="2377440"/>
            <a:ext cx="2594610" cy="1975104"/>
          </a:xfrm>
          <a:prstGeom prst="roundRect">
            <a:avLst>
              <a:gd name="adj" fmla="val 10000"/>
            </a:avLst>
          </a:prstGeom>
          <a:solidFill>
            <a:srgbClr val="FFF7E8"/>
          </a:solidFill>
          <a:ln w="19050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6" name="CovHead 6"/>
          <p:cNvSpPr/>
          <p:nvPr/>
        </p:nvSpPr>
        <p:spPr>
          <a:xfrm>
            <a:off x="548640" y="2377440"/>
            <a:ext cx="2594610" cy="438912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buNone/>
            </a:pPr>
            <a:r>
              <a:rPr lang="zh-CN" altLang="en-US" sz="23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看懂价值</a:t>
            </a:r>
          </a:p>
        </p:txBody>
      </p:sp>
      <p:sp>
        <p:nvSpPr>
          <p:cNvPr id="7" name="CovBody 7"/>
          <p:cNvSpPr/>
          <p:nvPr/>
        </p:nvSpPr>
        <p:spPr>
          <a:xfrm>
            <a:off x="621792" y="2834640"/>
            <a:ext cx="2448306" cy="1463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lnSpc>
                <a:spcPct val="92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客户买的不是那个零件，是不停机。公司买的不是你在岗，是你带回来的现金。</a:t>
            </a:r>
            <a:b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先把这三本账分开算。</a:t>
            </a:r>
          </a:p>
        </p:txBody>
      </p:sp>
      <p:sp>
        <p:nvSpPr>
          <p:cNvPr id="8" name="Shape 8"/>
          <p:cNvSpPr/>
          <p:nvPr/>
        </p:nvSpPr>
        <p:spPr>
          <a:xfrm>
            <a:off x="3380994" y="2377440"/>
            <a:ext cx="2594610" cy="1975104"/>
          </a:xfrm>
          <a:prstGeom prst="roundRect">
            <a:avLst>
              <a:gd name="adj" fmla="val 10000"/>
            </a:avLst>
          </a:prstGeom>
          <a:solidFill>
            <a:srgbClr val="FFF7E8"/>
          </a:solidFill>
          <a:ln w="19050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9" name="CovHead 9"/>
          <p:cNvSpPr/>
          <p:nvPr/>
        </p:nvSpPr>
        <p:spPr>
          <a:xfrm>
            <a:off x="3380994" y="2377440"/>
            <a:ext cx="2594610" cy="438912"/>
          </a:xfrm>
          <a:prstGeom prst="rect">
            <a:avLst/>
          </a:prstGeom>
          <a:solidFill>
            <a:srgbClr val="E55E24"/>
          </a:solidFill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buNone/>
            </a:pPr>
            <a:r>
              <a:rPr lang="zh-CN" altLang="en-US" sz="23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量得出来</a:t>
            </a:r>
          </a:p>
        </p:txBody>
      </p:sp>
      <p:sp>
        <p:nvSpPr>
          <p:cNvPr id="10" name="CovBody 10"/>
          <p:cNvSpPr/>
          <p:nvPr/>
        </p:nvSpPr>
        <p:spPr>
          <a:xfrm>
            <a:off x="3454146" y="2834640"/>
            <a:ext cx="2448306" cy="1463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lnSpc>
                <a:spcPct val="92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绩效看已经发生的，潜力看还没发生的，能力看能不能重复。</a:t>
            </a:r>
            <a:b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三把尺子各量各的，混着用就会评错人。</a:t>
            </a:r>
          </a:p>
        </p:txBody>
      </p:sp>
      <p:sp>
        <p:nvSpPr>
          <p:cNvPr id="11" name="Shape 11"/>
          <p:cNvSpPr/>
          <p:nvPr/>
        </p:nvSpPr>
        <p:spPr>
          <a:xfrm>
            <a:off x="6213348" y="2377440"/>
            <a:ext cx="2594610" cy="1975104"/>
          </a:xfrm>
          <a:prstGeom prst="roundRect">
            <a:avLst>
              <a:gd name="adj" fmla="val 10000"/>
            </a:avLst>
          </a:prstGeom>
          <a:solidFill>
            <a:srgbClr val="FFF7E8"/>
          </a:solidFill>
          <a:ln w="19050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2" name="CovHead 12"/>
          <p:cNvSpPr/>
          <p:nvPr/>
        </p:nvSpPr>
        <p:spPr>
          <a:xfrm>
            <a:off x="6213348" y="2377440"/>
            <a:ext cx="2594610" cy="43891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buNone/>
            </a:pPr>
            <a:r>
              <a:rPr lang="zh-CN" altLang="en-US" sz="23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开发得动</a:t>
            </a:r>
          </a:p>
        </p:txBody>
      </p:sp>
      <p:sp>
        <p:nvSpPr>
          <p:cNvPr id="13" name="CovBody 13"/>
          <p:cNvSpPr/>
          <p:nvPr/>
        </p:nvSpPr>
        <p:spPr>
          <a:xfrm>
            <a:off x="6286500" y="2834640"/>
            <a:ext cx="2448306" cy="1463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lnSpc>
                <a:spcPct val="92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OJT、脱岗、轮岗、辅导，四条路成本差十倍、见效也差十倍。</a:t>
            </a:r>
            <a:b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先分清他缺的是会不会，还是想不想。</a:t>
            </a:r>
          </a:p>
        </p:txBody>
      </p:sp>
      <p:sp>
        <p:nvSpPr>
          <p:cNvPr id="14" name="Shape 14"/>
          <p:cNvSpPr/>
          <p:nvPr/>
        </p:nvSpPr>
        <p:spPr>
          <a:xfrm>
            <a:off x="9045702" y="2377440"/>
            <a:ext cx="2594610" cy="1975104"/>
          </a:xfrm>
          <a:prstGeom prst="roundRect">
            <a:avLst>
              <a:gd name="adj" fmla="val 10000"/>
            </a:avLst>
          </a:prstGeom>
          <a:solidFill>
            <a:srgbClr val="FFF7E8"/>
          </a:solidFill>
          <a:ln w="19050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5" name="CovHead 15"/>
          <p:cNvSpPr/>
          <p:nvPr/>
        </p:nvSpPr>
        <p:spPr>
          <a:xfrm>
            <a:off x="9045702" y="2377440"/>
            <a:ext cx="2594610" cy="438912"/>
          </a:xfrm>
          <a:prstGeom prst="rect">
            <a:avLst/>
          </a:prstGeom>
          <a:solidFill>
            <a:srgbClr val="C02F2B"/>
          </a:solidFill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buNone/>
            </a:pPr>
            <a:r>
              <a:rPr lang="zh-CN" altLang="en-US" sz="23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落得下去</a:t>
            </a:r>
          </a:p>
        </p:txBody>
      </p:sp>
      <p:sp>
        <p:nvSpPr>
          <p:cNvPr id="16" name="CovBody 16"/>
          <p:cNvSpPr/>
          <p:nvPr/>
        </p:nvSpPr>
        <p:spPr>
          <a:xfrm>
            <a:off x="9118854" y="2834640"/>
            <a:ext cx="2448306" cy="1463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lnSpc>
                <a:spcPct val="92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IDP 写成三件具体的事，GROW 谈到能说出下周动作。</a:t>
            </a:r>
            <a:b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九十天之内看不到变化的计划，就不是计划。</a:t>
            </a:r>
          </a:p>
        </p:txBody>
      </p:sp>
      <p:sp>
        <p:nvSpPr>
          <p:cNvPr id="17" name="Shape 17"/>
          <p:cNvSpPr/>
          <p:nvPr/>
        </p:nvSpPr>
        <p:spPr>
          <a:xfrm>
            <a:off x="548640" y="4498848"/>
            <a:ext cx="11091672" cy="1225296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67E2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8" name="CardHead 18"/>
          <p:cNvSpPr/>
          <p:nvPr/>
        </p:nvSpPr>
        <p:spPr>
          <a:xfrm>
            <a:off x="548640" y="4498848"/>
            <a:ext cx="11091672" cy="3474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今天不讲“人才理念”，只交付三样东西</a:t>
            </a:r>
          </a:p>
        </p:txBody>
      </p:sp>
      <p:sp>
        <p:nvSpPr>
          <p:cNvPr id="19" name="CardBody 19"/>
          <p:cNvSpPr/>
          <p:nvPr/>
        </p:nvSpPr>
        <p:spPr>
          <a:xfrm>
            <a:off x="630936" y="4855464"/>
            <a:ext cx="10927080" cy="850392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ctr">
              <a:lnSpc>
                <a:spcPct val="108000"/>
              </a:lnSpc>
              <a:buNone/>
            </a:pPr>
            <a:r>
              <a:rPr lang="zh-CN" altLang="en-US" sz="22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一张能当场跟客户算账的价值卡　｜　一套能把团队分清楚的评估口径　｜　一份下周一就能开谈的辅导脚本</a:t>
            </a:r>
          </a:p>
        </p:txBody>
      </p:sp>
      <p:sp>
        <p:nvSpPr>
          <p:cNvPr id="20" name="CoverBy 20"/>
          <p:cNvSpPr/>
          <p:nvPr/>
        </p:nvSpPr>
        <p:spPr>
          <a:xfrm>
            <a:off x="548640" y="5833872"/>
            <a:ext cx="11091672" cy="530352"/>
          </a:xfrm>
          <a:prstGeom prst="roundRect">
            <a:avLst>
              <a:gd name="adj" fmla="val 16000"/>
            </a:avLst>
          </a:prstGeom>
          <a:solidFill>
            <a:srgbClr val="2C6B53"/>
          </a:solidFill>
          <a:ln w="15875" cap="flat" cmpd="sng" algn="ctr">
            <a:solidFill>
              <a:srgbClr val="F5C842"/>
            </a:solidFill>
          </a:ln>
        </p:spPr>
        <p:txBody>
          <a:bodyPr wrap="square" lIns="164592" tIns="36576" rIns="146304" bIns="36576" rtlCol="0" anchor="ctr">
            <a:noAutofit/>
          </a:bodyPr>
          <a:lstStyle/>
          <a:p>
            <a:pPr algn="l">
              <a:buNone/>
            </a:pPr>
            <a:r>
              <a:rPr lang="zh-CN" altLang="en-US" sz="22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主讲　</a:t>
            </a:r>
            <a:r>
              <a:rPr lang="zh-CN" altLang="en-US" sz="2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嘉兴大学商学院　蔡鑫宇（人才学博士、副教授、硕士生导师）</a:t>
            </a:r>
          </a:p>
        </p:txBody>
      </p:sp>
      <p:sp>
        <p:nvSpPr>
          <p:cNvPr id="21" name="CoverFoot 21"/>
          <p:cNvSpPr/>
          <p:nvPr/>
        </p:nvSpPr>
        <p:spPr>
          <a:xfrm>
            <a:off x="548640" y="6400800"/>
            <a:ext cx="11091672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tIns="9144" rIns="73152" bIns="9144" rtlCol="0" anchor="ctr">
            <a:noAutofit/>
          </a:bodyPr>
          <a:lstStyle/>
          <a:p>
            <a:pPr algn="ctr">
              <a:lnSpc>
                <a:spcPct val="88000"/>
              </a:lnSpc>
              <a:buNone/>
            </a:pPr>
            <a:r>
              <a:rPr lang="zh-CN" altLang="en-US" sz="18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亚德客企业内训 ｜ 营业部人员 · 中层管理者　|　全日 6 小时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 2"/>
          <p:cNvSpPr/>
          <p:nvPr/>
        </p:nvSpPr>
        <p:spPr>
          <a:xfrm>
            <a:off x="365760" y="384048"/>
            <a:ext cx="1828800" cy="548640"/>
          </a:xfrm>
          <a:prstGeom prst="roundRect">
            <a:avLst>
              <a:gd name="adj" fmla="val 22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3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开场任务</a:t>
            </a:r>
          </a:p>
        </p:txBody>
      </p:sp>
      <p:sp>
        <p:nvSpPr>
          <p:cNvPr id="3" name="TTTitle 3"/>
          <p:cNvSpPr/>
          <p:nvPr/>
        </p:nvSpPr>
        <p:spPr>
          <a:xfrm>
            <a:off x="2340864" y="365760"/>
            <a:ext cx="9509760" cy="585216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buNone/>
            </a:pPr>
            <a:r>
              <a:rPr lang="zh-CN" altLang="en-US" sz="26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先说困境：这一年在「人」这件事上，最让你头疼的是哪一件？</a:t>
            </a:r>
          </a:p>
        </p:txBody>
      </p:sp>
      <p:sp>
        <p:nvSpPr>
          <p:cNvPr id="4" name="Shape 4"/>
          <p:cNvSpPr/>
          <p:nvPr/>
        </p:nvSpPr>
        <p:spPr>
          <a:xfrm>
            <a:off x="365760" y="1060704"/>
            <a:ext cx="11475720" cy="1429248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2E7D3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5" name="TTSitHead 5"/>
          <p:cNvSpPr/>
          <p:nvPr/>
        </p:nvSpPr>
        <p:spPr>
          <a:xfrm>
            <a:off x="365760" y="1060704"/>
            <a:ext cx="1188720" cy="14292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buNone/>
            </a:pPr>
            <a:r>
              <a:rPr lang="zh-CN" altLang="en-US" sz="2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  境</a:t>
            </a:r>
          </a:p>
        </p:txBody>
      </p:sp>
      <p:sp>
        <p:nvSpPr>
          <p:cNvPr id="6" name="TTSit 6"/>
          <p:cNvSpPr/>
          <p:nvPr/>
        </p:nvSpPr>
        <p:spPr>
          <a:xfrm>
            <a:off x="1682496" y="1097280"/>
            <a:ext cx="10049256" cy="135609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lnSpc>
                <a:spcPct val="98000"/>
              </a:lnSpc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每组 8 分钟，各自讲一件今年在人身上真正卡住过你的事——</a:t>
            </a:r>
            <a:r>
              <a:rPr lang="zh-CN" altLang="en-US" sz="180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可以是自己的：干得不比别人少，年底评下来却不占优；说不清自己这一年到底长了什么。</a:t>
            </a:r>
          </a:p>
          <a:p>
            <a:pPr algn="l">
              <a:lnSpc>
                <a:spcPct val="98000"/>
              </a:lnSpc>
              <a:spcBef>
                <a:spcPts val="500"/>
              </a:spcBef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也可以是带人的：老销售吃老本、新人三个月还上不了手、想培养的人留不住、想淘汰的人动不了。</a:t>
            </a:r>
          </a:p>
        </p:txBody>
      </p:sp>
      <p:sp>
        <p:nvSpPr>
          <p:cNvPr id="7" name="Shape 7"/>
          <p:cNvSpPr/>
          <p:nvPr/>
        </p:nvSpPr>
        <p:spPr>
          <a:xfrm>
            <a:off x="365760" y="2654544"/>
            <a:ext cx="11475720" cy="4020576"/>
          </a:xfrm>
          <a:prstGeom prst="rect">
            <a:avLst/>
          </a:prstGeom>
          <a:solidFill>
            <a:srgbClr val="FFF7E8"/>
          </a:solidFill>
          <a:ln w="22225" cap="flat" cmpd="sng" algn="ctr">
            <a:solidFill>
              <a:srgbClr val="E67E2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8" name="TTHead 8"/>
          <p:cNvSpPr/>
          <p:nvPr/>
        </p:nvSpPr>
        <p:spPr>
          <a:xfrm>
            <a:off x="365760" y="2654544"/>
            <a:ext cx="11475720" cy="43891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wrap="square" lIns="109728" tIns="18288" rIns="109728" bIns="18288" rtlCol="0" anchor="ctr">
            <a:noAutofit/>
          </a:bodyPr>
          <a:lstStyle/>
          <a:p>
            <a:pPr algn="ctr">
              <a:buNone/>
            </a:pPr>
            <a:r>
              <a:rPr lang="zh-CN" altLang="en-US" sz="23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团  队  任  务</a:t>
            </a:r>
          </a:p>
        </p:txBody>
      </p:sp>
      <p:sp>
        <p:nvSpPr>
          <p:cNvPr id="9" name="TTTasks 9"/>
          <p:cNvSpPr/>
          <p:nvPr/>
        </p:nvSpPr>
        <p:spPr>
          <a:xfrm>
            <a:off x="548640" y="3130032"/>
            <a:ext cx="11109960" cy="3115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32000"/>
              </a:lnSpc>
              <a:buNone/>
            </a:pPr>
            <a:r>
              <a:rPr lang="zh-CN" altLang="en-US" sz="2400" b="1" dirty="0">
                <a:solidFill>
                  <a:srgbClr val="C02F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</a:t>
            </a:r>
            <a:r>
              <a:rPr lang="zh-CN" altLang="en-US" sz="24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　这件事具体是什么？发生在谁身上、什么时候、造成了什么结果</a:t>
            </a:r>
          </a:p>
          <a:p>
            <a:pPr algn="l">
              <a:lnSpc>
                <a:spcPct val="132000"/>
              </a:lnSpc>
              <a:spcBef>
                <a:spcPts val="600"/>
              </a:spcBef>
              <a:buNone/>
            </a:pPr>
            <a:r>
              <a:rPr lang="zh-CN" altLang="en-US" sz="2400" b="1" dirty="0">
                <a:solidFill>
                  <a:srgbClr val="C02F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</a:t>
            </a:r>
            <a:r>
              <a:rPr lang="zh-CN" altLang="en-US" sz="24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　你当时做了什么？有没有效？多久之后又回来了</a:t>
            </a:r>
          </a:p>
          <a:p>
            <a:pPr algn="l">
              <a:lnSpc>
                <a:spcPct val="132000"/>
              </a:lnSpc>
              <a:spcBef>
                <a:spcPts val="600"/>
              </a:spcBef>
              <a:buNone/>
            </a:pPr>
            <a:r>
              <a:rPr lang="zh-CN" altLang="en-US" sz="2400" b="1" dirty="0">
                <a:solidFill>
                  <a:srgbClr val="C02F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</a:t>
            </a:r>
            <a:r>
              <a:rPr lang="zh-CN" altLang="en-US" sz="24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　你觉得根子在哪：是他不会、不想、不敢，还是我们没给条件</a:t>
            </a:r>
          </a:p>
          <a:p>
            <a:pPr algn="l">
              <a:lnSpc>
                <a:spcPct val="132000"/>
              </a:lnSpc>
              <a:spcBef>
                <a:spcPts val="600"/>
              </a:spcBef>
              <a:buNone/>
            </a:pPr>
            <a:r>
              <a:rPr lang="zh-CN" altLang="en-US" sz="2400" b="1" dirty="0">
                <a:solidFill>
                  <a:srgbClr val="C02F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</a:t>
            </a:r>
            <a:r>
              <a:rPr lang="zh-CN" altLang="en-US" sz="24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　如果这件事不解决，一年后会变成什么样？把代价说成钱或人数</a:t>
            </a:r>
          </a:p>
          <a:p>
            <a:pPr algn="l">
              <a:lnSpc>
                <a:spcPct val="132000"/>
              </a:lnSpc>
              <a:spcBef>
                <a:spcPts val="600"/>
              </a:spcBef>
              <a:buNone/>
            </a:pPr>
            <a:r>
              <a:rPr lang="zh-CN" altLang="en-US" sz="2400" b="1" dirty="0">
                <a:solidFill>
                  <a:srgbClr val="C02F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⑤</a:t>
            </a:r>
            <a:r>
              <a:rPr lang="zh-CN" altLang="en-US" sz="24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　每组挑 1 件最典型的，用 1 分钟讲给全班——今天所有工具都往它上面套</a:t>
            </a:r>
          </a:p>
        </p:txBody>
      </p:sp>
      <p:sp>
        <p:nvSpPr>
          <p:cNvPr id="10" name="TTScore 10"/>
          <p:cNvSpPr/>
          <p:nvPr/>
        </p:nvSpPr>
        <p:spPr>
          <a:xfrm>
            <a:off x="365760" y="6254496"/>
            <a:ext cx="11475720" cy="42062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wrap="square" lIns="164592" tIns="36576" rIns="146304" bIns="36576" rtlCol="0" anchor="ctr">
            <a:noAutofit/>
          </a:bodyPr>
          <a:lstStyle/>
          <a:p>
            <a:pPr algn="l">
              <a:buNone/>
            </a:pPr>
            <a:r>
              <a:rPr lang="zh-CN" altLang="en-US" sz="20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产　出　</a:t>
            </a: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每组一张《难题卡》贴到墙上，全天课程围绕它展开，散课前逐张回看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 &amp; 开发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第一讲 · 理解价值</a:t>
            </a:r>
          </a:p>
        </p:txBody>
      </p:sp>
      <p:sp>
        <p:nvSpPr>
          <p:cNvPr id="5" name="Nav 5"/>
          <p:cNvSpPr/>
          <p:nvPr/>
        </p:nvSpPr>
        <p:spPr>
          <a:xfrm>
            <a:off x="3153148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第二讲 · 评估价值</a:t>
            </a:r>
          </a:p>
        </p:txBody>
      </p:sp>
      <p:sp>
        <p:nvSpPr>
          <p:cNvPr id="6" name="Nav 6"/>
          <p:cNvSpPr/>
          <p:nvPr/>
        </p:nvSpPr>
        <p:spPr>
          <a:xfrm>
            <a:off x="6159993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第三讲 · 开发价值</a:t>
            </a:r>
          </a:p>
        </p:txBody>
      </p:sp>
      <p:sp>
        <p:nvSpPr>
          <p:cNvPr id="7" name="Nav 7"/>
          <p:cNvSpPr/>
          <p:nvPr/>
        </p:nvSpPr>
        <p:spPr>
          <a:xfrm>
            <a:off x="9166837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第四讲 · 落地价值</a:t>
            </a:r>
          </a:p>
        </p:txBody>
      </p:sp>
      <p:cxnSp>
        <p:nvCxnSpPr>
          <p:cNvPr id="8" name="Connector 8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9" name="Connector 9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10" name="Side 10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全天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课程地图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四讲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一条主线</a:t>
            </a:r>
          </a:p>
        </p:txBody>
      </p:sp>
      <p:sp>
        <p:nvSpPr>
          <p:cNvPr id="12" name="Side 12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上午量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下午做</a:t>
            </a:r>
          </a:p>
        </p:txBody>
      </p:sp>
      <p:sp>
        <p:nvSpPr>
          <p:cNvPr id="13" name="H1 13"/>
          <p:cNvSpPr/>
          <p:nvPr/>
        </p:nvSpPr>
        <p:spPr>
          <a:xfrm>
            <a:off x="1929384" y="1161288"/>
            <a:ext cx="10213848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9144" rIns="73152" bIns="9144" rtlCol="0" anchor="ctr">
            <a:noAutofit/>
          </a:bodyPr>
          <a:lstStyle/>
          <a:p>
            <a:pPr algn="l">
              <a:buNone/>
            </a:pPr>
            <a:r>
              <a:rPr lang="zh-CN" altLang="en-US" sz="27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这一天，我们回答四个问题</a:t>
            </a:r>
          </a:p>
        </p:txBody>
      </p:sp>
      <p:sp>
        <p:nvSpPr>
          <p:cNvPr id="14" name="H2 14"/>
          <p:cNvSpPr/>
          <p:nvPr/>
        </p:nvSpPr>
        <p:spPr>
          <a:xfrm>
            <a:off x="1929384" y="1636776"/>
            <a:ext cx="10213848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9144" rIns="73152" bIns="9144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每一讲都以“明天能做什么”收尾，不以“懂了”收尾</a:t>
            </a:r>
          </a:p>
        </p:txBody>
      </p:sp>
      <p:sp>
        <p:nvSpPr>
          <p:cNvPr id="15" name="Shape 15"/>
          <p:cNvSpPr/>
          <p:nvPr/>
        </p:nvSpPr>
        <p:spPr>
          <a:xfrm>
            <a:off x="1929384" y="1993392"/>
            <a:ext cx="4988052" cy="193852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6" name="CardHead 16"/>
          <p:cNvSpPr/>
          <p:nvPr/>
        </p:nvSpPr>
        <p:spPr>
          <a:xfrm>
            <a:off x="1929384" y="1993392"/>
            <a:ext cx="4988052" cy="347472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第一讲　理解价值：值钱到底指什么</a:t>
            </a:r>
          </a:p>
        </p:txBody>
      </p:sp>
      <p:sp>
        <p:nvSpPr>
          <p:cNvPr id="17" name="CardBody 17"/>
          <p:cNvSpPr/>
          <p:nvPr/>
        </p:nvSpPr>
        <p:spPr>
          <a:xfrm>
            <a:off x="2011680" y="2350008"/>
            <a:ext cx="4823460" cy="1563624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CN" altLang="en-US" sz="20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最常见的误区：把“忙”当价值、把“老资格”当价值。</a:t>
            </a:r>
            <a:br>
              <a:rPr lang="zh-CN" altLang="en-US" sz="20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0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价值的三个层次｜客户眼里的价值公式｜绩效·潜力·能力三把尺子｜激励与价值流</a:t>
            </a:r>
          </a:p>
        </p:txBody>
      </p:sp>
      <p:sp>
        <p:nvSpPr>
          <p:cNvPr id="18" name="Shape 18"/>
          <p:cNvSpPr/>
          <p:nvPr/>
        </p:nvSpPr>
        <p:spPr>
          <a:xfrm>
            <a:off x="7155180" y="1993392"/>
            <a:ext cx="4988052" cy="193852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9" name="CardHead 19"/>
          <p:cNvSpPr/>
          <p:nvPr/>
        </p:nvSpPr>
        <p:spPr>
          <a:xfrm>
            <a:off x="7155180" y="1993392"/>
            <a:ext cx="4988052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第二讲　评估价值：把感觉变成证据</a:t>
            </a:r>
          </a:p>
        </p:txBody>
      </p:sp>
      <p:sp>
        <p:nvSpPr>
          <p:cNvPr id="20" name="CardBody 20"/>
          <p:cNvSpPr/>
          <p:nvPr/>
        </p:nvSpPr>
        <p:spPr>
          <a:xfrm>
            <a:off x="7237476" y="2350008"/>
            <a:ext cx="4823460" cy="1563624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106000"/>
              </a:lnSpc>
              <a:buNone/>
            </a:pPr>
            <a:r>
              <a:rPr lang="zh-CN" altLang="en-US" sz="21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最常见的误区：凭印象排队，年底再找理由。</a:t>
            </a:r>
            <a:br>
              <a:rPr lang="zh-CN" altLang="en-US" sz="21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1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SMART 目标｜过程指标与销售漏斗｜人才盘点与九宫格｜360 度｜人才画像</a:t>
            </a:r>
          </a:p>
        </p:txBody>
      </p:sp>
      <p:sp>
        <p:nvSpPr>
          <p:cNvPr id="21" name="Shape 21"/>
          <p:cNvSpPr/>
          <p:nvPr/>
        </p:nvSpPr>
        <p:spPr>
          <a:xfrm>
            <a:off x="1929384" y="4078224"/>
            <a:ext cx="4988052" cy="193852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2" name="CardHead 22"/>
          <p:cNvSpPr/>
          <p:nvPr/>
        </p:nvSpPr>
        <p:spPr>
          <a:xfrm>
            <a:off x="1929384" y="4078224"/>
            <a:ext cx="4988052" cy="347472"/>
          </a:xfrm>
          <a:prstGeom prst="rect">
            <a:avLst/>
          </a:prstGeom>
          <a:solidFill>
            <a:srgbClr val="E55E24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第三讲　开发价值：把人做大</a:t>
            </a:r>
          </a:p>
        </p:txBody>
      </p:sp>
      <p:sp>
        <p:nvSpPr>
          <p:cNvPr id="23" name="CardBody 23"/>
          <p:cNvSpPr/>
          <p:nvPr/>
        </p:nvSpPr>
        <p:spPr>
          <a:xfrm>
            <a:off x="2011680" y="4434840"/>
            <a:ext cx="4823460" cy="1563624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106000"/>
              </a:lnSpc>
              <a:buNone/>
            </a:pPr>
            <a:r>
              <a:rPr lang="zh-CN" altLang="en-US" sz="21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最常见的误区：一说培养就等于送去上课。</a:t>
            </a:r>
            <a:br>
              <a:rPr lang="zh-CN" altLang="en-US" sz="21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1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OJT 与任务委派｜脱岗与轮岗｜营业部人员开发重点｜管理者开发重点</a:t>
            </a:r>
          </a:p>
        </p:txBody>
      </p:sp>
      <p:sp>
        <p:nvSpPr>
          <p:cNvPr id="24" name="Shape 24"/>
          <p:cNvSpPr/>
          <p:nvPr/>
        </p:nvSpPr>
        <p:spPr>
          <a:xfrm>
            <a:off x="7155180" y="4078224"/>
            <a:ext cx="4988052" cy="193852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6A4C9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5" name="CardHead 25"/>
          <p:cNvSpPr/>
          <p:nvPr/>
        </p:nvSpPr>
        <p:spPr>
          <a:xfrm>
            <a:off x="7155180" y="4078224"/>
            <a:ext cx="4988052" cy="347472"/>
          </a:xfrm>
          <a:prstGeom prst="rect">
            <a:avLst/>
          </a:prstGeom>
          <a:solidFill>
            <a:srgbClr val="6A4C93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第四讲　落地价值：让改变留下来</a:t>
            </a:r>
          </a:p>
        </p:txBody>
      </p:sp>
      <p:sp>
        <p:nvSpPr>
          <p:cNvPr id="26" name="CardBody 26"/>
          <p:cNvSpPr/>
          <p:nvPr/>
        </p:nvSpPr>
        <p:spPr>
          <a:xfrm>
            <a:off x="7237476" y="4434840"/>
            <a:ext cx="4823460" cy="1563624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106000"/>
              </a:lnSpc>
              <a:buNone/>
            </a:pPr>
            <a:r>
              <a:rPr lang="zh-CN" altLang="en-US" sz="21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最常见的误区：计划写得很漂亮，三个月后没人提起。</a:t>
            </a:r>
            <a:br>
              <a:rPr lang="zh-CN" altLang="en-US" sz="21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1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IDP 怎么写才有人执行｜GROW 辅导｜建设性反馈｜学习型团队与持续改进</a:t>
            </a:r>
          </a:p>
        </p:txBody>
      </p:sp>
      <p:sp>
        <p:nvSpPr>
          <p:cNvPr id="27" name="Shape 27"/>
          <p:cNvSpPr/>
          <p:nvPr/>
        </p:nvSpPr>
        <p:spPr>
          <a:xfrm>
            <a:off x="1929384" y="6144768"/>
            <a:ext cx="10213848" cy="566928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8" name="Banner 28"/>
          <p:cNvSpPr/>
          <p:nvPr/>
        </p:nvSpPr>
        <p:spPr>
          <a:xfrm>
            <a:off x="2075688" y="6144768"/>
            <a:ext cx="9921240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buNone/>
            </a:pPr>
            <a:r>
              <a:rPr lang="zh-CN" altLang="en-US" sz="23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全天主线　</a:t>
            </a:r>
            <a:r>
              <a:rPr lang="zh-CN" altLang="en-US" sz="23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不回答“人应该怎样”，只回答“这个人，我下周一具体做什么”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 &amp; 开发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2878828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第一讲 · 理解价值</a:t>
            </a:r>
          </a:p>
        </p:txBody>
      </p:sp>
      <p:sp>
        <p:nvSpPr>
          <p:cNvPr id="5" name="Nav 5"/>
          <p:cNvSpPr/>
          <p:nvPr/>
        </p:nvSpPr>
        <p:spPr>
          <a:xfrm>
            <a:off x="3153148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第二讲 · 评估价值</a:t>
            </a:r>
          </a:p>
        </p:txBody>
      </p:sp>
      <p:sp>
        <p:nvSpPr>
          <p:cNvPr id="6" name="Nav 6"/>
          <p:cNvSpPr/>
          <p:nvPr/>
        </p:nvSpPr>
        <p:spPr>
          <a:xfrm>
            <a:off x="6159993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第三讲 · 开发价值</a:t>
            </a:r>
          </a:p>
        </p:txBody>
      </p:sp>
      <p:sp>
        <p:nvSpPr>
          <p:cNvPr id="7" name="Nav 7"/>
          <p:cNvSpPr/>
          <p:nvPr/>
        </p:nvSpPr>
        <p:spPr>
          <a:xfrm>
            <a:off x="9166837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第四讲 · 落地价值</a:t>
            </a:r>
          </a:p>
        </p:txBody>
      </p:sp>
      <p:cxnSp>
        <p:nvCxnSpPr>
          <p:cNvPr id="8" name="Connector 8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9" name="Connector 9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10" name="Side 10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价值的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三个层次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绩效·潜力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与能力</a:t>
            </a:r>
          </a:p>
        </p:txBody>
      </p:sp>
      <p:sp>
        <p:nvSpPr>
          <p:cNvPr id="12" name="Side 12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价值与激励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价值流</a:t>
            </a:r>
          </a:p>
        </p:txBody>
      </p:sp>
      <p:sp>
        <p:nvSpPr>
          <p:cNvPr id="13" name="H1 13"/>
          <p:cNvSpPr/>
          <p:nvPr/>
        </p:nvSpPr>
        <p:spPr>
          <a:xfrm>
            <a:off x="1929384" y="1161288"/>
            <a:ext cx="10213848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9144" rIns="73152" bIns="9144" rtlCol="0" anchor="ctr">
            <a:noAutofit/>
          </a:bodyPr>
          <a:lstStyle/>
          <a:p>
            <a:pPr algn="l">
              <a:buNone/>
            </a:pPr>
            <a:r>
              <a:rPr lang="zh-CN" altLang="en-US" sz="27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第一讲　理解价值：先把「值钱」说清楚</a:t>
            </a:r>
          </a:p>
        </p:txBody>
      </p:sp>
      <p:sp>
        <p:nvSpPr>
          <p:cNvPr id="14" name="H2 14"/>
          <p:cNvSpPr/>
          <p:nvPr/>
        </p:nvSpPr>
        <p:spPr>
          <a:xfrm>
            <a:off x="1929384" y="1636776"/>
            <a:ext cx="10213848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9144" rIns="73152" bIns="9144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价值不是一种感觉，它有层次、有算法、有流向</a:t>
            </a:r>
          </a:p>
        </p:txBody>
      </p:sp>
      <p:sp>
        <p:nvSpPr>
          <p:cNvPr id="15" name="Shape 15"/>
          <p:cNvSpPr/>
          <p:nvPr/>
        </p:nvSpPr>
        <p:spPr>
          <a:xfrm>
            <a:off x="1929384" y="2139696"/>
            <a:ext cx="1823314" cy="1280160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6" name="FlowHead 16"/>
          <p:cNvSpPr/>
          <p:nvPr/>
        </p:nvSpPr>
        <p:spPr>
          <a:xfrm>
            <a:off x="1929384" y="2139696"/>
            <a:ext cx="1823314" cy="384048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分层看</a:t>
            </a:r>
          </a:p>
        </p:txBody>
      </p:sp>
      <p:sp>
        <p:nvSpPr>
          <p:cNvPr id="17" name="FlowBody 17"/>
          <p:cNvSpPr/>
          <p:nvPr/>
        </p:nvSpPr>
        <p:spPr>
          <a:xfrm>
            <a:off x="1975104" y="2542032"/>
            <a:ext cx="1731874" cy="850392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>
              <a:lnSpc>
                <a:spcPct val="132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个人/团队/组织</a:t>
            </a:r>
            <a:b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三本账不是一本</a:t>
            </a:r>
          </a:p>
        </p:txBody>
      </p:sp>
      <p:cxnSp>
        <p:nvCxnSpPr>
          <p:cNvPr id="18" name="Arrow 18"/>
          <p:cNvCxnSpPr/>
          <p:nvPr/>
        </p:nvCxnSpPr>
        <p:spPr>
          <a:xfrm>
            <a:off x="3789274" y="2779776"/>
            <a:ext cx="201168" cy="0"/>
          </a:xfrm>
          <a:prstGeom prst="straightConnector1">
            <a:avLst/>
          </a:prstGeom>
          <a:ln w="25400" cap="flat">
            <a:solidFill>
              <a:srgbClr val="FFFFFF"/>
            </a:solidFill>
            <a:tailEnd type="triangle" w="med" len="med"/>
          </a:ln>
        </p:spPr>
      </p:cxnSp>
      <p:sp>
        <p:nvSpPr>
          <p:cNvPr id="19" name="Shape 19"/>
          <p:cNvSpPr/>
          <p:nvPr/>
        </p:nvSpPr>
        <p:spPr>
          <a:xfrm>
            <a:off x="4027018" y="2139696"/>
            <a:ext cx="1823314" cy="1280160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0" name="FlowHead 20"/>
          <p:cNvSpPr/>
          <p:nvPr/>
        </p:nvSpPr>
        <p:spPr>
          <a:xfrm>
            <a:off x="4027018" y="2139696"/>
            <a:ext cx="1823314" cy="384048"/>
          </a:xfrm>
          <a:prstGeom prst="rect">
            <a:avLst/>
          </a:prstGeom>
          <a:solidFill>
            <a:srgbClr val="E55E24"/>
          </a:solidFill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算客户账</a:t>
            </a:r>
          </a:p>
        </p:txBody>
      </p:sp>
      <p:sp>
        <p:nvSpPr>
          <p:cNvPr id="21" name="FlowBody 21"/>
          <p:cNvSpPr/>
          <p:nvPr/>
        </p:nvSpPr>
        <p:spPr>
          <a:xfrm>
            <a:off x="4072738" y="2542032"/>
            <a:ext cx="1731874" cy="850392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>
              <a:lnSpc>
                <a:spcPct val="112000"/>
              </a:lnSpc>
              <a:buNone/>
            </a:pPr>
            <a:r>
              <a:rPr lang="zh-CN" altLang="en-US" sz="21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客户买的从来</a:t>
            </a:r>
            <a:br>
              <a:rPr lang="zh-CN" altLang="en-US" sz="21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1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不是那个零件</a:t>
            </a:r>
          </a:p>
        </p:txBody>
      </p:sp>
      <p:cxnSp>
        <p:nvCxnSpPr>
          <p:cNvPr id="22" name="Arrow 22"/>
          <p:cNvCxnSpPr/>
          <p:nvPr/>
        </p:nvCxnSpPr>
        <p:spPr>
          <a:xfrm>
            <a:off x="5886907" y="2779776"/>
            <a:ext cx="201168" cy="0"/>
          </a:xfrm>
          <a:prstGeom prst="straightConnector1">
            <a:avLst/>
          </a:prstGeom>
          <a:ln w="25400" cap="flat">
            <a:solidFill>
              <a:srgbClr val="FFFFFF"/>
            </a:solidFill>
            <a:tailEnd type="triangle" w="med" len="med"/>
          </a:ln>
        </p:spPr>
      </p:cxnSp>
      <p:sp>
        <p:nvSpPr>
          <p:cNvPr id="23" name="Shape 23"/>
          <p:cNvSpPr/>
          <p:nvPr/>
        </p:nvSpPr>
        <p:spPr>
          <a:xfrm>
            <a:off x="6124651" y="2139696"/>
            <a:ext cx="1823314" cy="1280160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4" name="FlowHead 24"/>
          <p:cNvSpPr/>
          <p:nvPr/>
        </p:nvSpPr>
        <p:spPr>
          <a:xfrm>
            <a:off x="6124651" y="2139696"/>
            <a:ext cx="1823314" cy="38404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量绩效</a:t>
            </a:r>
          </a:p>
        </p:txBody>
      </p:sp>
      <p:sp>
        <p:nvSpPr>
          <p:cNvPr id="25" name="FlowBody 25"/>
          <p:cNvSpPr/>
          <p:nvPr/>
        </p:nvSpPr>
        <p:spPr>
          <a:xfrm>
            <a:off x="6170371" y="2542032"/>
            <a:ext cx="1731874" cy="850392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>
              <a:lnSpc>
                <a:spcPct val="128000"/>
              </a:lnSpc>
              <a:buNone/>
            </a:pPr>
            <a:r>
              <a:rPr lang="zh-CN" altLang="en-US" sz="18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看得见的产出</a:t>
            </a:r>
            <a:br>
              <a:rPr lang="zh-CN" altLang="en-US" sz="18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8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与看不见的沉淀</a:t>
            </a:r>
          </a:p>
        </p:txBody>
      </p:sp>
      <p:cxnSp>
        <p:nvCxnSpPr>
          <p:cNvPr id="26" name="Arrow 26"/>
          <p:cNvCxnSpPr/>
          <p:nvPr/>
        </p:nvCxnSpPr>
        <p:spPr>
          <a:xfrm>
            <a:off x="7984541" y="2779776"/>
            <a:ext cx="201168" cy="0"/>
          </a:xfrm>
          <a:prstGeom prst="straightConnector1">
            <a:avLst/>
          </a:prstGeom>
          <a:ln w="25400" cap="flat">
            <a:solidFill>
              <a:srgbClr val="FFFFFF"/>
            </a:solidFill>
            <a:tailEnd type="triangle" w="med" len="med"/>
          </a:ln>
        </p:spPr>
      </p:cxnSp>
      <p:sp>
        <p:nvSpPr>
          <p:cNvPr id="27" name="Shape 27"/>
          <p:cNvSpPr/>
          <p:nvPr/>
        </p:nvSpPr>
        <p:spPr>
          <a:xfrm>
            <a:off x="8222285" y="2139696"/>
            <a:ext cx="1823314" cy="1280160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8" name="FlowHead 28"/>
          <p:cNvSpPr/>
          <p:nvPr/>
        </p:nvSpPr>
        <p:spPr>
          <a:xfrm>
            <a:off x="8222285" y="2139696"/>
            <a:ext cx="1823314" cy="384048"/>
          </a:xfrm>
          <a:prstGeom prst="rect">
            <a:avLst/>
          </a:prstGeom>
          <a:solidFill>
            <a:srgbClr val="C02F2B"/>
          </a:solidFill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看潜力</a:t>
            </a:r>
          </a:p>
        </p:txBody>
      </p:sp>
      <p:sp>
        <p:nvSpPr>
          <p:cNvPr id="29" name="FlowBody 29"/>
          <p:cNvSpPr/>
          <p:nvPr/>
        </p:nvSpPr>
        <p:spPr>
          <a:xfrm>
            <a:off x="8268005" y="2542032"/>
            <a:ext cx="1731874" cy="850392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>
              <a:lnSpc>
                <a:spcPct val="112000"/>
              </a:lnSpc>
              <a:buNone/>
            </a:pPr>
            <a:r>
              <a:rPr lang="zh-CN" altLang="en-US" sz="21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冰山之下</a:t>
            </a:r>
            <a:br>
              <a:rPr lang="zh-CN" altLang="en-US" sz="21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1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决定你的上限</a:t>
            </a:r>
          </a:p>
        </p:txBody>
      </p:sp>
      <p:cxnSp>
        <p:nvCxnSpPr>
          <p:cNvPr id="30" name="Arrow 30"/>
          <p:cNvCxnSpPr/>
          <p:nvPr/>
        </p:nvCxnSpPr>
        <p:spPr>
          <a:xfrm>
            <a:off x="10082174" y="2779776"/>
            <a:ext cx="201168" cy="0"/>
          </a:xfrm>
          <a:prstGeom prst="straightConnector1">
            <a:avLst/>
          </a:prstGeom>
          <a:ln w="25400" cap="flat">
            <a:solidFill>
              <a:srgbClr val="FFFFFF"/>
            </a:solidFill>
            <a:tailEnd type="triangle" w="med" len="med"/>
          </a:ln>
        </p:spPr>
      </p:cxnSp>
      <p:sp>
        <p:nvSpPr>
          <p:cNvPr id="31" name="Shape 31"/>
          <p:cNvSpPr/>
          <p:nvPr/>
        </p:nvSpPr>
        <p:spPr>
          <a:xfrm>
            <a:off x="10319918" y="2139696"/>
            <a:ext cx="1823314" cy="1280160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 cap="flat" cmpd="sng" algn="ctr">
            <a:solidFill>
              <a:srgbClr val="6A4C9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2" name="FlowHead 32"/>
          <p:cNvSpPr/>
          <p:nvPr/>
        </p:nvSpPr>
        <p:spPr>
          <a:xfrm>
            <a:off x="10319918" y="2139696"/>
            <a:ext cx="1823314" cy="384048"/>
          </a:xfrm>
          <a:prstGeom prst="rect">
            <a:avLst/>
          </a:prstGeom>
          <a:solidFill>
            <a:srgbClr val="6A4C93"/>
          </a:solidFill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谈激励</a:t>
            </a:r>
          </a:p>
        </p:txBody>
      </p:sp>
      <p:sp>
        <p:nvSpPr>
          <p:cNvPr id="33" name="FlowBody 33"/>
          <p:cNvSpPr/>
          <p:nvPr/>
        </p:nvSpPr>
        <p:spPr>
          <a:xfrm>
            <a:off x="10365638" y="2542032"/>
            <a:ext cx="1731874" cy="850392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>
              <a:lnSpc>
                <a:spcPct val="112000"/>
              </a:lnSpc>
              <a:buNone/>
            </a:pPr>
            <a:r>
              <a:rPr lang="zh-CN" altLang="en-US" sz="21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你考核什么</a:t>
            </a:r>
            <a:br>
              <a:rPr lang="zh-CN" altLang="en-US" sz="21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1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就会得到什么</a:t>
            </a:r>
          </a:p>
        </p:txBody>
      </p:sp>
      <p:sp>
        <p:nvSpPr>
          <p:cNvPr id="34" name="Shape 34"/>
          <p:cNvSpPr/>
          <p:nvPr/>
        </p:nvSpPr>
        <p:spPr>
          <a:xfrm>
            <a:off x="1929384" y="3566160"/>
            <a:ext cx="4988052" cy="2322576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5" name="CardHead 35"/>
          <p:cNvSpPr/>
          <p:nvPr/>
        </p:nvSpPr>
        <p:spPr>
          <a:xfrm>
            <a:off x="1929384" y="3566160"/>
            <a:ext cx="4988052" cy="347472"/>
          </a:xfrm>
          <a:prstGeom prst="rect">
            <a:avLst/>
          </a:prstGeom>
          <a:solidFill>
            <a:srgbClr val="C02F2B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这一讲要拆掉的三个误会</a:t>
            </a:r>
          </a:p>
        </p:txBody>
      </p:sp>
      <p:sp>
        <p:nvSpPr>
          <p:cNvPr id="36" name="CardBody 36"/>
          <p:cNvSpPr/>
          <p:nvPr/>
        </p:nvSpPr>
        <p:spPr>
          <a:xfrm>
            <a:off x="2011680" y="3922776"/>
            <a:ext cx="4823460" cy="1947672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误会一：忙＝有价值。跑 12 家客户不算价值，要看有几家因为你改变了决定。</a:t>
            </a:r>
          </a:p>
          <a:p>
            <a:pPr algn="l">
              <a:spcBef>
                <a:spcPts val="300"/>
              </a:spcBef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误会二：资历＝价值。做了八年和把一年重复了八遍，在客户档案里长得一模一样。</a:t>
            </a:r>
          </a:p>
          <a:p>
            <a:pPr algn="l">
              <a:spcBef>
                <a:spcPts val="300"/>
              </a:spcBef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误会三：业绩＝价值。同样 500 万，靠一家老客户续单和靠新开五家，意义完全不同。</a:t>
            </a:r>
          </a:p>
        </p:txBody>
      </p:sp>
      <p:sp>
        <p:nvSpPr>
          <p:cNvPr id="37" name="Shape 37"/>
          <p:cNvSpPr/>
          <p:nvPr/>
        </p:nvSpPr>
        <p:spPr>
          <a:xfrm>
            <a:off x="7155180" y="3566160"/>
            <a:ext cx="4988052" cy="2322576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8" name="CardHead 38"/>
          <p:cNvSpPr/>
          <p:nvPr/>
        </p:nvSpPr>
        <p:spPr>
          <a:xfrm>
            <a:off x="7155180" y="3566160"/>
            <a:ext cx="4988052" cy="347472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这一讲结束时，你能做的三件事</a:t>
            </a:r>
          </a:p>
        </p:txBody>
      </p:sp>
      <p:sp>
        <p:nvSpPr>
          <p:cNvPr id="39" name="CardBody 39"/>
          <p:cNvSpPr/>
          <p:nvPr/>
        </p:nvSpPr>
        <p:spPr>
          <a:xfrm>
            <a:off x="7237476" y="3922776"/>
            <a:ext cx="4823460" cy="1947672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用一张「客户价值算账卡」，把价格谈判掰回到价值谈判；</a:t>
            </a:r>
          </a:p>
          <a:p>
            <a:pPr algn="l">
              <a:spcBef>
                <a:spcPts val="300"/>
              </a:spcBef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用冰山模型分清团队里谁是「教得会」、谁是「教不会」，把培养的钱花对地方；</a:t>
            </a:r>
          </a:p>
          <a:p>
            <a:pPr algn="l">
              <a:spcBef>
                <a:spcPts val="300"/>
              </a:spcBef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看懂自家提成方案在鼓励什么、在纵容什么，并提出一条可执行的修正。</a:t>
            </a:r>
          </a:p>
        </p:txBody>
      </p:sp>
      <p:sp>
        <p:nvSpPr>
          <p:cNvPr id="40" name="Shape 40"/>
          <p:cNvSpPr/>
          <p:nvPr/>
        </p:nvSpPr>
        <p:spPr>
          <a:xfrm>
            <a:off x="1929384" y="6016752"/>
            <a:ext cx="10213848" cy="621792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41" name="Banner 41"/>
          <p:cNvSpPr/>
          <p:nvPr/>
        </p:nvSpPr>
        <p:spPr>
          <a:xfrm>
            <a:off x="2075688" y="6016752"/>
            <a:ext cx="9921240" cy="621792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buNone/>
            </a:pPr>
            <a:r>
              <a:rPr lang="zh-CN" altLang="en-US" sz="205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这一讲的底层判断　</a:t>
            </a:r>
            <a:r>
              <a:rPr lang="zh-CN" altLang="en-US" sz="20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价值是别人愿意为之付钱的差别；说不出差别，就只剩下比价格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 &amp; 开发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2878828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第一讲 · 理解价值</a:t>
            </a:r>
          </a:p>
        </p:txBody>
      </p:sp>
      <p:sp>
        <p:nvSpPr>
          <p:cNvPr id="5" name="Nav 5"/>
          <p:cNvSpPr/>
          <p:nvPr/>
        </p:nvSpPr>
        <p:spPr>
          <a:xfrm>
            <a:off x="3153148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第二讲 · 评估价值</a:t>
            </a:r>
          </a:p>
        </p:txBody>
      </p:sp>
      <p:sp>
        <p:nvSpPr>
          <p:cNvPr id="6" name="Nav 6"/>
          <p:cNvSpPr/>
          <p:nvPr/>
        </p:nvSpPr>
        <p:spPr>
          <a:xfrm>
            <a:off x="6159993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第三讲 · 开发价值</a:t>
            </a:r>
          </a:p>
        </p:txBody>
      </p:sp>
      <p:sp>
        <p:nvSpPr>
          <p:cNvPr id="7" name="Nav 7"/>
          <p:cNvSpPr/>
          <p:nvPr/>
        </p:nvSpPr>
        <p:spPr>
          <a:xfrm>
            <a:off x="9166837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第四讲 · 落地价值</a:t>
            </a:r>
          </a:p>
        </p:txBody>
      </p:sp>
      <p:cxnSp>
        <p:nvCxnSpPr>
          <p:cNvPr id="8" name="Connector 8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9" name="Connector 9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10" name="Side 10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价值的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三个层次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绩效·潜力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与能力</a:t>
            </a:r>
          </a:p>
        </p:txBody>
      </p:sp>
      <p:sp>
        <p:nvSpPr>
          <p:cNvPr id="12" name="Side 12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价值与激励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价值流</a:t>
            </a:r>
          </a:p>
        </p:txBody>
      </p:sp>
      <p:sp>
        <p:nvSpPr>
          <p:cNvPr id="13" name="H1 13"/>
          <p:cNvSpPr/>
          <p:nvPr/>
        </p:nvSpPr>
        <p:spPr>
          <a:xfrm>
            <a:off x="1929384" y="1161288"/>
            <a:ext cx="10213848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9144" rIns="73152" bIns="9144" rtlCol="0" anchor="ctr">
            <a:noAutofit/>
          </a:bodyPr>
          <a:lstStyle/>
          <a:p>
            <a:pPr algn="l">
              <a:buNone/>
            </a:pPr>
            <a:r>
              <a:rPr lang="zh-CN" altLang="en-US" sz="27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价值的三个层次：三本账，不是一本账</a:t>
            </a:r>
          </a:p>
        </p:txBody>
      </p:sp>
      <p:sp>
        <p:nvSpPr>
          <p:cNvPr id="14" name="H2 14"/>
          <p:cNvSpPr/>
          <p:nvPr/>
        </p:nvSpPr>
        <p:spPr>
          <a:xfrm>
            <a:off x="1929384" y="1636776"/>
            <a:ext cx="10213848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9144" rIns="73152" bIns="9144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个人、团队、组织——三者之间是乘法，不是加法</a:t>
            </a:r>
          </a:p>
        </p:txBody>
      </p:sp>
      <p:sp>
        <p:nvSpPr>
          <p:cNvPr id="15" name="Shape 15"/>
          <p:cNvSpPr/>
          <p:nvPr/>
        </p:nvSpPr>
        <p:spPr>
          <a:xfrm>
            <a:off x="1929384" y="2066544"/>
            <a:ext cx="3246120" cy="2615184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6" name="CardHead 16"/>
          <p:cNvSpPr/>
          <p:nvPr/>
        </p:nvSpPr>
        <p:spPr>
          <a:xfrm>
            <a:off x="1929384" y="2066544"/>
            <a:ext cx="3246120" cy="347472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个人价值</a:t>
            </a:r>
          </a:p>
        </p:txBody>
      </p:sp>
      <p:sp>
        <p:nvSpPr>
          <p:cNvPr id="17" name="CardBody 17"/>
          <p:cNvSpPr/>
          <p:nvPr/>
        </p:nvSpPr>
        <p:spPr>
          <a:xfrm>
            <a:off x="2011680" y="2423160"/>
            <a:ext cx="3081528" cy="2240280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102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你的技能、知识、经验、判断，最终落在一句话上：客户遇到问题时，第一个想到谁。</a:t>
            </a:r>
            <a:b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衡量口径：你带来的订单、你守住的客户、你留下的方法。</a:t>
            </a:r>
            <a:b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危险信号：你请一周假，客户就会打给别人。</a:t>
            </a:r>
          </a:p>
        </p:txBody>
      </p:sp>
      <p:sp>
        <p:nvSpPr>
          <p:cNvPr id="18" name="Shape 18"/>
          <p:cNvSpPr/>
          <p:nvPr/>
        </p:nvSpPr>
        <p:spPr>
          <a:xfrm>
            <a:off x="5413248" y="2066544"/>
            <a:ext cx="3246120" cy="2615184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9" name="CardHead 19"/>
          <p:cNvSpPr/>
          <p:nvPr/>
        </p:nvSpPr>
        <p:spPr>
          <a:xfrm>
            <a:off x="5413248" y="2066544"/>
            <a:ext cx="3246120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团队价值</a:t>
            </a:r>
          </a:p>
        </p:txBody>
      </p:sp>
      <p:sp>
        <p:nvSpPr>
          <p:cNvPr id="20" name="CardBody 20"/>
          <p:cNvSpPr/>
          <p:nvPr/>
        </p:nvSpPr>
        <p:spPr>
          <a:xfrm>
            <a:off x="5495544" y="2423160"/>
            <a:ext cx="3081528" cy="2240280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90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协同、效率与整体产出。销售、技术、内勤、仓储的接口顺不顺，决定同样的人能出几倍活。</a:t>
            </a:r>
            <a:b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衡量口径：报价响应时间、技术到场时间、订单差错率。</a:t>
            </a:r>
            <a:b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危险信号：跨部门的事都要靠“找熟人”。</a:t>
            </a:r>
          </a:p>
        </p:txBody>
      </p:sp>
      <p:sp>
        <p:nvSpPr>
          <p:cNvPr id="21" name="Shape 21"/>
          <p:cNvSpPr/>
          <p:nvPr/>
        </p:nvSpPr>
        <p:spPr>
          <a:xfrm>
            <a:off x="8897112" y="2066544"/>
            <a:ext cx="3246120" cy="2615184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2" name="CardHead 22"/>
          <p:cNvSpPr/>
          <p:nvPr/>
        </p:nvSpPr>
        <p:spPr>
          <a:xfrm>
            <a:off x="8897112" y="2066544"/>
            <a:ext cx="3246120" cy="347472"/>
          </a:xfrm>
          <a:prstGeom prst="rect">
            <a:avLst/>
          </a:prstGeom>
          <a:solidFill>
            <a:srgbClr val="E55E24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组织价值</a:t>
            </a:r>
          </a:p>
        </p:txBody>
      </p:sp>
      <p:sp>
        <p:nvSpPr>
          <p:cNvPr id="23" name="CardBody 23"/>
          <p:cNvSpPr/>
          <p:nvPr/>
        </p:nvSpPr>
        <p:spPr>
          <a:xfrm>
            <a:off x="8979408" y="2423160"/>
            <a:ext cx="3081528" cy="2240280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90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市场地位、盈利能力与可持续发展。个人和团队的价值，最终要变成公司在客户心里的位置。</a:t>
            </a:r>
            <a:b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衡量口径：市场份额、毛利率、复购率、客户留存。</a:t>
            </a:r>
            <a:b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危险信号：客户离得开你们，只要价格差 5%。</a:t>
            </a:r>
          </a:p>
        </p:txBody>
      </p:sp>
      <p:sp>
        <p:nvSpPr>
          <p:cNvPr id="24" name="Shape 24"/>
          <p:cNvSpPr/>
          <p:nvPr/>
        </p:nvSpPr>
        <p:spPr>
          <a:xfrm>
            <a:off x="1929384" y="4828032"/>
            <a:ext cx="10213848" cy="120700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67E2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5" name="CardHead 25"/>
          <p:cNvSpPr/>
          <p:nvPr/>
        </p:nvSpPr>
        <p:spPr>
          <a:xfrm>
            <a:off x="1929384" y="4828032"/>
            <a:ext cx="10213848" cy="3474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为什么是乘法</a:t>
            </a:r>
          </a:p>
        </p:txBody>
      </p:sp>
      <p:sp>
        <p:nvSpPr>
          <p:cNvPr id="26" name="CardBody 26"/>
          <p:cNvSpPr/>
          <p:nvPr/>
        </p:nvSpPr>
        <p:spPr>
          <a:xfrm>
            <a:off x="2011680" y="5184648"/>
            <a:ext cx="10049256" cy="832104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82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 90 分的销售，放进协同只有 0.5 的团队，组织拿到的是 45 分——所以“招最好的人”解决不了问题。</a:t>
            </a:r>
          </a:p>
          <a:p>
            <a:pPr algn="l">
              <a:lnSpc>
                <a:spcPct val="82000"/>
              </a:lnSpc>
              <a:spcBef>
                <a:spcPts val="300"/>
              </a:spcBef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反过来也成立：把接口理顺，同一批人的产出能直接翻倍，而且不花钱。</a:t>
            </a:r>
          </a:p>
        </p:txBody>
      </p:sp>
      <p:sp>
        <p:nvSpPr>
          <p:cNvPr id="27" name="Shape 27"/>
          <p:cNvSpPr/>
          <p:nvPr/>
        </p:nvSpPr>
        <p:spPr>
          <a:xfrm>
            <a:off x="1929384" y="6144768"/>
            <a:ext cx="10213848" cy="530352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8" name="Banner 28"/>
          <p:cNvSpPr/>
          <p:nvPr/>
        </p:nvSpPr>
        <p:spPr>
          <a:xfrm>
            <a:off x="2075688" y="6144768"/>
            <a:ext cx="9921240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buNone/>
            </a:pPr>
            <a:r>
              <a:rPr lang="zh-CN" altLang="en-US" sz="23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现场一问　</a:t>
            </a:r>
            <a:r>
              <a:rPr lang="zh-CN" altLang="en-US" sz="23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你所在的营业部，哪一个接口最堵？堵在哪两个岗位之间？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 &amp; 开发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2878828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第一讲 · 理解价值</a:t>
            </a:r>
          </a:p>
        </p:txBody>
      </p:sp>
      <p:sp>
        <p:nvSpPr>
          <p:cNvPr id="5" name="Nav 5"/>
          <p:cNvSpPr/>
          <p:nvPr/>
        </p:nvSpPr>
        <p:spPr>
          <a:xfrm>
            <a:off x="3153148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第二讲 · 评估价值</a:t>
            </a:r>
          </a:p>
        </p:txBody>
      </p:sp>
      <p:sp>
        <p:nvSpPr>
          <p:cNvPr id="6" name="Nav 6"/>
          <p:cNvSpPr/>
          <p:nvPr/>
        </p:nvSpPr>
        <p:spPr>
          <a:xfrm>
            <a:off x="6159993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第三讲 · 开发价值</a:t>
            </a:r>
          </a:p>
        </p:txBody>
      </p:sp>
      <p:sp>
        <p:nvSpPr>
          <p:cNvPr id="7" name="Nav 7"/>
          <p:cNvSpPr/>
          <p:nvPr/>
        </p:nvSpPr>
        <p:spPr>
          <a:xfrm>
            <a:off x="9166837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第四讲 · 落地价值</a:t>
            </a:r>
          </a:p>
        </p:txBody>
      </p:sp>
      <p:cxnSp>
        <p:nvCxnSpPr>
          <p:cNvPr id="8" name="Connector 8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9" name="Connector 9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10" name="Side 10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价值的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三个层次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绩效·潜力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与能力</a:t>
            </a:r>
          </a:p>
        </p:txBody>
      </p:sp>
      <p:sp>
        <p:nvSpPr>
          <p:cNvPr id="12" name="Side 12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价值与激励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价值流</a:t>
            </a:r>
          </a:p>
        </p:txBody>
      </p:sp>
      <p:sp>
        <p:nvSpPr>
          <p:cNvPr id="13" name="H1 13"/>
          <p:cNvSpPr/>
          <p:nvPr/>
        </p:nvSpPr>
        <p:spPr>
          <a:xfrm>
            <a:off x="1929384" y="1161288"/>
            <a:ext cx="10213848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9144" rIns="73152" bIns="9144" rtlCol="0" anchor="ctr">
            <a:noAutofit/>
          </a:bodyPr>
          <a:lstStyle/>
          <a:p>
            <a:pPr algn="l">
              <a:buNone/>
            </a:pPr>
            <a:r>
              <a:rPr lang="zh-CN" altLang="en-US" sz="27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一个营业部的一天，价值到底藏在哪一段</a:t>
            </a:r>
          </a:p>
        </p:txBody>
      </p:sp>
      <p:sp>
        <p:nvSpPr>
          <p:cNvPr id="14" name="H2 14"/>
          <p:cNvSpPr/>
          <p:nvPr/>
        </p:nvSpPr>
        <p:spPr>
          <a:xfrm>
            <a:off x="1929384" y="1636776"/>
            <a:ext cx="10213848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9144" rIns="73152" bIns="9144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同样跑一天，有人在积累资产，有人只是在消耗时间</a:t>
            </a:r>
          </a:p>
        </p:txBody>
      </p:sp>
      <p:sp>
        <p:nvSpPr>
          <p:cNvPr id="15" name="Shape 15"/>
          <p:cNvSpPr/>
          <p:nvPr/>
        </p:nvSpPr>
        <p:spPr>
          <a:xfrm>
            <a:off x="1929384" y="2066544"/>
            <a:ext cx="1473708" cy="1316736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6" name="FlowHead 16"/>
          <p:cNvSpPr/>
          <p:nvPr/>
        </p:nvSpPr>
        <p:spPr>
          <a:xfrm>
            <a:off x="1929384" y="2066544"/>
            <a:ext cx="1473708" cy="384048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08:00</a:t>
            </a:r>
          </a:p>
        </p:txBody>
      </p:sp>
      <p:sp>
        <p:nvSpPr>
          <p:cNvPr id="17" name="FlowBody 17"/>
          <p:cNvSpPr/>
          <p:nvPr/>
        </p:nvSpPr>
        <p:spPr>
          <a:xfrm>
            <a:off x="1975104" y="2468880"/>
            <a:ext cx="1382268" cy="886968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>
              <a:lnSpc>
                <a:spcPct val="92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早会 / 报表</a:t>
            </a:r>
            <a:b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昨天的数、今天的路</a:t>
            </a:r>
          </a:p>
        </p:txBody>
      </p:sp>
      <p:cxnSp>
        <p:nvCxnSpPr>
          <p:cNvPr id="18" name="Arrow 18"/>
          <p:cNvCxnSpPr/>
          <p:nvPr/>
        </p:nvCxnSpPr>
        <p:spPr>
          <a:xfrm>
            <a:off x="3439668" y="2724912"/>
            <a:ext cx="201168" cy="0"/>
          </a:xfrm>
          <a:prstGeom prst="straightConnector1">
            <a:avLst/>
          </a:prstGeom>
          <a:ln w="25400" cap="flat">
            <a:solidFill>
              <a:srgbClr val="FFFFFF"/>
            </a:solidFill>
            <a:tailEnd type="triangle" w="med" len="med"/>
          </a:ln>
        </p:spPr>
      </p:cxnSp>
      <p:sp>
        <p:nvSpPr>
          <p:cNvPr id="19" name="Shape 19"/>
          <p:cNvSpPr/>
          <p:nvPr/>
        </p:nvSpPr>
        <p:spPr>
          <a:xfrm>
            <a:off x="3677412" y="2066544"/>
            <a:ext cx="1473708" cy="1316736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0" name="FlowHead 20"/>
          <p:cNvSpPr/>
          <p:nvPr/>
        </p:nvSpPr>
        <p:spPr>
          <a:xfrm>
            <a:off x="3677412" y="2066544"/>
            <a:ext cx="1473708" cy="384048"/>
          </a:xfrm>
          <a:prstGeom prst="rect">
            <a:avLst/>
          </a:prstGeom>
          <a:solidFill>
            <a:srgbClr val="E55E24"/>
          </a:solidFill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09:30</a:t>
            </a:r>
          </a:p>
        </p:txBody>
      </p:sp>
      <p:sp>
        <p:nvSpPr>
          <p:cNvPr id="21" name="FlowBody 21"/>
          <p:cNvSpPr/>
          <p:nvPr/>
        </p:nvSpPr>
        <p:spPr>
          <a:xfrm>
            <a:off x="3723132" y="2468880"/>
            <a:ext cx="1382268" cy="886968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>
              <a:lnSpc>
                <a:spcPct val="92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经销商拜访</a:t>
            </a:r>
            <a:b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库存、动销、压货</a:t>
            </a:r>
          </a:p>
        </p:txBody>
      </p:sp>
      <p:cxnSp>
        <p:nvCxnSpPr>
          <p:cNvPr id="22" name="Arrow 22"/>
          <p:cNvCxnSpPr/>
          <p:nvPr/>
        </p:nvCxnSpPr>
        <p:spPr>
          <a:xfrm>
            <a:off x="5187696" y="2724912"/>
            <a:ext cx="201168" cy="0"/>
          </a:xfrm>
          <a:prstGeom prst="straightConnector1">
            <a:avLst/>
          </a:prstGeom>
          <a:ln w="25400" cap="flat">
            <a:solidFill>
              <a:srgbClr val="FFFFFF"/>
            </a:solidFill>
            <a:tailEnd type="triangle" w="med" len="med"/>
          </a:ln>
        </p:spPr>
      </p:cxnSp>
      <p:sp>
        <p:nvSpPr>
          <p:cNvPr id="23" name="Shape 23"/>
          <p:cNvSpPr/>
          <p:nvPr/>
        </p:nvSpPr>
        <p:spPr>
          <a:xfrm>
            <a:off x="5425440" y="2066544"/>
            <a:ext cx="1473708" cy="1316736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4" name="FlowHead 24"/>
          <p:cNvSpPr/>
          <p:nvPr/>
        </p:nvSpPr>
        <p:spPr>
          <a:xfrm>
            <a:off x="5425440" y="2066544"/>
            <a:ext cx="1473708" cy="38404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11:00</a:t>
            </a:r>
          </a:p>
        </p:txBody>
      </p:sp>
      <p:sp>
        <p:nvSpPr>
          <p:cNvPr id="25" name="FlowBody 25"/>
          <p:cNvSpPr/>
          <p:nvPr/>
        </p:nvSpPr>
        <p:spPr>
          <a:xfrm>
            <a:off x="5471160" y="2468880"/>
            <a:ext cx="1382268" cy="886968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>
              <a:lnSpc>
                <a:spcPct val="92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终端客户</a:t>
            </a:r>
            <a:b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工况、选型、试用</a:t>
            </a:r>
          </a:p>
        </p:txBody>
      </p:sp>
      <p:cxnSp>
        <p:nvCxnSpPr>
          <p:cNvPr id="26" name="Arrow 26"/>
          <p:cNvCxnSpPr/>
          <p:nvPr/>
        </p:nvCxnSpPr>
        <p:spPr>
          <a:xfrm>
            <a:off x="6935724" y="2724912"/>
            <a:ext cx="201168" cy="0"/>
          </a:xfrm>
          <a:prstGeom prst="straightConnector1">
            <a:avLst/>
          </a:prstGeom>
          <a:ln w="25400" cap="flat">
            <a:solidFill>
              <a:srgbClr val="FFFFFF"/>
            </a:solidFill>
            <a:tailEnd type="triangle" w="med" len="med"/>
          </a:ln>
        </p:spPr>
      </p:cxnSp>
      <p:sp>
        <p:nvSpPr>
          <p:cNvPr id="27" name="Shape 27"/>
          <p:cNvSpPr/>
          <p:nvPr/>
        </p:nvSpPr>
        <p:spPr>
          <a:xfrm>
            <a:off x="7173468" y="2066544"/>
            <a:ext cx="1473708" cy="1316736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8" name="FlowHead 28"/>
          <p:cNvSpPr/>
          <p:nvPr/>
        </p:nvSpPr>
        <p:spPr>
          <a:xfrm>
            <a:off x="7173468" y="2066544"/>
            <a:ext cx="1473708" cy="384048"/>
          </a:xfrm>
          <a:prstGeom prst="rect">
            <a:avLst/>
          </a:prstGeom>
          <a:solidFill>
            <a:srgbClr val="C02F2B"/>
          </a:solidFill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14:00</a:t>
            </a:r>
          </a:p>
        </p:txBody>
      </p:sp>
      <p:sp>
        <p:nvSpPr>
          <p:cNvPr id="29" name="FlowBody 29"/>
          <p:cNvSpPr/>
          <p:nvPr/>
        </p:nvSpPr>
        <p:spPr>
          <a:xfrm>
            <a:off x="7219188" y="2468880"/>
            <a:ext cx="1382268" cy="886968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>
              <a:lnSpc>
                <a:spcPct val="92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报价跟单</a:t>
            </a:r>
            <a:b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比价、议价、交期</a:t>
            </a:r>
          </a:p>
        </p:txBody>
      </p:sp>
      <p:cxnSp>
        <p:nvCxnSpPr>
          <p:cNvPr id="30" name="Arrow 30"/>
          <p:cNvCxnSpPr/>
          <p:nvPr/>
        </p:nvCxnSpPr>
        <p:spPr>
          <a:xfrm>
            <a:off x="8683752" y="2724912"/>
            <a:ext cx="201168" cy="0"/>
          </a:xfrm>
          <a:prstGeom prst="straightConnector1">
            <a:avLst/>
          </a:prstGeom>
          <a:ln w="25400" cap="flat">
            <a:solidFill>
              <a:srgbClr val="FFFFFF"/>
            </a:solidFill>
            <a:tailEnd type="triangle" w="med" len="med"/>
          </a:ln>
        </p:spPr>
      </p:cxnSp>
      <p:sp>
        <p:nvSpPr>
          <p:cNvPr id="31" name="Shape 31"/>
          <p:cNvSpPr/>
          <p:nvPr/>
        </p:nvSpPr>
        <p:spPr>
          <a:xfrm>
            <a:off x="8921496" y="2066544"/>
            <a:ext cx="1473708" cy="1316736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 cap="flat" cmpd="sng" algn="ctr">
            <a:solidFill>
              <a:srgbClr val="6A4C9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2" name="FlowHead 32"/>
          <p:cNvSpPr/>
          <p:nvPr/>
        </p:nvSpPr>
        <p:spPr>
          <a:xfrm>
            <a:off x="8921496" y="2066544"/>
            <a:ext cx="1473708" cy="384048"/>
          </a:xfrm>
          <a:prstGeom prst="rect">
            <a:avLst/>
          </a:prstGeom>
          <a:solidFill>
            <a:srgbClr val="6A4C93"/>
          </a:solidFill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16:00</a:t>
            </a:r>
          </a:p>
        </p:txBody>
      </p:sp>
      <p:sp>
        <p:nvSpPr>
          <p:cNvPr id="33" name="FlowBody 33"/>
          <p:cNvSpPr/>
          <p:nvPr/>
        </p:nvSpPr>
        <p:spPr>
          <a:xfrm>
            <a:off x="8967216" y="2468880"/>
            <a:ext cx="1382268" cy="886968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>
              <a:lnSpc>
                <a:spcPct val="92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催款对账</a:t>
            </a:r>
            <a:b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账期、开票、回款</a:t>
            </a:r>
          </a:p>
        </p:txBody>
      </p:sp>
      <p:cxnSp>
        <p:nvCxnSpPr>
          <p:cNvPr id="34" name="Arrow 34"/>
          <p:cNvCxnSpPr/>
          <p:nvPr/>
        </p:nvCxnSpPr>
        <p:spPr>
          <a:xfrm>
            <a:off x="10431780" y="2724912"/>
            <a:ext cx="201168" cy="0"/>
          </a:xfrm>
          <a:prstGeom prst="straightConnector1">
            <a:avLst/>
          </a:prstGeom>
          <a:ln w="25400" cap="flat">
            <a:solidFill>
              <a:srgbClr val="FFFFFF"/>
            </a:solidFill>
            <a:tailEnd type="triangle" w="med" len="med"/>
          </a:ln>
        </p:spPr>
      </p:cxnSp>
      <p:sp>
        <p:nvSpPr>
          <p:cNvPr id="35" name="Shape 35"/>
          <p:cNvSpPr/>
          <p:nvPr/>
        </p:nvSpPr>
        <p:spPr>
          <a:xfrm>
            <a:off x="10669524" y="2066544"/>
            <a:ext cx="1473708" cy="1316736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 cap="flat" cmpd="sng" algn="ctr">
            <a:solidFill>
              <a:srgbClr val="11828C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6" name="FlowHead 36"/>
          <p:cNvSpPr/>
          <p:nvPr/>
        </p:nvSpPr>
        <p:spPr>
          <a:xfrm>
            <a:off x="10669524" y="2066544"/>
            <a:ext cx="1473708" cy="384048"/>
          </a:xfrm>
          <a:prstGeom prst="rect">
            <a:avLst/>
          </a:prstGeom>
          <a:solidFill>
            <a:srgbClr val="11828C"/>
          </a:solidFill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19:00</a:t>
            </a:r>
          </a:p>
        </p:txBody>
      </p:sp>
      <p:sp>
        <p:nvSpPr>
          <p:cNvPr id="37" name="FlowBody 37"/>
          <p:cNvSpPr/>
          <p:nvPr/>
        </p:nvSpPr>
        <p:spPr>
          <a:xfrm>
            <a:off x="10715244" y="2468880"/>
            <a:ext cx="1382268" cy="886968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>
              <a:lnSpc>
                <a:spcPct val="92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录系统</a:t>
            </a:r>
            <a:b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客户档案、下次动作</a:t>
            </a:r>
          </a:p>
        </p:txBody>
      </p:sp>
      <p:sp>
        <p:nvSpPr>
          <p:cNvPr id="38" name="Shape 38"/>
          <p:cNvSpPr/>
          <p:nvPr/>
        </p:nvSpPr>
        <p:spPr>
          <a:xfrm>
            <a:off x="1929384" y="3529584"/>
            <a:ext cx="3246120" cy="2448397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9" name="CardHead 39"/>
          <p:cNvSpPr/>
          <p:nvPr/>
        </p:nvSpPr>
        <p:spPr>
          <a:xfrm>
            <a:off x="1929384" y="3529584"/>
            <a:ext cx="3246120" cy="347472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真正增值的动作</a:t>
            </a:r>
          </a:p>
        </p:txBody>
      </p:sp>
      <p:sp>
        <p:nvSpPr>
          <p:cNvPr id="40" name="CardBody 40"/>
          <p:cNvSpPr/>
          <p:nvPr/>
        </p:nvSpPr>
        <p:spPr>
          <a:xfrm>
            <a:off x="2011680" y="3886200"/>
            <a:ext cx="3081528" cy="2073493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82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让客户改变了一个决定：换掉一个原来用进口件的工位、把年度框架从两家收敛到一家、把一次抱怨变成一次工况改进。</a:t>
            </a:r>
            <a:b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判断：这件事做完，客户档案里多了一条别人拿不走的信息。</a:t>
            </a:r>
          </a:p>
        </p:txBody>
      </p:sp>
      <p:sp>
        <p:nvSpPr>
          <p:cNvPr id="41" name="Shape 41"/>
          <p:cNvSpPr/>
          <p:nvPr/>
        </p:nvSpPr>
        <p:spPr>
          <a:xfrm>
            <a:off x="5413248" y="3529584"/>
            <a:ext cx="3246120" cy="237744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42" name="CardHead 42"/>
          <p:cNvSpPr/>
          <p:nvPr/>
        </p:nvSpPr>
        <p:spPr>
          <a:xfrm>
            <a:off x="5413248" y="3529584"/>
            <a:ext cx="3246120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必要但不增值</a:t>
            </a:r>
          </a:p>
        </p:txBody>
      </p:sp>
      <p:sp>
        <p:nvSpPr>
          <p:cNvPr id="43" name="CardBody 43"/>
          <p:cNvSpPr/>
          <p:nvPr/>
        </p:nvSpPr>
        <p:spPr>
          <a:xfrm>
            <a:off x="5495544" y="3886200"/>
            <a:ext cx="3081528" cy="2002536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106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报价、对账、录系统、开票、催货。少不了，但它不产生差别，只维持运转。</a:t>
            </a:r>
            <a:b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判断：换个人做，结果一样。这类事要的是更快更省，不是更用心。</a:t>
            </a:r>
          </a:p>
        </p:txBody>
      </p:sp>
      <p:sp>
        <p:nvSpPr>
          <p:cNvPr id="44" name="Shape 44"/>
          <p:cNvSpPr/>
          <p:nvPr/>
        </p:nvSpPr>
        <p:spPr>
          <a:xfrm>
            <a:off x="8897112" y="3529584"/>
            <a:ext cx="3246120" cy="237744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45" name="CardHead 45"/>
          <p:cNvSpPr/>
          <p:nvPr/>
        </p:nvSpPr>
        <p:spPr>
          <a:xfrm>
            <a:off x="8897112" y="3529584"/>
            <a:ext cx="3246120" cy="347472"/>
          </a:xfrm>
          <a:prstGeom prst="rect">
            <a:avLst/>
          </a:prstGeom>
          <a:solidFill>
            <a:srgbClr val="C02F2B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纯消耗</a:t>
            </a:r>
          </a:p>
        </p:txBody>
      </p:sp>
      <p:sp>
        <p:nvSpPr>
          <p:cNvPr id="46" name="CardBody 46"/>
          <p:cNvSpPr/>
          <p:nvPr/>
        </p:nvSpPr>
        <p:spPr>
          <a:xfrm>
            <a:off x="8979408" y="3886200"/>
            <a:ext cx="3081528" cy="2002536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106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为一个永远不会下单的客户第五次跑现场；在群里为一次降价拉扯两小时；把同一份资料改成三个版本。</a:t>
            </a:r>
            <a:b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判断：做完之后，你说不出改变了什么。</a:t>
            </a:r>
          </a:p>
        </p:txBody>
      </p:sp>
      <p:sp>
        <p:nvSpPr>
          <p:cNvPr id="47" name="Shape 47"/>
          <p:cNvSpPr/>
          <p:nvPr/>
        </p:nvSpPr>
        <p:spPr>
          <a:xfrm>
            <a:off x="1929384" y="6035040"/>
            <a:ext cx="10213848" cy="621792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48" name="Banner 48"/>
          <p:cNvSpPr/>
          <p:nvPr/>
        </p:nvSpPr>
        <p:spPr>
          <a:xfrm>
            <a:off x="2075688" y="6035040"/>
            <a:ext cx="9921240" cy="621792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lnSpc>
                <a:spcPct val="92000"/>
              </a:lnSpc>
              <a:buNone/>
            </a:pPr>
            <a:r>
              <a:rPr lang="zh-CN" altLang="en-US" sz="18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本周作业　</a:t>
            </a: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连着三天记录你的时间去向，把每一段划进这三类——第一次做的人，通常会被第三类的比例吓一跳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 &amp; 开发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2878828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第一讲 · 理解价值</a:t>
            </a:r>
          </a:p>
        </p:txBody>
      </p:sp>
      <p:sp>
        <p:nvSpPr>
          <p:cNvPr id="5" name="Nav 5"/>
          <p:cNvSpPr/>
          <p:nvPr/>
        </p:nvSpPr>
        <p:spPr>
          <a:xfrm>
            <a:off x="3153148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第二讲 · 评估价值</a:t>
            </a:r>
          </a:p>
        </p:txBody>
      </p:sp>
      <p:sp>
        <p:nvSpPr>
          <p:cNvPr id="6" name="Nav 6"/>
          <p:cNvSpPr/>
          <p:nvPr/>
        </p:nvSpPr>
        <p:spPr>
          <a:xfrm>
            <a:off x="6159993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第三讲 · 开发价值</a:t>
            </a:r>
          </a:p>
        </p:txBody>
      </p:sp>
      <p:sp>
        <p:nvSpPr>
          <p:cNvPr id="7" name="Nav 7"/>
          <p:cNvSpPr/>
          <p:nvPr/>
        </p:nvSpPr>
        <p:spPr>
          <a:xfrm>
            <a:off x="9166837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第四讲 · 落地价值</a:t>
            </a:r>
          </a:p>
        </p:txBody>
      </p:sp>
      <p:cxnSp>
        <p:nvCxnSpPr>
          <p:cNvPr id="8" name="Connector 8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9" name="Connector 9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10" name="Side 10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价值的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三个层次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绩效·潜力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与能力</a:t>
            </a:r>
          </a:p>
        </p:txBody>
      </p:sp>
      <p:sp>
        <p:nvSpPr>
          <p:cNvPr id="12" name="Side 12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价值与激励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价值流</a:t>
            </a:r>
          </a:p>
        </p:txBody>
      </p:sp>
      <p:sp>
        <p:nvSpPr>
          <p:cNvPr id="13" name="H1 13"/>
          <p:cNvSpPr/>
          <p:nvPr/>
        </p:nvSpPr>
        <p:spPr>
          <a:xfrm>
            <a:off x="1929384" y="1161288"/>
            <a:ext cx="10213848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9144" rIns="73152" bIns="9144" rtlCol="0" anchor="ctr">
            <a:noAutofit/>
          </a:bodyPr>
          <a:lstStyle/>
          <a:p>
            <a:pPr algn="l">
              <a:buNone/>
            </a:pPr>
            <a:r>
              <a:rPr lang="zh-CN" altLang="en-US" sz="27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客户买的从来不是那个零件，是一笔账</a:t>
            </a:r>
          </a:p>
        </p:txBody>
      </p:sp>
      <p:sp>
        <p:nvSpPr>
          <p:cNvPr id="14" name="H2 14"/>
          <p:cNvSpPr/>
          <p:nvPr/>
        </p:nvSpPr>
        <p:spPr>
          <a:xfrm>
            <a:off x="1929384" y="1636776"/>
            <a:ext cx="10213848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9144" rIns="73152" bIns="9144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 =（少停机 ＋ 快换型 ＋ 省备件 ＋ 降采购）−（切换风险 ＋ 价格）</a:t>
            </a:r>
          </a:p>
        </p:txBody>
      </p:sp>
      <p:sp>
        <p:nvSpPr>
          <p:cNvPr id="15" name="Formula 15"/>
          <p:cNvSpPr/>
          <p:nvPr/>
        </p:nvSpPr>
        <p:spPr>
          <a:xfrm>
            <a:off x="1929384" y="2066544"/>
            <a:ext cx="10213848" cy="658368"/>
          </a:xfrm>
          <a:prstGeom prst="roundRect">
            <a:avLst>
              <a:gd name="adj" fmla="val 16000"/>
            </a:avLst>
          </a:prstGeom>
          <a:solidFill>
            <a:srgbClr val="2C6B53"/>
          </a:solidFill>
          <a:ln w="15875" cap="flat" cmpd="sng" algn="ctr">
            <a:solidFill>
              <a:srgbClr val="F5C842"/>
            </a:solidFill>
          </a:ln>
        </p:spPr>
        <p:txBody>
          <a:bodyPr wrap="square" lIns="164592" tIns="36576" rIns="146304" bIns="36576" rtlCol="0" anchor="ctr">
            <a:noAutofit/>
          </a:bodyPr>
          <a:lstStyle/>
          <a:p>
            <a:pPr algn="l">
              <a:lnSpc>
                <a:spcPct val="94000"/>
              </a:lnSpc>
              <a:buNone/>
            </a:pPr>
            <a:r>
              <a:rPr lang="zh-CN" altLang="en-US" sz="18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一句话　</a:t>
            </a: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你降不下去的那 5% 价格，往往抵不上他一次非计划停机的十分之一——前提是你得替他算出来</a:t>
            </a:r>
          </a:p>
        </p:txBody>
      </p:sp>
      <p:sp>
        <p:nvSpPr>
          <p:cNvPr id="16" name="Shape 16"/>
          <p:cNvSpPr/>
          <p:nvPr/>
        </p:nvSpPr>
        <p:spPr>
          <a:xfrm>
            <a:off x="1929384" y="2834640"/>
            <a:ext cx="2402586" cy="184708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7" name="CardHead 17"/>
          <p:cNvSpPr/>
          <p:nvPr/>
        </p:nvSpPr>
        <p:spPr>
          <a:xfrm>
            <a:off x="1929384" y="2834640"/>
            <a:ext cx="2402586" cy="347472"/>
          </a:xfrm>
          <a:prstGeom prst="rect">
            <a:avLst/>
          </a:prstGeom>
          <a:solidFill>
            <a:srgbClr val="E55E24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少停机</a:t>
            </a:r>
          </a:p>
        </p:txBody>
      </p:sp>
      <p:sp>
        <p:nvSpPr>
          <p:cNvPr id="18" name="CardBody 18"/>
          <p:cNvSpPr/>
          <p:nvPr/>
        </p:nvSpPr>
        <p:spPr>
          <a:xfrm>
            <a:off x="2011680" y="3191256"/>
            <a:ext cx="2237994" cy="1472184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94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问他：这条线停一小时，损失多少？</a:t>
            </a:r>
            <a:b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把元件寿命、故障率、更换时间折成一年少停几小时。</a:t>
            </a:r>
          </a:p>
        </p:txBody>
      </p:sp>
      <p:sp>
        <p:nvSpPr>
          <p:cNvPr id="19" name="Shape 19"/>
          <p:cNvSpPr/>
          <p:nvPr/>
        </p:nvSpPr>
        <p:spPr>
          <a:xfrm>
            <a:off x="4533138" y="2834640"/>
            <a:ext cx="2402586" cy="1901952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0" name="CardHead 20"/>
          <p:cNvSpPr/>
          <p:nvPr/>
        </p:nvSpPr>
        <p:spPr>
          <a:xfrm>
            <a:off x="4533138" y="2834640"/>
            <a:ext cx="2402586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快换型</a:t>
            </a:r>
          </a:p>
        </p:txBody>
      </p:sp>
      <p:sp>
        <p:nvSpPr>
          <p:cNvPr id="21" name="CardBody 21"/>
          <p:cNvSpPr/>
          <p:nvPr/>
        </p:nvSpPr>
        <p:spPr>
          <a:xfrm>
            <a:off x="4615434" y="3191256"/>
            <a:ext cx="2237994" cy="1527048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82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问他：换一次型要多久？</a:t>
            </a:r>
            <a:b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快换接头、标准行程、通用安装尺寸，省的是每天都在发生的时间。</a:t>
            </a:r>
          </a:p>
        </p:txBody>
      </p:sp>
      <p:sp>
        <p:nvSpPr>
          <p:cNvPr id="22" name="Shape 22"/>
          <p:cNvSpPr/>
          <p:nvPr/>
        </p:nvSpPr>
        <p:spPr>
          <a:xfrm>
            <a:off x="7136892" y="2834640"/>
            <a:ext cx="2402586" cy="184708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6A4C9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3" name="CardHead 23"/>
          <p:cNvSpPr/>
          <p:nvPr/>
        </p:nvSpPr>
        <p:spPr>
          <a:xfrm>
            <a:off x="7136892" y="2834640"/>
            <a:ext cx="2402586" cy="347472"/>
          </a:xfrm>
          <a:prstGeom prst="rect">
            <a:avLst/>
          </a:prstGeom>
          <a:solidFill>
            <a:srgbClr val="6A4C93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省备件</a:t>
            </a:r>
          </a:p>
        </p:txBody>
      </p:sp>
      <p:sp>
        <p:nvSpPr>
          <p:cNvPr id="24" name="CardBody 24"/>
          <p:cNvSpPr/>
          <p:nvPr/>
        </p:nvSpPr>
        <p:spPr>
          <a:xfrm>
            <a:off x="7219188" y="3191256"/>
            <a:ext cx="2237994" cy="1472184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94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问他：仓库里躺着多少种备件？</a:t>
            </a:r>
            <a:b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型号收敛能直接减少呆滞库存和找件时间。</a:t>
            </a:r>
          </a:p>
        </p:txBody>
      </p:sp>
      <p:sp>
        <p:nvSpPr>
          <p:cNvPr id="25" name="Shape 25"/>
          <p:cNvSpPr/>
          <p:nvPr/>
        </p:nvSpPr>
        <p:spPr>
          <a:xfrm>
            <a:off x="9740646" y="2834640"/>
            <a:ext cx="2402586" cy="184708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6" name="CardHead 26"/>
          <p:cNvSpPr/>
          <p:nvPr/>
        </p:nvSpPr>
        <p:spPr>
          <a:xfrm>
            <a:off x="9740646" y="2834640"/>
            <a:ext cx="2402586" cy="347472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降采购</a:t>
            </a:r>
          </a:p>
        </p:txBody>
      </p:sp>
      <p:sp>
        <p:nvSpPr>
          <p:cNvPr id="27" name="CardBody 27"/>
          <p:cNvSpPr/>
          <p:nvPr/>
        </p:nvSpPr>
        <p:spPr>
          <a:xfrm>
            <a:off x="9822942" y="3191256"/>
            <a:ext cx="2237994" cy="1472184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106000"/>
              </a:lnSpc>
              <a:buNone/>
            </a:pPr>
            <a:r>
              <a:rPr lang="zh-CN" altLang="en-US" sz="20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最后才谈价格。</a:t>
            </a:r>
            <a:br>
              <a:rPr lang="zh-CN" altLang="en-US" sz="20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0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而且谈的是「一年总成本」，不是「这一支多少钱」。</a:t>
            </a:r>
          </a:p>
        </p:txBody>
      </p:sp>
      <p:sp>
        <p:nvSpPr>
          <p:cNvPr id="28" name="Shape 28"/>
          <p:cNvSpPr/>
          <p:nvPr/>
        </p:nvSpPr>
        <p:spPr>
          <a:xfrm>
            <a:off x="1929384" y="4791456"/>
            <a:ext cx="10213848" cy="1243584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67E2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9" name="CardHead 29"/>
          <p:cNvSpPr/>
          <p:nvPr/>
        </p:nvSpPr>
        <p:spPr>
          <a:xfrm>
            <a:off x="1929384" y="4791456"/>
            <a:ext cx="10213848" cy="3474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客户价值算账卡：四个问题，一次拜访就能问完</a:t>
            </a:r>
          </a:p>
        </p:txBody>
      </p:sp>
      <p:sp>
        <p:nvSpPr>
          <p:cNvPr id="30" name="CardBody 30"/>
          <p:cNvSpPr/>
          <p:nvPr/>
        </p:nvSpPr>
        <p:spPr>
          <a:xfrm>
            <a:off x="2011680" y="5148072"/>
            <a:ext cx="10049256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86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这条线一小时的产值是多少？　② 去年因为气动件停过几次、每次多久？　③ 现在仓库有多少个气动件型号、有多少是一年没动过的？　④ 换一次型的调整时间是多少分钟？</a:t>
            </a:r>
          </a:p>
          <a:p>
            <a:pPr algn="l">
              <a:lnSpc>
                <a:spcPct val="86000"/>
              </a:lnSpc>
              <a:spcBef>
                <a:spcPts val="300"/>
              </a:spcBef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把四个答案填进表，价格谈判就从「便宜多少」变成「一年省多少」——这张卡今天下午你会用到。</a:t>
            </a:r>
          </a:p>
        </p:txBody>
      </p:sp>
      <p:sp>
        <p:nvSpPr>
          <p:cNvPr id="31" name="Shape 31"/>
          <p:cNvSpPr/>
          <p:nvPr/>
        </p:nvSpPr>
        <p:spPr>
          <a:xfrm>
            <a:off x="1929384" y="6144768"/>
            <a:ext cx="10213848" cy="530352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2" name="Banner 32"/>
          <p:cNvSpPr/>
          <p:nvPr/>
        </p:nvSpPr>
        <p:spPr>
          <a:xfrm>
            <a:off x="2075688" y="6144768"/>
            <a:ext cx="9921240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buNone/>
            </a:pPr>
            <a:r>
              <a:rPr lang="zh-CN" altLang="en-US" sz="23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反常识　</a:t>
            </a:r>
            <a:r>
              <a:rPr lang="zh-CN" altLang="en-US" sz="23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客户越是只谈价格，越说明你还没让他看见别的账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 &amp; 开发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2878828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第一讲 · 理解价值</a:t>
            </a:r>
          </a:p>
        </p:txBody>
      </p:sp>
      <p:sp>
        <p:nvSpPr>
          <p:cNvPr id="5" name="Nav 5"/>
          <p:cNvSpPr/>
          <p:nvPr/>
        </p:nvSpPr>
        <p:spPr>
          <a:xfrm>
            <a:off x="3153148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第二讲 · 评估价值</a:t>
            </a:r>
          </a:p>
        </p:txBody>
      </p:sp>
      <p:sp>
        <p:nvSpPr>
          <p:cNvPr id="6" name="Nav 6"/>
          <p:cNvSpPr/>
          <p:nvPr/>
        </p:nvSpPr>
        <p:spPr>
          <a:xfrm>
            <a:off x="6159993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第三讲 · 开发价值</a:t>
            </a:r>
          </a:p>
        </p:txBody>
      </p:sp>
      <p:sp>
        <p:nvSpPr>
          <p:cNvPr id="7" name="Nav 7"/>
          <p:cNvSpPr/>
          <p:nvPr/>
        </p:nvSpPr>
        <p:spPr>
          <a:xfrm>
            <a:off x="9166837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第四讲 · 落地价值</a:t>
            </a:r>
          </a:p>
        </p:txBody>
      </p:sp>
      <p:cxnSp>
        <p:nvCxnSpPr>
          <p:cNvPr id="8" name="Connector 8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9" name="Connector 9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10" name="Side 10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价值的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三个层次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绩效·潜力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与能力</a:t>
            </a:r>
          </a:p>
        </p:txBody>
      </p:sp>
      <p:sp>
        <p:nvSpPr>
          <p:cNvPr id="12" name="Side 12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价值与激励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价值流</a:t>
            </a:r>
          </a:p>
        </p:txBody>
      </p:sp>
      <p:sp>
        <p:nvSpPr>
          <p:cNvPr id="13" name="H1 13"/>
          <p:cNvSpPr/>
          <p:nvPr/>
        </p:nvSpPr>
        <p:spPr>
          <a:xfrm>
            <a:off x="1929384" y="1161288"/>
            <a:ext cx="10213848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9144" rIns="73152" bIns="9144" rtlCol="0" anchor="ctr">
            <a:noAutofit/>
          </a:bodyPr>
          <a:lstStyle/>
          <a:p>
            <a:pPr algn="l">
              <a:buNone/>
            </a:pPr>
            <a:r>
              <a:rPr lang="zh-CN" altLang="en-US" sz="27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价值的衡量：看得见的产出，和看不见的沉淀</a:t>
            </a:r>
          </a:p>
        </p:txBody>
      </p:sp>
      <p:sp>
        <p:nvSpPr>
          <p:cNvPr id="14" name="H2 14"/>
          <p:cNvSpPr/>
          <p:nvPr/>
        </p:nvSpPr>
        <p:spPr>
          <a:xfrm>
            <a:off x="1929384" y="1636776"/>
            <a:ext cx="10213848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9144" rIns="73152" bIns="9144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只考核看得见的，看不见的那部分就会在三年后突然消失</a:t>
            </a:r>
          </a:p>
        </p:txBody>
      </p:sp>
      <p:sp>
        <p:nvSpPr>
          <p:cNvPr id="15" name="Shape 15"/>
          <p:cNvSpPr/>
          <p:nvPr/>
        </p:nvSpPr>
        <p:spPr>
          <a:xfrm>
            <a:off x="1929384" y="2066544"/>
            <a:ext cx="4988052" cy="265176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6" name="CardHead 16"/>
          <p:cNvSpPr/>
          <p:nvPr/>
        </p:nvSpPr>
        <p:spPr>
          <a:xfrm>
            <a:off x="1929384" y="2066544"/>
            <a:ext cx="4988052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量化指标：能进系统的</a:t>
            </a:r>
          </a:p>
        </p:txBody>
      </p:sp>
      <p:sp>
        <p:nvSpPr>
          <p:cNvPr id="17" name="CardBody 17"/>
          <p:cNvSpPr/>
          <p:nvPr/>
        </p:nvSpPr>
        <p:spPr>
          <a:xfrm>
            <a:off x="2011680" y="2423160"/>
            <a:ext cx="4823460" cy="2276856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84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销售额与回款额（回款才是真业绩）；</a:t>
            </a:r>
          </a:p>
          <a:p>
            <a:pPr algn="l">
              <a:lnSpc>
                <a:spcPct val="84000"/>
              </a:lnSpc>
              <a:spcBef>
                <a:spcPts val="300"/>
              </a:spcBef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毛利额与产品结构（高毛利品类占比，比如线轨、真空、电控在这个客户身上开了没有）；</a:t>
            </a:r>
          </a:p>
          <a:p>
            <a:pPr algn="l">
              <a:lnSpc>
                <a:spcPct val="84000"/>
              </a:lnSpc>
              <a:spcBef>
                <a:spcPts val="300"/>
              </a:spcBef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新客户开发数与新客户留存率；</a:t>
            </a:r>
          </a:p>
          <a:p>
            <a:pPr algn="l">
              <a:lnSpc>
                <a:spcPct val="84000"/>
              </a:lnSpc>
              <a:spcBef>
                <a:spcPts val="300"/>
              </a:spcBef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老客户复购率与钱包份额（他一年买多少气动件，我们占几成）；</a:t>
            </a:r>
          </a:p>
          <a:p>
            <a:pPr algn="l">
              <a:lnSpc>
                <a:spcPct val="84000"/>
              </a:lnSpc>
              <a:spcBef>
                <a:spcPts val="300"/>
              </a:spcBef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经销商库存周转与动销率（压进去不算，卖出去才算）。</a:t>
            </a:r>
          </a:p>
        </p:txBody>
      </p:sp>
      <p:sp>
        <p:nvSpPr>
          <p:cNvPr id="18" name="Shape 18"/>
          <p:cNvSpPr/>
          <p:nvPr/>
        </p:nvSpPr>
        <p:spPr>
          <a:xfrm>
            <a:off x="7155180" y="2066544"/>
            <a:ext cx="4988052" cy="265176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9" name="CardHead 19"/>
          <p:cNvSpPr/>
          <p:nvPr/>
        </p:nvSpPr>
        <p:spPr>
          <a:xfrm>
            <a:off x="7155180" y="2066544"/>
            <a:ext cx="4988052" cy="347472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非量化价值：不留痕就等于没有</a:t>
            </a:r>
          </a:p>
        </p:txBody>
      </p:sp>
      <p:sp>
        <p:nvSpPr>
          <p:cNvPr id="20" name="CardBody 20"/>
          <p:cNvSpPr/>
          <p:nvPr/>
        </p:nvSpPr>
        <p:spPr>
          <a:xfrm>
            <a:off x="7237476" y="2423160"/>
            <a:ext cx="4823460" cy="2276856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84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客户信任：他上新线时会不会叫上你；</a:t>
            </a:r>
          </a:p>
          <a:p>
            <a:pPr algn="l">
              <a:lnSpc>
                <a:spcPct val="84000"/>
              </a:lnSpc>
              <a:spcBef>
                <a:spcPts val="300"/>
              </a:spcBef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技术口碑：工程师有选型问题第一个问谁；</a:t>
            </a:r>
          </a:p>
          <a:p>
            <a:pPr algn="l">
              <a:lnSpc>
                <a:spcPct val="84000"/>
              </a:lnSpc>
              <a:spcBef>
                <a:spcPts val="300"/>
              </a:spcBef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市场信息：谁在降价、哪条线要扩产、哪个采购要换人；</a:t>
            </a:r>
          </a:p>
          <a:p>
            <a:pPr algn="l">
              <a:lnSpc>
                <a:spcPct val="84000"/>
              </a:lnSpc>
              <a:spcBef>
                <a:spcPts val="300"/>
              </a:spcBef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团队沉淀：带出过几个人、写过几份能复用的说明。</a:t>
            </a:r>
          </a:p>
          <a:p>
            <a:pPr algn="l">
              <a:lnSpc>
                <a:spcPct val="84000"/>
              </a:lnSpc>
              <a:spcBef>
                <a:spcPts val="300"/>
              </a:spcBef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这四样都能留痕：写进客户档案、案例库、带教记录。</a:t>
            </a:r>
          </a:p>
        </p:txBody>
      </p:sp>
      <p:sp>
        <p:nvSpPr>
          <p:cNvPr id="21" name="Shape 21"/>
          <p:cNvSpPr/>
          <p:nvPr/>
        </p:nvSpPr>
        <p:spPr>
          <a:xfrm>
            <a:off x="1929384" y="4864608"/>
            <a:ext cx="10213848" cy="120700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67E2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2" name="CardHead 22"/>
          <p:cNvSpPr/>
          <p:nvPr/>
        </p:nvSpPr>
        <p:spPr>
          <a:xfrm>
            <a:off x="1929384" y="4864608"/>
            <a:ext cx="10213848" cy="3474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一条实操建议：给自己建一份「价值台账」</a:t>
            </a:r>
          </a:p>
        </p:txBody>
      </p:sp>
      <p:sp>
        <p:nvSpPr>
          <p:cNvPr id="23" name="CardBody 23"/>
          <p:cNvSpPr/>
          <p:nvPr/>
        </p:nvSpPr>
        <p:spPr>
          <a:xfrm>
            <a:off x="2011680" y="5221224"/>
            <a:ext cx="10049256" cy="832104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82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每月只记三行：这个月我改变了哪个客户的哪个决定；我留下了什么别人能用的东西；我带谁做成了什么事。</a:t>
            </a:r>
          </a:p>
          <a:p>
            <a:pPr algn="l">
              <a:lnSpc>
                <a:spcPct val="82000"/>
              </a:lnSpc>
              <a:spcBef>
                <a:spcPts val="300"/>
              </a:spcBef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年底评价时，这三行比任何自我评价都管用——因为它是事实，不是形容词。</a:t>
            </a:r>
          </a:p>
        </p:txBody>
      </p:sp>
      <p:sp>
        <p:nvSpPr>
          <p:cNvPr id="24" name="Shape 24"/>
          <p:cNvSpPr/>
          <p:nvPr/>
        </p:nvSpPr>
        <p:spPr>
          <a:xfrm>
            <a:off x="1929384" y="6181344"/>
            <a:ext cx="10213848" cy="493776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5" name="Banner 25"/>
          <p:cNvSpPr/>
          <p:nvPr/>
        </p:nvSpPr>
        <p:spPr>
          <a:xfrm>
            <a:off x="2075688" y="6181344"/>
            <a:ext cx="9921240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buNone/>
            </a:pPr>
            <a:r>
              <a:rPr lang="zh-CN" altLang="en-US" sz="23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注意　</a:t>
            </a:r>
            <a:r>
              <a:rPr lang="zh-CN" altLang="en-US" sz="23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非量化不等于不用管，只等于「还没找到记录它的方式」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 &amp; 开发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2878828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第一讲 · 理解价值</a:t>
            </a:r>
          </a:p>
        </p:txBody>
      </p:sp>
      <p:sp>
        <p:nvSpPr>
          <p:cNvPr id="5" name="Nav 5"/>
          <p:cNvSpPr/>
          <p:nvPr/>
        </p:nvSpPr>
        <p:spPr>
          <a:xfrm>
            <a:off x="3153148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第二讲 · 评估价值</a:t>
            </a:r>
          </a:p>
        </p:txBody>
      </p:sp>
      <p:sp>
        <p:nvSpPr>
          <p:cNvPr id="6" name="Nav 6"/>
          <p:cNvSpPr/>
          <p:nvPr/>
        </p:nvSpPr>
        <p:spPr>
          <a:xfrm>
            <a:off x="6159993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第三讲 · 开发价值</a:t>
            </a:r>
          </a:p>
        </p:txBody>
      </p:sp>
      <p:sp>
        <p:nvSpPr>
          <p:cNvPr id="7" name="Nav 7"/>
          <p:cNvSpPr/>
          <p:nvPr/>
        </p:nvSpPr>
        <p:spPr>
          <a:xfrm>
            <a:off x="9166837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第四讲 · 落地价值</a:t>
            </a:r>
          </a:p>
        </p:txBody>
      </p:sp>
      <p:cxnSp>
        <p:nvCxnSpPr>
          <p:cNvPr id="8" name="Connector 8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9" name="Connector 9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10" name="Side 10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价值的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三个层次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绩效·潜力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与能力</a:t>
            </a:r>
          </a:p>
        </p:txBody>
      </p:sp>
      <p:sp>
        <p:nvSpPr>
          <p:cNvPr id="12" name="Side 12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价值与激励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价值流</a:t>
            </a:r>
          </a:p>
        </p:txBody>
      </p:sp>
      <p:pic>
        <p:nvPicPr>
          <p:cNvPr id="13" name="Art 13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1883664" y="1188720"/>
            <a:ext cx="10259568" cy="5522976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 &amp; 开发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2878828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第一讲 · 理解价值</a:t>
            </a:r>
          </a:p>
        </p:txBody>
      </p:sp>
      <p:sp>
        <p:nvSpPr>
          <p:cNvPr id="5" name="Nav 5"/>
          <p:cNvSpPr/>
          <p:nvPr/>
        </p:nvSpPr>
        <p:spPr>
          <a:xfrm>
            <a:off x="3153148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第二讲 · 评估价值</a:t>
            </a:r>
          </a:p>
        </p:txBody>
      </p:sp>
      <p:sp>
        <p:nvSpPr>
          <p:cNvPr id="6" name="Nav 6"/>
          <p:cNvSpPr/>
          <p:nvPr/>
        </p:nvSpPr>
        <p:spPr>
          <a:xfrm>
            <a:off x="6159993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第三讲 · 开发价值</a:t>
            </a:r>
          </a:p>
        </p:txBody>
      </p:sp>
      <p:sp>
        <p:nvSpPr>
          <p:cNvPr id="7" name="Nav 7"/>
          <p:cNvSpPr/>
          <p:nvPr/>
        </p:nvSpPr>
        <p:spPr>
          <a:xfrm>
            <a:off x="9166837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第四讲 · 落地价值</a:t>
            </a:r>
          </a:p>
        </p:txBody>
      </p:sp>
      <p:cxnSp>
        <p:nvCxnSpPr>
          <p:cNvPr id="8" name="Connector 8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9" name="Connector 9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10" name="Side 10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价值的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三个层次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绩效·潜力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与能力</a:t>
            </a:r>
          </a:p>
        </p:txBody>
      </p:sp>
      <p:sp>
        <p:nvSpPr>
          <p:cNvPr id="12" name="Side 12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价值与激励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价值流</a:t>
            </a:r>
          </a:p>
        </p:txBody>
      </p:sp>
      <p:sp>
        <p:nvSpPr>
          <p:cNvPr id="13" name="H1 13"/>
          <p:cNvSpPr/>
          <p:nvPr/>
        </p:nvSpPr>
        <p:spPr>
          <a:xfrm>
            <a:off x="1929384" y="1161288"/>
            <a:ext cx="10213848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9144" rIns="73152" bIns="9144" rtlCol="0" anchor="ctr">
            <a:noAutofit/>
          </a:bodyPr>
          <a:lstStyle/>
          <a:p>
            <a:pPr algn="l">
              <a:buNone/>
            </a:pPr>
            <a:r>
              <a:rPr lang="zh-CN" altLang="en-US" sz="27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能力评估：营业部人员的六项胜任力</a:t>
            </a:r>
          </a:p>
        </p:txBody>
      </p:sp>
      <p:sp>
        <p:nvSpPr>
          <p:cNvPr id="14" name="H2 14"/>
          <p:cNvSpPr/>
          <p:nvPr/>
        </p:nvSpPr>
        <p:spPr>
          <a:xfrm>
            <a:off x="1929384" y="1636776"/>
            <a:ext cx="10213848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9144" rIns="73152" bIns="9144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每一项都写成「能观察到的行为」，才评得动、也教得动</a:t>
            </a:r>
          </a:p>
        </p:txBody>
      </p:sp>
      <p:sp>
        <p:nvSpPr>
          <p:cNvPr id="15" name="Shape 15"/>
          <p:cNvSpPr/>
          <p:nvPr/>
        </p:nvSpPr>
        <p:spPr>
          <a:xfrm>
            <a:off x="1929384" y="1993392"/>
            <a:ext cx="3258312" cy="184708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6" name="CardHead 16"/>
          <p:cNvSpPr/>
          <p:nvPr/>
        </p:nvSpPr>
        <p:spPr>
          <a:xfrm>
            <a:off x="1929384" y="1993392"/>
            <a:ext cx="3258312" cy="347472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工况洞察</a:t>
            </a:r>
          </a:p>
        </p:txBody>
      </p:sp>
      <p:sp>
        <p:nvSpPr>
          <p:cNvPr id="17" name="CardBody 17"/>
          <p:cNvSpPr/>
          <p:nvPr/>
        </p:nvSpPr>
        <p:spPr>
          <a:xfrm>
            <a:off x="2011680" y="2350008"/>
            <a:ext cx="3093720" cy="1472184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94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能从节拍、负载、安装空间、环境反推该用哪类元件，而不是等客户报型号。</a:t>
            </a:r>
            <a:b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证据：拜访记录里有工况描述，不只有型号数量。</a:t>
            </a:r>
          </a:p>
        </p:txBody>
      </p:sp>
      <p:sp>
        <p:nvSpPr>
          <p:cNvPr id="18" name="Shape 18"/>
          <p:cNvSpPr/>
          <p:nvPr/>
        </p:nvSpPr>
        <p:spPr>
          <a:xfrm>
            <a:off x="5407152" y="1993392"/>
            <a:ext cx="3258312" cy="1946026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9" name="CardHead 19"/>
          <p:cNvSpPr/>
          <p:nvPr/>
        </p:nvSpPr>
        <p:spPr>
          <a:xfrm>
            <a:off x="5407152" y="1993392"/>
            <a:ext cx="3258312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技术转化</a:t>
            </a:r>
          </a:p>
        </p:txBody>
      </p:sp>
      <p:sp>
        <p:nvSpPr>
          <p:cNvPr id="20" name="CardBody 20"/>
          <p:cNvSpPr/>
          <p:nvPr/>
        </p:nvSpPr>
        <p:spPr>
          <a:xfrm>
            <a:off x="5489448" y="2350008"/>
            <a:ext cx="3093720" cy="1571122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82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把参数讲成客户的话：「响应时间」＝「每分钟多做几件」，「寿命次数」＝「一年少停几次」。</a:t>
            </a:r>
            <a:b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证据：报价单后面附得出一页算账说明。</a:t>
            </a:r>
          </a:p>
        </p:txBody>
      </p:sp>
      <p:sp>
        <p:nvSpPr>
          <p:cNvPr id="21" name="Shape 21"/>
          <p:cNvSpPr/>
          <p:nvPr/>
        </p:nvSpPr>
        <p:spPr>
          <a:xfrm>
            <a:off x="8884920" y="1993392"/>
            <a:ext cx="3258312" cy="184708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2" name="CardHead 22"/>
          <p:cNvSpPr/>
          <p:nvPr/>
        </p:nvSpPr>
        <p:spPr>
          <a:xfrm>
            <a:off x="8884920" y="1993392"/>
            <a:ext cx="3258312" cy="347472"/>
          </a:xfrm>
          <a:prstGeom prst="rect">
            <a:avLst/>
          </a:prstGeom>
          <a:solidFill>
            <a:srgbClr val="E55E24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议价谈判</a:t>
            </a:r>
          </a:p>
        </p:txBody>
      </p:sp>
      <p:sp>
        <p:nvSpPr>
          <p:cNvPr id="23" name="CardBody 23"/>
          <p:cNvSpPr/>
          <p:nvPr/>
        </p:nvSpPr>
        <p:spPr>
          <a:xfrm>
            <a:off x="8967216" y="2350008"/>
            <a:ext cx="3093720" cy="1472184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94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守得住价格，也换得来条件——账期、批量、年度框架、试用工位。</a:t>
            </a:r>
            <a:b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证据：最近三次让价，每一次都换回了明确的东西。</a:t>
            </a:r>
          </a:p>
        </p:txBody>
      </p:sp>
      <p:sp>
        <p:nvSpPr>
          <p:cNvPr id="24" name="Shape 24"/>
          <p:cNvSpPr/>
          <p:nvPr/>
        </p:nvSpPr>
        <p:spPr>
          <a:xfrm>
            <a:off x="1929384" y="4005072"/>
            <a:ext cx="3258312" cy="184708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6A4C9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5" name="CardHead 25"/>
          <p:cNvSpPr/>
          <p:nvPr/>
        </p:nvSpPr>
        <p:spPr>
          <a:xfrm>
            <a:off x="1929384" y="4005072"/>
            <a:ext cx="3258312" cy="347472"/>
          </a:xfrm>
          <a:prstGeom prst="rect">
            <a:avLst/>
          </a:prstGeom>
          <a:solidFill>
            <a:srgbClr val="6A4C93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关系经营</a:t>
            </a:r>
          </a:p>
        </p:txBody>
      </p:sp>
      <p:sp>
        <p:nvSpPr>
          <p:cNvPr id="26" name="CardBody 26"/>
          <p:cNvSpPr/>
          <p:nvPr/>
        </p:nvSpPr>
        <p:spPr>
          <a:xfrm>
            <a:off x="2011680" y="4361688"/>
            <a:ext cx="3093720" cy="1472184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94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认识三种人：用的（设备/工艺）、买的（采购）、拍板的。</a:t>
            </a:r>
            <a:b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证据：档案里三类联系人齐全，且知道各自在意什么。</a:t>
            </a:r>
          </a:p>
        </p:txBody>
      </p:sp>
      <p:sp>
        <p:nvSpPr>
          <p:cNvPr id="27" name="Shape 27"/>
          <p:cNvSpPr/>
          <p:nvPr/>
        </p:nvSpPr>
        <p:spPr>
          <a:xfrm>
            <a:off x="5407152" y="4005072"/>
            <a:ext cx="3258312" cy="184708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11828C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8" name="CardHead 28"/>
          <p:cNvSpPr/>
          <p:nvPr/>
        </p:nvSpPr>
        <p:spPr>
          <a:xfrm>
            <a:off x="5407152" y="4005072"/>
            <a:ext cx="3258312" cy="347472"/>
          </a:xfrm>
          <a:prstGeom prst="rect">
            <a:avLst/>
          </a:prstGeom>
          <a:solidFill>
            <a:srgbClr val="11828C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⑤ 自我驱动</a:t>
            </a:r>
          </a:p>
        </p:txBody>
      </p:sp>
      <p:sp>
        <p:nvSpPr>
          <p:cNvPr id="29" name="CardBody 29"/>
          <p:cNvSpPr/>
          <p:nvPr/>
        </p:nvSpPr>
        <p:spPr>
          <a:xfrm>
            <a:off x="5489448" y="4361688"/>
            <a:ext cx="3093720" cy="1472184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94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指标没压下来之前就已经在动；被拒之后自己找到下一个切口。</a:t>
            </a:r>
            <a:b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证据：新客户拜访量在没有人盯的月份也不掉。</a:t>
            </a:r>
          </a:p>
        </p:txBody>
      </p:sp>
      <p:sp>
        <p:nvSpPr>
          <p:cNvPr id="30" name="Shape 30"/>
          <p:cNvSpPr/>
          <p:nvPr/>
        </p:nvSpPr>
        <p:spPr>
          <a:xfrm>
            <a:off x="8884920" y="4005072"/>
            <a:ext cx="3258312" cy="184708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1" name="CardHead 31"/>
          <p:cNvSpPr/>
          <p:nvPr/>
        </p:nvSpPr>
        <p:spPr>
          <a:xfrm>
            <a:off x="8884920" y="4005072"/>
            <a:ext cx="3258312" cy="347472"/>
          </a:xfrm>
          <a:prstGeom prst="rect">
            <a:avLst/>
          </a:prstGeom>
          <a:solidFill>
            <a:srgbClr val="C02F2B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⑥ 协同调度</a:t>
            </a:r>
          </a:p>
        </p:txBody>
      </p:sp>
      <p:sp>
        <p:nvSpPr>
          <p:cNvPr id="32" name="CardBody 32"/>
          <p:cNvSpPr/>
          <p:nvPr/>
        </p:nvSpPr>
        <p:spPr>
          <a:xfrm>
            <a:off x="8967216" y="4361688"/>
            <a:ext cx="3093720" cy="1472184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94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把技术、仓储、内勤、财务调得动，让客户觉得「找他一个人就够了」。</a:t>
            </a:r>
            <a:b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证据：跨部门的事，他给客户的答复时间是确定的。</a:t>
            </a:r>
          </a:p>
        </p:txBody>
      </p:sp>
      <p:sp>
        <p:nvSpPr>
          <p:cNvPr id="33" name="Shape 33"/>
          <p:cNvSpPr/>
          <p:nvPr/>
        </p:nvSpPr>
        <p:spPr>
          <a:xfrm>
            <a:off x="1929384" y="6053328"/>
            <a:ext cx="10213848" cy="585216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4" name="Banner 34"/>
          <p:cNvSpPr/>
          <p:nvPr/>
        </p:nvSpPr>
        <p:spPr>
          <a:xfrm>
            <a:off x="2075688" y="6053328"/>
            <a:ext cx="9921240" cy="585216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lnSpc>
                <a:spcPct val="86000"/>
              </a:lnSpc>
              <a:buNone/>
            </a:pPr>
            <a:r>
              <a:rPr lang="zh-CN" altLang="en-US" sz="18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怎么用　</a:t>
            </a: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别急着打分。先让每个人自评一遍，再让主管评一遍，差距最大的那一项就是这季度的谈话主题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 &amp; 开发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2878828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第一讲 · 理解价值</a:t>
            </a:r>
          </a:p>
        </p:txBody>
      </p:sp>
      <p:sp>
        <p:nvSpPr>
          <p:cNvPr id="5" name="Nav 5"/>
          <p:cNvSpPr/>
          <p:nvPr/>
        </p:nvSpPr>
        <p:spPr>
          <a:xfrm>
            <a:off x="3153148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第二讲 · 评估价值</a:t>
            </a:r>
          </a:p>
        </p:txBody>
      </p:sp>
      <p:sp>
        <p:nvSpPr>
          <p:cNvPr id="6" name="Nav 6"/>
          <p:cNvSpPr/>
          <p:nvPr/>
        </p:nvSpPr>
        <p:spPr>
          <a:xfrm>
            <a:off x="6159993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第三讲 · 开发价值</a:t>
            </a:r>
          </a:p>
        </p:txBody>
      </p:sp>
      <p:sp>
        <p:nvSpPr>
          <p:cNvPr id="7" name="Nav 7"/>
          <p:cNvSpPr/>
          <p:nvPr/>
        </p:nvSpPr>
        <p:spPr>
          <a:xfrm>
            <a:off x="9166837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第四讲 · 落地价值</a:t>
            </a:r>
          </a:p>
        </p:txBody>
      </p:sp>
      <p:cxnSp>
        <p:nvCxnSpPr>
          <p:cNvPr id="8" name="Connector 8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9" name="Connector 9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10" name="Side 10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价值的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三个层次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绩效·潜力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与能力</a:t>
            </a:r>
          </a:p>
        </p:txBody>
      </p:sp>
      <p:sp>
        <p:nvSpPr>
          <p:cNvPr id="12" name="Side 12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价值与激励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价值流</a:t>
            </a:r>
          </a:p>
        </p:txBody>
      </p:sp>
      <p:sp>
        <p:nvSpPr>
          <p:cNvPr id="13" name="H1 13"/>
          <p:cNvSpPr/>
          <p:nvPr/>
        </p:nvSpPr>
        <p:spPr>
          <a:xfrm>
            <a:off x="1929384" y="1161288"/>
            <a:ext cx="10213848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9144" rIns="73152" bIns="9144" rtlCol="0" anchor="ctr">
            <a:noAutofit/>
          </a:bodyPr>
          <a:lstStyle/>
          <a:p>
            <a:pPr algn="l">
              <a:buNone/>
            </a:pPr>
            <a:r>
              <a:rPr lang="zh-CN" altLang="en-US" sz="27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同一个营业部，四个岗位的价值构成完全不同</a:t>
            </a:r>
          </a:p>
        </p:txBody>
      </p:sp>
      <p:sp>
        <p:nvSpPr>
          <p:cNvPr id="14" name="H2 14"/>
          <p:cNvSpPr/>
          <p:nvPr/>
        </p:nvSpPr>
        <p:spPr>
          <a:xfrm>
            <a:off x="1929384" y="1636776"/>
            <a:ext cx="10213848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9144" rIns="73152" bIns="9144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用同一把尺子量所有人，就一定会冤枉其中三个</a:t>
            </a:r>
          </a:p>
        </p:txBody>
      </p:sp>
      <p:sp>
        <p:nvSpPr>
          <p:cNvPr id="15" name="Shape 15"/>
          <p:cNvSpPr/>
          <p:nvPr/>
        </p:nvSpPr>
        <p:spPr>
          <a:xfrm>
            <a:off x="1929384" y="1993392"/>
            <a:ext cx="10213848" cy="941283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6" name="CardHead 16"/>
          <p:cNvSpPr/>
          <p:nvPr/>
        </p:nvSpPr>
        <p:spPr>
          <a:xfrm>
            <a:off x="1929384" y="1993392"/>
            <a:ext cx="10213848" cy="347472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销售代表</a:t>
            </a:r>
          </a:p>
        </p:txBody>
      </p:sp>
      <p:sp>
        <p:nvSpPr>
          <p:cNvPr id="17" name="CardBody 17"/>
          <p:cNvSpPr/>
          <p:nvPr/>
        </p:nvSpPr>
        <p:spPr>
          <a:xfrm>
            <a:off x="2011680" y="2350008"/>
            <a:ext cx="10049256" cy="566379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86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核心价值：新增与守住。开新客户、扩钱包份额，把气缸单做成组合单。</a:t>
            </a:r>
            <a:b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误评：只看销售额，看不见他把三个客户从竞品手里换了过来。</a:t>
            </a:r>
          </a:p>
        </p:txBody>
      </p:sp>
      <p:sp>
        <p:nvSpPr>
          <p:cNvPr id="18" name="Shape 18"/>
          <p:cNvSpPr/>
          <p:nvPr/>
        </p:nvSpPr>
        <p:spPr>
          <a:xfrm>
            <a:off x="1929384" y="3003804"/>
            <a:ext cx="10213848" cy="941283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9" name="CardHead 19"/>
          <p:cNvSpPr/>
          <p:nvPr/>
        </p:nvSpPr>
        <p:spPr>
          <a:xfrm>
            <a:off x="1929384" y="3003804"/>
            <a:ext cx="10213848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营业部经理</a:t>
            </a:r>
          </a:p>
        </p:txBody>
      </p:sp>
      <p:sp>
        <p:nvSpPr>
          <p:cNvPr id="20" name="CardBody 20"/>
          <p:cNvSpPr/>
          <p:nvPr/>
        </p:nvSpPr>
        <p:spPr>
          <a:xfrm>
            <a:off x="2011680" y="3360420"/>
            <a:ext cx="10049256" cy="566379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86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核心价值：让别人出业绩。定方向、分资源、辅导人、守规矩（价格底线与账期）。</a:t>
            </a:r>
            <a:b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误评：自己冲在最前面拿了最大的单，团队其余五人原地踏步——这是负价值。</a:t>
            </a:r>
          </a:p>
        </p:txBody>
      </p:sp>
      <p:sp>
        <p:nvSpPr>
          <p:cNvPr id="21" name="Shape 21"/>
          <p:cNvSpPr/>
          <p:nvPr/>
        </p:nvSpPr>
        <p:spPr>
          <a:xfrm>
            <a:off x="1929384" y="4014216"/>
            <a:ext cx="10213848" cy="941283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2" name="CardHead 22"/>
          <p:cNvSpPr/>
          <p:nvPr/>
        </p:nvSpPr>
        <p:spPr>
          <a:xfrm>
            <a:off x="1929384" y="4014216"/>
            <a:ext cx="10213848" cy="347472"/>
          </a:xfrm>
          <a:prstGeom prst="rect">
            <a:avLst/>
          </a:prstGeom>
          <a:solidFill>
            <a:srgbClr val="E55E24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技术支持 / 选型</a:t>
            </a:r>
          </a:p>
        </p:txBody>
      </p:sp>
      <p:sp>
        <p:nvSpPr>
          <p:cNvPr id="23" name="CardBody 23"/>
          <p:cNvSpPr/>
          <p:nvPr/>
        </p:nvSpPr>
        <p:spPr>
          <a:xfrm>
            <a:off x="2011680" y="4370832"/>
            <a:ext cx="10049256" cy="566379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86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核心价值：把不确定变成确定。工况判断、选型建议、故障定位、替代可行性判断。</a:t>
            </a:r>
            <a:b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误评：没销售额就没存在感——其实每次准确选型都省掉一次退货和一次信任损失。</a:t>
            </a:r>
          </a:p>
        </p:txBody>
      </p:sp>
      <p:sp>
        <p:nvSpPr>
          <p:cNvPr id="24" name="Shape 24"/>
          <p:cNvSpPr/>
          <p:nvPr/>
        </p:nvSpPr>
        <p:spPr>
          <a:xfrm>
            <a:off x="1929384" y="5024628"/>
            <a:ext cx="10213848" cy="941283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6A4C9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5" name="CardHead 25"/>
          <p:cNvSpPr/>
          <p:nvPr/>
        </p:nvSpPr>
        <p:spPr>
          <a:xfrm>
            <a:off x="1929384" y="5024628"/>
            <a:ext cx="10213848" cy="347472"/>
          </a:xfrm>
          <a:prstGeom prst="rect">
            <a:avLst/>
          </a:prstGeom>
          <a:solidFill>
            <a:srgbClr val="6A4C93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内勤 / 客服</a:t>
            </a:r>
          </a:p>
        </p:txBody>
      </p:sp>
      <p:sp>
        <p:nvSpPr>
          <p:cNvPr id="26" name="CardBody 26"/>
          <p:cNvSpPr/>
          <p:nvPr/>
        </p:nvSpPr>
        <p:spPr>
          <a:xfrm>
            <a:off x="2011680" y="5381244"/>
            <a:ext cx="10049256" cy="566379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86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核心价值：不出错、不掉球。报价准、交期准、开票准、投诉响应快。</a:t>
            </a:r>
            <a:b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误评：做对了没人提，做错一次全知道——这类岗位最需要主动被看见。</a:t>
            </a:r>
          </a:p>
        </p:txBody>
      </p:sp>
      <p:sp>
        <p:nvSpPr>
          <p:cNvPr id="27" name="Shape 27"/>
          <p:cNvSpPr/>
          <p:nvPr/>
        </p:nvSpPr>
        <p:spPr>
          <a:xfrm>
            <a:off x="1929384" y="6089904"/>
            <a:ext cx="10213848" cy="566928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8" name="Banner 28"/>
          <p:cNvSpPr/>
          <p:nvPr/>
        </p:nvSpPr>
        <p:spPr>
          <a:xfrm>
            <a:off x="2075688" y="6089904"/>
            <a:ext cx="9921240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管理动作　</a:t>
            </a: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给每个岗位写一句「他做对了我们怎么知道」——写不出来的，年底一定有人不服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 &amp; 开发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2878828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第一讲 · 理解价值</a:t>
            </a:r>
          </a:p>
        </p:txBody>
      </p:sp>
      <p:sp>
        <p:nvSpPr>
          <p:cNvPr id="5" name="Nav 5"/>
          <p:cNvSpPr/>
          <p:nvPr/>
        </p:nvSpPr>
        <p:spPr>
          <a:xfrm>
            <a:off x="3153148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第二讲 · 评估价值</a:t>
            </a:r>
          </a:p>
        </p:txBody>
      </p:sp>
      <p:sp>
        <p:nvSpPr>
          <p:cNvPr id="6" name="Nav 6"/>
          <p:cNvSpPr/>
          <p:nvPr/>
        </p:nvSpPr>
        <p:spPr>
          <a:xfrm>
            <a:off x="6159993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第三讲 · 开发价值</a:t>
            </a:r>
          </a:p>
        </p:txBody>
      </p:sp>
      <p:sp>
        <p:nvSpPr>
          <p:cNvPr id="7" name="Nav 7"/>
          <p:cNvSpPr/>
          <p:nvPr/>
        </p:nvSpPr>
        <p:spPr>
          <a:xfrm>
            <a:off x="9166837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第四讲 · 落地价值</a:t>
            </a:r>
          </a:p>
        </p:txBody>
      </p:sp>
      <p:cxnSp>
        <p:nvCxnSpPr>
          <p:cNvPr id="8" name="Connector 8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9" name="Connector 9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10" name="Side 10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价值的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三个层次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绩效·潜力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与能力</a:t>
            </a:r>
          </a:p>
        </p:txBody>
      </p:sp>
      <p:sp>
        <p:nvSpPr>
          <p:cNvPr id="12" name="Side 12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价值与激励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价值流</a:t>
            </a:r>
          </a:p>
        </p:txBody>
      </p:sp>
      <p:sp>
        <p:nvSpPr>
          <p:cNvPr id="13" name="Chip 13"/>
          <p:cNvSpPr/>
          <p:nvPr/>
        </p:nvSpPr>
        <p:spPr>
          <a:xfrm>
            <a:off x="1929384" y="1243584"/>
            <a:ext cx="1517904" cy="512064"/>
          </a:xfrm>
          <a:prstGeom prst="roundRect">
            <a:avLst>
              <a:gd name="adj" fmla="val 22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情境 1</a:t>
            </a:r>
          </a:p>
        </p:txBody>
      </p:sp>
      <p:sp>
        <p:nvSpPr>
          <p:cNvPr id="14" name="ScTitle 14"/>
          <p:cNvSpPr/>
          <p:nvPr/>
        </p:nvSpPr>
        <p:spPr>
          <a:xfrm>
            <a:off x="3584448" y="1225296"/>
            <a:ext cx="8558784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buNone/>
            </a:pPr>
            <a:r>
              <a:rPr lang="zh-CN" altLang="en-US" sz="2300" b="1" dirty="0">
                <a:solidFill>
                  <a:srgbClr val="F5C8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「你们比 SMC 低 18%，还能再低多少？」——一场只剩价格的谈判</a:t>
            </a:r>
          </a:p>
        </p:txBody>
      </p:sp>
      <p:sp>
        <p:nvSpPr>
          <p:cNvPr id="15" name="Shape 15"/>
          <p:cNvSpPr/>
          <p:nvPr/>
        </p:nvSpPr>
        <p:spPr>
          <a:xfrm>
            <a:off x="1929384" y="1847088"/>
            <a:ext cx="10213848" cy="3127248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2E7D3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6" name="ScHead 16"/>
          <p:cNvSpPr/>
          <p:nvPr/>
        </p:nvSpPr>
        <p:spPr>
          <a:xfrm>
            <a:off x="1929384" y="1847088"/>
            <a:ext cx="10213848" cy="42062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wrap="square" lIns="109728" tIns="18288" rIns="109728" bIns="18288" rtlCol="0" anchor="ctr">
            <a:noAutofit/>
          </a:bodyPr>
          <a:lstStyle/>
          <a:p>
            <a:pPr algn="ctr">
              <a:buNone/>
            </a:pPr>
            <a:r>
              <a:rPr lang="zh-CN" altLang="en-US" sz="2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  场  情  境</a:t>
            </a:r>
          </a:p>
        </p:txBody>
      </p:sp>
      <p:sp>
        <p:nvSpPr>
          <p:cNvPr id="17" name="ScBody 17"/>
          <p:cNvSpPr/>
          <p:nvPr/>
        </p:nvSpPr>
        <p:spPr>
          <a:xfrm>
            <a:off x="2075688" y="2304288"/>
            <a:ext cx="9921240" cy="2615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84000"/>
              </a:lnSpc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华东某营业部业务员小李跟了一家锂电设备厂四个月。对方新线要上 120 个夹紧工位，原来清一色用 SMC 的 MXQ 滑台缸。</a:t>
            </a:r>
          </a:p>
          <a:p>
            <a:pPr algn="l">
              <a:lnSpc>
                <a:spcPct val="84000"/>
              </a:lnSpc>
              <a:spcBef>
                <a:spcPts val="400"/>
              </a:spcBef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技术那边试过亚德客 HLQ，回复是「能用」。采购把三家报价摊在桌上，只说了一句：「你们比 SMC 低 18%，还能再低多少？」</a:t>
            </a:r>
          </a:p>
          <a:p>
            <a:pPr algn="l">
              <a:lnSpc>
                <a:spcPct val="84000"/>
              </a:lnSpc>
              <a:spcBef>
                <a:spcPts val="400"/>
              </a:spcBef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小李回公司申请把折扣拉到 24%，第二天采购说另一家又低了 3 个点；第三轮申请 27%，营业部经理没批——再批毛利已经低于底线。</a:t>
            </a:r>
          </a:p>
          <a:p>
            <a:pPr algn="l">
              <a:lnSpc>
                <a:spcPct val="84000"/>
              </a:lnSpc>
              <a:spcBef>
                <a:spcPts val="400"/>
              </a:spcBef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单子丢了。复盘会上小李说：「客户就是只看价格，没办法。」</a:t>
            </a:r>
          </a:p>
          <a:p>
            <a:pPr algn="l">
              <a:lnSpc>
                <a:spcPct val="84000"/>
              </a:lnSpc>
              <a:spcBef>
                <a:spcPts val="400"/>
              </a:spcBef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整整四个月里，没有人问过这条线一小时的产值是多少，也没人问过他们去年因为气动件停过几次。</a:t>
            </a:r>
          </a:p>
        </p:txBody>
      </p:sp>
      <p:sp>
        <p:nvSpPr>
          <p:cNvPr id="18" name="ScAsk 18"/>
          <p:cNvSpPr/>
          <p:nvPr/>
        </p:nvSpPr>
        <p:spPr>
          <a:xfrm>
            <a:off x="1929384" y="5065776"/>
            <a:ext cx="10213848" cy="640080"/>
          </a:xfrm>
          <a:prstGeom prst="roundRect">
            <a:avLst>
              <a:gd name="adj" fmla="val 20000"/>
            </a:avLst>
          </a:prstGeom>
          <a:solidFill>
            <a:srgbClr val="2C6B53"/>
          </a:solidFill>
          <a:ln w="15875" cap="flat" cmpd="sng" algn="ctr">
            <a:solidFill>
              <a:srgbClr val="F5C842"/>
            </a:solidFill>
          </a:ln>
        </p:spPr>
        <p:txBody>
          <a:bodyPr wrap="square" lIns="164592" tIns="36576" rIns="146304" bIns="36576" rtlCol="0" anchor="ctr">
            <a:noAutofit/>
          </a:bodyPr>
          <a:lstStyle/>
          <a:p>
            <a:pPr algn="l">
              <a:buNone/>
            </a:pPr>
            <a:r>
              <a:rPr lang="zh-CN" altLang="en-US" sz="1950" b="1" dirty="0">
                <a:solidFill>
                  <a:srgbClr val="F5C8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讨 论　</a:t>
            </a:r>
            <a:r>
              <a:rPr lang="zh-CN" altLang="en-US" sz="19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这场谈判是从第几轮开始输的？如果重来一次，第一次见技术的时候该先做什么？</a:t>
            </a:r>
          </a:p>
        </p:txBody>
      </p:sp>
      <p:sp>
        <p:nvSpPr>
          <p:cNvPr id="19" name="ScCommon 19"/>
          <p:cNvSpPr/>
          <p:nvPr/>
        </p:nvSpPr>
        <p:spPr>
          <a:xfrm>
            <a:off x="1929384" y="5779008"/>
            <a:ext cx="10213848" cy="749808"/>
          </a:xfrm>
          <a:prstGeom prst="roundRect">
            <a:avLst>
              <a:gd name="adj" fmla="val 16000"/>
            </a:avLst>
          </a:prstGeom>
          <a:solidFill>
            <a:srgbClr val="3A3A3A"/>
          </a:solidFill>
          <a:ln w="15875" cap="flat" cmpd="sng" algn="ctr">
            <a:solidFill>
              <a:srgbClr val="9A9A9A"/>
            </a:solidFill>
          </a:ln>
        </p:spPr>
        <p:txBody>
          <a:bodyPr wrap="square" lIns="164592" tIns="36576" rIns="146304" bIns="36576" rtlCol="0" anchor="ctr">
            <a:noAutofit/>
          </a:bodyPr>
          <a:lstStyle/>
          <a:p>
            <a:pPr algn="l">
              <a:buNone/>
            </a:pPr>
            <a:r>
              <a:rPr lang="zh-CN" altLang="en-US" sz="1950" b="1" dirty="0">
                <a:solidFill>
                  <a:srgbClr val="FFC9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普遍做法　</a:t>
            </a:r>
            <a:r>
              <a:rPr lang="zh-CN" altLang="en-US" sz="19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继续申请特价、找经理签字、拿年度框架换现价；实在不行就归结为「客户只看价格」。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 &amp; 开发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2878828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第一讲 · 理解价值</a:t>
            </a:r>
          </a:p>
        </p:txBody>
      </p:sp>
      <p:sp>
        <p:nvSpPr>
          <p:cNvPr id="5" name="Nav 5"/>
          <p:cNvSpPr/>
          <p:nvPr/>
        </p:nvSpPr>
        <p:spPr>
          <a:xfrm>
            <a:off x="3153148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第二讲 · 评估价值</a:t>
            </a:r>
          </a:p>
        </p:txBody>
      </p:sp>
      <p:sp>
        <p:nvSpPr>
          <p:cNvPr id="6" name="Nav 6"/>
          <p:cNvSpPr/>
          <p:nvPr/>
        </p:nvSpPr>
        <p:spPr>
          <a:xfrm>
            <a:off x="6159993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第三讲 · 开发价值</a:t>
            </a:r>
          </a:p>
        </p:txBody>
      </p:sp>
      <p:sp>
        <p:nvSpPr>
          <p:cNvPr id="7" name="Nav 7"/>
          <p:cNvSpPr/>
          <p:nvPr/>
        </p:nvSpPr>
        <p:spPr>
          <a:xfrm>
            <a:off x="9166837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第四讲 · 落地价值</a:t>
            </a:r>
          </a:p>
        </p:txBody>
      </p:sp>
      <p:cxnSp>
        <p:nvCxnSpPr>
          <p:cNvPr id="8" name="Connector 8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9" name="Connector 9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10" name="Side 10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价值的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三个层次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绩效·潜力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与能力</a:t>
            </a:r>
          </a:p>
        </p:txBody>
      </p:sp>
      <p:sp>
        <p:nvSpPr>
          <p:cNvPr id="12" name="Side 12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价值与激励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价值流</a:t>
            </a:r>
          </a:p>
        </p:txBody>
      </p:sp>
      <p:sp>
        <p:nvSpPr>
          <p:cNvPr id="13" name="H1 13"/>
          <p:cNvSpPr/>
          <p:nvPr/>
        </p:nvSpPr>
        <p:spPr>
          <a:xfrm>
            <a:off x="1929384" y="1161288"/>
            <a:ext cx="10213848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9144" rIns="73152" bIns="9144" rtlCol="0" anchor="ctr">
            <a:noAutofit/>
          </a:bodyPr>
          <a:lstStyle/>
          <a:p>
            <a:pPr algn="l">
              <a:buNone/>
            </a:pPr>
            <a:r>
              <a:rPr lang="zh-CN" altLang="en-US" sz="27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价值与激励：你考核什么，就会得到什么</a:t>
            </a:r>
          </a:p>
        </p:txBody>
      </p:sp>
      <p:sp>
        <p:nvSpPr>
          <p:cNvPr id="14" name="H2 14"/>
          <p:cNvSpPr/>
          <p:nvPr/>
        </p:nvSpPr>
        <p:spPr>
          <a:xfrm>
            <a:off x="1929384" y="1636776"/>
            <a:ext cx="10213848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9144" rIns="73152" bIns="9144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短期激励设计的四个开关——每一个都会改变销售第二天的动作</a:t>
            </a:r>
          </a:p>
        </p:txBody>
      </p:sp>
      <p:sp>
        <p:nvSpPr>
          <p:cNvPr id="15" name="Shape 15"/>
          <p:cNvSpPr/>
          <p:nvPr/>
        </p:nvSpPr>
        <p:spPr>
          <a:xfrm>
            <a:off x="1929384" y="1993392"/>
            <a:ext cx="4988052" cy="169164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6" name="CardHead 16"/>
          <p:cNvSpPr/>
          <p:nvPr/>
        </p:nvSpPr>
        <p:spPr>
          <a:xfrm>
            <a:off x="1929384" y="1993392"/>
            <a:ext cx="4988052" cy="347472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开关一：算销售额还是算回款</a:t>
            </a:r>
          </a:p>
        </p:txBody>
      </p:sp>
      <p:sp>
        <p:nvSpPr>
          <p:cNvPr id="17" name="CardBody 17"/>
          <p:cNvSpPr/>
          <p:nvPr/>
        </p:nvSpPr>
        <p:spPr>
          <a:xfrm>
            <a:off x="2011680" y="2350008"/>
            <a:ext cx="4823460" cy="1316736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按开票额算提成，销售会把货推出去；按回款额算提成，销售会跟着钱走。</a:t>
            </a:r>
            <a:b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工业品账期普遍 60~90 天，这个开关直接决定你的应收账款曲线长什么样。</a:t>
            </a:r>
          </a:p>
        </p:txBody>
      </p:sp>
      <p:sp>
        <p:nvSpPr>
          <p:cNvPr id="18" name="Shape 18"/>
          <p:cNvSpPr/>
          <p:nvPr/>
        </p:nvSpPr>
        <p:spPr>
          <a:xfrm>
            <a:off x="7155180" y="1993392"/>
            <a:ext cx="4988052" cy="169164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9" name="CardHead 19"/>
          <p:cNvSpPr/>
          <p:nvPr/>
        </p:nvSpPr>
        <p:spPr>
          <a:xfrm>
            <a:off x="7155180" y="1993392"/>
            <a:ext cx="4988052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开关二：算金额还是算毛利</a:t>
            </a:r>
          </a:p>
        </p:txBody>
      </p:sp>
      <p:sp>
        <p:nvSpPr>
          <p:cNvPr id="20" name="CardBody 20"/>
          <p:cNvSpPr/>
          <p:nvPr/>
        </p:nvSpPr>
        <p:spPr>
          <a:xfrm>
            <a:off x="7237476" y="2350008"/>
            <a:ext cx="4823460" cy="1316736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只算金额，最快的成交方式永远是降价。</a:t>
            </a:r>
            <a:b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把提成基数换成毛利额，或者给不同毛利段不同系数，销售才有动力守价、也才有动力去推毛利更高的品类。</a:t>
            </a:r>
          </a:p>
        </p:txBody>
      </p:sp>
      <p:sp>
        <p:nvSpPr>
          <p:cNvPr id="21" name="Shape 21"/>
          <p:cNvSpPr/>
          <p:nvPr/>
        </p:nvSpPr>
        <p:spPr>
          <a:xfrm>
            <a:off x="1929384" y="3849624"/>
            <a:ext cx="4988052" cy="169164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2" name="CardHead 22"/>
          <p:cNvSpPr/>
          <p:nvPr/>
        </p:nvSpPr>
        <p:spPr>
          <a:xfrm>
            <a:off x="1929384" y="3849624"/>
            <a:ext cx="4988052" cy="347472"/>
          </a:xfrm>
          <a:prstGeom prst="rect">
            <a:avLst/>
          </a:prstGeom>
          <a:solidFill>
            <a:srgbClr val="E55E24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开关三：老客户和新客户同价吗</a:t>
            </a:r>
          </a:p>
        </p:txBody>
      </p:sp>
      <p:sp>
        <p:nvSpPr>
          <p:cNvPr id="23" name="CardBody 23"/>
          <p:cNvSpPr/>
          <p:nvPr/>
        </p:nvSpPr>
        <p:spPr>
          <a:xfrm>
            <a:off x="2011680" y="4206240"/>
            <a:ext cx="4823460" cy="1316736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同价 = 老客户躺着收；给新客户开发加成（比如首年 1.3 倍系数），开发才会真的发生。</a:t>
            </a:r>
            <a:b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配套要有保护期，否则谁开的客户第二年被谁接走会变成内耗。</a:t>
            </a:r>
          </a:p>
        </p:txBody>
      </p:sp>
      <p:sp>
        <p:nvSpPr>
          <p:cNvPr id="24" name="Shape 24"/>
          <p:cNvSpPr/>
          <p:nvPr/>
        </p:nvSpPr>
        <p:spPr>
          <a:xfrm>
            <a:off x="7155180" y="3849624"/>
            <a:ext cx="4988052" cy="169164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6A4C9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5" name="CardHead 25"/>
          <p:cNvSpPr/>
          <p:nvPr/>
        </p:nvSpPr>
        <p:spPr>
          <a:xfrm>
            <a:off x="7155180" y="3849624"/>
            <a:ext cx="4988052" cy="347472"/>
          </a:xfrm>
          <a:prstGeom prst="rect">
            <a:avLst/>
          </a:prstGeom>
          <a:solidFill>
            <a:srgbClr val="6A4C93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开关四：单品还是产品结构</a:t>
            </a:r>
          </a:p>
        </p:txBody>
      </p:sp>
      <p:sp>
        <p:nvSpPr>
          <p:cNvPr id="26" name="CardBody 26"/>
          <p:cNvSpPr/>
          <p:nvPr/>
        </p:nvSpPr>
        <p:spPr>
          <a:xfrm>
            <a:off x="7237476" y="4206240"/>
            <a:ext cx="4823460" cy="1316736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132000"/>
              </a:lnSpc>
              <a:buNone/>
            </a:pPr>
            <a:r>
              <a:rPr lang="zh-CN" altLang="en-US" sz="18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只按总额算，销售永远卖最好卖的标准气缸。</a:t>
            </a:r>
            <a:br>
              <a:rPr lang="zh-CN" altLang="en-US" sz="18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8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给阀、气源处理、真空、线性滑轨这些品类设结构系数，一站式配齐才会从口号变成动作。</a:t>
            </a:r>
          </a:p>
        </p:txBody>
      </p:sp>
      <p:sp>
        <p:nvSpPr>
          <p:cNvPr id="27" name="Shape 27"/>
          <p:cNvSpPr/>
          <p:nvPr/>
        </p:nvSpPr>
        <p:spPr>
          <a:xfrm>
            <a:off x="1929384" y="5687568"/>
            <a:ext cx="10213848" cy="566928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8" name="Banner 28"/>
          <p:cNvSpPr/>
          <p:nvPr/>
        </p:nvSpPr>
        <p:spPr>
          <a:xfrm>
            <a:off x="2075688" y="5687568"/>
            <a:ext cx="9921240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buNone/>
            </a:pPr>
            <a:r>
              <a:rPr lang="zh-CN" altLang="en-US" sz="18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一句话　</a:t>
            </a: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提成方案不是发钱的规则，是行为的说明书——员工不读制度，但他们会读自己的工资条</a:t>
            </a:r>
          </a:p>
        </p:txBody>
      </p:sp>
      <p:sp>
        <p:nvSpPr>
          <p:cNvPr id="29" name="Note 29"/>
          <p:cNvSpPr/>
          <p:nvPr/>
        </p:nvSpPr>
        <p:spPr>
          <a:xfrm>
            <a:off x="1929384" y="6309360"/>
            <a:ext cx="10213848" cy="384048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ctr">
            <a:noAutofit/>
          </a:bodyPr>
          <a:lstStyle/>
          <a:p>
            <a:pPr algn="ctr">
              <a:buNone/>
            </a:pPr>
            <a:r>
              <a:rPr lang="zh-CN" altLang="en-US" sz="205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现场动作：拿出现在的方案对照这四个开关，指出哪一个正在制造你今年最头疼的问题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 &amp; 开发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2878828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第一讲 · 理解价值</a:t>
            </a:r>
          </a:p>
        </p:txBody>
      </p:sp>
      <p:sp>
        <p:nvSpPr>
          <p:cNvPr id="5" name="Nav 5"/>
          <p:cNvSpPr/>
          <p:nvPr/>
        </p:nvSpPr>
        <p:spPr>
          <a:xfrm>
            <a:off x="3153148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第二讲 · 评估价值</a:t>
            </a:r>
          </a:p>
        </p:txBody>
      </p:sp>
      <p:sp>
        <p:nvSpPr>
          <p:cNvPr id="6" name="Nav 6"/>
          <p:cNvSpPr/>
          <p:nvPr/>
        </p:nvSpPr>
        <p:spPr>
          <a:xfrm>
            <a:off x="6159993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第三讲 · 开发价值</a:t>
            </a:r>
          </a:p>
        </p:txBody>
      </p:sp>
      <p:sp>
        <p:nvSpPr>
          <p:cNvPr id="7" name="Nav 7"/>
          <p:cNvSpPr/>
          <p:nvPr/>
        </p:nvSpPr>
        <p:spPr>
          <a:xfrm>
            <a:off x="9166837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第四讲 · 落地价值</a:t>
            </a:r>
          </a:p>
        </p:txBody>
      </p:sp>
      <p:cxnSp>
        <p:nvCxnSpPr>
          <p:cNvPr id="8" name="Connector 8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9" name="Connector 9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10" name="Side 10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价值的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三个层次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绩效·潜力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与能力</a:t>
            </a:r>
          </a:p>
        </p:txBody>
      </p:sp>
      <p:sp>
        <p:nvSpPr>
          <p:cNvPr id="12" name="Side 12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价值与激励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价值流</a:t>
            </a:r>
          </a:p>
        </p:txBody>
      </p:sp>
      <p:sp>
        <p:nvSpPr>
          <p:cNvPr id="13" name="H1 13"/>
          <p:cNvSpPr/>
          <p:nvPr/>
        </p:nvSpPr>
        <p:spPr>
          <a:xfrm>
            <a:off x="1929384" y="1161288"/>
            <a:ext cx="10213848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9144" rIns="73152" bIns="9144" rtlCol="0" anchor="ctr">
            <a:noAutofit/>
          </a:bodyPr>
          <a:lstStyle/>
          <a:p>
            <a:pPr algn="l">
              <a:buNone/>
            </a:pPr>
            <a:r>
              <a:rPr lang="zh-CN" altLang="en-US" sz="27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提成制的四个副作用：不是员工坏，是规则在诱导</a:t>
            </a:r>
          </a:p>
        </p:txBody>
      </p:sp>
      <p:sp>
        <p:nvSpPr>
          <p:cNvPr id="14" name="H2 14"/>
          <p:cNvSpPr/>
          <p:nvPr/>
        </p:nvSpPr>
        <p:spPr>
          <a:xfrm>
            <a:off x="1929384" y="1636776"/>
            <a:ext cx="10213848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9144" rIns="73152" bIns="9144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每一条都能在真实的营业部里找到对应的人和事</a:t>
            </a:r>
          </a:p>
        </p:txBody>
      </p:sp>
      <p:sp>
        <p:nvSpPr>
          <p:cNvPr id="15" name="Shape 15"/>
          <p:cNvSpPr/>
          <p:nvPr/>
        </p:nvSpPr>
        <p:spPr>
          <a:xfrm>
            <a:off x="1929384" y="1993392"/>
            <a:ext cx="10213848" cy="91440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6" name="CardHead 16"/>
          <p:cNvSpPr/>
          <p:nvPr/>
        </p:nvSpPr>
        <p:spPr>
          <a:xfrm>
            <a:off x="1929384" y="1993392"/>
            <a:ext cx="10213848" cy="347472"/>
          </a:xfrm>
          <a:prstGeom prst="rect">
            <a:avLst/>
          </a:prstGeom>
          <a:solidFill>
            <a:srgbClr val="C02F2B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副作用一：季末压货</a:t>
            </a:r>
          </a:p>
        </p:txBody>
      </p:sp>
      <p:sp>
        <p:nvSpPr>
          <p:cNvPr id="17" name="CardBody 17"/>
          <p:cNvSpPr/>
          <p:nvPr/>
        </p:nvSpPr>
        <p:spPr>
          <a:xfrm>
            <a:off x="2011680" y="2350008"/>
            <a:ext cx="10049256" cy="539496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82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为凑当月把货压给经销商，下月开头更难。信号：每季末周出货占全季 30% 以上，经销商周转变慢。解法：提成挂钩动销率——压进去不算，卖出去才算。</a:t>
            </a:r>
          </a:p>
        </p:txBody>
      </p:sp>
      <p:sp>
        <p:nvSpPr>
          <p:cNvPr id="18" name="Shape 18"/>
          <p:cNvSpPr/>
          <p:nvPr/>
        </p:nvSpPr>
        <p:spPr>
          <a:xfrm>
            <a:off x="1929384" y="2962656"/>
            <a:ext cx="10213848" cy="91440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9" name="CardHead 19"/>
          <p:cNvSpPr/>
          <p:nvPr/>
        </p:nvSpPr>
        <p:spPr>
          <a:xfrm>
            <a:off x="1929384" y="2962656"/>
            <a:ext cx="10213848" cy="347472"/>
          </a:xfrm>
          <a:prstGeom prst="rect">
            <a:avLst/>
          </a:prstGeom>
          <a:solidFill>
            <a:srgbClr val="E55E24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副作用二：放宽账期</a:t>
            </a:r>
          </a:p>
        </p:txBody>
      </p:sp>
      <p:sp>
        <p:nvSpPr>
          <p:cNvPr id="20" name="CardBody 20"/>
          <p:cNvSpPr/>
          <p:nvPr/>
        </p:nvSpPr>
        <p:spPr>
          <a:xfrm>
            <a:off x="2011680" y="3319272"/>
            <a:ext cx="10049256" cy="539496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82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为拿单私下答应更长账期，风险转给公司。信号：超期应收集中在少数几个人身上。解法：提成按回款分段释放，超期扣回，账期审批上收。</a:t>
            </a:r>
          </a:p>
        </p:txBody>
      </p:sp>
      <p:sp>
        <p:nvSpPr>
          <p:cNvPr id="21" name="Shape 21"/>
          <p:cNvSpPr/>
          <p:nvPr/>
        </p:nvSpPr>
        <p:spPr>
          <a:xfrm>
            <a:off x="1929384" y="3931920"/>
            <a:ext cx="10213848" cy="91440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6A4C9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2" name="CardHead 22"/>
          <p:cNvSpPr/>
          <p:nvPr/>
        </p:nvSpPr>
        <p:spPr>
          <a:xfrm>
            <a:off x="1929384" y="3931920"/>
            <a:ext cx="10213848" cy="347472"/>
          </a:xfrm>
          <a:prstGeom prst="rect">
            <a:avLst/>
          </a:prstGeom>
          <a:solidFill>
            <a:srgbClr val="6A4C93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副作用三：乱承诺交期与规格</a:t>
            </a:r>
          </a:p>
        </p:txBody>
      </p:sp>
      <p:sp>
        <p:nvSpPr>
          <p:cNvPr id="23" name="CardBody 23"/>
          <p:cNvSpPr/>
          <p:nvPr/>
        </p:nvSpPr>
        <p:spPr>
          <a:xfrm>
            <a:off x="2011680" y="4288536"/>
            <a:ext cx="10049256" cy="539496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82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先答应再回来想办法，砸的是公司信誉。信号：客诉里「交期」「货不对板」占比高。解法：报价单强制填交期确认人，承诺前先查库存。</a:t>
            </a:r>
          </a:p>
        </p:txBody>
      </p:sp>
      <p:sp>
        <p:nvSpPr>
          <p:cNvPr id="24" name="Shape 24"/>
          <p:cNvSpPr/>
          <p:nvPr/>
        </p:nvSpPr>
        <p:spPr>
          <a:xfrm>
            <a:off x="1929384" y="4901184"/>
            <a:ext cx="10213848" cy="941283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5" name="CardHead 25"/>
          <p:cNvSpPr/>
          <p:nvPr/>
        </p:nvSpPr>
        <p:spPr>
          <a:xfrm>
            <a:off x="1929384" y="4901184"/>
            <a:ext cx="10213848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副作用四：只守熟客、不开新客</a:t>
            </a:r>
          </a:p>
        </p:txBody>
      </p:sp>
      <p:sp>
        <p:nvSpPr>
          <p:cNvPr id="26" name="CardBody 26"/>
          <p:cNvSpPr/>
          <p:nvPr/>
        </p:nvSpPr>
        <p:spPr>
          <a:xfrm>
            <a:off x="2011680" y="5257800"/>
            <a:ext cx="10049256" cy="566379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86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老客户提成同样好拿，没人愿做三到六个月才见效的开发。信号：新客户数逐年下降，业绩靠涨价和老客扩量撑着。解法：新客户系数加成＋开发期过程指标单独考核。</a:t>
            </a:r>
          </a:p>
        </p:txBody>
      </p:sp>
      <p:sp>
        <p:nvSpPr>
          <p:cNvPr id="27" name="Shape 27"/>
          <p:cNvSpPr/>
          <p:nvPr/>
        </p:nvSpPr>
        <p:spPr>
          <a:xfrm>
            <a:off x="1929384" y="5998464"/>
            <a:ext cx="10213848" cy="621792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8" name="Banner 28"/>
          <p:cNvSpPr/>
          <p:nvPr/>
        </p:nvSpPr>
        <p:spPr>
          <a:xfrm>
            <a:off x="2075688" y="5998464"/>
            <a:ext cx="9921240" cy="621792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lnSpc>
                <a:spcPct val="92000"/>
              </a:lnSpc>
              <a:buNone/>
            </a:pPr>
            <a:r>
              <a:rPr lang="zh-CN" altLang="en-US" sz="18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管理者的判断题　</a:t>
            </a: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看到不良行为，先别追人——先问「我们的规则是不是在奖励它」，八成时候答案是「是」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 &amp; 开发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2878828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第一讲 · 理解价值</a:t>
            </a:r>
          </a:p>
        </p:txBody>
      </p:sp>
      <p:sp>
        <p:nvSpPr>
          <p:cNvPr id="5" name="Nav 5"/>
          <p:cNvSpPr/>
          <p:nvPr/>
        </p:nvSpPr>
        <p:spPr>
          <a:xfrm>
            <a:off x="3153148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第二讲 · 评估价值</a:t>
            </a:r>
          </a:p>
        </p:txBody>
      </p:sp>
      <p:sp>
        <p:nvSpPr>
          <p:cNvPr id="6" name="Nav 6"/>
          <p:cNvSpPr/>
          <p:nvPr/>
        </p:nvSpPr>
        <p:spPr>
          <a:xfrm>
            <a:off x="6159993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第三讲 · 开发价值</a:t>
            </a:r>
          </a:p>
        </p:txBody>
      </p:sp>
      <p:sp>
        <p:nvSpPr>
          <p:cNvPr id="7" name="Nav 7"/>
          <p:cNvSpPr/>
          <p:nvPr/>
        </p:nvSpPr>
        <p:spPr>
          <a:xfrm>
            <a:off x="9166837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第四讲 · 落地价值</a:t>
            </a:r>
          </a:p>
        </p:txBody>
      </p:sp>
      <p:cxnSp>
        <p:nvCxnSpPr>
          <p:cNvPr id="8" name="Connector 8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9" name="Connector 9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10" name="Side 10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价值的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三个层次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绩效·潜力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与能力</a:t>
            </a:r>
          </a:p>
        </p:txBody>
      </p:sp>
      <p:sp>
        <p:nvSpPr>
          <p:cNvPr id="12" name="Side 12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价值与激励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价值流</a:t>
            </a:r>
          </a:p>
        </p:txBody>
      </p:sp>
      <p:sp>
        <p:nvSpPr>
          <p:cNvPr id="13" name="H1 13"/>
          <p:cNvSpPr/>
          <p:nvPr/>
        </p:nvSpPr>
        <p:spPr>
          <a:xfrm>
            <a:off x="1929384" y="1161288"/>
            <a:ext cx="10213848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9144" rIns="73152" bIns="9144" rtlCol="0" anchor="ctr">
            <a:noAutofit/>
          </a:bodyPr>
          <a:lstStyle/>
          <a:p>
            <a:pPr algn="l">
              <a:buNone/>
            </a:pPr>
            <a:r>
              <a:rPr lang="zh-CN" altLang="en-US" sz="27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中长期激励：留人靠的不是发钱，是「走了会亏」</a:t>
            </a:r>
          </a:p>
        </p:txBody>
      </p:sp>
      <p:sp>
        <p:nvSpPr>
          <p:cNvPr id="14" name="H2 14"/>
          <p:cNvSpPr/>
          <p:nvPr/>
        </p:nvSpPr>
        <p:spPr>
          <a:xfrm>
            <a:off x="1929384" y="1636776"/>
            <a:ext cx="10213848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9144" rIns="73152" bIns="9144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什么时候该用、什么时候千万别用</a:t>
            </a:r>
          </a:p>
        </p:txBody>
      </p:sp>
      <p:sp>
        <p:nvSpPr>
          <p:cNvPr id="15" name="Shape 15"/>
          <p:cNvSpPr/>
          <p:nvPr/>
        </p:nvSpPr>
        <p:spPr>
          <a:xfrm>
            <a:off x="1929384" y="1993392"/>
            <a:ext cx="4988052" cy="2448397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6" name="CardHead 16"/>
          <p:cNvSpPr/>
          <p:nvPr/>
        </p:nvSpPr>
        <p:spPr>
          <a:xfrm>
            <a:off x="1929384" y="1993392"/>
            <a:ext cx="4988052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常见的四种形式</a:t>
            </a:r>
          </a:p>
        </p:txBody>
      </p:sp>
      <p:sp>
        <p:nvSpPr>
          <p:cNvPr id="17" name="CardBody 17"/>
          <p:cNvSpPr/>
          <p:nvPr/>
        </p:nvSpPr>
        <p:spPr>
          <a:xfrm>
            <a:off x="2011680" y="2350008"/>
            <a:ext cx="4823460" cy="2073493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82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超额利润分享：超出目标的部分按比例分给团队，当年兑现。最容易落地，也最好讲清楚。</a:t>
            </a:r>
          </a:p>
          <a:p>
            <a:pPr algn="l">
              <a:lnSpc>
                <a:spcPct val="82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递延奖金：当年奖金的一部分延后 1~3 年发，中途离职不发。留人成本最低。</a:t>
            </a:r>
          </a:p>
          <a:p>
            <a:pPr algn="l">
              <a:lnSpc>
                <a:spcPct val="82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虚拟股 / 分红权：不给股权只给分红，随岗位调整。适合骨干层。</a:t>
            </a:r>
          </a:p>
          <a:p>
            <a:pPr algn="l">
              <a:lnSpc>
                <a:spcPct val="82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期权 / 限制性股票：周期长、想象空间大，但与一线的感知距离最远。</a:t>
            </a:r>
          </a:p>
        </p:txBody>
      </p:sp>
      <p:sp>
        <p:nvSpPr>
          <p:cNvPr id="18" name="Shape 18"/>
          <p:cNvSpPr/>
          <p:nvPr/>
        </p:nvSpPr>
        <p:spPr>
          <a:xfrm>
            <a:off x="7155180" y="1993392"/>
            <a:ext cx="4988052" cy="2448397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9" name="CardHead 19"/>
          <p:cNvSpPr/>
          <p:nvPr/>
        </p:nvSpPr>
        <p:spPr>
          <a:xfrm>
            <a:off x="7155180" y="1993392"/>
            <a:ext cx="4988052" cy="347472"/>
          </a:xfrm>
          <a:prstGeom prst="rect">
            <a:avLst/>
          </a:prstGeom>
          <a:solidFill>
            <a:srgbClr val="C02F2B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三个失效条件（先自查再设计）</a:t>
            </a:r>
          </a:p>
        </p:txBody>
      </p:sp>
      <p:sp>
        <p:nvSpPr>
          <p:cNvPr id="20" name="CardBody 20"/>
          <p:cNvSpPr/>
          <p:nvPr/>
        </p:nvSpPr>
        <p:spPr>
          <a:xfrm>
            <a:off x="7237476" y="2350008"/>
            <a:ext cx="4823460" cy="2073493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82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算不清：说不出「我今年能拿多少、凭什么」，就退化成年底的惊喜或惊吓。</a:t>
            </a:r>
          </a:p>
          <a:p>
            <a:pPr algn="l">
              <a:lnSpc>
                <a:spcPct val="82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等太久：一线销售的时间感是月度的。周期超过三年而中途没有可见节点的方案，感知约等于零。</a:t>
            </a:r>
          </a:p>
          <a:p>
            <a:pPr algn="l">
              <a:lnSpc>
                <a:spcPct val="82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不敢摘：口头承诺、没有书面规则、可以被随时解释的方案，第一次兑现打折就永久失效。</a:t>
            </a:r>
          </a:p>
          <a:p>
            <a:pPr algn="l">
              <a:lnSpc>
                <a:spcPct val="82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底线：宁可给得少，也要给得准、给得敢兑。</a:t>
            </a:r>
          </a:p>
        </p:txBody>
      </p:sp>
      <p:sp>
        <p:nvSpPr>
          <p:cNvPr id="21" name="Shape 21"/>
          <p:cNvSpPr/>
          <p:nvPr/>
        </p:nvSpPr>
        <p:spPr>
          <a:xfrm>
            <a:off x="1929384" y="4608576"/>
            <a:ext cx="10213848" cy="1316736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67E2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2" name="CardHead 22"/>
          <p:cNvSpPr/>
          <p:nvPr/>
        </p:nvSpPr>
        <p:spPr>
          <a:xfrm>
            <a:off x="1929384" y="4608576"/>
            <a:ext cx="10213848" cy="3474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给营业部经理的现实建议</a:t>
            </a:r>
          </a:p>
        </p:txBody>
      </p:sp>
      <p:sp>
        <p:nvSpPr>
          <p:cNvPr id="23" name="CardBody 23"/>
          <p:cNvSpPr/>
          <p:nvPr/>
        </p:nvSpPr>
        <p:spPr>
          <a:xfrm>
            <a:off x="2011680" y="4965192"/>
            <a:ext cx="10049256" cy="941832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94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你手里通常没有股权的权限，但你几乎总有三样东西：超额部分的分配建议权、重点客户与新行业的分配权、以及谁去参加公司级项目的推荐权。</a:t>
            </a:r>
          </a:p>
          <a:p>
            <a:pPr algn="l">
              <a:lnSpc>
                <a:spcPct val="94000"/>
              </a:lnSpc>
              <a:spcBef>
                <a:spcPts val="300"/>
              </a:spcBef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这三样在骨干眼里的分量，往往不比一笔奖金轻——因为它们代表「被看见」和「有下一步」。</a:t>
            </a:r>
          </a:p>
        </p:txBody>
      </p:sp>
      <p:sp>
        <p:nvSpPr>
          <p:cNvPr id="24" name="Shape 24"/>
          <p:cNvSpPr/>
          <p:nvPr/>
        </p:nvSpPr>
        <p:spPr>
          <a:xfrm>
            <a:off x="1929384" y="6089904"/>
            <a:ext cx="10213848" cy="566928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5" name="Banner 25"/>
          <p:cNvSpPr/>
          <p:nvPr/>
        </p:nvSpPr>
        <p:spPr>
          <a:xfrm>
            <a:off x="2075688" y="6089904"/>
            <a:ext cx="9921240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buNone/>
            </a:pPr>
            <a:r>
              <a:rPr lang="zh-CN" altLang="en-US" sz="215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记住　</a:t>
            </a:r>
            <a:r>
              <a:rPr lang="zh-CN" altLang="en-US" sz="21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钱留住的是人，机会留住的是心；只给钱的团队，出价更高的人一来就散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 &amp; 开发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2878828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第一讲 · 理解价值</a:t>
            </a:r>
          </a:p>
        </p:txBody>
      </p:sp>
      <p:sp>
        <p:nvSpPr>
          <p:cNvPr id="5" name="Nav 5"/>
          <p:cNvSpPr/>
          <p:nvPr/>
        </p:nvSpPr>
        <p:spPr>
          <a:xfrm>
            <a:off x="3153148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第二讲 · 评估价值</a:t>
            </a:r>
          </a:p>
        </p:txBody>
      </p:sp>
      <p:sp>
        <p:nvSpPr>
          <p:cNvPr id="6" name="Nav 6"/>
          <p:cNvSpPr/>
          <p:nvPr/>
        </p:nvSpPr>
        <p:spPr>
          <a:xfrm>
            <a:off x="6159993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第三讲 · 开发价值</a:t>
            </a:r>
          </a:p>
        </p:txBody>
      </p:sp>
      <p:sp>
        <p:nvSpPr>
          <p:cNvPr id="7" name="Nav 7"/>
          <p:cNvSpPr/>
          <p:nvPr/>
        </p:nvSpPr>
        <p:spPr>
          <a:xfrm>
            <a:off x="9166837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第四讲 · 落地价值</a:t>
            </a:r>
          </a:p>
        </p:txBody>
      </p:sp>
      <p:cxnSp>
        <p:nvCxnSpPr>
          <p:cNvPr id="8" name="Connector 8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9" name="Connector 9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10" name="Side 10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价值的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三个层次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绩效·潜力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与能力</a:t>
            </a:r>
          </a:p>
        </p:txBody>
      </p:sp>
      <p:sp>
        <p:nvSpPr>
          <p:cNvPr id="12" name="Side 12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价值与激励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价值流</a:t>
            </a:r>
          </a:p>
        </p:txBody>
      </p:sp>
      <p:pic>
        <p:nvPicPr>
          <p:cNvPr id="13" name="Art 13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1883664" y="1188720"/>
            <a:ext cx="10259568" cy="5522976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 &amp; 开发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2878828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第一讲 · 理解价值</a:t>
            </a:r>
          </a:p>
        </p:txBody>
      </p:sp>
      <p:sp>
        <p:nvSpPr>
          <p:cNvPr id="5" name="Nav 5"/>
          <p:cNvSpPr/>
          <p:nvPr/>
        </p:nvSpPr>
        <p:spPr>
          <a:xfrm>
            <a:off x="3153148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第二讲 · 评估价值</a:t>
            </a:r>
          </a:p>
        </p:txBody>
      </p:sp>
      <p:sp>
        <p:nvSpPr>
          <p:cNvPr id="6" name="Nav 6"/>
          <p:cNvSpPr/>
          <p:nvPr/>
        </p:nvSpPr>
        <p:spPr>
          <a:xfrm>
            <a:off x="6159993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第三讲 · 开发价值</a:t>
            </a:r>
          </a:p>
        </p:txBody>
      </p:sp>
      <p:sp>
        <p:nvSpPr>
          <p:cNvPr id="7" name="Nav 7"/>
          <p:cNvSpPr/>
          <p:nvPr/>
        </p:nvSpPr>
        <p:spPr>
          <a:xfrm>
            <a:off x="9166837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第四讲 · 落地价值</a:t>
            </a:r>
          </a:p>
        </p:txBody>
      </p:sp>
      <p:cxnSp>
        <p:nvCxnSpPr>
          <p:cNvPr id="8" name="Connector 8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9" name="Connector 9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10" name="Side 10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价值的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三个层次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绩效·潜力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与能力</a:t>
            </a:r>
          </a:p>
        </p:txBody>
      </p:sp>
      <p:sp>
        <p:nvSpPr>
          <p:cNvPr id="12" name="Side 12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价值与激励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价值流</a:t>
            </a:r>
          </a:p>
        </p:txBody>
      </p:sp>
      <p:sp>
        <p:nvSpPr>
          <p:cNvPr id="13" name="Chip 13"/>
          <p:cNvSpPr/>
          <p:nvPr/>
        </p:nvSpPr>
        <p:spPr>
          <a:xfrm>
            <a:off x="1929384" y="1243584"/>
            <a:ext cx="1517904" cy="512064"/>
          </a:xfrm>
          <a:prstGeom prst="roundRect">
            <a:avLst>
              <a:gd name="adj" fmla="val 22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情境 2</a:t>
            </a:r>
          </a:p>
        </p:txBody>
      </p:sp>
      <p:sp>
        <p:nvSpPr>
          <p:cNvPr id="14" name="ScTitle 14"/>
          <p:cNvSpPr/>
          <p:nvPr/>
        </p:nvSpPr>
        <p:spPr>
          <a:xfrm>
            <a:off x="3584448" y="1225296"/>
            <a:ext cx="8558784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buNone/>
            </a:pPr>
            <a:r>
              <a:rPr lang="zh-CN" altLang="en-US" sz="2400" b="1" dirty="0">
                <a:solidFill>
                  <a:srgbClr val="F5C8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营业部连续三年第一名，为什么反而是最该担心的那个人</a:t>
            </a:r>
          </a:p>
        </p:txBody>
      </p:sp>
      <p:sp>
        <p:nvSpPr>
          <p:cNvPr id="15" name="Shape 15"/>
          <p:cNvSpPr/>
          <p:nvPr/>
        </p:nvSpPr>
        <p:spPr>
          <a:xfrm>
            <a:off x="1929384" y="1847088"/>
            <a:ext cx="10213848" cy="3127248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2E7D3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6" name="ScHead 16"/>
          <p:cNvSpPr/>
          <p:nvPr/>
        </p:nvSpPr>
        <p:spPr>
          <a:xfrm>
            <a:off x="1929384" y="1847088"/>
            <a:ext cx="10213848" cy="42062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wrap="square" lIns="109728" tIns="18288" rIns="109728" bIns="18288" rtlCol="0" anchor="ctr">
            <a:noAutofit/>
          </a:bodyPr>
          <a:lstStyle/>
          <a:p>
            <a:pPr algn="ctr">
              <a:buNone/>
            </a:pPr>
            <a:r>
              <a:rPr lang="zh-CN" altLang="en-US" sz="2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  场  情  境</a:t>
            </a:r>
          </a:p>
        </p:txBody>
      </p:sp>
      <p:sp>
        <p:nvSpPr>
          <p:cNvPr id="17" name="ScBody 17"/>
          <p:cNvSpPr/>
          <p:nvPr/>
        </p:nvSpPr>
        <p:spPr>
          <a:xfrm>
            <a:off x="2075688" y="2304288"/>
            <a:ext cx="9921240" cy="2615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94000"/>
              </a:lnSpc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老王在营业部干了九年，连续三年销售额第一，回款也干净，从没出过客诉。经理很省心。</a:t>
            </a:r>
          </a:p>
          <a:p>
            <a:pPr algn="l">
              <a:lnSpc>
                <a:spcPct val="94000"/>
              </a:lnSpc>
              <a:spcBef>
                <a:spcPts val="400"/>
              </a:spcBef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今年做客户结构分析才发现：他 92% 的业绩来自五家老客户，其中两家是当年公司分给他的；近三年新开客户 1 家，还是老客户介绍的。</a:t>
            </a:r>
          </a:p>
          <a:p>
            <a:pPr algn="l">
              <a:lnSpc>
                <a:spcPct val="94000"/>
              </a:lnSpc>
              <a:spcBef>
                <a:spcPts val="400"/>
              </a:spcBef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他的产品结构里 88% 是标准气缸，阀、气源处理、真空、线性滑轨几乎为零——而这几类正是公司当期要推的方向。</a:t>
            </a:r>
          </a:p>
          <a:p>
            <a:pPr algn="l">
              <a:lnSpc>
                <a:spcPct val="94000"/>
              </a:lnSpc>
              <a:spcBef>
                <a:spcPts val="400"/>
              </a:spcBef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新人小周跟他学了半年，只学会了送样和催货，选型还是要问技术；问老王为什么不多教，他说「我自己都忙不过来」。</a:t>
            </a:r>
          </a:p>
          <a:p>
            <a:pPr algn="l">
              <a:lnSpc>
                <a:spcPct val="94000"/>
              </a:lnSpc>
              <a:spcBef>
                <a:spcPts val="400"/>
              </a:spcBef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年中，他最大的一家客户被竞品以整线方案切走三成份额，老王的第一反应是申请特价。</a:t>
            </a:r>
          </a:p>
        </p:txBody>
      </p:sp>
      <p:sp>
        <p:nvSpPr>
          <p:cNvPr id="18" name="ScAsk 18"/>
          <p:cNvSpPr/>
          <p:nvPr/>
        </p:nvSpPr>
        <p:spPr>
          <a:xfrm>
            <a:off x="1929384" y="5065776"/>
            <a:ext cx="10213848" cy="640080"/>
          </a:xfrm>
          <a:prstGeom prst="roundRect">
            <a:avLst>
              <a:gd name="adj" fmla="val 20000"/>
            </a:avLst>
          </a:prstGeom>
          <a:solidFill>
            <a:srgbClr val="2C6B53"/>
          </a:solidFill>
          <a:ln w="15875" cap="flat" cmpd="sng" algn="ctr">
            <a:solidFill>
              <a:srgbClr val="F5C842"/>
            </a:solidFill>
          </a:ln>
        </p:spPr>
        <p:txBody>
          <a:bodyPr wrap="square" lIns="164592" tIns="36576" rIns="146304" bIns="36576" rtlCol="0" anchor="ctr">
            <a:noAutofit/>
          </a:bodyPr>
          <a:lstStyle/>
          <a:p>
            <a:pPr algn="l">
              <a:buNone/>
            </a:pPr>
            <a:r>
              <a:rPr lang="zh-CN" altLang="en-US" sz="1850" b="1" dirty="0">
                <a:solidFill>
                  <a:srgbClr val="F5C8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讨 论　</a:t>
            </a:r>
            <a:r>
              <a:rPr lang="zh-CN" altLang="en-US" sz="18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按销售额，老王是最有价值的人；按公司真正需要的价值，他排第几？该怎么跟他谈？</a:t>
            </a:r>
          </a:p>
        </p:txBody>
      </p:sp>
      <p:sp>
        <p:nvSpPr>
          <p:cNvPr id="19" name="ScCommon 19"/>
          <p:cNvSpPr/>
          <p:nvPr/>
        </p:nvSpPr>
        <p:spPr>
          <a:xfrm>
            <a:off x="1929384" y="5779008"/>
            <a:ext cx="10213848" cy="749808"/>
          </a:xfrm>
          <a:prstGeom prst="roundRect">
            <a:avLst>
              <a:gd name="adj" fmla="val 16000"/>
            </a:avLst>
          </a:prstGeom>
          <a:solidFill>
            <a:srgbClr val="3A3A3A"/>
          </a:solidFill>
          <a:ln w="15875" cap="flat" cmpd="sng" algn="ctr">
            <a:solidFill>
              <a:srgbClr val="9A9A9A"/>
            </a:solidFill>
          </a:ln>
        </p:spPr>
        <p:txBody>
          <a:bodyPr wrap="square" lIns="164592" tIns="36576" rIns="146304" bIns="36576" rtlCol="0" anchor="ctr">
            <a:noAutofit/>
          </a:bodyPr>
          <a:lstStyle/>
          <a:p>
            <a:pPr algn="l">
              <a:buNone/>
            </a:pPr>
            <a:r>
              <a:rPr lang="zh-CN" altLang="en-US" sz="1950" b="1" dirty="0">
                <a:solidFill>
                  <a:srgbClr val="FFC9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普遍做法　</a:t>
            </a:r>
            <a:r>
              <a:rPr lang="zh-CN" altLang="en-US" sz="19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继续把最好的资源给第一名、把新客户开发指标压给年轻人、劝老王「多带带新人」——然后不了了之。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 &amp; 开发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2878828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第一讲 · 理解价值</a:t>
            </a:r>
          </a:p>
        </p:txBody>
      </p:sp>
      <p:sp>
        <p:nvSpPr>
          <p:cNvPr id="5" name="Nav 5"/>
          <p:cNvSpPr/>
          <p:nvPr/>
        </p:nvSpPr>
        <p:spPr>
          <a:xfrm>
            <a:off x="3153148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第二讲 · 评估价值</a:t>
            </a:r>
          </a:p>
        </p:txBody>
      </p:sp>
      <p:sp>
        <p:nvSpPr>
          <p:cNvPr id="6" name="Nav 6"/>
          <p:cNvSpPr/>
          <p:nvPr/>
        </p:nvSpPr>
        <p:spPr>
          <a:xfrm>
            <a:off x="6159993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第三讲 · 开发价值</a:t>
            </a:r>
          </a:p>
        </p:txBody>
      </p:sp>
      <p:sp>
        <p:nvSpPr>
          <p:cNvPr id="7" name="Nav 7"/>
          <p:cNvSpPr/>
          <p:nvPr/>
        </p:nvSpPr>
        <p:spPr>
          <a:xfrm>
            <a:off x="9166837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第四讲 · 落地价值</a:t>
            </a:r>
          </a:p>
        </p:txBody>
      </p:sp>
      <p:cxnSp>
        <p:nvCxnSpPr>
          <p:cNvPr id="8" name="Connector 8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9" name="Connector 9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10" name="Side 10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价值的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三个层次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绩效·潜力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与能力</a:t>
            </a:r>
          </a:p>
        </p:txBody>
      </p:sp>
      <p:sp>
        <p:nvSpPr>
          <p:cNvPr id="12" name="Side 12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价值与激励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价值流</a:t>
            </a:r>
          </a:p>
        </p:txBody>
      </p:sp>
      <p:sp>
        <p:nvSpPr>
          <p:cNvPr id="13" name="H1 13"/>
          <p:cNvSpPr/>
          <p:nvPr/>
        </p:nvSpPr>
        <p:spPr>
          <a:xfrm>
            <a:off x="1929384" y="1161288"/>
            <a:ext cx="10213848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9144" rIns="73152" bIns="9144" rtlCol="0" anchor="ctr">
            <a:noAutofit/>
          </a:bodyPr>
          <a:lstStyle/>
          <a:p>
            <a:pPr algn="l">
              <a:buNone/>
            </a:pPr>
            <a:r>
              <a:rPr lang="zh-CN" altLang="en-US" sz="27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第一讲小结：把「价值」从形容词变成名词</a:t>
            </a:r>
          </a:p>
        </p:txBody>
      </p:sp>
      <p:sp>
        <p:nvSpPr>
          <p:cNvPr id="14" name="H2 14"/>
          <p:cNvSpPr/>
          <p:nvPr/>
        </p:nvSpPr>
        <p:spPr>
          <a:xfrm>
            <a:off x="1929384" y="1636776"/>
            <a:ext cx="10213848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9144" rIns="73152" bIns="9144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四个口径，明天就能用</a:t>
            </a:r>
          </a:p>
        </p:txBody>
      </p:sp>
      <p:sp>
        <p:nvSpPr>
          <p:cNvPr id="15" name="Shape 15"/>
          <p:cNvSpPr/>
          <p:nvPr/>
        </p:nvSpPr>
        <p:spPr>
          <a:xfrm>
            <a:off x="1929384" y="1993392"/>
            <a:ext cx="4988052" cy="170992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6" name="CardHead 16"/>
          <p:cNvSpPr/>
          <p:nvPr/>
        </p:nvSpPr>
        <p:spPr>
          <a:xfrm>
            <a:off x="1929384" y="1993392"/>
            <a:ext cx="4988052" cy="347472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对客户</a:t>
            </a:r>
          </a:p>
        </p:txBody>
      </p:sp>
      <p:sp>
        <p:nvSpPr>
          <p:cNvPr id="17" name="CardBody 17"/>
          <p:cNvSpPr/>
          <p:nvPr/>
        </p:nvSpPr>
        <p:spPr>
          <a:xfrm>
            <a:off x="2011680" y="2350008"/>
            <a:ext cx="4823460" cy="1335024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106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 =（少停机 + 快换型 + 省备件 + 降采购）−（切换风险 + 价格）。</a:t>
            </a:r>
            <a:b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动作：下次拜访带着四个问题去，把答案填进算账卡。</a:t>
            </a:r>
          </a:p>
        </p:txBody>
      </p:sp>
      <p:sp>
        <p:nvSpPr>
          <p:cNvPr id="18" name="Shape 18"/>
          <p:cNvSpPr/>
          <p:nvPr/>
        </p:nvSpPr>
        <p:spPr>
          <a:xfrm>
            <a:off x="7155180" y="1993392"/>
            <a:ext cx="4988052" cy="170992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9" name="CardHead 19"/>
          <p:cNvSpPr/>
          <p:nvPr/>
        </p:nvSpPr>
        <p:spPr>
          <a:xfrm>
            <a:off x="7155180" y="1993392"/>
            <a:ext cx="4988052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对自己</a:t>
            </a:r>
          </a:p>
        </p:txBody>
      </p:sp>
      <p:sp>
        <p:nvSpPr>
          <p:cNvPr id="20" name="CardBody 20"/>
          <p:cNvSpPr/>
          <p:nvPr/>
        </p:nvSpPr>
        <p:spPr>
          <a:xfrm>
            <a:off x="7237476" y="2350008"/>
            <a:ext cx="4823460" cy="1335024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zh-CN" altLang="en-US" sz="21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 = 你改变了谁的什么决定 + 你留下了什么别人能用的东西。</a:t>
            </a:r>
            <a:br>
              <a:rPr lang="zh-CN" altLang="en-US" sz="21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1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动作：本月起记价值台账，每月三行。</a:t>
            </a:r>
          </a:p>
        </p:txBody>
      </p:sp>
      <p:sp>
        <p:nvSpPr>
          <p:cNvPr id="21" name="Shape 21"/>
          <p:cNvSpPr/>
          <p:nvPr/>
        </p:nvSpPr>
        <p:spPr>
          <a:xfrm>
            <a:off x="1929384" y="3867912"/>
            <a:ext cx="4988052" cy="170992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2" name="CardHead 22"/>
          <p:cNvSpPr/>
          <p:nvPr/>
        </p:nvSpPr>
        <p:spPr>
          <a:xfrm>
            <a:off x="1929384" y="3867912"/>
            <a:ext cx="4988052" cy="347472"/>
          </a:xfrm>
          <a:prstGeom prst="rect">
            <a:avLst/>
          </a:prstGeom>
          <a:solidFill>
            <a:srgbClr val="E55E24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对下属</a:t>
            </a:r>
          </a:p>
        </p:txBody>
      </p:sp>
      <p:sp>
        <p:nvSpPr>
          <p:cNvPr id="23" name="CardBody 23"/>
          <p:cNvSpPr/>
          <p:nvPr/>
        </p:nvSpPr>
        <p:spPr>
          <a:xfrm>
            <a:off x="2011680" y="4224528"/>
            <a:ext cx="4823460" cy="1335024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106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绩效看已发生、潜力看水面之下、能力看能否重复。</a:t>
            </a:r>
            <a:b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动作：用六项胜任力自评＋主管评，差距最大的一项作为本季谈话主题。</a:t>
            </a:r>
          </a:p>
        </p:txBody>
      </p:sp>
      <p:sp>
        <p:nvSpPr>
          <p:cNvPr id="24" name="Shape 24"/>
          <p:cNvSpPr/>
          <p:nvPr/>
        </p:nvSpPr>
        <p:spPr>
          <a:xfrm>
            <a:off x="7155180" y="3867912"/>
            <a:ext cx="4988052" cy="170992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6A4C9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5" name="CardHead 25"/>
          <p:cNvSpPr/>
          <p:nvPr/>
        </p:nvSpPr>
        <p:spPr>
          <a:xfrm>
            <a:off x="7155180" y="3867912"/>
            <a:ext cx="4988052" cy="347472"/>
          </a:xfrm>
          <a:prstGeom prst="rect">
            <a:avLst/>
          </a:prstGeom>
          <a:solidFill>
            <a:srgbClr val="6A4C93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对规则</a:t>
            </a:r>
          </a:p>
        </p:txBody>
      </p:sp>
      <p:sp>
        <p:nvSpPr>
          <p:cNvPr id="26" name="CardBody 26"/>
          <p:cNvSpPr/>
          <p:nvPr/>
        </p:nvSpPr>
        <p:spPr>
          <a:xfrm>
            <a:off x="7237476" y="4224528"/>
            <a:ext cx="4823460" cy="1335024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106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你考核什么就会得到什么；不良行为先查规则，再查人。</a:t>
            </a:r>
            <a:b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动作：拿提成方案对照四个开关，指出一条本季可改的。</a:t>
            </a:r>
          </a:p>
        </p:txBody>
      </p:sp>
      <p:sp>
        <p:nvSpPr>
          <p:cNvPr id="27" name="Shape 27"/>
          <p:cNvSpPr/>
          <p:nvPr/>
        </p:nvSpPr>
        <p:spPr>
          <a:xfrm>
            <a:off x="1929384" y="5724144"/>
            <a:ext cx="10213848" cy="566928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8" name="Banner 28"/>
          <p:cNvSpPr/>
          <p:nvPr/>
        </p:nvSpPr>
        <p:spPr>
          <a:xfrm>
            <a:off x="2075688" y="5724144"/>
            <a:ext cx="9921240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buNone/>
            </a:pPr>
            <a:r>
              <a:rPr lang="zh-CN" altLang="en-US" sz="18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上午下半场预告　</a:t>
            </a: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口径有了，接下来是尺子：怎么把「我觉得他还行」变成一份别人也认的证据</a:t>
            </a:r>
          </a:p>
        </p:txBody>
      </p:sp>
      <p:sp>
        <p:nvSpPr>
          <p:cNvPr id="29" name="Note 29"/>
          <p:cNvSpPr/>
          <p:nvPr/>
        </p:nvSpPr>
        <p:spPr>
          <a:xfrm>
            <a:off x="1929384" y="6309360"/>
            <a:ext cx="10213848" cy="384048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ctr">
            <a:noAutofit/>
          </a:bodyPr>
          <a:lstStyle/>
          <a:p>
            <a:pPr algn="ctr">
              <a:buNone/>
            </a:pPr>
            <a:r>
              <a:rPr lang="zh-CN" altLang="en-US" sz="205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休息 15 分钟。回来做第一个演练：给自己定一个真正可查的季度目标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 &amp; 开发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第一讲 · 理解价值</a:t>
            </a:r>
          </a:p>
        </p:txBody>
      </p:sp>
      <p:sp>
        <p:nvSpPr>
          <p:cNvPr id="5" name="Nav 5"/>
          <p:cNvSpPr/>
          <p:nvPr/>
        </p:nvSpPr>
        <p:spPr>
          <a:xfrm>
            <a:off x="3153148" y="658368"/>
            <a:ext cx="2878828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第二讲 · 评估价值</a:t>
            </a:r>
          </a:p>
        </p:txBody>
      </p:sp>
      <p:sp>
        <p:nvSpPr>
          <p:cNvPr id="6" name="Nav 6"/>
          <p:cNvSpPr/>
          <p:nvPr/>
        </p:nvSpPr>
        <p:spPr>
          <a:xfrm>
            <a:off x="6159993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第三讲 · 开发价值</a:t>
            </a:r>
          </a:p>
        </p:txBody>
      </p:sp>
      <p:sp>
        <p:nvSpPr>
          <p:cNvPr id="7" name="Nav 7"/>
          <p:cNvSpPr/>
          <p:nvPr/>
        </p:nvSpPr>
        <p:spPr>
          <a:xfrm>
            <a:off x="9166837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第四讲 · 落地价值</a:t>
            </a:r>
          </a:p>
        </p:txBody>
      </p:sp>
      <p:cxnSp>
        <p:nvCxnSpPr>
          <p:cNvPr id="8" name="Connector 8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9" name="Connector 9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10" name="Side 10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目标设定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与过程跟踪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人才盘点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与九宫格</a:t>
            </a:r>
          </a:p>
        </p:txBody>
      </p:sp>
      <p:sp>
        <p:nvSpPr>
          <p:cNvPr id="12" name="Side 12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360 度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人才画像</a:t>
            </a:r>
          </a:p>
        </p:txBody>
      </p:sp>
      <p:sp>
        <p:nvSpPr>
          <p:cNvPr id="13" name="H1 13"/>
          <p:cNvSpPr/>
          <p:nvPr/>
        </p:nvSpPr>
        <p:spPr>
          <a:xfrm>
            <a:off x="1929384" y="1161288"/>
            <a:ext cx="10213848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9144" rIns="73152" bIns="9144" rtlCol="0" anchor="ctr">
            <a:noAutofit/>
          </a:bodyPr>
          <a:lstStyle/>
          <a:p>
            <a:pPr algn="l">
              <a:buNone/>
            </a:pPr>
            <a:r>
              <a:rPr lang="zh-CN" altLang="en-US" sz="27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第二讲　评估价值：把「我觉得他还行」变成证据</a:t>
            </a:r>
          </a:p>
        </p:txBody>
      </p:sp>
      <p:sp>
        <p:nvSpPr>
          <p:cNvPr id="14" name="H2 14"/>
          <p:cNvSpPr/>
          <p:nvPr/>
        </p:nvSpPr>
        <p:spPr>
          <a:xfrm>
            <a:off x="1929384" y="1636776"/>
            <a:ext cx="10213848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9144" rIns="73152" bIns="9144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评估不是为了排队，是为了知道该在谁身上花什么力气</a:t>
            </a:r>
          </a:p>
        </p:txBody>
      </p:sp>
      <p:sp>
        <p:nvSpPr>
          <p:cNvPr id="15" name="Shape 15"/>
          <p:cNvSpPr/>
          <p:nvPr/>
        </p:nvSpPr>
        <p:spPr>
          <a:xfrm>
            <a:off x="1929384" y="1993392"/>
            <a:ext cx="1823314" cy="1316736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6" name="FlowHead 16"/>
          <p:cNvSpPr/>
          <p:nvPr/>
        </p:nvSpPr>
        <p:spPr>
          <a:xfrm>
            <a:off x="1929384" y="1993392"/>
            <a:ext cx="1823314" cy="384048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定目标</a:t>
            </a:r>
          </a:p>
        </p:txBody>
      </p:sp>
      <p:sp>
        <p:nvSpPr>
          <p:cNvPr id="17" name="FlowBody 17"/>
          <p:cNvSpPr/>
          <p:nvPr/>
        </p:nvSpPr>
        <p:spPr>
          <a:xfrm>
            <a:off x="1975104" y="2395728"/>
            <a:ext cx="1731874" cy="886968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>
              <a:lnSpc>
                <a:spcPct val="132000"/>
              </a:lnSpc>
              <a:buNone/>
            </a:pPr>
            <a:r>
              <a:rPr lang="zh-CN" altLang="en-US" sz="18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SMART 的销售版</a:t>
            </a:r>
            <a:br>
              <a:rPr lang="zh-CN" altLang="en-US" sz="18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8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目标要能被查</a:t>
            </a:r>
          </a:p>
        </p:txBody>
      </p:sp>
      <p:cxnSp>
        <p:nvCxnSpPr>
          <p:cNvPr id="18" name="Arrow 18"/>
          <p:cNvCxnSpPr/>
          <p:nvPr/>
        </p:nvCxnSpPr>
        <p:spPr>
          <a:xfrm>
            <a:off x="3789274" y="2651760"/>
            <a:ext cx="201168" cy="0"/>
          </a:xfrm>
          <a:prstGeom prst="straightConnector1">
            <a:avLst/>
          </a:prstGeom>
          <a:ln w="25400" cap="flat">
            <a:solidFill>
              <a:srgbClr val="FFFFFF"/>
            </a:solidFill>
            <a:tailEnd type="triangle" w="med" len="med"/>
          </a:ln>
        </p:spPr>
      </p:cxnSp>
      <p:sp>
        <p:nvSpPr>
          <p:cNvPr id="19" name="Shape 19"/>
          <p:cNvSpPr/>
          <p:nvPr/>
        </p:nvSpPr>
        <p:spPr>
          <a:xfrm>
            <a:off x="4027018" y="1993392"/>
            <a:ext cx="1823314" cy="1316736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0" name="FlowHead 20"/>
          <p:cNvSpPr/>
          <p:nvPr/>
        </p:nvSpPr>
        <p:spPr>
          <a:xfrm>
            <a:off x="4027018" y="1993392"/>
            <a:ext cx="1823314" cy="384048"/>
          </a:xfrm>
          <a:prstGeom prst="rect">
            <a:avLst/>
          </a:prstGeom>
          <a:solidFill>
            <a:srgbClr val="E55E24"/>
          </a:solidFill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看过程</a:t>
            </a:r>
          </a:p>
        </p:txBody>
      </p:sp>
      <p:sp>
        <p:nvSpPr>
          <p:cNvPr id="21" name="FlowBody 21"/>
          <p:cNvSpPr/>
          <p:nvPr/>
        </p:nvSpPr>
        <p:spPr>
          <a:xfrm>
            <a:off x="4072738" y="2395728"/>
            <a:ext cx="1731874" cy="886968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>
              <a:lnSpc>
                <a:spcPct val="118000"/>
              </a:lnSpc>
              <a:buNone/>
            </a:pPr>
            <a:r>
              <a:rPr lang="zh-CN" altLang="en-US" sz="21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销售漏斗</a:t>
            </a:r>
            <a:br>
              <a:rPr lang="zh-CN" altLang="en-US" sz="21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1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哪一环在漏</a:t>
            </a:r>
          </a:p>
        </p:txBody>
      </p:sp>
      <p:cxnSp>
        <p:nvCxnSpPr>
          <p:cNvPr id="22" name="Arrow 22"/>
          <p:cNvCxnSpPr/>
          <p:nvPr/>
        </p:nvCxnSpPr>
        <p:spPr>
          <a:xfrm>
            <a:off x="5886907" y="2651760"/>
            <a:ext cx="201168" cy="0"/>
          </a:xfrm>
          <a:prstGeom prst="straightConnector1">
            <a:avLst/>
          </a:prstGeom>
          <a:ln w="25400" cap="flat">
            <a:solidFill>
              <a:srgbClr val="FFFFFF"/>
            </a:solidFill>
            <a:tailEnd type="triangle" w="med" len="med"/>
          </a:ln>
        </p:spPr>
      </p:cxnSp>
      <p:sp>
        <p:nvSpPr>
          <p:cNvPr id="23" name="Shape 23"/>
          <p:cNvSpPr/>
          <p:nvPr/>
        </p:nvSpPr>
        <p:spPr>
          <a:xfrm>
            <a:off x="6124651" y="1993392"/>
            <a:ext cx="1823314" cy="1316736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4" name="FlowHead 24"/>
          <p:cNvSpPr/>
          <p:nvPr/>
        </p:nvSpPr>
        <p:spPr>
          <a:xfrm>
            <a:off x="6124651" y="1993392"/>
            <a:ext cx="1823314" cy="38404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给反馈</a:t>
            </a:r>
          </a:p>
        </p:txBody>
      </p:sp>
      <p:sp>
        <p:nvSpPr>
          <p:cNvPr id="25" name="FlowBody 25"/>
          <p:cNvSpPr/>
          <p:nvPr/>
        </p:nvSpPr>
        <p:spPr>
          <a:xfrm>
            <a:off x="6170371" y="2395728"/>
            <a:ext cx="1731874" cy="886968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>
              <a:lnSpc>
                <a:spcPct val="118000"/>
              </a:lnSpc>
              <a:buNone/>
            </a:pPr>
            <a:r>
              <a:rPr lang="zh-CN" altLang="en-US" sz="21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SBI + 下一步</a:t>
            </a:r>
            <a:br>
              <a:rPr lang="zh-CN" altLang="en-US" sz="21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1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对事不对人</a:t>
            </a:r>
          </a:p>
        </p:txBody>
      </p:sp>
      <p:cxnSp>
        <p:nvCxnSpPr>
          <p:cNvPr id="26" name="Arrow 26"/>
          <p:cNvCxnSpPr/>
          <p:nvPr/>
        </p:nvCxnSpPr>
        <p:spPr>
          <a:xfrm>
            <a:off x="7984541" y="2651760"/>
            <a:ext cx="201168" cy="0"/>
          </a:xfrm>
          <a:prstGeom prst="straightConnector1">
            <a:avLst/>
          </a:prstGeom>
          <a:ln w="25400" cap="flat">
            <a:solidFill>
              <a:srgbClr val="FFFFFF"/>
            </a:solidFill>
            <a:tailEnd type="triangle" w="med" len="med"/>
          </a:ln>
        </p:spPr>
      </p:cxnSp>
      <p:sp>
        <p:nvSpPr>
          <p:cNvPr id="27" name="Shape 27"/>
          <p:cNvSpPr/>
          <p:nvPr/>
        </p:nvSpPr>
        <p:spPr>
          <a:xfrm>
            <a:off x="8222285" y="1993392"/>
            <a:ext cx="1823314" cy="1316736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8" name="FlowHead 28"/>
          <p:cNvSpPr/>
          <p:nvPr/>
        </p:nvSpPr>
        <p:spPr>
          <a:xfrm>
            <a:off x="8222285" y="1993392"/>
            <a:ext cx="1823314" cy="384048"/>
          </a:xfrm>
          <a:prstGeom prst="rect">
            <a:avLst/>
          </a:prstGeom>
          <a:solidFill>
            <a:srgbClr val="C02F2B"/>
          </a:solidFill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做盘点</a:t>
            </a:r>
          </a:p>
        </p:txBody>
      </p:sp>
      <p:sp>
        <p:nvSpPr>
          <p:cNvPr id="29" name="FlowBody 29"/>
          <p:cNvSpPr/>
          <p:nvPr/>
        </p:nvSpPr>
        <p:spPr>
          <a:xfrm>
            <a:off x="8268005" y="2395728"/>
            <a:ext cx="1731874" cy="886968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>
              <a:lnSpc>
                <a:spcPct val="118000"/>
              </a:lnSpc>
              <a:buNone/>
            </a:pPr>
            <a:r>
              <a:rPr lang="zh-CN" altLang="en-US" sz="21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绩效 × 潜力</a:t>
            </a:r>
            <a:br>
              <a:rPr lang="zh-CN" altLang="en-US" sz="21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1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九宫格怎么用</a:t>
            </a:r>
          </a:p>
        </p:txBody>
      </p:sp>
      <p:cxnSp>
        <p:nvCxnSpPr>
          <p:cNvPr id="30" name="Arrow 30"/>
          <p:cNvCxnSpPr/>
          <p:nvPr/>
        </p:nvCxnSpPr>
        <p:spPr>
          <a:xfrm>
            <a:off x="10082174" y="2651760"/>
            <a:ext cx="201168" cy="0"/>
          </a:xfrm>
          <a:prstGeom prst="straightConnector1">
            <a:avLst/>
          </a:prstGeom>
          <a:ln w="25400" cap="flat">
            <a:solidFill>
              <a:srgbClr val="FFFFFF"/>
            </a:solidFill>
            <a:tailEnd type="triangle" w="med" len="med"/>
          </a:ln>
        </p:spPr>
      </p:cxnSp>
      <p:sp>
        <p:nvSpPr>
          <p:cNvPr id="31" name="Shape 31"/>
          <p:cNvSpPr/>
          <p:nvPr/>
        </p:nvSpPr>
        <p:spPr>
          <a:xfrm>
            <a:off x="10319918" y="1993392"/>
            <a:ext cx="1823314" cy="1316736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 cap="flat" cmpd="sng" algn="ctr">
            <a:solidFill>
              <a:srgbClr val="6A4C9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2" name="FlowHead 32"/>
          <p:cNvSpPr/>
          <p:nvPr/>
        </p:nvSpPr>
        <p:spPr>
          <a:xfrm>
            <a:off x="10319918" y="1993392"/>
            <a:ext cx="1823314" cy="384048"/>
          </a:xfrm>
          <a:prstGeom prst="rect">
            <a:avLst/>
          </a:prstGeom>
          <a:solidFill>
            <a:srgbClr val="6A4C93"/>
          </a:solidFill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画像</a:t>
            </a:r>
          </a:p>
        </p:txBody>
      </p:sp>
      <p:sp>
        <p:nvSpPr>
          <p:cNvPr id="33" name="FlowBody 33"/>
          <p:cNvSpPr/>
          <p:nvPr/>
        </p:nvSpPr>
        <p:spPr>
          <a:xfrm>
            <a:off x="10365638" y="2395728"/>
            <a:ext cx="1731874" cy="886968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>
              <a:lnSpc>
                <a:spcPct val="118000"/>
              </a:lnSpc>
              <a:buNone/>
            </a:pPr>
            <a:r>
              <a:rPr lang="zh-CN" altLang="en-US" sz="21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高价值人才</a:t>
            </a:r>
            <a:br>
              <a:rPr lang="zh-CN" altLang="en-US" sz="21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1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长什么样</a:t>
            </a:r>
          </a:p>
        </p:txBody>
      </p:sp>
      <p:sp>
        <p:nvSpPr>
          <p:cNvPr id="34" name="Shape 34"/>
          <p:cNvSpPr/>
          <p:nvPr/>
        </p:nvSpPr>
        <p:spPr>
          <a:xfrm>
            <a:off x="1929384" y="3547872"/>
            <a:ext cx="4988052" cy="221284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5" name="CardHead 35"/>
          <p:cNvSpPr/>
          <p:nvPr/>
        </p:nvSpPr>
        <p:spPr>
          <a:xfrm>
            <a:off x="1929384" y="3547872"/>
            <a:ext cx="4988052" cy="347472"/>
          </a:xfrm>
          <a:prstGeom prst="rect">
            <a:avLst/>
          </a:prstGeom>
          <a:solidFill>
            <a:srgbClr val="C02F2B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这一讲要解决的四个真问题</a:t>
            </a:r>
          </a:p>
        </p:txBody>
      </p:sp>
      <p:sp>
        <p:nvSpPr>
          <p:cNvPr id="36" name="CardBody 36"/>
          <p:cNvSpPr/>
          <p:nvPr/>
        </p:nvSpPr>
        <p:spPr>
          <a:xfrm>
            <a:off x="2011680" y="3904488"/>
            <a:ext cx="4823460" cy="1837944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84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目标定得很响，年中却没人说得清进度到底怎么样；</a:t>
            </a:r>
          </a:p>
          <a:p>
            <a:pPr algn="l">
              <a:lnSpc>
                <a:spcPct val="84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只看结果，等看到结果时已经来不及救；</a:t>
            </a:r>
          </a:p>
          <a:p>
            <a:pPr algn="l">
              <a:lnSpc>
                <a:spcPct val="84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评价靠印象，评完之后被评的人不服、评人的人心虚；</a:t>
            </a:r>
          </a:p>
          <a:p>
            <a:pPr algn="l">
              <a:lnSpc>
                <a:spcPct val="84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盘点做完存进档案，第二年原封不动再做一次。</a:t>
            </a:r>
          </a:p>
        </p:txBody>
      </p:sp>
      <p:sp>
        <p:nvSpPr>
          <p:cNvPr id="37" name="Shape 37"/>
          <p:cNvSpPr/>
          <p:nvPr/>
        </p:nvSpPr>
        <p:spPr>
          <a:xfrm>
            <a:off x="7155180" y="3547872"/>
            <a:ext cx="4988052" cy="221284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8" name="CardHead 38"/>
          <p:cNvSpPr/>
          <p:nvPr/>
        </p:nvSpPr>
        <p:spPr>
          <a:xfrm>
            <a:off x="7155180" y="3547872"/>
            <a:ext cx="4988052" cy="347472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这一讲结束时，你手上会多三样东西</a:t>
            </a:r>
          </a:p>
        </p:txBody>
      </p:sp>
      <p:sp>
        <p:nvSpPr>
          <p:cNvPr id="39" name="CardBody 39"/>
          <p:cNvSpPr/>
          <p:nvPr/>
        </p:nvSpPr>
        <p:spPr>
          <a:xfrm>
            <a:off x="7237476" y="3904488"/>
            <a:ext cx="4823460" cy="1837944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94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一份可查的季度目标模板（基线 → 目标值 → 期限 → 过程指标）；</a:t>
            </a:r>
          </a:p>
          <a:p>
            <a:pPr algn="l">
              <a:lnSpc>
                <a:spcPct val="94000"/>
              </a:lnSpc>
              <a:spcBef>
                <a:spcPts val="300"/>
              </a:spcBef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一张营业部九宫格，以及每一格对应的动作清单；</a:t>
            </a:r>
          </a:p>
          <a:p>
            <a:pPr algn="l">
              <a:lnSpc>
                <a:spcPct val="94000"/>
              </a:lnSpc>
              <a:spcBef>
                <a:spcPts val="300"/>
              </a:spcBef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一套 360 度反馈的沟通脚本，能把「别人的评价」讲成对方听得进去的话。</a:t>
            </a:r>
          </a:p>
        </p:txBody>
      </p:sp>
      <p:sp>
        <p:nvSpPr>
          <p:cNvPr id="40" name="Shape 40"/>
          <p:cNvSpPr/>
          <p:nvPr/>
        </p:nvSpPr>
        <p:spPr>
          <a:xfrm>
            <a:off x="1929384" y="5907024"/>
            <a:ext cx="10213848" cy="585216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41" name="Banner 41"/>
          <p:cNvSpPr/>
          <p:nvPr/>
        </p:nvSpPr>
        <p:spPr>
          <a:xfrm>
            <a:off x="2075688" y="5907024"/>
            <a:ext cx="9921240" cy="585216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buNone/>
            </a:pPr>
            <a:r>
              <a:rPr lang="zh-CN" altLang="en-US" sz="20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这一讲的底层判断　</a:t>
            </a: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评估的价值不在评得多准，而在评完之后有没有人的行为发生改变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 &amp; 开发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第一讲 · 理解价值</a:t>
            </a:r>
          </a:p>
        </p:txBody>
      </p:sp>
      <p:sp>
        <p:nvSpPr>
          <p:cNvPr id="5" name="Nav 5"/>
          <p:cNvSpPr/>
          <p:nvPr/>
        </p:nvSpPr>
        <p:spPr>
          <a:xfrm>
            <a:off x="3153148" y="658368"/>
            <a:ext cx="2878828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第二讲 · 评估价值</a:t>
            </a:r>
          </a:p>
        </p:txBody>
      </p:sp>
      <p:sp>
        <p:nvSpPr>
          <p:cNvPr id="6" name="Nav 6"/>
          <p:cNvSpPr/>
          <p:nvPr/>
        </p:nvSpPr>
        <p:spPr>
          <a:xfrm>
            <a:off x="6159993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第三讲 · 开发价值</a:t>
            </a:r>
          </a:p>
        </p:txBody>
      </p:sp>
      <p:sp>
        <p:nvSpPr>
          <p:cNvPr id="7" name="Nav 7"/>
          <p:cNvSpPr/>
          <p:nvPr/>
        </p:nvSpPr>
        <p:spPr>
          <a:xfrm>
            <a:off x="9166837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第四讲 · 落地价值</a:t>
            </a:r>
          </a:p>
        </p:txBody>
      </p:sp>
      <p:cxnSp>
        <p:nvCxnSpPr>
          <p:cNvPr id="8" name="Connector 8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9" name="Connector 9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10" name="Side 10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目标设定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与过程跟踪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人才盘点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与九宫格</a:t>
            </a:r>
          </a:p>
        </p:txBody>
      </p:sp>
      <p:sp>
        <p:nvSpPr>
          <p:cNvPr id="12" name="Side 12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360 度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人才画像</a:t>
            </a:r>
          </a:p>
        </p:txBody>
      </p:sp>
      <p:sp>
        <p:nvSpPr>
          <p:cNvPr id="13" name="H1 13"/>
          <p:cNvSpPr/>
          <p:nvPr/>
        </p:nvSpPr>
        <p:spPr>
          <a:xfrm>
            <a:off x="1929384" y="1161288"/>
            <a:ext cx="10213848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9144" rIns="73152" bIns="9144" rtlCol="0" anchor="ctr">
            <a:noAutofit/>
          </a:bodyPr>
          <a:lstStyle/>
          <a:p>
            <a:pPr algn="l">
              <a:buNone/>
            </a:pPr>
            <a:r>
              <a:rPr lang="zh-CN" altLang="en-US" sz="27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目标设定：SMART 不是五个形容词，是五个填空</a:t>
            </a:r>
          </a:p>
        </p:txBody>
      </p:sp>
      <p:sp>
        <p:nvSpPr>
          <p:cNvPr id="14" name="H2 14"/>
          <p:cNvSpPr/>
          <p:nvPr/>
        </p:nvSpPr>
        <p:spPr>
          <a:xfrm>
            <a:off x="1929384" y="1636776"/>
            <a:ext cx="10213848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9144" rIns="73152" bIns="9144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一个目标如果不能被第三个人查证，它就还只是愿望</a:t>
            </a:r>
          </a:p>
        </p:txBody>
      </p:sp>
      <p:sp>
        <p:nvSpPr>
          <p:cNvPr id="15" name="Shape 15"/>
          <p:cNvSpPr/>
          <p:nvPr/>
        </p:nvSpPr>
        <p:spPr>
          <a:xfrm>
            <a:off x="1929384" y="1993392"/>
            <a:ext cx="10213848" cy="1152144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6" name="CardHead 16"/>
          <p:cNvSpPr/>
          <p:nvPr/>
        </p:nvSpPr>
        <p:spPr>
          <a:xfrm>
            <a:off x="1929384" y="1993392"/>
            <a:ext cx="10213848" cy="347472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同一件事的两种写法</a:t>
            </a:r>
          </a:p>
        </p:txBody>
      </p:sp>
      <p:sp>
        <p:nvSpPr>
          <p:cNvPr id="17" name="CardBody 17"/>
          <p:cNvSpPr/>
          <p:nvPr/>
        </p:nvSpPr>
        <p:spPr>
          <a:xfrm>
            <a:off x="2011680" y="2350008"/>
            <a:ext cx="10049256" cy="777240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82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× 愿望版：「今年要大力开拓锂电行业，提升新客户占比，优化产品结构。」</a:t>
            </a:r>
          </a:p>
          <a:p>
            <a:pPr algn="l">
              <a:lnSpc>
                <a:spcPct val="82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√ 可查版：「华东三区锂电行业新增年采购 30 万以上的直接客户 4 家，其中 2 家导入线轨或真空；到 12 月 31 日锂电占本区营收 18%（当前 9%）。」</a:t>
            </a:r>
          </a:p>
        </p:txBody>
      </p:sp>
      <p:sp>
        <p:nvSpPr>
          <p:cNvPr id="18" name="Shape 18"/>
          <p:cNvSpPr/>
          <p:nvPr/>
        </p:nvSpPr>
        <p:spPr>
          <a:xfrm>
            <a:off x="1929384" y="3200400"/>
            <a:ext cx="3282696" cy="1443655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9" name="CardHead 19"/>
          <p:cNvSpPr/>
          <p:nvPr/>
        </p:nvSpPr>
        <p:spPr>
          <a:xfrm>
            <a:off x="1929384" y="3200400"/>
            <a:ext cx="3282696" cy="347472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 具体</a:t>
            </a:r>
          </a:p>
        </p:txBody>
      </p:sp>
      <p:sp>
        <p:nvSpPr>
          <p:cNvPr id="20" name="CardBody 20"/>
          <p:cNvSpPr/>
          <p:nvPr/>
        </p:nvSpPr>
        <p:spPr>
          <a:xfrm>
            <a:off x="2011680" y="3557016"/>
            <a:ext cx="3118104" cy="1068751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84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具体到行业、区域、客户、品类。</a:t>
            </a:r>
            <a:b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自查：念给隔壁部门听，他说得出你明天去哪吗。</a:t>
            </a:r>
          </a:p>
        </p:txBody>
      </p:sp>
      <p:sp>
        <p:nvSpPr>
          <p:cNvPr id="21" name="Shape 21"/>
          <p:cNvSpPr/>
          <p:nvPr/>
        </p:nvSpPr>
        <p:spPr>
          <a:xfrm>
            <a:off x="5394960" y="3200400"/>
            <a:ext cx="3282696" cy="138988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2" name="CardHead 22"/>
          <p:cNvSpPr/>
          <p:nvPr/>
        </p:nvSpPr>
        <p:spPr>
          <a:xfrm>
            <a:off x="5394960" y="3200400"/>
            <a:ext cx="3282696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 可测</a:t>
            </a:r>
          </a:p>
        </p:txBody>
      </p:sp>
      <p:sp>
        <p:nvSpPr>
          <p:cNvPr id="23" name="CardBody 23"/>
          <p:cNvSpPr/>
          <p:nvPr/>
        </p:nvSpPr>
        <p:spPr>
          <a:xfrm>
            <a:off x="5477256" y="3557016"/>
            <a:ext cx="3118104" cy="1014984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106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必须有基线和目标值两个数。</a:t>
            </a:r>
            <a:b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自查：现在是多少？没有「现在」，就没有「提升」。</a:t>
            </a:r>
          </a:p>
        </p:txBody>
      </p:sp>
      <p:sp>
        <p:nvSpPr>
          <p:cNvPr id="24" name="Shape 24"/>
          <p:cNvSpPr/>
          <p:nvPr/>
        </p:nvSpPr>
        <p:spPr>
          <a:xfrm>
            <a:off x="8860536" y="3200400"/>
            <a:ext cx="3282696" cy="1443655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5" name="CardHead 25"/>
          <p:cNvSpPr/>
          <p:nvPr/>
        </p:nvSpPr>
        <p:spPr>
          <a:xfrm>
            <a:off x="8860536" y="3200400"/>
            <a:ext cx="3282696" cy="347472"/>
          </a:xfrm>
          <a:prstGeom prst="rect">
            <a:avLst/>
          </a:prstGeom>
          <a:solidFill>
            <a:srgbClr val="E55E24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 可达</a:t>
            </a:r>
          </a:p>
        </p:txBody>
      </p:sp>
      <p:sp>
        <p:nvSpPr>
          <p:cNvPr id="26" name="CardBody 26"/>
          <p:cNvSpPr/>
          <p:nvPr/>
        </p:nvSpPr>
        <p:spPr>
          <a:xfrm>
            <a:off x="8942832" y="3557016"/>
            <a:ext cx="3118104" cy="1068751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84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踮脚够得着：比历史最好高 10%~30%。</a:t>
            </a:r>
            <a:b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自查：翻倍的目标不激励人，只让人早放弃。</a:t>
            </a:r>
          </a:p>
        </p:txBody>
      </p:sp>
      <p:sp>
        <p:nvSpPr>
          <p:cNvPr id="27" name="Shape 27"/>
          <p:cNvSpPr/>
          <p:nvPr/>
        </p:nvSpPr>
        <p:spPr>
          <a:xfrm>
            <a:off x="1929384" y="4700016"/>
            <a:ext cx="3282696" cy="138988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6A4C9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8" name="CardHead 28"/>
          <p:cNvSpPr/>
          <p:nvPr/>
        </p:nvSpPr>
        <p:spPr>
          <a:xfrm>
            <a:off x="1929384" y="4700016"/>
            <a:ext cx="3282696" cy="347472"/>
          </a:xfrm>
          <a:prstGeom prst="rect">
            <a:avLst/>
          </a:prstGeom>
          <a:solidFill>
            <a:srgbClr val="6A4C93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 相关</a:t>
            </a:r>
          </a:p>
        </p:txBody>
      </p:sp>
      <p:sp>
        <p:nvSpPr>
          <p:cNvPr id="29" name="CardBody 29"/>
          <p:cNvSpPr/>
          <p:nvPr/>
        </p:nvSpPr>
        <p:spPr>
          <a:xfrm>
            <a:off x="2011680" y="5056632"/>
            <a:ext cx="3118104" cy="1014984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106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与公司当期方向对齐。</a:t>
            </a:r>
            <a:b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自查：达成之后，产品结构、客户结构有什么改变？</a:t>
            </a:r>
          </a:p>
        </p:txBody>
      </p:sp>
      <p:sp>
        <p:nvSpPr>
          <p:cNvPr id="30" name="Shape 30"/>
          <p:cNvSpPr/>
          <p:nvPr/>
        </p:nvSpPr>
        <p:spPr>
          <a:xfrm>
            <a:off x="5394960" y="4700016"/>
            <a:ext cx="3282696" cy="138988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11828C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1" name="CardHead 31"/>
          <p:cNvSpPr/>
          <p:nvPr/>
        </p:nvSpPr>
        <p:spPr>
          <a:xfrm>
            <a:off x="5394960" y="4700016"/>
            <a:ext cx="3282696" cy="347472"/>
          </a:xfrm>
          <a:prstGeom prst="rect">
            <a:avLst/>
          </a:prstGeom>
          <a:solidFill>
            <a:srgbClr val="11828C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 有期限</a:t>
            </a:r>
          </a:p>
        </p:txBody>
      </p:sp>
      <p:sp>
        <p:nvSpPr>
          <p:cNvPr id="32" name="CardBody 32"/>
          <p:cNvSpPr/>
          <p:nvPr/>
        </p:nvSpPr>
        <p:spPr>
          <a:xfrm>
            <a:off x="5477256" y="5056632"/>
            <a:ext cx="3118104" cy="1014984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106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要有终点，更要有中间节点。</a:t>
            </a:r>
            <a:b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自查：第一个可以验收的节点在第几周？</a:t>
            </a:r>
          </a:p>
        </p:txBody>
      </p:sp>
      <p:sp>
        <p:nvSpPr>
          <p:cNvPr id="33" name="Shape 33"/>
          <p:cNvSpPr/>
          <p:nvPr/>
        </p:nvSpPr>
        <p:spPr>
          <a:xfrm>
            <a:off x="8860536" y="4700016"/>
            <a:ext cx="3282696" cy="138988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4" name="CardHead 34"/>
          <p:cNvSpPr/>
          <p:nvPr/>
        </p:nvSpPr>
        <p:spPr>
          <a:xfrm>
            <a:off x="8860536" y="4700016"/>
            <a:ext cx="3282696" cy="347472"/>
          </a:xfrm>
          <a:prstGeom prst="rect">
            <a:avLst/>
          </a:prstGeom>
          <a:solidFill>
            <a:srgbClr val="C02F2B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＋ 过程指标</a:t>
            </a:r>
          </a:p>
        </p:txBody>
      </p:sp>
      <p:sp>
        <p:nvSpPr>
          <p:cNvPr id="35" name="CardBody 35"/>
          <p:cNvSpPr/>
          <p:nvPr/>
        </p:nvSpPr>
        <p:spPr>
          <a:xfrm>
            <a:off x="8942832" y="5056632"/>
            <a:ext cx="3118104" cy="1014984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106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再加一条：支撑它的关键动作是什么、每周几次。</a:t>
            </a:r>
            <a:b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没有过程指标，年中救不回。</a:t>
            </a:r>
          </a:p>
        </p:txBody>
      </p:sp>
      <p:sp>
        <p:nvSpPr>
          <p:cNvPr id="36" name="Shape 36"/>
          <p:cNvSpPr/>
          <p:nvPr/>
        </p:nvSpPr>
        <p:spPr>
          <a:xfrm>
            <a:off x="1929384" y="6163056"/>
            <a:ext cx="10213848" cy="512064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7" name="Banner 37"/>
          <p:cNvSpPr/>
          <p:nvPr/>
        </p:nvSpPr>
        <p:spPr>
          <a:xfrm>
            <a:off x="2075688" y="6163056"/>
            <a:ext cx="9921240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buNone/>
            </a:pPr>
            <a:r>
              <a:rPr lang="zh-CN" altLang="en-US" sz="23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一句话　</a:t>
            </a:r>
            <a:r>
              <a:rPr lang="zh-CN" altLang="en-US" sz="23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好目标只有一个标准：看完它，你知道明天早上第一件事做什么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 &amp; 开发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第一讲 · 理解价值</a:t>
            </a:r>
          </a:p>
        </p:txBody>
      </p:sp>
      <p:sp>
        <p:nvSpPr>
          <p:cNvPr id="5" name="Nav 5"/>
          <p:cNvSpPr/>
          <p:nvPr/>
        </p:nvSpPr>
        <p:spPr>
          <a:xfrm>
            <a:off x="3153148" y="658368"/>
            <a:ext cx="2878828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第二讲 · 评估价值</a:t>
            </a:r>
          </a:p>
        </p:txBody>
      </p:sp>
      <p:sp>
        <p:nvSpPr>
          <p:cNvPr id="6" name="Nav 6"/>
          <p:cNvSpPr/>
          <p:nvPr/>
        </p:nvSpPr>
        <p:spPr>
          <a:xfrm>
            <a:off x="6159993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第三讲 · 开发价值</a:t>
            </a:r>
          </a:p>
        </p:txBody>
      </p:sp>
      <p:sp>
        <p:nvSpPr>
          <p:cNvPr id="7" name="Nav 7"/>
          <p:cNvSpPr/>
          <p:nvPr/>
        </p:nvSpPr>
        <p:spPr>
          <a:xfrm>
            <a:off x="9166837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第四讲 · 落地价值</a:t>
            </a:r>
          </a:p>
        </p:txBody>
      </p:sp>
      <p:cxnSp>
        <p:nvCxnSpPr>
          <p:cNvPr id="8" name="Connector 8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9" name="Connector 9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10" name="Side 10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目标设定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与过程跟踪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人才盘点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与九宫格</a:t>
            </a:r>
          </a:p>
        </p:txBody>
      </p:sp>
      <p:sp>
        <p:nvSpPr>
          <p:cNvPr id="12" name="Side 12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360 度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人才画像</a:t>
            </a:r>
          </a:p>
        </p:txBody>
      </p:sp>
      <p:pic>
        <p:nvPicPr>
          <p:cNvPr id="13" name="Art 13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1883664" y="1188720"/>
            <a:ext cx="10259568" cy="5522976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 &amp; 开发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第一讲 · 理解价值</a:t>
            </a:r>
          </a:p>
        </p:txBody>
      </p:sp>
      <p:sp>
        <p:nvSpPr>
          <p:cNvPr id="5" name="Nav 5"/>
          <p:cNvSpPr/>
          <p:nvPr/>
        </p:nvSpPr>
        <p:spPr>
          <a:xfrm>
            <a:off x="3153148" y="658368"/>
            <a:ext cx="2878828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第二讲 · 评估价值</a:t>
            </a:r>
          </a:p>
        </p:txBody>
      </p:sp>
      <p:sp>
        <p:nvSpPr>
          <p:cNvPr id="6" name="Nav 6"/>
          <p:cNvSpPr/>
          <p:nvPr/>
        </p:nvSpPr>
        <p:spPr>
          <a:xfrm>
            <a:off x="6159993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第三讲 · 开发价值</a:t>
            </a:r>
          </a:p>
        </p:txBody>
      </p:sp>
      <p:sp>
        <p:nvSpPr>
          <p:cNvPr id="7" name="Nav 7"/>
          <p:cNvSpPr/>
          <p:nvPr/>
        </p:nvSpPr>
        <p:spPr>
          <a:xfrm>
            <a:off x="9166837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第四讲 · 落地价值</a:t>
            </a:r>
          </a:p>
        </p:txBody>
      </p:sp>
      <p:cxnSp>
        <p:nvCxnSpPr>
          <p:cNvPr id="8" name="Connector 8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9" name="Connector 9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10" name="Side 10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目标设定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与过程跟踪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人才盘点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与九宫格</a:t>
            </a:r>
          </a:p>
        </p:txBody>
      </p:sp>
      <p:sp>
        <p:nvSpPr>
          <p:cNvPr id="12" name="Side 12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360 度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人才画像</a:t>
            </a:r>
          </a:p>
        </p:txBody>
      </p:sp>
      <p:sp>
        <p:nvSpPr>
          <p:cNvPr id="13" name="H1 13"/>
          <p:cNvSpPr/>
          <p:nvPr/>
        </p:nvSpPr>
        <p:spPr>
          <a:xfrm>
            <a:off x="1929384" y="1161288"/>
            <a:ext cx="10213848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9144" rIns="73152" bIns="9144" rtlCol="0" anchor="ctr">
            <a:noAutofit/>
          </a:bodyPr>
          <a:lstStyle/>
          <a:p>
            <a:pPr algn="l">
              <a:buNone/>
            </a:pPr>
            <a:r>
              <a:rPr lang="zh-CN" altLang="en-US" sz="27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结果评估与反馈：把评价讲成对方听得进去的话</a:t>
            </a:r>
          </a:p>
        </p:txBody>
      </p:sp>
      <p:sp>
        <p:nvSpPr>
          <p:cNvPr id="14" name="H2 14"/>
          <p:cNvSpPr/>
          <p:nvPr/>
        </p:nvSpPr>
        <p:spPr>
          <a:xfrm>
            <a:off x="1929384" y="1636776"/>
            <a:ext cx="10213848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9144" rIns="73152" bIns="9144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SBI ＋ 下一步——四句话，三分钟，不伤人也不含糊</a:t>
            </a:r>
          </a:p>
        </p:txBody>
      </p:sp>
      <p:sp>
        <p:nvSpPr>
          <p:cNvPr id="15" name="Shape 15"/>
          <p:cNvSpPr/>
          <p:nvPr/>
        </p:nvSpPr>
        <p:spPr>
          <a:xfrm>
            <a:off x="1929384" y="1993392"/>
            <a:ext cx="10213848" cy="745236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6" name="CardHead 16"/>
          <p:cNvSpPr/>
          <p:nvPr/>
        </p:nvSpPr>
        <p:spPr>
          <a:xfrm>
            <a:off x="1929384" y="1993392"/>
            <a:ext cx="10213848" cy="347472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 情境　说清是哪一次</a:t>
            </a:r>
          </a:p>
        </p:txBody>
      </p:sp>
      <p:sp>
        <p:nvSpPr>
          <p:cNvPr id="17" name="CardBody 17"/>
          <p:cNvSpPr/>
          <p:nvPr/>
        </p:nvSpPr>
        <p:spPr>
          <a:xfrm>
            <a:off x="2011680" y="2350008"/>
            <a:ext cx="10049256" cy="370332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106000"/>
              </a:lnSpc>
              <a:buNone/>
            </a:pPr>
            <a:r>
              <a:rPr lang="zh-CN" altLang="en-US" sz="19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× 「你最近状态不好。」　√ 「上周三去 XX 电子那次。」——锁定一件事，对方才不防御。</a:t>
            </a:r>
          </a:p>
        </p:txBody>
      </p:sp>
      <p:sp>
        <p:nvSpPr>
          <p:cNvPr id="18" name="Shape 18"/>
          <p:cNvSpPr/>
          <p:nvPr/>
        </p:nvSpPr>
        <p:spPr>
          <a:xfrm>
            <a:off x="1929384" y="2866644"/>
            <a:ext cx="10213848" cy="745236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9" name="CardHead 19"/>
          <p:cNvSpPr/>
          <p:nvPr/>
        </p:nvSpPr>
        <p:spPr>
          <a:xfrm>
            <a:off x="1929384" y="2866644"/>
            <a:ext cx="10213848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 行为　只说看见的动作</a:t>
            </a:r>
          </a:p>
        </p:txBody>
      </p:sp>
      <p:sp>
        <p:nvSpPr>
          <p:cNvPr id="20" name="CardBody 20"/>
          <p:cNvSpPr/>
          <p:nvPr/>
        </p:nvSpPr>
        <p:spPr>
          <a:xfrm>
            <a:off x="2011680" y="3223260"/>
            <a:ext cx="10049256" cy="370332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106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× 「你不够专业。」　√ 「客户问 4V 高频寿命，你说回去查，三天没回。」——说动作，不评价人。</a:t>
            </a:r>
          </a:p>
        </p:txBody>
      </p:sp>
      <p:sp>
        <p:nvSpPr>
          <p:cNvPr id="21" name="Shape 21"/>
          <p:cNvSpPr/>
          <p:nvPr/>
        </p:nvSpPr>
        <p:spPr>
          <a:xfrm>
            <a:off x="1929384" y="3739896"/>
            <a:ext cx="10213848" cy="745236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2" name="CardHead 22"/>
          <p:cNvSpPr/>
          <p:nvPr/>
        </p:nvSpPr>
        <p:spPr>
          <a:xfrm>
            <a:off x="1929384" y="3739896"/>
            <a:ext cx="10213848" cy="347472"/>
          </a:xfrm>
          <a:prstGeom prst="rect">
            <a:avLst/>
          </a:prstGeom>
          <a:solidFill>
            <a:srgbClr val="E55E24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 影响　说清后果</a:t>
            </a:r>
          </a:p>
        </p:txBody>
      </p:sp>
      <p:sp>
        <p:nvSpPr>
          <p:cNvPr id="23" name="CardBody 23"/>
          <p:cNvSpPr/>
          <p:nvPr/>
        </p:nvSpPr>
        <p:spPr>
          <a:xfrm>
            <a:off x="2011680" y="4096512"/>
            <a:ext cx="10049256" cy="370332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106000"/>
              </a:lnSpc>
              <a:buNone/>
            </a:pPr>
            <a:r>
              <a:rPr lang="zh-CN" altLang="en-US" sz="18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× 「这样不行。」　√ 「他们技术当场转问另一家，这工位进不去了。」——让他自己感受代价。</a:t>
            </a:r>
          </a:p>
        </p:txBody>
      </p:sp>
      <p:sp>
        <p:nvSpPr>
          <p:cNvPr id="24" name="Shape 24"/>
          <p:cNvSpPr/>
          <p:nvPr/>
        </p:nvSpPr>
        <p:spPr>
          <a:xfrm>
            <a:off x="1929384" y="4613148"/>
            <a:ext cx="10213848" cy="745236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5" name="CardHead 25"/>
          <p:cNvSpPr/>
          <p:nvPr/>
        </p:nvSpPr>
        <p:spPr>
          <a:xfrm>
            <a:off x="1929384" y="4613148"/>
            <a:ext cx="10213848" cy="347472"/>
          </a:xfrm>
          <a:prstGeom prst="rect">
            <a:avLst/>
          </a:prstGeom>
          <a:solidFill>
            <a:srgbClr val="C02F2B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＋ 下一步　最关键的一句</a:t>
            </a:r>
          </a:p>
        </p:txBody>
      </p:sp>
      <p:sp>
        <p:nvSpPr>
          <p:cNvPr id="26" name="CardBody 26"/>
          <p:cNvSpPr/>
          <p:nvPr/>
        </p:nvSpPr>
        <p:spPr>
          <a:xfrm>
            <a:off x="2011680" y="4969764"/>
            <a:ext cx="10049256" cy="370332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106000"/>
              </a:lnSpc>
              <a:buNone/>
            </a:pPr>
            <a:r>
              <a:rPr lang="zh-CN" altLang="en-US" sz="19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讲完接一句：「下次答不上来的问题，你打算怎么处理？」——他说出口的，才会去做。</a:t>
            </a:r>
          </a:p>
        </p:txBody>
      </p:sp>
      <p:sp>
        <p:nvSpPr>
          <p:cNvPr id="27" name="Shape 27"/>
          <p:cNvSpPr/>
          <p:nvPr/>
        </p:nvSpPr>
        <p:spPr>
          <a:xfrm>
            <a:off x="1929384" y="5486400"/>
            <a:ext cx="10213848" cy="118872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67E2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8" name="CardHead 28"/>
          <p:cNvSpPr/>
          <p:nvPr/>
        </p:nvSpPr>
        <p:spPr>
          <a:xfrm>
            <a:off x="1929384" y="5486400"/>
            <a:ext cx="10213848" cy="3474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三条纪律</a:t>
            </a:r>
          </a:p>
        </p:txBody>
      </p:sp>
      <p:sp>
        <p:nvSpPr>
          <p:cNvPr id="29" name="CardBody 29"/>
          <p:cNvSpPr/>
          <p:nvPr/>
        </p:nvSpPr>
        <p:spPr>
          <a:xfrm>
            <a:off x="2011680" y="5843016"/>
            <a:ext cx="10049256" cy="813816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84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24 小时内说，过了一周再提，对方只会觉得你在秋后算账；</a:t>
            </a:r>
          </a:p>
          <a:p>
            <a:pPr algn="l">
              <a:lnSpc>
                <a:spcPct val="84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一次只说一件事，攒三件一起说等于批斗；</a:t>
            </a:r>
          </a:p>
          <a:p>
            <a:pPr algn="l">
              <a:lnSpc>
                <a:spcPct val="84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不用「但是」——所有人都学会了直接跳到「但是」后面听。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 &amp; 开发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第一讲 · 理解价值</a:t>
            </a:r>
          </a:p>
        </p:txBody>
      </p:sp>
      <p:sp>
        <p:nvSpPr>
          <p:cNvPr id="5" name="Nav 5"/>
          <p:cNvSpPr/>
          <p:nvPr/>
        </p:nvSpPr>
        <p:spPr>
          <a:xfrm>
            <a:off x="3153148" y="658368"/>
            <a:ext cx="2878828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第二讲 · 评估价值</a:t>
            </a:r>
          </a:p>
        </p:txBody>
      </p:sp>
      <p:sp>
        <p:nvSpPr>
          <p:cNvPr id="6" name="Nav 6"/>
          <p:cNvSpPr/>
          <p:nvPr/>
        </p:nvSpPr>
        <p:spPr>
          <a:xfrm>
            <a:off x="6159993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第三讲 · 开发价值</a:t>
            </a:r>
          </a:p>
        </p:txBody>
      </p:sp>
      <p:sp>
        <p:nvSpPr>
          <p:cNvPr id="7" name="Nav 7"/>
          <p:cNvSpPr/>
          <p:nvPr/>
        </p:nvSpPr>
        <p:spPr>
          <a:xfrm>
            <a:off x="9166837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第四讲 · 落地价值</a:t>
            </a:r>
          </a:p>
        </p:txBody>
      </p:sp>
      <p:cxnSp>
        <p:nvCxnSpPr>
          <p:cNvPr id="8" name="Connector 8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9" name="Connector 9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10" name="Side 10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目标设定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与过程跟踪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人才盘点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与九宫格</a:t>
            </a:r>
          </a:p>
        </p:txBody>
      </p:sp>
      <p:sp>
        <p:nvSpPr>
          <p:cNvPr id="12" name="Side 12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360 度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人才画像</a:t>
            </a:r>
          </a:p>
        </p:txBody>
      </p:sp>
      <p:sp>
        <p:nvSpPr>
          <p:cNvPr id="13" name="H1 13"/>
          <p:cNvSpPr/>
          <p:nvPr/>
        </p:nvSpPr>
        <p:spPr>
          <a:xfrm>
            <a:off x="1929384" y="1161288"/>
            <a:ext cx="10213848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9144" rIns="73152" bIns="9144" rtlCol="0" anchor="ctr">
            <a:noAutofit/>
          </a:bodyPr>
          <a:lstStyle/>
          <a:p>
            <a:pPr algn="l">
              <a:buNone/>
            </a:pPr>
            <a:r>
              <a:rPr lang="zh-CN" altLang="en-US" sz="27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现场演练（20 分钟）：给自己定一个真正可查的季度目标</a:t>
            </a:r>
          </a:p>
        </p:txBody>
      </p:sp>
      <p:sp>
        <p:nvSpPr>
          <p:cNvPr id="14" name="H2 14"/>
          <p:cNvSpPr/>
          <p:nvPr/>
        </p:nvSpPr>
        <p:spPr>
          <a:xfrm>
            <a:off x="1929384" y="1636776"/>
            <a:ext cx="10213848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9144" rIns="73152" bIns="9144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不写「提升」「加强」「优化」这三个词，一个也不许出现</a:t>
            </a:r>
          </a:p>
        </p:txBody>
      </p:sp>
      <p:sp>
        <p:nvSpPr>
          <p:cNvPr id="15" name="Shape 15"/>
          <p:cNvSpPr/>
          <p:nvPr/>
        </p:nvSpPr>
        <p:spPr>
          <a:xfrm>
            <a:off x="1929384" y="1993392"/>
            <a:ext cx="10213848" cy="2432304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6" name="CardHead 16"/>
          <p:cNvSpPr/>
          <p:nvPr/>
        </p:nvSpPr>
        <p:spPr>
          <a:xfrm>
            <a:off x="1929384" y="1993392"/>
            <a:ext cx="10213848" cy="347472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模板：照着填，填不出来的那一格就是你还没想清楚的地方</a:t>
            </a:r>
          </a:p>
        </p:txBody>
      </p:sp>
      <p:sp>
        <p:nvSpPr>
          <p:cNvPr id="17" name="CardBody 17"/>
          <p:cNvSpPr/>
          <p:nvPr/>
        </p:nvSpPr>
        <p:spPr>
          <a:xfrm>
            <a:off x="2011680" y="2350008"/>
            <a:ext cx="10049256" cy="20574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对象：哪个行业 / 哪个区域 / 哪类客户（写到能派人去的颗粒度）</a:t>
            </a:r>
          </a:p>
          <a:p>
            <a:pPr algn="l">
              <a:spcBef>
                <a:spcPts val="300"/>
              </a:spcBef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基线：现在是多少？（数字 + 统计口径 + 取数来源，三样缺一不可）</a:t>
            </a:r>
          </a:p>
          <a:p>
            <a:pPr algn="l">
              <a:spcBef>
                <a:spcPts val="300"/>
              </a:spcBef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目标值与期限：到几月几日，达到多少</a:t>
            </a:r>
          </a:p>
          <a:p>
            <a:pPr algn="l">
              <a:spcBef>
                <a:spcPts val="300"/>
              </a:spcBef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关键动作：为了达成它，我每周固定做什么、做几次</a:t>
            </a:r>
          </a:p>
          <a:p>
            <a:pPr algn="l">
              <a:spcBef>
                <a:spcPts val="300"/>
              </a:spcBef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⑤ 中间节点：第 4 周 / 第 8 周分别应该看到什么，看不到就报警</a:t>
            </a:r>
          </a:p>
          <a:p>
            <a:pPr algn="l">
              <a:spcBef>
                <a:spcPts val="300"/>
              </a:spcBef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⑥ 需要什么支持：技术陪访几次、样品预算多少、要不要经理出面</a:t>
            </a:r>
          </a:p>
        </p:txBody>
      </p:sp>
      <p:sp>
        <p:nvSpPr>
          <p:cNvPr id="18" name="Shape 18"/>
          <p:cNvSpPr/>
          <p:nvPr/>
        </p:nvSpPr>
        <p:spPr>
          <a:xfrm>
            <a:off x="1929384" y="4645152"/>
            <a:ext cx="4988052" cy="129844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9" name="CardHead 19"/>
          <p:cNvSpPr/>
          <p:nvPr/>
        </p:nvSpPr>
        <p:spPr>
          <a:xfrm>
            <a:off x="1929384" y="4645152"/>
            <a:ext cx="4988052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两两互查（8 分钟）</a:t>
            </a:r>
          </a:p>
        </p:txBody>
      </p:sp>
      <p:sp>
        <p:nvSpPr>
          <p:cNvPr id="20" name="CardBody 20"/>
          <p:cNvSpPr/>
          <p:nvPr/>
        </p:nvSpPr>
        <p:spPr>
          <a:xfrm>
            <a:off x="2011680" y="5001768"/>
            <a:ext cx="4823460" cy="923544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92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把你写的目标念给对方听，他只问一个问题：</a:t>
            </a:r>
          </a:p>
          <a:p>
            <a:pPr algn="l">
              <a:lnSpc>
                <a:spcPct val="92000"/>
              </a:lnSpc>
              <a:spcBef>
                <a:spcPts val="300"/>
              </a:spcBef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「照这个目标，我明天第一件事做什么？」答不上来就回去改第 ④ 项。</a:t>
            </a:r>
          </a:p>
        </p:txBody>
      </p:sp>
      <p:sp>
        <p:nvSpPr>
          <p:cNvPr id="21" name="Shape 21"/>
          <p:cNvSpPr/>
          <p:nvPr/>
        </p:nvSpPr>
        <p:spPr>
          <a:xfrm>
            <a:off x="7155180" y="4645152"/>
            <a:ext cx="4988052" cy="129844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6A4C9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2" name="CardHead 22"/>
          <p:cNvSpPr/>
          <p:nvPr/>
        </p:nvSpPr>
        <p:spPr>
          <a:xfrm>
            <a:off x="7155180" y="4645152"/>
            <a:ext cx="4988052" cy="347472"/>
          </a:xfrm>
          <a:prstGeom prst="rect">
            <a:avLst/>
          </a:prstGeom>
          <a:solidFill>
            <a:srgbClr val="6A4C93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管理者版（同样 20 分钟）</a:t>
            </a:r>
          </a:p>
        </p:txBody>
      </p:sp>
      <p:sp>
        <p:nvSpPr>
          <p:cNvPr id="23" name="CardBody 23"/>
          <p:cNvSpPr/>
          <p:nvPr/>
        </p:nvSpPr>
        <p:spPr>
          <a:xfrm>
            <a:off x="7237476" y="5001768"/>
            <a:ext cx="4823460" cy="923544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92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把团队目标拆成人。拆完检查两件事：</a:t>
            </a:r>
          </a:p>
          <a:p>
            <a:pPr algn="l">
              <a:lnSpc>
                <a:spcPct val="92000"/>
              </a:lnSpc>
              <a:spcBef>
                <a:spcPts val="300"/>
              </a:spcBef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每个人的目标加起来是否大于团队目标（要留出损耗）；有没有人的目标只是「配合别人」。</a:t>
            </a:r>
          </a:p>
        </p:txBody>
      </p:sp>
      <p:sp>
        <p:nvSpPr>
          <p:cNvPr id="24" name="Shape 24"/>
          <p:cNvSpPr/>
          <p:nvPr/>
        </p:nvSpPr>
        <p:spPr>
          <a:xfrm>
            <a:off x="1929384" y="6053328"/>
            <a:ext cx="10213848" cy="566928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5" name="Banner 25"/>
          <p:cNvSpPr/>
          <p:nvPr/>
        </p:nvSpPr>
        <p:spPr>
          <a:xfrm>
            <a:off x="2075688" y="6053328"/>
            <a:ext cx="9921240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交付物　</a:t>
            </a: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这张表下午写 IDP 时直接接上——目标是「要到哪」，IDP 是「怎么长成能去的人」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 &amp; 开发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第一讲 · 理解价值</a:t>
            </a:r>
          </a:p>
        </p:txBody>
      </p:sp>
      <p:sp>
        <p:nvSpPr>
          <p:cNvPr id="5" name="Nav 5"/>
          <p:cNvSpPr/>
          <p:nvPr/>
        </p:nvSpPr>
        <p:spPr>
          <a:xfrm>
            <a:off x="3153148" y="658368"/>
            <a:ext cx="2878828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第二讲 · 评估价值</a:t>
            </a:r>
          </a:p>
        </p:txBody>
      </p:sp>
      <p:sp>
        <p:nvSpPr>
          <p:cNvPr id="6" name="Nav 6"/>
          <p:cNvSpPr/>
          <p:nvPr/>
        </p:nvSpPr>
        <p:spPr>
          <a:xfrm>
            <a:off x="6159993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第三讲 · 开发价值</a:t>
            </a:r>
          </a:p>
        </p:txBody>
      </p:sp>
      <p:sp>
        <p:nvSpPr>
          <p:cNvPr id="7" name="Nav 7"/>
          <p:cNvSpPr/>
          <p:nvPr/>
        </p:nvSpPr>
        <p:spPr>
          <a:xfrm>
            <a:off x="9166837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第四讲 · 落地价值</a:t>
            </a:r>
          </a:p>
        </p:txBody>
      </p:sp>
      <p:cxnSp>
        <p:nvCxnSpPr>
          <p:cNvPr id="8" name="Connector 8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9" name="Connector 9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10" name="Side 10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目标设定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与过程跟踪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人才盘点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与九宫格</a:t>
            </a:r>
          </a:p>
        </p:txBody>
      </p:sp>
      <p:sp>
        <p:nvSpPr>
          <p:cNvPr id="12" name="Side 12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360 度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人才画像</a:t>
            </a:r>
          </a:p>
        </p:txBody>
      </p:sp>
      <p:sp>
        <p:nvSpPr>
          <p:cNvPr id="13" name="Chip 13"/>
          <p:cNvSpPr/>
          <p:nvPr/>
        </p:nvSpPr>
        <p:spPr>
          <a:xfrm>
            <a:off x="1929384" y="1243584"/>
            <a:ext cx="1517904" cy="512064"/>
          </a:xfrm>
          <a:prstGeom prst="roundRect">
            <a:avLst>
              <a:gd name="adj" fmla="val 22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情境 3</a:t>
            </a:r>
          </a:p>
        </p:txBody>
      </p:sp>
      <p:sp>
        <p:nvSpPr>
          <p:cNvPr id="14" name="ScTitle 14"/>
          <p:cNvSpPr/>
          <p:nvPr/>
        </p:nvSpPr>
        <p:spPr>
          <a:xfrm>
            <a:off x="3584448" y="1225296"/>
            <a:ext cx="8558784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buNone/>
            </a:pPr>
            <a:r>
              <a:rPr lang="zh-CN" altLang="en-US" sz="2400" b="1" dirty="0">
                <a:solidFill>
                  <a:srgbClr val="F5C8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拜访量从每天 5 家提到 8 家，三个月后新客户数反而降了</a:t>
            </a:r>
          </a:p>
        </p:txBody>
      </p:sp>
      <p:sp>
        <p:nvSpPr>
          <p:cNvPr id="15" name="Shape 15"/>
          <p:cNvSpPr/>
          <p:nvPr/>
        </p:nvSpPr>
        <p:spPr>
          <a:xfrm>
            <a:off x="1929384" y="1847088"/>
            <a:ext cx="10213848" cy="3127248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2E7D3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6" name="ScHead 16"/>
          <p:cNvSpPr/>
          <p:nvPr/>
        </p:nvSpPr>
        <p:spPr>
          <a:xfrm>
            <a:off x="1929384" y="1847088"/>
            <a:ext cx="10213848" cy="42062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wrap="square" lIns="109728" tIns="18288" rIns="109728" bIns="18288" rtlCol="0" anchor="ctr">
            <a:noAutofit/>
          </a:bodyPr>
          <a:lstStyle/>
          <a:p>
            <a:pPr algn="ctr">
              <a:buNone/>
            </a:pPr>
            <a:r>
              <a:rPr lang="zh-CN" altLang="en-US" sz="2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  场  情  境</a:t>
            </a:r>
          </a:p>
        </p:txBody>
      </p:sp>
      <p:sp>
        <p:nvSpPr>
          <p:cNvPr id="17" name="ScBody 17"/>
          <p:cNvSpPr/>
          <p:nvPr/>
        </p:nvSpPr>
        <p:spPr>
          <a:xfrm>
            <a:off x="2075688" y="2304288"/>
            <a:ext cx="9921240" cy="2615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94000"/>
              </a:lnSpc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某营业部一季度新客户开发只完成 40%。经理决定抓过程：拜访量由每天 5 家提到 8 家，当天拍照定位打卡，未达标扣当月绩效分。</a:t>
            </a:r>
          </a:p>
          <a:p>
            <a:pPr algn="l">
              <a:lnSpc>
                <a:spcPct val="94000"/>
              </a:lnSpc>
              <a:spcBef>
                <a:spcPts val="400"/>
              </a:spcBef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第一个月数据非常好看：人均拜访量从 21 家/周升到 34 家/周，全员达标。</a:t>
            </a:r>
          </a:p>
          <a:p>
            <a:pPr algn="l">
              <a:lnSpc>
                <a:spcPct val="94000"/>
              </a:lnSpc>
              <a:spcBef>
                <a:spcPts val="400"/>
              </a:spcBef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第三个月复盘：新增有效客户比上一季度少了 3 家；拜访记录里「已联系，客户暂无需求」占了 62%；技术陪访申请数下降了一半。</a:t>
            </a:r>
          </a:p>
          <a:p>
            <a:pPr algn="l">
              <a:lnSpc>
                <a:spcPct val="94000"/>
              </a:lnSpc>
              <a:spcBef>
                <a:spcPts val="400"/>
              </a:spcBef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有业务员私下说：「8 家跑下来，一家最多待二十分钟，工况根本来不及问，不如挑好见的、离得近的凑数。」</a:t>
            </a:r>
          </a:p>
          <a:p>
            <a:pPr algn="l">
              <a:lnSpc>
                <a:spcPct val="94000"/>
              </a:lnSpc>
              <a:spcBef>
                <a:spcPts val="400"/>
              </a:spcBef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而那几家真正有机会的锂电设备厂，三个月里平均只被跟进了 2 次。</a:t>
            </a:r>
          </a:p>
        </p:txBody>
      </p:sp>
      <p:sp>
        <p:nvSpPr>
          <p:cNvPr id="18" name="ScAsk 18"/>
          <p:cNvSpPr/>
          <p:nvPr/>
        </p:nvSpPr>
        <p:spPr>
          <a:xfrm>
            <a:off x="1929384" y="5065776"/>
            <a:ext cx="10213848" cy="640080"/>
          </a:xfrm>
          <a:prstGeom prst="roundRect">
            <a:avLst>
              <a:gd name="adj" fmla="val 20000"/>
            </a:avLst>
          </a:prstGeom>
          <a:solidFill>
            <a:srgbClr val="2C6B53"/>
          </a:solidFill>
          <a:ln w="15875" cap="flat" cmpd="sng" algn="ctr">
            <a:solidFill>
              <a:srgbClr val="F5C842"/>
            </a:solidFill>
          </a:ln>
        </p:spPr>
        <p:txBody>
          <a:bodyPr wrap="square" lIns="164592" tIns="36576" rIns="146304" bIns="36576" rtlCol="0" anchor="ctr">
            <a:noAutofit/>
          </a:bodyPr>
          <a:lstStyle/>
          <a:p>
            <a:pPr algn="l">
              <a:buNone/>
            </a:pPr>
            <a:r>
              <a:rPr lang="zh-CN" altLang="en-US" sz="2200" b="1" dirty="0">
                <a:solidFill>
                  <a:srgbClr val="F5C8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讨 论　</a:t>
            </a:r>
            <a:r>
              <a:rPr lang="zh-CN" altLang="en-US" sz="2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过程指标本身没错，为什么一考核就变了味？如果重来，你会考核什么？</a:t>
            </a:r>
          </a:p>
        </p:txBody>
      </p:sp>
      <p:sp>
        <p:nvSpPr>
          <p:cNvPr id="19" name="ScCommon 19"/>
          <p:cNvSpPr/>
          <p:nvPr/>
        </p:nvSpPr>
        <p:spPr>
          <a:xfrm>
            <a:off x="1929384" y="5779008"/>
            <a:ext cx="10213848" cy="749808"/>
          </a:xfrm>
          <a:prstGeom prst="roundRect">
            <a:avLst>
              <a:gd name="adj" fmla="val 16000"/>
            </a:avLst>
          </a:prstGeom>
          <a:solidFill>
            <a:srgbClr val="3A3A3A"/>
          </a:solidFill>
          <a:ln w="15875" cap="flat" cmpd="sng" algn="ctr">
            <a:solidFill>
              <a:srgbClr val="9A9A9A"/>
            </a:solidFill>
          </a:ln>
        </p:spPr>
        <p:txBody>
          <a:bodyPr wrap="square" lIns="164592" tIns="36576" rIns="146304" bIns="36576" rtlCol="0" anchor="ctr">
            <a:noAutofit/>
          </a:bodyPr>
          <a:lstStyle/>
          <a:p>
            <a:pPr algn="l">
              <a:buNone/>
            </a:pPr>
            <a:r>
              <a:rPr lang="zh-CN" altLang="en-US" sz="1950" b="1" dirty="0">
                <a:solidFill>
                  <a:srgbClr val="FFC9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普遍做法　</a:t>
            </a:r>
            <a:r>
              <a:rPr lang="zh-CN" altLang="en-US" sz="19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把拜访量指标定得更细、加上拍照与定位核查、再加一条「有效拜访」的定义，继续在量上加压。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 &amp; 开发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第一讲 · 理解价值</a:t>
            </a:r>
          </a:p>
        </p:txBody>
      </p:sp>
      <p:sp>
        <p:nvSpPr>
          <p:cNvPr id="5" name="Nav 5"/>
          <p:cNvSpPr/>
          <p:nvPr/>
        </p:nvSpPr>
        <p:spPr>
          <a:xfrm>
            <a:off x="3153148" y="658368"/>
            <a:ext cx="2878828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第二讲 · 评估价值</a:t>
            </a:r>
          </a:p>
        </p:txBody>
      </p:sp>
      <p:sp>
        <p:nvSpPr>
          <p:cNvPr id="6" name="Nav 6"/>
          <p:cNvSpPr/>
          <p:nvPr/>
        </p:nvSpPr>
        <p:spPr>
          <a:xfrm>
            <a:off x="6159993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第三讲 · 开发价值</a:t>
            </a:r>
          </a:p>
        </p:txBody>
      </p:sp>
      <p:sp>
        <p:nvSpPr>
          <p:cNvPr id="7" name="Nav 7"/>
          <p:cNvSpPr/>
          <p:nvPr/>
        </p:nvSpPr>
        <p:spPr>
          <a:xfrm>
            <a:off x="9166837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第四讲 · 落地价值</a:t>
            </a:r>
          </a:p>
        </p:txBody>
      </p:sp>
      <p:cxnSp>
        <p:nvCxnSpPr>
          <p:cNvPr id="8" name="Connector 8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9" name="Connector 9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10" name="Side 10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目标设定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与过程跟踪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人才盘点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与九宫格</a:t>
            </a:r>
          </a:p>
        </p:txBody>
      </p:sp>
      <p:sp>
        <p:nvSpPr>
          <p:cNvPr id="12" name="Side 12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360 度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人才画像</a:t>
            </a:r>
          </a:p>
        </p:txBody>
      </p:sp>
      <p:sp>
        <p:nvSpPr>
          <p:cNvPr id="13" name="H1 13"/>
          <p:cNvSpPr/>
          <p:nvPr/>
        </p:nvSpPr>
        <p:spPr>
          <a:xfrm>
            <a:off x="1929384" y="1161288"/>
            <a:ext cx="10213848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9144" rIns="73152" bIns="9144" rtlCol="0" anchor="ctr">
            <a:noAutofit/>
          </a:bodyPr>
          <a:lstStyle/>
          <a:p>
            <a:pPr algn="l">
              <a:buNone/>
            </a:pPr>
            <a:r>
              <a:rPr lang="zh-CN" altLang="en-US" sz="27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人才盘点：盘的不是人，是「人和位置的匹配」</a:t>
            </a:r>
          </a:p>
        </p:txBody>
      </p:sp>
      <p:sp>
        <p:nvSpPr>
          <p:cNvPr id="14" name="H2 14"/>
          <p:cNvSpPr/>
          <p:nvPr/>
        </p:nvSpPr>
        <p:spPr>
          <a:xfrm>
            <a:off x="1929384" y="1636776"/>
            <a:ext cx="10213848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9144" rIns="73152" bIns="9144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两个维度、四份证据——缺一个，盘出来的都是印象</a:t>
            </a:r>
          </a:p>
        </p:txBody>
      </p:sp>
      <p:sp>
        <p:nvSpPr>
          <p:cNvPr id="15" name="Shape 15"/>
          <p:cNvSpPr/>
          <p:nvPr/>
        </p:nvSpPr>
        <p:spPr>
          <a:xfrm>
            <a:off x="1929384" y="1993392"/>
            <a:ext cx="4988052" cy="2139696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6" name="CardHead 16"/>
          <p:cNvSpPr/>
          <p:nvPr/>
        </p:nvSpPr>
        <p:spPr>
          <a:xfrm>
            <a:off x="1929384" y="1993392"/>
            <a:ext cx="4988052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维度一：绩效——已经发生的</a:t>
            </a:r>
          </a:p>
        </p:txBody>
      </p:sp>
      <p:sp>
        <p:nvSpPr>
          <p:cNvPr id="17" name="CardBody 17"/>
          <p:cNvSpPr/>
          <p:nvPr/>
        </p:nvSpPr>
        <p:spPr>
          <a:xfrm>
            <a:off x="2011680" y="2350008"/>
            <a:ext cx="4823460" cy="1764792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90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看三年，不看一年。一年好可能是运气（一个大客户扩产），三年稳才是能力。</a:t>
            </a:r>
          </a:p>
          <a:p>
            <a:pPr algn="l">
              <a:lnSpc>
                <a:spcPct val="90000"/>
              </a:lnSpc>
              <a:spcBef>
                <a:spcPts val="300"/>
              </a:spcBef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看结构，不看总额。同样 500 万，靠一家老客户和靠新开五家，含金量完全不同。</a:t>
            </a:r>
          </a:p>
          <a:p>
            <a:pPr algn="l">
              <a:lnSpc>
                <a:spcPct val="90000"/>
              </a:lnSpc>
              <a:spcBef>
                <a:spcPts val="300"/>
              </a:spcBef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看质量，不看数量。回款是否干净、有没有超期应收、有没有靠让价换来的量。</a:t>
            </a:r>
          </a:p>
        </p:txBody>
      </p:sp>
      <p:sp>
        <p:nvSpPr>
          <p:cNvPr id="18" name="Shape 18"/>
          <p:cNvSpPr/>
          <p:nvPr/>
        </p:nvSpPr>
        <p:spPr>
          <a:xfrm>
            <a:off x="7155180" y="1993392"/>
            <a:ext cx="4988052" cy="2197212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9" name="CardHead 19"/>
          <p:cNvSpPr/>
          <p:nvPr/>
        </p:nvSpPr>
        <p:spPr>
          <a:xfrm>
            <a:off x="7155180" y="1993392"/>
            <a:ext cx="4988052" cy="347472"/>
          </a:xfrm>
          <a:prstGeom prst="rect">
            <a:avLst/>
          </a:prstGeom>
          <a:solidFill>
            <a:srgbClr val="E55E24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维度二：潜力——还没发生的</a:t>
            </a:r>
          </a:p>
        </p:txBody>
      </p:sp>
      <p:sp>
        <p:nvSpPr>
          <p:cNvPr id="20" name="CardBody 20"/>
          <p:cNvSpPr/>
          <p:nvPr/>
        </p:nvSpPr>
        <p:spPr>
          <a:xfrm>
            <a:off x="7237476" y="2350008"/>
            <a:ext cx="4823460" cy="1822308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82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学习敏锐度：遇到没做过的事，先问「怎么做」还是先说「做不了」。</a:t>
            </a:r>
          </a:p>
          <a:p>
            <a:pPr algn="l">
              <a:lnSpc>
                <a:spcPct val="82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影响力：没有职权时，别人愿不愿意配合他。</a:t>
            </a:r>
          </a:p>
          <a:p>
            <a:pPr algn="l">
              <a:lnSpc>
                <a:spcPct val="82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抗压与复原：被拒、被投诉、丢大单之后，多久回到状态。</a:t>
            </a:r>
          </a:p>
          <a:p>
            <a:pPr algn="l">
              <a:lnSpc>
                <a:spcPct val="82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动机指向：想要钱、想要舞台，还是想要安稳——三者用法完全不同。</a:t>
            </a:r>
          </a:p>
        </p:txBody>
      </p:sp>
      <p:sp>
        <p:nvSpPr>
          <p:cNvPr id="21" name="Shape 21"/>
          <p:cNvSpPr/>
          <p:nvPr/>
        </p:nvSpPr>
        <p:spPr>
          <a:xfrm>
            <a:off x="1929384" y="4352544"/>
            <a:ext cx="10213848" cy="1536192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2" name="CardHead 22"/>
          <p:cNvSpPr/>
          <p:nvPr/>
        </p:nvSpPr>
        <p:spPr>
          <a:xfrm>
            <a:off x="1929384" y="4352544"/>
            <a:ext cx="10213848" cy="347472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四份证据：没有这四样，盘点就是投票</a:t>
            </a:r>
          </a:p>
        </p:txBody>
      </p:sp>
      <p:sp>
        <p:nvSpPr>
          <p:cNvPr id="23" name="CardBody 23"/>
          <p:cNvSpPr/>
          <p:nvPr/>
        </p:nvSpPr>
        <p:spPr>
          <a:xfrm>
            <a:off x="2011680" y="4709160"/>
            <a:ext cx="10049256" cy="1161288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86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三年业绩与结构数据（系统里就有，别靠回忆）；② 关键事件（今年处理过的三件难事）；</a:t>
            </a:r>
          </a:p>
          <a:p>
            <a:pPr algn="l">
              <a:lnSpc>
                <a:spcPct val="86000"/>
              </a:lnSpc>
              <a:spcBef>
                <a:spcPts val="300"/>
              </a:spcBef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主管观察记录（六项胜任力的证据，不是形容词）；④ 本人陈述（他怎么看这三年、想往哪走）。</a:t>
            </a:r>
          </a:p>
          <a:p>
            <a:pPr algn="l">
              <a:lnSpc>
                <a:spcPct val="86000"/>
              </a:lnSpc>
              <a:spcBef>
                <a:spcPts val="300"/>
              </a:spcBef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前两项客观、后两项主观。少第 ④ 项最常见，结果就是当事人不认。</a:t>
            </a:r>
          </a:p>
        </p:txBody>
      </p:sp>
      <p:sp>
        <p:nvSpPr>
          <p:cNvPr id="24" name="Shape 24"/>
          <p:cNvSpPr/>
          <p:nvPr/>
        </p:nvSpPr>
        <p:spPr>
          <a:xfrm>
            <a:off x="1929384" y="6016752"/>
            <a:ext cx="10213848" cy="566928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5" name="Banner 25"/>
          <p:cNvSpPr/>
          <p:nvPr/>
        </p:nvSpPr>
        <p:spPr>
          <a:xfrm>
            <a:off x="2075688" y="6016752"/>
            <a:ext cx="9921240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时间投入　</a:t>
            </a: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 12 人的营业部，认真盘一轮大约需要 6 小时——但它省下的是一整年的错配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 &amp; 开发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第一讲 · 理解价值</a:t>
            </a:r>
          </a:p>
        </p:txBody>
      </p:sp>
      <p:sp>
        <p:nvSpPr>
          <p:cNvPr id="5" name="Nav 5"/>
          <p:cNvSpPr/>
          <p:nvPr/>
        </p:nvSpPr>
        <p:spPr>
          <a:xfrm>
            <a:off x="3153148" y="658368"/>
            <a:ext cx="2878828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第二讲 · 评估价值</a:t>
            </a:r>
          </a:p>
        </p:txBody>
      </p:sp>
      <p:sp>
        <p:nvSpPr>
          <p:cNvPr id="6" name="Nav 6"/>
          <p:cNvSpPr/>
          <p:nvPr/>
        </p:nvSpPr>
        <p:spPr>
          <a:xfrm>
            <a:off x="6159993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第三讲 · 开发价值</a:t>
            </a:r>
          </a:p>
        </p:txBody>
      </p:sp>
      <p:sp>
        <p:nvSpPr>
          <p:cNvPr id="7" name="Nav 7"/>
          <p:cNvSpPr/>
          <p:nvPr/>
        </p:nvSpPr>
        <p:spPr>
          <a:xfrm>
            <a:off x="9166837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第四讲 · 落地价值</a:t>
            </a:r>
          </a:p>
        </p:txBody>
      </p:sp>
      <p:cxnSp>
        <p:nvCxnSpPr>
          <p:cNvPr id="8" name="Connector 8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9" name="Connector 9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10" name="Side 10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目标设定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与过程跟踪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人才盘点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与九宫格</a:t>
            </a:r>
          </a:p>
        </p:txBody>
      </p:sp>
      <p:sp>
        <p:nvSpPr>
          <p:cNvPr id="12" name="Side 12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360 度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人才画像</a:t>
            </a:r>
          </a:p>
        </p:txBody>
      </p:sp>
      <p:pic>
        <p:nvPicPr>
          <p:cNvPr id="13" name="Art 13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1883664" y="1188720"/>
            <a:ext cx="10259568" cy="5522976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 &amp; 开发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第一讲 · 理解价值</a:t>
            </a:r>
          </a:p>
        </p:txBody>
      </p:sp>
      <p:sp>
        <p:nvSpPr>
          <p:cNvPr id="5" name="Nav 5"/>
          <p:cNvSpPr/>
          <p:nvPr/>
        </p:nvSpPr>
        <p:spPr>
          <a:xfrm>
            <a:off x="3153148" y="658368"/>
            <a:ext cx="2878828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第二讲 · 评估价值</a:t>
            </a:r>
          </a:p>
        </p:txBody>
      </p:sp>
      <p:sp>
        <p:nvSpPr>
          <p:cNvPr id="6" name="Nav 6"/>
          <p:cNvSpPr/>
          <p:nvPr/>
        </p:nvSpPr>
        <p:spPr>
          <a:xfrm>
            <a:off x="6159993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第三讲 · 开发价值</a:t>
            </a:r>
          </a:p>
        </p:txBody>
      </p:sp>
      <p:sp>
        <p:nvSpPr>
          <p:cNvPr id="7" name="Nav 7"/>
          <p:cNvSpPr/>
          <p:nvPr/>
        </p:nvSpPr>
        <p:spPr>
          <a:xfrm>
            <a:off x="9166837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第四讲 · 落地价值</a:t>
            </a:r>
          </a:p>
        </p:txBody>
      </p:sp>
      <p:cxnSp>
        <p:nvCxnSpPr>
          <p:cNvPr id="8" name="Connector 8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9" name="Connector 9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10" name="Side 10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目标设定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与过程跟踪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人才盘点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与九宫格</a:t>
            </a:r>
          </a:p>
        </p:txBody>
      </p:sp>
      <p:sp>
        <p:nvSpPr>
          <p:cNvPr id="12" name="Side 12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360 度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人才画像</a:t>
            </a:r>
          </a:p>
        </p:txBody>
      </p:sp>
      <p:sp>
        <p:nvSpPr>
          <p:cNvPr id="13" name="H1 13"/>
          <p:cNvSpPr/>
          <p:nvPr/>
        </p:nvSpPr>
        <p:spPr>
          <a:xfrm>
            <a:off x="1929384" y="1161288"/>
            <a:ext cx="10213848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9144" rIns="73152" bIns="9144" rtlCol="0" anchor="ctr">
            <a:noAutofit/>
          </a:bodyPr>
          <a:lstStyle/>
          <a:p>
            <a:pPr algn="l">
              <a:buNone/>
            </a:pPr>
            <a:r>
              <a:rPr lang="zh-CN" altLang="en-US" sz="27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盘完之后：每一格必须对应一个动作，否则等于没盘</a:t>
            </a:r>
          </a:p>
        </p:txBody>
      </p:sp>
      <p:sp>
        <p:nvSpPr>
          <p:cNvPr id="14" name="H2 14"/>
          <p:cNvSpPr/>
          <p:nvPr/>
        </p:nvSpPr>
        <p:spPr>
          <a:xfrm>
            <a:off x="1929384" y="1636776"/>
            <a:ext cx="10213848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9144" rIns="73152" bIns="9144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外加三种最常见的误用——先自查，再动手</a:t>
            </a:r>
          </a:p>
        </p:txBody>
      </p:sp>
      <p:sp>
        <p:nvSpPr>
          <p:cNvPr id="15" name="Shape 15"/>
          <p:cNvSpPr/>
          <p:nvPr/>
        </p:nvSpPr>
        <p:spPr>
          <a:xfrm>
            <a:off x="1929384" y="1993392"/>
            <a:ext cx="4988052" cy="2699583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6" name="CardHead 16"/>
          <p:cNvSpPr/>
          <p:nvPr/>
        </p:nvSpPr>
        <p:spPr>
          <a:xfrm>
            <a:off x="1929384" y="1993392"/>
            <a:ext cx="4988052" cy="347472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九格对应的动作（管理者版）</a:t>
            </a:r>
          </a:p>
        </p:txBody>
      </p:sp>
      <p:sp>
        <p:nvSpPr>
          <p:cNvPr id="17" name="CardBody 17"/>
          <p:cNvSpPr/>
          <p:nvPr/>
        </p:nvSpPr>
        <p:spPr>
          <a:xfrm>
            <a:off x="2011680" y="2350008"/>
            <a:ext cx="4823460" cy="2324679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82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明日之星：给一块难啃的行业，配季度目标，年内让他带一个人；</a:t>
            </a:r>
          </a:p>
          <a:p>
            <a:pPr algn="l">
              <a:lnSpc>
                <a:spcPct val="82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潜力新秀：找出卡在哪一项胜任力，安排陪访与复盘；</a:t>
            </a:r>
          </a:p>
          <a:p>
            <a:pPr algn="l">
              <a:lnSpc>
                <a:spcPct val="82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疑似错配：先换主管或换客户类型再下结论；</a:t>
            </a:r>
          </a:p>
          <a:p>
            <a:pPr algn="l">
              <a:lnSpc>
                <a:spcPct val="82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中坚骨干：守住他，给空间和名分，别只用加钱；</a:t>
            </a:r>
          </a:p>
          <a:p>
            <a:pPr algn="l">
              <a:lnSpc>
                <a:spcPct val="82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待观察 / 待改进：给标准、给期限，到期必须有结论。</a:t>
            </a:r>
          </a:p>
        </p:txBody>
      </p:sp>
      <p:sp>
        <p:nvSpPr>
          <p:cNvPr id="18" name="Shape 18"/>
          <p:cNvSpPr/>
          <p:nvPr/>
        </p:nvSpPr>
        <p:spPr>
          <a:xfrm>
            <a:off x="7155180" y="1993392"/>
            <a:ext cx="4988052" cy="257860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9" name="CardHead 19"/>
          <p:cNvSpPr/>
          <p:nvPr/>
        </p:nvSpPr>
        <p:spPr>
          <a:xfrm>
            <a:off x="7155180" y="1993392"/>
            <a:ext cx="4988052" cy="347472"/>
          </a:xfrm>
          <a:prstGeom prst="rect">
            <a:avLst/>
          </a:prstGeom>
          <a:solidFill>
            <a:srgbClr val="C02F2B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三种最常见的误用</a:t>
            </a:r>
          </a:p>
        </p:txBody>
      </p:sp>
      <p:sp>
        <p:nvSpPr>
          <p:cNvPr id="20" name="CardBody 20"/>
          <p:cNvSpPr/>
          <p:nvPr/>
        </p:nvSpPr>
        <p:spPr>
          <a:xfrm>
            <a:off x="7237476" y="2350008"/>
            <a:ext cx="4823460" cy="2203704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96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误用一：把资历当潜力。潜力看的是「面对没做过的事」的反应，不是「做过多少年」。</a:t>
            </a:r>
          </a:p>
          <a:p>
            <a:pPr algn="l">
              <a:lnSpc>
                <a:spcPct val="96000"/>
              </a:lnSpc>
              <a:spcBef>
                <a:spcPts val="300"/>
              </a:spcBef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误用二：把运气当绩效。客户扩产带来的增量要剥出来看，否则明年他不扩产你会以为人退步了。</a:t>
            </a:r>
          </a:p>
          <a:p>
            <a:pPr algn="l">
              <a:lnSpc>
                <a:spcPct val="96000"/>
              </a:lnSpc>
              <a:spcBef>
                <a:spcPts val="300"/>
              </a:spcBef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误用三：盘完锁进抽屉。九宫格的价值九成在之后那次谈话里，不在那张图上。</a:t>
            </a:r>
          </a:p>
        </p:txBody>
      </p:sp>
      <p:sp>
        <p:nvSpPr>
          <p:cNvPr id="21" name="Shape 21"/>
          <p:cNvSpPr/>
          <p:nvPr/>
        </p:nvSpPr>
        <p:spPr>
          <a:xfrm>
            <a:off x="1929384" y="4791456"/>
            <a:ext cx="10213848" cy="1243584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67E2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2" name="CardHead 22"/>
          <p:cNvSpPr/>
          <p:nvPr/>
        </p:nvSpPr>
        <p:spPr>
          <a:xfrm>
            <a:off x="1929384" y="4791456"/>
            <a:ext cx="10213848" cy="3474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一条硬规则：盘点结论必须落到三张纸</a:t>
            </a:r>
          </a:p>
        </p:txBody>
      </p:sp>
      <p:sp>
        <p:nvSpPr>
          <p:cNvPr id="23" name="CardBody 23"/>
          <p:cNvSpPr/>
          <p:nvPr/>
        </p:nvSpPr>
        <p:spPr>
          <a:xfrm>
            <a:off x="2011680" y="5148072"/>
            <a:ext cx="10049256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82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一张《人岗调整清单》：谁换位置、谁换客户类型、谁换主管；</a:t>
            </a:r>
          </a:p>
          <a:p>
            <a:pPr algn="l">
              <a:lnSpc>
                <a:spcPct val="82000"/>
              </a:lnSpc>
              <a:spcBef>
                <a:spcPts val="300"/>
              </a:spcBef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一张《重点培养名单》：不超过团队人数的 20%，每人一份 IDP（下午写）；</a:t>
            </a:r>
          </a:p>
          <a:p>
            <a:pPr algn="l">
              <a:lnSpc>
                <a:spcPct val="82000"/>
              </a:lnSpc>
              <a:spcBef>
                <a:spcPts val="300"/>
              </a:spcBef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一张《限期改进名单》：写清标准、期限和到期怎么办——这张最难写，但不写就永远动不了。</a:t>
            </a:r>
          </a:p>
        </p:txBody>
      </p:sp>
      <p:sp>
        <p:nvSpPr>
          <p:cNvPr id="24" name="Shape 24"/>
          <p:cNvSpPr/>
          <p:nvPr/>
        </p:nvSpPr>
        <p:spPr>
          <a:xfrm>
            <a:off x="1929384" y="6144768"/>
            <a:ext cx="10213848" cy="530352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5" name="Banner 25"/>
          <p:cNvSpPr/>
          <p:nvPr/>
        </p:nvSpPr>
        <p:spPr>
          <a:xfrm>
            <a:off x="2075688" y="6144768"/>
            <a:ext cx="9921240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buNone/>
            </a:pPr>
            <a:r>
              <a:rPr lang="zh-CN" altLang="en-US" sz="23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一句话　</a:t>
            </a:r>
            <a:r>
              <a:rPr lang="zh-CN" altLang="en-US" sz="23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盘点不产生价值，盘点之后的那三次谈话才产生价值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 &amp; 开发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第一讲 · 理解价值</a:t>
            </a:r>
          </a:p>
        </p:txBody>
      </p:sp>
      <p:sp>
        <p:nvSpPr>
          <p:cNvPr id="5" name="Nav 5"/>
          <p:cNvSpPr/>
          <p:nvPr/>
        </p:nvSpPr>
        <p:spPr>
          <a:xfrm>
            <a:off x="3153148" y="658368"/>
            <a:ext cx="2878828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第二讲 · 评估价值</a:t>
            </a:r>
          </a:p>
        </p:txBody>
      </p:sp>
      <p:sp>
        <p:nvSpPr>
          <p:cNvPr id="6" name="Nav 6"/>
          <p:cNvSpPr/>
          <p:nvPr/>
        </p:nvSpPr>
        <p:spPr>
          <a:xfrm>
            <a:off x="6159993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第三讲 · 开发价值</a:t>
            </a:r>
          </a:p>
        </p:txBody>
      </p:sp>
      <p:sp>
        <p:nvSpPr>
          <p:cNvPr id="7" name="Nav 7"/>
          <p:cNvSpPr/>
          <p:nvPr/>
        </p:nvSpPr>
        <p:spPr>
          <a:xfrm>
            <a:off x="9166837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第四讲 · 落地价值</a:t>
            </a:r>
          </a:p>
        </p:txBody>
      </p:sp>
      <p:cxnSp>
        <p:nvCxnSpPr>
          <p:cNvPr id="8" name="Connector 8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9" name="Connector 9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10" name="Side 10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目标设定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与过程跟踪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人才盘点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与九宫格</a:t>
            </a:r>
          </a:p>
        </p:txBody>
      </p:sp>
      <p:sp>
        <p:nvSpPr>
          <p:cNvPr id="12" name="Side 12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360 度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人才画像</a:t>
            </a:r>
          </a:p>
        </p:txBody>
      </p:sp>
      <p:sp>
        <p:nvSpPr>
          <p:cNvPr id="13" name="H1 13"/>
          <p:cNvSpPr/>
          <p:nvPr/>
        </p:nvSpPr>
        <p:spPr>
          <a:xfrm>
            <a:off x="1929384" y="1161288"/>
            <a:ext cx="10213848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9144" rIns="73152" bIns="9144" rtlCol="0" anchor="ctr">
            <a:noAutofit/>
          </a:bodyPr>
          <a:lstStyle/>
          <a:p>
            <a:pPr algn="l">
              <a:buNone/>
            </a:pPr>
            <a:r>
              <a:rPr lang="zh-CN" altLang="en-US" sz="27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实战案例：某营业部 12 人盘点结果，你怎么读</a:t>
            </a:r>
          </a:p>
        </p:txBody>
      </p:sp>
      <p:sp>
        <p:nvSpPr>
          <p:cNvPr id="14" name="H2 14"/>
          <p:cNvSpPr/>
          <p:nvPr/>
        </p:nvSpPr>
        <p:spPr>
          <a:xfrm>
            <a:off x="1929384" y="1636776"/>
            <a:ext cx="10213848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9144" rIns="73152" bIns="9144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数字都在这里了，请各组给出三条处置意见</a:t>
            </a:r>
          </a:p>
        </p:txBody>
      </p:sp>
      <p:sp>
        <p:nvSpPr>
          <p:cNvPr id="15" name="THead 15"/>
          <p:cNvSpPr/>
          <p:nvPr/>
        </p:nvSpPr>
        <p:spPr>
          <a:xfrm>
            <a:off x="1929384" y="1993392"/>
            <a:ext cx="10213848" cy="420624"/>
          </a:xfrm>
          <a:prstGeom prst="rect">
            <a:avLst/>
          </a:prstGeom>
          <a:solidFill>
            <a:srgbClr val="F5D349"/>
          </a:solidFill>
          <a:ln>
            <a:noFill/>
          </a:ln>
        </p:spPr>
        <p:txBody>
          <a:bodyPr wrap="square" lIns="164592" tIns="36576" rIns="146304" bIns="36576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6" name="TH 16"/>
          <p:cNvSpPr/>
          <p:nvPr/>
        </p:nvSpPr>
        <p:spPr>
          <a:xfrm>
            <a:off x="1929384" y="1993392"/>
            <a:ext cx="1393597" cy="420624"/>
          </a:xfrm>
          <a:prstGeom prst="rect">
            <a:avLst/>
          </a:prstGeom>
          <a:noFill/>
          <a:ln>
            <a:noFill/>
          </a:ln>
        </p:spPr>
        <p:txBody>
          <a:bodyPr wrap="square" lIns="36576" tIns="45720" rIns="36576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姓名 / 司龄</a:t>
            </a:r>
          </a:p>
        </p:txBody>
      </p:sp>
      <p:sp>
        <p:nvSpPr>
          <p:cNvPr id="17" name="TH 17"/>
          <p:cNvSpPr/>
          <p:nvPr/>
        </p:nvSpPr>
        <p:spPr>
          <a:xfrm>
            <a:off x="3414421" y="1993392"/>
            <a:ext cx="1579410" cy="420624"/>
          </a:xfrm>
          <a:prstGeom prst="rect">
            <a:avLst/>
          </a:prstGeom>
          <a:noFill/>
          <a:ln>
            <a:noFill/>
          </a:ln>
        </p:spPr>
        <p:txBody>
          <a:bodyPr wrap="square" lIns="36576" tIns="45720" rIns="36576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近三年业绩</a:t>
            </a:r>
          </a:p>
        </p:txBody>
      </p:sp>
      <p:sp>
        <p:nvSpPr>
          <p:cNvPr id="18" name="TH 18"/>
          <p:cNvSpPr/>
          <p:nvPr/>
        </p:nvSpPr>
        <p:spPr>
          <a:xfrm>
            <a:off x="5085272" y="1993392"/>
            <a:ext cx="2787195" cy="420624"/>
          </a:xfrm>
          <a:prstGeom prst="rect">
            <a:avLst/>
          </a:prstGeom>
          <a:noFill/>
          <a:ln>
            <a:noFill/>
          </a:ln>
        </p:spPr>
        <p:txBody>
          <a:bodyPr wrap="square" lIns="36576" tIns="45720" rIns="36576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客户与产品结构</a:t>
            </a:r>
          </a:p>
        </p:txBody>
      </p:sp>
      <p:sp>
        <p:nvSpPr>
          <p:cNvPr id="19" name="TH 19"/>
          <p:cNvSpPr/>
          <p:nvPr/>
        </p:nvSpPr>
        <p:spPr>
          <a:xfrm>
            <a:off x="7963906" y="1993392"/>
            <a:ext cx="2787195" cy="420624"/>
          </a:xfrm>
          <a:prstGeom prst="rect">
            <a:avLst/>
          </a:prstGeom>
          <a:noFill/>
          <a:ln>
            <a:noFill/>
          </a:ln>
        </p:spPr>
        <p:txBody>
          <a:bodyPr wrap="square" lIns="36576" tIns="45720" rIns="36576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关键事件</a:t>
            </a:r>
          </a:p>
        </p:txBody>
      </p:sp>
      <p:sp>
        <p:nvSpPr>
          <p:cNvPr id="20" name="TH 20"/>
          <p:cNvSpPr/>
          <p:nvPr/>
        </p:nvSpPr>
        <p:spPr>
          <a:xfrm>
            <a:off x="10842541" y="1993392"/>
            <a:ext cx="1300691" cy="420624"/>
          </a:xfrm>
          <a:prstGeom prst="rect">
            <a:avLst/>
          </a:prstGeom>
          <a:noFill/>
          <a:ln>
            <a:noFill/>
          </a:ln>
        </p:spPr>
        <p:txBody>
          <a:bodyPr wrap="square" lIns="36576" tIns="45720" rIns="36576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你放哪一格</a:t>
            </a:r>
          </a:p>
        </p:txBody>
      </p:sp>
      <p:sp>
        <p:nvSpPr>
          <p:cNvPr id="21" name="Shape 21"/>
          <p:cNvSpPr/>
          <p:nvPr/>
        </p:nvSpPr>
        <p:spPr>
          <a:xfrm>
            <a:off x="1929384" y="2468880"/>
            <a:ext cx="10213848" cy="636422"/>
          </a:xfrm>
          <a:prstGeom prst="rect">
            <a:avLst/>
          </a:prstGeom>
          <a:solidFill>
            <a:srgbClr val="FFF7E8"/>
          </a:solidFill>
          <a:ln w="9525" cap="flat" cmpd="sng" algn="ctr">
            <a:solidFill>
              <a:srgbClr val="D8C9A8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2" name="TD 22"/>
          <p:cNvSpPr/>
          <p:nvPr/>
        </p:nvSpPr>
        <p:spPr>
          <a:xfrm>
            <a:off x="1929384" y="2468880"/>
            <a:ext cx="1393597" cy="636422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rtlCol="0" anchor="ctr">
            <a:noAutofit/>
          </a:bodyPr>
          <a:lstStyle/>
          <a:p>
            <a:pPr algn="l">
              <a:buNone/>
            </a:pPr>
            <a:r>
              <a:rPr lang="zh-CN" altLang="en-US" sz="2050" b="1" dirty="0">
                <a:solidFill>
                  <a:srgbClr val="C02F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老王 · 9 年</a:t>
            </a:r>
          </a:p>
        </p:txBody>
      </p:sp>
      <p:sp>
        <p:nvSpPr>
          <p:cNvPr id="23" name="TD 23"/>
          <p:cNvSpPr/>
          <p:nvPr/>
        </p:nvSpPr>
        <p:spPr>
          <a:xfrm>
            <a:off x="3414421" y="2468880"/>
            <a:ext cx="1579410" cy="636422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rtlCol="0" anchor="ctr">
            <a:noAutofit/>
          </a:bodyPr>
          <a:lstStyle/>
          <a:p>
            <a:pPr algn="l">
              <a:lnSpc>
                <a:spcPct val="96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1 / 第 1 / 第 1</a:t>
            </a:r>
          </a:p>
        </p:txBody>
      </p:sp>
      <p:sp>
        <p:nvSpPr>
          <p:cNvPr id="24" name="TD 24"/>
          <p:cNvSpPr/>
          <p:nvPr/>
        </p:nvSpPr>
        <p:spPr>
          <a:xfrm>
            <a:off x="5085272" y="2468880"/>
            <a:ext cx="2787195" cy="636422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rtlCol="0" anchor="ctr">
            <a:noAutofit/>
          </a:bodyPr>
          <a:lstStyle/>
          <a:p>
            <a:pPr algn="l">
              <a:lnSpc>
                <a:spcPct val="96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92% 来自 5 家老客户；88% 标准气缸</a:t>
            </a:r>
          </a:p>
        </p:txBody>
      </p:sp>
      <p:sp>
        <p:nvSpPr>
          <p:cNvPr id="25" name="TD 25"/>
          <p:cNvSpPr/>
          <p:nvPr/>
        </p:nvSpPr>
        <p:spPr>
          <a:xfrm>
            <a:off x="7963906" y="2468880"/>
            <a:ext cx="2787195" cy="636422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rtlCol="0" anchor="ctr">
            <a:noAutofit/>
          </a:bodyPr>
          <a:lstStyle/>
          <a:p>
            <a:pPr algn="l">
              <a:lnSpc>
                <a:spcPct val="96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大客户被切走三成，第一反应是申请特价</a:t>
            </a:r>
          </a:p>
        </p:txBody>
      </p:sp>
      <p:sp>
        <p:nvSpPr>
          <p:cNvPr id="26" name="Shape 26"/>
          <p:cNvSpPr/>
          <p:nvPr/>
        </p:nvSpPr>
        <p:spPr>
          <a:xfrm>
            <a:off x="1929384" y="3160166"/>
            <a:ext cx="10213848" cy="636422"/>
          </a:xfrm>
          <a:prstGeom prst="rect">
            <a:avLst/>
          </a:prstGeom>
          <a:solidFill>
            <a:srgbClr val="F3EAD8"/>
          </a:solidFill>
          <a:ln w="9525" cap="flat" cmpd="sng" algn="ctr">
            <a:solidFill>
              <a:srgbClr val="D8C9A8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7" name="TD 27"/>
          <p:cNvSpPr/>
          <p:nvPr/>
        </p:nvSpPr>
        <p:spPr>
          <a:xfrm>
            <a:off x="1929384" y="3160166"/>
            <a:ext cx="1393597" cy="636422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rtlCol="0" anchor="ctr">
            <a:noAutofit/>
          </a:bodyPr>
          <a:lstStyle/>
          <a:p>
            <a:pPr algn="l">
              <a:buNone/>
            </a:pPr>
            <a:r>
              <a:rPr lang="zh-CN" altLang="en-US" sz="2050" b="1" dirty="0">
                <a:solidFill>
                  <a:srgbClr val="2C6B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小李 · 4 年</a:t>
            </a:r>
          </a:p>
        </p:txBody>
      </p:sp>
      <p:sp>
        <p:nvSpPr>
          <p:cNvPr id="28" name="TD 28"/>
          <p:cNvSpPr/>
          <p:nvPr/>
        </p:nvSpPr>
        <p:spPr>
          <a:xfrm>
            <a:off x="3414421" y="3160166"/>
            <a:ext cx="1579410" cy="636422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rtlCol="0" anchor="ctr">
            <a:noAutofit/>
          </a:bodyPr>
          <a:lstStyle/>
          <a:p>
            <a:pPr algn="l">
              <a:lnSpc>
                <a:spcPct val="96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5 / 第 4 / 第 3</a:t>
            </a:r>
          </a:p>
        </p:txBody>
      </p:sp>
      <p:sp>
        <p:nvSpPr>
          <p:cNvPr id="29" name="TD 29"/>
          <p:cNvSpPr/>
          <p:nvPr/>
        </p:nvSpPr>
        <p:spPr>
          <a:xfrm>
            <a:off x="5085272" y="3160166"/>
            <a:ext cx="2787195" cy="636422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rtlCol="0" anchor="ctr">
            <a:noAutofit/>
          </a:bodyPr>
          <a:lstStyle/>
          <a:p>
            <a:pPr algn="l">
              <a:lnSpc>
                <a:spcPct val="96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 21 家，锂电占 4 成；已导入真空与线轨</a:t>
            </a:r>
          </a:p>
        </p:txBody>
      </p:sp>
      <p:sp>
        <p:nvSpPr>
          <p:cNvPr id="30" name="TD 30"/>
          <p:cNvSpPr/>
          <p:nvPr/>
        </p:nvSpPr>
        <p:spPr>
          <a:xfrm>
            <a:off x="7963906" y="3160166"/>
            <a:ext cx="2787195" cy="636422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rtlCol="0" anchor="ctr">
            <a:noAutofit/>
          </a:bodyPr>
          <a:lstStyle/>
          <a:p>
            <a:pPr algn="l">
              <a:lnSpc>
                <a:spcPct val="96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丢过一单纯比价的，事后自己做了复盘</a:t>
            </a:r>
          </a:p>
        </p:txBody>
      </p:sp>
      <p:sp>
        <p:nvSpPr>
          <p:cNvPr id="31" name="Shape 31"/>
          <p:cNvSpPr/>
          <p:nvPr/>
        </p:nvSpPr>
        <p:spPr>
          <a:xfrm>
            <a:off x="1929384" y="3851453"/>
            <a:ext cx="10213848" cy="636422"/>
          </a:xfrm>
          <a:prstGeom prst="rect">
            <a:avLst/>
          </a:prstGeom>
          <a:solidFill>
            <a:srgbClr val="FFF7E8"/>
          </a:solidFill>
          <a:ln w="9525" cap="flat" cmpd="sng" algn="ctr">
            <a:solidFill>
              <a:srgbClr val="D8C9A8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2" name="TD 32"/>
          <p:cNvSpPr/>
          <p:nvPr/>
        </p:nvSpPr>
        <p:spPr>
          <a:xfrm>
            <a:off x="1929384" y="3851453"/>
            <a:ext cx="1393597" cy="636422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rtlCol="0" anchor="ctr">
            <a:noAutofit/>
          </a:bodyPr>
          <a:lstStyle/>
          <a:p>
            <a:pPr algn="l">
              <a:buNone/>
            </a:pPr>
            <a:r>
              <a:rPr lang="zh-CN" altLang="en-US" sz="2050" b="1" dirty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小周 · 1 年</a:t>
            </a:r>
          </a:p>
        </p:txBody>
      </p:sp>
      <p:sp>
        <p:nvSpPr>
          <p:cNvPr id="33" name="TD 33"/>
          <p:cNvSpPr/>
          <p:nvPr/>
        </p:nvSpPr>
        <p:spPr>
          <a:xfrm>
            <a:off x="3414421" y="3851453"/>
            <a:ext cx="1579410" cy="636422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rtlCol="0" anchor="ctr">
            <a:noAutofit/>
          </a:bodyPr>
          <a:lstStyle/>
          <a:p>
            <a:pPr algn="l">
              <a:buNone/>
            </a:pPr>
            <a:r>
              <a:rPr lang="zh-CN" altLang="en-US" sz="20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 / — / 第 11</a:t>
            </a:r>
          </a:p>
        </p:txBody>
      </p:sp>
      <p:sp>
        <p:nvSpPr>
          <p:cNvPr id="34" name="TD 34"/>
          <p:cNvSpPr/>
          <p:nvPr/>
        </p:nvSpPr>
        <p:spPr>
          <a:xfrm>
            <a:off x="5085272" y="3851453"/>
            <a:ext cx="2787195" cy="636422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rtlCol="0" anchor="ctr">
            <a:noAutofit/>
          </a:bodyPr>
          <a:lstStyle/>
          <a:p>
            <a:pPr algn="l">
              <a:lnSpc>
                <a:spcPct val="96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 6 家，全部由老客户介绍</a:t>
            </a:r>
          </a:p>
        </p:txBody>
      </p:sp>
      <p:sp>
        <p:nvSpPr>
          <p:cNvPr id="35" name="TD 35"/>
          <p:cNvSpPr/>
          <p:nvPr/>
        </p:nvSpPr>
        <p:spPr>
          <a:xfrm>
            <a:off x="7963906" y="3851453"/>
            <a:ext cx="2787195" cy="636422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rtlCol="0" anchor="ctr">
            <a:noAutofit/>
          </a:bodyPr>
          <a:lstStyle/>
          <a:p>
            <a:pPr algn="l">
              <a:lnSpc>
                <a:spcPct val="96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独立处理过一次客诉，24 小时内到现场</a:t>
            </a:r>
          </a:p>
        </p:txBody>
      </p:sp>
      <p:sp>
        <p:nvSpPr>
          <p:cNvPr id="36" name="Shape 36"/>
          <p:cNvSpPr/>
          <p:nvPr/>
        </p:nvSpPr>
        <p:spPr>
          <a:xfrm>
            <a:off x="1929384" y="4542739"/>
            <a:ext cx="10213848" cy="636422"/>
          </a:xfrm>
          <a:prstGeom prst="rect">
            <a:avLst/>
          </a:prstGeom>
          <a:solidFill>
            <a:srgbClr val="F3EAD8"/>
          </a:solidFill>
          <a:ln w="9525" cap="flat" cmpd="sng" algn="ctr">
            <a:solidFill>
              <a:srgbClr val="D8C9A8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7" name="TD 37"/>
          <p:cNvSpPr/>
          <p:nvPr/>
        </p:nvSpPr>
        <p:spPr>
          <a:xfrm>
            <a:off x="1929384" y="4542739"/>
            <a:ext cx="1393597" cy="636422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rtlCol="0" anchor="ctr">
            <a:noAutofit/>
          </a:bodyPr>
          <a:lstStyle/>
          <a:p>
            <a:pPr algn="l">
              <a:buNone/>
            </a:pPr>
            <a:r>
              <a:rPr lang="zh-CN" altLang="en-US" sz="1800" b="1" dirty="0">
                <a:solidFill>
                  <a:srgbClr val="6A4C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老陈 · 12 年</a:t>
            </a:r>
          </a:p>
        </p:txBody>
      </p:sp>
      <p:sp>
        <p:nvSpPr>
          <p:cNvPr id="38" name="TD 38"/>
          <p:cNvSpPr/>
          <p:nvPr/>
        </p:nvSpPr>
        <p:spPr>
          <a:xfrm>
            <a:off x="3414421" y="4542739"/>
            <a:ext cx="1579410" cy="636422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rtlCol="0" anchor="ctr">
            <a:noAutofit/>
          </a:bodyPr>
          <a:lstStyle/>
          <a:p>
            <a:pPr algn="l">
              <a:lnSpc>
                <a:spcPct val="96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6 / 第 7 / 第 8</a:t>
            </a:r>
          </a:p>
        </p:txBody>
      </p:sp>
      <p:sp>
        <p:nvSpPr>
          <p:cNvPr id="39" name="TD 39"/>
          <p:cNvSpPr/>
          <p:nvPr/>
        </p:nvSpPr>
        <p:spPr>
          <a:xfrm>
            <a:off x="5085272" y="4542739"/>
            <a:ext cx="2787195" cy="636422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rtlCol="0" anchor="ctr">
            <a:noAutofit/>
          </a:bodyPr>
          <a:lstStyle/>
          <a:p>
            <a:pPr algn="l">
              <a:lnSpc>
                <a:spcPct val="96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 9 家，全部机床行业，结构单一</a:t>
            </a:r>
          </a:p>
        </p:txBody>
      </p:sp>
      <p:sp>
        <p:nvSpPr>
          <p:cNvPr id="40" name="TD 40"/>
          <p:cNvSpPr/>
          <p:nvPr/>
        </p:nvSpPr>
        <p:spPr>
          <a:xfrm>
            <a:off x="7963906" y="4542739"/>
            <a:ext cx="2787195" cy="636422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rtlCol="0" anchor="ctr">
            <a:noAutofit/>
          </a:bodyPr>
          <a:lstStyle/>
          <a:p>
            <a:pPr algn="l">
              <a:lnSpc>
                <a:spcPct val="96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拒绝了两次行业开发试点，理由是「跑不动了」</a:t>
            </a:r>
          </a:p>
        </p:txBody>
      </p:sp>
      <p:sp>
        <p:nvSpPr>
          <p:cNvPr id="41" name="Shape 41"/>
          <p:cNvSpPr/>
          <p:nvPr/>
        </p:nvSpPr>
        <p:spPr>
          <a:xfrm>
            <a:off x="1929384" y="5234026"/>
            <a:ext cx="10213848" cy="636422"/>
          </a:xfrm>
          <a:prstGeom prst="rect">
            <a:avLst/>
          </a:prstGeom>
          <a:solidFill>
            <a:srgbClr val="FFF7E8"/>
          </a:solidFill>
          <a:ln w="9525" cap="flat" cmpd="sng" algn="ctr">
            <a:solidFill>
              <a:srgbClr val="D8C9A8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42" name="TD 42"/>
          <p:cNvSpPr/>
          <p:nvPr/>
        </p:nvSpPr>
        <p:spPr>
          <a:xfrm>
            <a:off x="1929384" y="5234026"/>
            <a:ext cx="1393597" cy="636422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rtlCol="0" anchor="ctr">
            <a:noAutofit/>
          </a:bodyPr>
          <a:lstStyle/>
          <a:p>
            <a:pPr algn="l">
              <a:buNone/>
            </a:pPr>
            <a:r>
              <a:rPr lang="zh-CN" altLang="en-US" sz="2050" b="1" dirty="0">
                <a:solidFill>
                  <a:srgbClr val="E55E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小张 · 3 年</a:t>
            </a:r>
          </a:p>
        </p:txBody>
      </p:sp>
      <p:sp>
        <p:nvSpPr>
          <p:cNvPr id="43" name="TD 43"/>
          <p:cNvSpPr/>
          <p:nvPr/>
        </p:nvSpPr>
        <p:spPr>
          <a:xfrm>
            <a:off x="3414421" y="5234026"/>
            <a:ext cx="1579410" cy="636422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rtlCol="0" anchor="ctr">
            <a:noAutofit/>
          </a:bodyPr>
          <a:lstStyle/>
          <a:p>
            <a:pPr algn="l">
              <a:lnSpc>
                <a:spcPct val="96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3 / 第 8 / 第 9</a:t>
            </a:r>
          </a:p>
        </p:txBody>
      </p:sp>
      <p:sp>
        <p:nvSpPr>
          <p:cNvPr id="44" name="TD 44"/>
          <p:cNvSpPr/>
          <p:nvPr/>
        </p:nvSpPr>
        <p:spPr>
          <a:xfrm>
            <a:off x="5085272" y="5234026"/>
            <a:ext cx="2787195" cy="636422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rtlCol="0" anchor="ctr">
            <a:noAutofit/>
          </a:bodyPr>
          <a:lstStyle/>
          <a:p>
            <a:pPr algn="l">
              <a:lnSpc>
                <a:spcPct val="96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 15 家，去年主动交出 3 家给新人</a:t>
            </a:r>
          </a:p>
        </p:txBody>
      </p:sp>
      <p:sp>
        <p:nvSpPr>
          <p:cNvPr id="45" name="TD 45"/>
          <p:cNvSpPr/>
          <p:nvPr/>
        </p:nvSpPr>
        <p:spPr>
          <a:xfrm>
            <a:off x="7963906" y="5234026"/>
            <a:ext cx="2787195" cy="636422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主管换人后状态明显下滑</a:t>
            </a:r>
          </a:p>
        </p:txBody>
      </p:sp>
      <p:sp>
        <p:nvSpPr>
          <p:cNvPr id="46" name="Shape 46"/>
          <p:cNvSpPr/>
          <p:nvPr/>
        </p:nvSpPr>
        <p:spPr>
          <a:xfrm>
            <a:off x="1929384" y="5961888"/>
            <a:ext cx="10213848" cy="713232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47" name="Banner 47"/>
          <p:cNvSpPr/>
          <p:nvPr/>
        </p:nvSpPr>
        <p:spPr>
          <a:xfrm>
            <a:off x="2075688" y="5961888"/>
            <a:ext cx="9921240" cy="713232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小组任务（12 分钟）　</a:t>
            </a: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把五个人贴进九宫格；对分歧最大的那一位给出处置意见——先别急着评人，先问「他这三年的变化是被什么带动的」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 &amp; 开发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第一讲 · 理解价值</a:t>
            </a:r>
          </a:p>
        </p:txBody>
      </p:sp>
      <p:sp>
        <p:nvSpPr>
          <p:cNvPr id="5" name="Nav 5"/>
          <p:cNvSpPr/>
          <p:nvPr/>
        </p:nvSpPr>
        <p:spPr>
          <a:xfrm>
            <a:off x="3153148" y="658368"/>
            <a:ext cx="2878828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第二讲 · 评估价值</a:t>
            </a:r>
          </a:p>
        </p:txBody>
      </p:sp>
      <p:sp>
        <p:nvSpPr>
          <p:cNvPr id="6" name="Nav 6"/>
          <p:cNvSpPr/>
          <p:nvPr/>
        </p:nvSpPr>
        <p:spPr>
          <a:xfrm>
            <a:off x="6159993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第三讲 · 开发价值</a:t>
            </a:r>
          </a:p>
        </p:txBody>
      </p:sp>
      <p:sp>
        <p:nvSpPr>
          <p:cNvPr id="7" name="Nav 7"/>
          <p:cNvSpPr/>
          <p:nvPr/>
        </p:nvSpPr>
        <p:spPr>
          <a:xfrm>
            <a:off x="9166837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第四讲 · 落地价值</a:t>
            </a:r>
          </a:p>
        </p:txBody>
      </p:sp>
      <p:cxnSp>
        <p:nvCxnSpPr>
          <p:cNvPr id="8" name="Connector 8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9" name="Connector 9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10" name="Side 10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目标设定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与过程跟踪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人才盘点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与九宫格</a:t>
            </a:r>
          </a:p>
        </p:txBody>
      </p:sp>
      <p:sp>
        <p:nvSpPr>
          <p:cNvPr id="12" name="Side 12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360 度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人才画像</a:t>
            </a:r>
          </a:p>
        </p:txBody>
      </p:sp>
      <p:sp>
        <p:nvSpPr>
          <p:cNvPr id="13" name="H1 13"/>
          <p:cNvSpPr/>
          <p:nvPr/>
        </p:nvSpPr>
        <p:spPr>
          <a:xfrm>
            <a:off x="1929384" y="1161288"/>
            <a:ext cx="10213848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9144" rIns="73152" bIns="9144" rtlCol="0" anchor="ctr">
            <a:noAutofit/>
          </a:bodyPr>
          <a:lstStyle/>
          <a:p>
            <a:pPr algn="l">
              <a:buNone/>
            </a:pPr>
            <a:r>
              <a:rPr lang="zh-CN" altLang="en-US" sz="27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360 度评估：好处很清楚，翻车也很常见</a:t>
            </a:r>
          </a:p>
        </p:txBody>
      </p:sp>
      <p:sp>
        <p:nvSpPr>
          <p:cNvPr id="14" name="H2 14"/>
          <p:cNvSpPr/>
          <p:nvPr/>
        </p:nvSpPr>
        <p:spPr>
          <a:xfrm>
            <a:off x="1929384" y="1636776"/>
            <a:ext cx="10213848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9144" rIns="73152" bIns="9144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它解决的是「主管一个人看不全」，制造的是「大家都不敢说真话」</a:t>
            </a:r>
          </a:p>
        </p:txBody>
      </p:sp>
      <p:sp>
        <p:nvSpPr>
          <p:cNvPr id="15" name="Shape 15"/>
          <p:cNvSpPr/>
          <p:nvPr/>
        </p:nvSpPr>
        <p:spPr>
          <a:xfrm>
            <a:off x="1929384" y="1993392"/>
            <a:ext cx="4988052" cy="2432304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6" name="CardHead 16"/>
          <p:cNvSpPr/>
          <p:nvPr/>
        </p:nvSpPr>
        <p:spPr>
          <a:xfrm>
            <a:off x="1929384" y="1993392"/>
            <a:ext cx="4988052" cy="347472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它能解决什么</a:t>
            </a:r>
          </a:p>
        </p:txBody>
      </p:sp>
      <p:sp>
        <p:nvSpPr>
          <p:cNvPr id="17" name="CardBody 17"/>
          <p:cNvSpPr/>
          <p:nvPr/>
        </p:nvSpPr>
        <p:spPr>
          <a:xfrm>
            <a:off x="2011680" y="2350008"/>
            <a:ext cx="4823460" cy="20574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82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补盲区：主管只看得到面向自己的那一面，同事和客户看到的是另外几面。</a:t>
            </a:r>
          </a:p>
          <a:p>
            <a:pPr algn="l">
              <a:lnSpc>
                <a:spcPct val="82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看协同：一个人对内的配合度，只有内勤、技术、仓储才知道。</a:t>
            </a:r>
          </a:p>
          <a:p>
            <a:pPr algn="l">
              <a:lnSpc>
                <a:spcPct val="82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看真实影响力：没有职权时别人愿不愿意配合他——这一条主管几乎看不到。</a:t>
            </a:r>
          </a:p>
          <a:p>
            <a:pPr algn="l">
              <a:lnSpc>
                <a:spcPct val="82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适合场景：盘点前的补充信息、晋升前的验证、管理者的自我认知校准。</a:t>
            </a:r>
          </a:p>
        </p:txBody>
      </p:sp>
      <p:sp>
        <p:nvSpPr>
          <p:cNvPr id="18" name="Shape 18"/>
          <p:cNvSpPr/>
          <p:nvPr/>
        </p:nvSpPr>
        <p:spPr>
          <a:xfrm>
            <a:off x="7155180" y="1993392"/>
            <a:ext cx="4988052" cy="2432304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9" name="CardHead 19"/>
          <p:cNvSpPr/>
          <p:nvPr/>
        </p:nvSpPr>
        <p:spPr>
          <a:xfrm>
            <a:off x="7155180" y="1993392"/>
            <a:ext cx="4988052" cy="347472"/>
          </a:xfrm>
          <a:prstGeom prst="rect">
            <a:avLst/>
          </a:prstGeom>
          <a:solidFill>
            <a:srgbClr val="C02F2B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四种典型翻车</a:t>
            </a:r>
          </a:p>
        </p:txBody>
      </p:sp>
      <p:sp>
        <p:nvSpPr>
          <p:cNvPr id="20" name="CardBody 20"/>
          <p:cNvSpPr/>
          <p:nvPr/>
        </p:nvSpPr>
        <p:spPr>
          <a:xfrm>
            <a:off x="7237476" y="2350008"/>
            <a:ext cx="4823460" cy="20574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82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互相打高分：谁都不想得罪人，全员 4.5 分，等于没做；</a:t>
            </a:r>
          </a:p>
          <a:p>
            <a:pPr algn="l">
              <a:lnSpc>
                <a:spcPct val="82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报复性打分：把矛盾写进匿名评价，评的是恩怨不是行为；</a:t>
            </a:r>
          </a:p>
          <a:p>
            <a:pPr algn="l">
              <a:lnSpc>
                <a:spcPct val="82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猜作者：发下去第一件事是猜「谁写的」——猜对伤感情，猜错伤更多人；</a:t>
            </a:r>
          </a:p>
          <a:p>
            <a:pPr algn="l">
              <a:lnSpc>
                <a:spcPct val="82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与钱挂钩：一旦影响奖金，所有人都开始经营自己的评分。</a:t>
            </a:r>
          </a:p>
        </p:txBody>
      </p:sp>
      <p:sp>
        <p:nvSpPr>
          <p:cNvPr id="21" name="Shape 21"/>
          <p:cNvSpPr/>
          <p:nvPr/>
        </p:nvSpPr>
        <p:spPr>
          <a:xfrm>
            <a:off x="1929384" y="4645152"/>
            <a:ext cx="10213848" cy="1243584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67E2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2" name="CardHead 22"/>
          <p:cNvSpPr/>
          <p:nvPr/>
        </p:nvSpPr>
        <p:spPr>
          <a:xfrm>
            <a:off x="1929384" y="4645152"/>
            <a:ext cx="10213848" cy="3474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四条防翻车规则</a:t>
            </a:r>
          </a:p>
        </p:txBody>
      </p:sp>
      <p:sp>
        <p:nvSpPr>
          <p:cNvPr id="23" name="CardBody 23"/>
          <p:cNvSpPr/>
          <p:nvPr/>
        </p:nvSpPr>
        <p:spPr>
          <a:xfrm>
            <a:off x="2011680" y="5001768"/>
            <a:ext cx="10049256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126000"/>
              </a:lnSpc>
              <a:buNone/>
            </a:pPr>
            <a:r>
              <a:rPr lang="zh-CN" altLang="en-US" sz="18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只用于发展，不与当期奖金挂钩；② 只问行为——问「有没有按时答复」，不问「可不可靠」；</a:t>
            </a:r>
          </a:p>
          <a:p>
            <a:pPr algn="l">
              <a:lnSpc>
                <a:spcPct val="126000"/>
              </a:lnSpc>
              <a:spcBef>
                <a:spcPts val="300"/>
              </a:spcBef>
              <a:buNone/>
            </a:pPr>
            <a:r>
              <a:rPr lang="zh-CN" altLang="en-US" sz="18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评价人不少于 5 人且跨角色；④ 结果只给本人和主管，当面谈，不群发不排名。</a:t>
            </a:r>
          </a:p>
        </p:txBody>
      </p:sp>
      <p:sp>
        <p:nvSpPr>
          <p:cNvPr id="24" name="Shape 24"/>
          <p:cNvSpPr/>
          <p:nvPr/>
        </p:nvSpPr>
        <p:spPr>
          <a:xfrm>
            <a:off x="1929384" y="6016752"/>
            <a:ext cx="10213848" cy="566928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5" name="Banner 25"/>
          <p:cNvSpPr/>
          <p:nvPr/>
        </p:nvSpPr>
        <p:spPr>
          <a:xfrm>
            <a:off x="2075688" y="6016752"/>
            <a:ext cx="9921240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buNone/>
            </a:pPr>
            <a:r>
              <a:rPr lang="zh-CN" altLang="en-US" sz="20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一句话　</a:t>
            </a: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360 度收集的是信息，不是判决书；用它定奖金，第二年就再也收不到真话了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 &amp; 开发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第一讲 · 理解价值</a:t>
            </a:r>
          </a:p>
        </p:txBody>
      </p:sp>
      <p:sp>
        <p:nvSpPr>
          <p:cNvPr id="5" name="Nav 5"/>
          <p:cNvSpPr/>
          <p:nvPr/>
        </p:nvSpPr>
        <p:spPr>
          <a:xfrm>
            <a:off x="3153148" y="658368"/>
            <a:ext cx="2878828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第二讲 · 评估价值</a:t>
            </a:r>
          </a:p>
        </p:txBody>
      </p:sp>
      <p:sp>
        <p:nvSpPr>
          <p:cNvPr id="6" name="Nav 6"/>
          <p:cNvSpPr/>
          <p:nvPr/>
        </p:nvSpPr>
        <p:spPr>
          <a:xfrm>
            <a:off x="6159993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第三讲 · 开发价值</a:t>
            </a:r>
          </a:p>
        </p:txBody>
      </p:sp>
      <p:sp>
        <p:nvSpPr>
          <p:cNvPr id="7" name="Nav 7"/>
          <p:cNvSpPr/>
          <p:nvPr/>
        </p:nvSpPr>
        <p:spPr>
          <a:xfrm>
            <a:off x="9166837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第四讲 · 落地价值</a:t>
            </a:r>
          </a:p>
        </p:txBody>
      </p:sp>
      <p:cxnSp>
        <p:nvCxnSpPr>
          <p:cNvPr id="8" name="Connector 8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9" name="Connector 9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10" name="Side 10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目标设定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与过程跟踪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人才盘点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与九宫格</a:t>
            </a:r>
          </a:p>
        </p:txBody>
      </p:sp>
      <p:sp>
        <p:nvSpPr>
          <p:cNvPr id="12" name="Side 12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360 度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人才画像</a:t>
            </a:r>
          </a:p>
        </p:txBody>
      </p:sp>
      <p:sp>
        <p:nvSpPr>
          <p:cNvPr id="13" name="H1 13"/>
          <p:cNvSpPr/>
          <p:nvPr/>
        </p:nvSpPr>
        <p:spPr>
          <a:xfrm>
            <a:off x="1929384" y="1161288"/>
            <a:ext cx="10213848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9144" rIns="73152" bIns="9144" rtlCol="0" anchor="ctr">
            <a:noAutofit/>
          </a:bodyPr>
          <a:lstStyle/>
          <a:p>
            <a:pPr algn="l">
              <a:buNone/>
            </a:pPr>
            <a:r>
              <a:rPr lang="zh-CN" altLang="en-US" sz="27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360 度反馈沟通：四步谈完，对方不炸也不装</a:t>
            </a:r>
          </a:p>
        </p:txBody>
      </p:sp>
      <p:sp>
        <p:nvSpPr>
          <p:cNvPr id="14" name="H2 14"/>
          <p:cNvSpPr/>
          <p:nvPr/>
        </p:nvSpPr>
        <p:spPr>
          <a:xfrm>
            <a:off x="1929384" y="1636776"/>
            <a:ext cx="10213848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9144" rIns="73152" bIns="9144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现场演练——每组两人一轮，一人当主管，一人当被反馈者</a:t>
            </a:r>
          </a:p>
        </p:txBody>
      </p:sp>
      <p:sp>
        <p:nvSpPr>
          <p:cNvPr id="15" name="Shape 15"/>
          <p:cNvSpPr/>
          <p:nvPr/>
        </p:nvSpPr>
        <p:spPr>
          <a:xfrm>
            <a:off x="1929384" y="1993392"/>
            <a:ext cx="10213848" cy="75438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6" name="CardHead 16"/>
          <p:cNvSpPr/>
          <p:nvPr/>
        </p:nvSpPr>
        <p:spPr>
          <a:xfrm>
            <a:off x="1929384" y="1993392"/>
            <a:ext cx="10213848" cy="347472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第一步　先给结论的底色（1 分钟）</a:t>
            </a:r>
          </a:p>
        </p:txBody>
      </p:sp>
      <p:sp>
        <p:nvSpPr>
          <p:cNvPr id="17" name="CardBody 17"/>
          <p:cNvSpPr/>
          <p:nvPr/>
        </p:nvSpPr>
        <p:spPr>
          <a:xfrm>
            <a:off x="2011680" y="2350008"/>
            <a:ext cx="10049256" cy="379476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106000"/>
              </a:lnSpc>
              <a:buNone/>
            </a:pPr>
            <a:r>
              <a:rPr lang="zh-CN" altLang="en-US" sz="19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「这次反馈是帮你往下走的，不影响奖金。」——先摘掉生存威胁，人才听得进去。</a:t>
            </a:r>
          </a:p>
        </p:txBody>
      </p:sp>
      <p:sp>
        <p:nvSpPr>
          <p:cNvPr id="18" name="Shape 18"/>
          <p:cNvSpPr/>
          <p:nvPr/>
        </p:nvSpPr>
        <p:spPr>
          <a:xfrm>
            <a:off x="1929384" y="2875788"/>
            <a:ext cx="10213848" cy="75438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9" name="CardHead 19"/>
          <p:cNvSpPr/>
          <p:nvPr/>
        </p:nvSpPr>
        <p:spPr>
          <a:xfrm>
            <a:off x="1929384" y="2875788"/>
            <a:ext cx="10213848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第二步　先讲一致的，再讲分歧的（3 分钟）</a:t>
            </a:r>
          </a:p>
        </p:txBody>
      </p:sp>
      <p:sp>
        <p:nvSpPr>
          <p:cNvPr id="20" name="CardBody 20"/>
          <p:cNvSpPr/>
          <p:nvPr/>
        </p:nvSpPr>
        <p:spPr>
          <a:xfrm>
            <a:off x="2011680" y="3232404"/>
            <a:ext cx="10049256" cy="379476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106000"/>
              </a:lnSpc>
              <a:buNone/>
            </a:pPr>
            <a:r>
              <a:rPr lang="zh-CN" altLang="en-US" sz="19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先讲一致的：「响应快、技术过硬、对新人有耐心」——这是他的资产。再进分歧。</a:t>
            </a:r>
          </a:p>
        </p:txBody>
      </p:sp>
      <p:sp>
        <p:nvSpPr>
          <p:cNvPr id="21" name="Shape 21"/>
          <p:cNvSpPr/>
          <p:nvPr/>
        </p:nvSpPr>
        <p:spPr>
          <a:xfrm>
            <a:off x="1929384" y="3758184"/>
            <a:ext cx="10213848" cy="75438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2" name="CardHead 22"/>
          <p:cNvSpPr/>
          <p:nvPr/>
        </p:nvSpPr>
        <p:spPr>
          <a:xfrm>
            <a:off x="1929384" y="3758184"/>
            <a:ext cx="10213848" cy="347472"/>
          </a:xfrm>
          <a:prstGeom prst="rect">
            <a:avLst/>
          </a:prstGeom>
          <a:solidFill>
            <a:srgbClr val="E55E24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第三步　只谈行为，不谈动机（5 分钟）</a:t>
            </a:r>
          </a:p>
        </p:txBody>
      </p:sp>
      <p:sp>
        <p:nvSpPr>
          <p:cNvPr id="23" name="CardBody 23"/>
          <p:cNvSpPr/>
          <p:nvPr/>
        </p:nvSpPr>
        <p:spPr>
          <a:xfrm>
            <a:off x="2011680" y="4114800"/>
            <a:ext cx="10049256" cy="379476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106000"/>
              </a:lnSpc>
              <a:buNone/>
            </a:pPr>
            <a:r>
              <a:rPr lang="zh-CN" altLang="en-US" sz="19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× 「他们觉得你不配合。」　√ 「有两条提到跨部门答复时间不定，你怎么看？」</a:t>
            </a:r>
          </a:p>
        </p:txBody>
      </p:sp>
      <p:sp>
        <p:nvSpPr>
          <p:cNvPr id="24" name="Shape 24"/>
          <p:cNvSpPr/>
          <p:nvPr/>
        </p:nvSpPr>
        <p:spPr>
          <a:xfrm>
            <a:off x="1929384" y="4640580"/>
            <a:ext cx="10213848" cy="75438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5" name="CardHead 25"/>
          <p:cNvSpPr/>
          <p:nvPr/>
        </p:nvSpPr>
        <p:spPr>
          <a:xfrm>
            <a:off x="1929384" y="4640580"/>
            <a:ext cx="10213848" cy="347472"/>
          </a:xfrm>
          <a:prstGeom prst="rect">
            <a:avLst/>
          </a:prstGeom>
          <a:solidFill>
            <a:srgbClr val="C02F2B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第四步　落到一个动作（3 分钟）</a:t>
            </a:r>
          </a:p>
        </p:txBody>
      </p:sp>
      <p:sp>
        <p:nvSpPr>
          <p:cNvPr id="26" name="CardBody 26"/>
          <p:cNvSpPr/>
          <p:nvPr/>
        </p:nvSpPr>
        <p:spPr>
          <a:xfrm>
            <a:off x="2011680" y="4997196"/>
            <a:ext cx="10049256" cy="379476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106000"/>
              </a:lnSpc>
              <a:buNone/>
            </a:pPr>
            <a:r>
              <a:rPr lang="zh-CN" altLang="en-US" sz="19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「下季度想在哪一条上让人看到变化？具体做什么？」——让他自己说、自己写。</a:t>
            </a:r>
          </a:p>
        </p:txBody>
      </p:sp>
      <p:sp>
        <p:nvSpPr>
          <p:cNvPr id="27" name="Shape 27"/>
          <p:cNvSpPr/>
          <p:nvPr/>
        </p:nvSpPr>
        <p:spPr>
          <a:xfrm>
            <a:off x="1929384" y="5522976"/>
            <a:ext cx="10213848" cy="1152144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6A4C9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8" name="CardHead 28"/>
          <p:cNvSpPr/>
          <p:nvPr/>
        </p:nvSpPr>
        <p:spPr>
          <a:xfrm>
            <a:off x="1929384" y="5522976"/>
            <a:ext cx="10213848" cy="347472"/>
          </a:xfrm>
          <a:prstGeom prst="rect">
            <a:avLst/>
          </a:prstGeom>
          <a:solidFill>
            <a:srgbClr val="6A4C93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演练要求（12 分钟）</a:t>
            </a:r>
          </a:p>
        </p:txBody>
      </p:sp>
      <p:sp>
        <p:nvSpPr>
          <p:cNvPr id="29" name="CardBody 29"/>
          <p:cNvSpPr/>
          <p:nvPr/>
        </p:nvSpPr>
        <p:spPr>
          <a:xfrm>
            <a:off x="2011680" y="5879592"/>
            <a:ext cx="10049256" cy="777240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zh-CN" altLang="en-US" sz="18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用第 28 页案例里的「小张」做被反馈者：同级评价高、直属主管评价低、协同部门评价中等。</a:t>
            </a:r>
          </a:p>
          <a:p>
            <a:pPr algn="l">
              <a:lnSpc>
                <a:spcPct val="112000"/>
              </a:lnSpc>
              <a:spcBef>
                <a:spcPts val="300"/>
              </a:spcBef>
              <a:buNone/>
            </a:pPr>
            <a:r>
              <a:rPr lang="zh-CN" altLang="en-US" sz="18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主管方按四步谈；被反馈者可以有情绪、可以反问。谈完互评：哪一步最不自然，为什么。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 &amp; 开发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第一讲 · 理解价值</a:t>
            </a:r>
          </a:p>
        </p:txBody>
      </p:sp>
      <p:sp>
        <p:nvSpPr>
          <p:cNvPr id="5" name="Nav 5"/>
          <p:cNvSpPr/>
          <p:nvPr/>
        </p:nvSpPr>
        <p:spPr>
          <a:xfrm>
            <a:off x="3153148" y="658368"/>
            <a:ext cx="2878828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第二讲 · 评估价值</a:t>
            </a:r>
          </a:p>
        </p:txBody>
      </p:sp>
      <p:sp>
        <p:nvSpPr>
          <p:cNvPr id="6" name="Nav 6"/>
          <p:cNvSpPr/>
          <p:nvPr/>
        </p:nvSpPr>
        <p:spPr>
          <a:xfrm>
            <a:off x="6159993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第三讲 · 开发价值</a:t>
            </a:r>
          </a:p>
        </p:txBody>
      </p:sp>
      <p:sp>
        <p:nvSpPr>
          <p:cNvPr id="7" name="Nav 7"/>
          <p:cNvSpPr/>
          <p:nvPr/>
        </p:nvSpPr>
        <p:spPr>
          <a:xfrm>
            <a:off x="9166837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第四讲 · 落地价值</a:t>
            </a:r>
          </a:p>
        </p:txBody>
      </p:sp>
      <p:cxnSp>
        <p:nvCxnSpPr>
          <p:cNvPr id="8" name="Connector 8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9" name="Connector 9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10" name="Side 10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目标设定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与过程跟踪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人才盘点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与九宫格</a:t>
            </a:r>
          </a:p>
        </p:txBody>
      </p:sp>
      <p:sp>
        <p:nvSpPr>
          <p:cNvPr id="12" name="Side 12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360 度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人才画像</a:t>
            </a:r>
          </a:p>
        </p:txBody>
      </p:sp>
      <p:sp>
        <p:nvSpPr>
          <p:cNvPr id="13" name="H1 13"/>
          <p:cNvSpPr/>
          <p:nvPr/>
        </p:nvSpPr>
        <p:spPr>
          <a:xfrm>
            <a:off x="1929384" y="1161288"/>
            <a:ext cx="10213848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9144" rIns="73152" bIns="9144" rtlCol="0" anchor="ctr">
            <a:noAutofit/>
          </a:bodyPr>
          <a:lstStyle/>
          <a:p>
            <a:pPr algn="l">
              <a:buNone/>
            </a:pPr>
            <a:r>
              <a:rPr lang="zh-CN" altLang="en-US" sz="27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人才画像：把「我们要什么样的人」写成一张能用的表</a:t>
            </a:r>
          </a:p>
        </p:txBody>
      </p:sp>
      <p:sp>
        <p:nvSpPr>
          <p:cNvPr id="14" name="H2 14"/>
          <p:cNvSpPr/>
          <p:nvPr/>
        </p:nvSpPr>
        <p:spPr>
          <a:xfrm>
            <a:off x="1929384" y="1636776"/>
            <a:ext cx="10213848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9144" rIns="73152" bIns="9144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招聘、盘点、培养、晋升，用的应该是同一张画像</a:t>
            </a:r>
          </a:p>
        </p:txBody>
      </p:sp>
      <p:sp>
        <p:nvSpPr>
          <p:cNvPr id="15" name="Shape 15"/>
          <p:cNvSpPr/>
          <p:nvPr/>
        </p:nvSpPr>
        <p:spPr>
          <a:xfrm>
            <a:off x="1929384" y="1993392"/>
            <a:ext cx="3270504" cy="169164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6" name="CardHead 16"/>
          <p:cNvSpPr/>
          <p:nvPr/>
        </p:nvSpPr>
        <p:spPr>
          <a:xfrm>
            <a:off x="1929384" y="1993392"/>
            <a:ext cx="3270504" cy="347472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岗位使命</a:t>
            </a:r>
          </a:p>
        </p:txBody>
      </p:sp>
      <p:sp>
        <p:nvSpPr>
          <p:cNvPr id="17" name="CardBody 17"/>
          <p:cNvSpPr/>
          <p:nvPr/>
        </p:nvSpPr>
        <p:spPr>
          <a:xfrm>
            <a:off x="2011680" y="2350008"/>
            <a:ext cx="3105912" cy="1316736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84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这个岗位存在的理由，一句话。</a:t>
            </a:r>
            <a:b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例：让所辖城市目标行业的设备厂，在设计阶段就把我们写进图纸。</a:t>
            </a:r>
          </a:p>
        </p:txBody>
      </p:sp>
      <p:sp>
        <p:nvSpPr>
          <p:cNvPr id="18" name="Shape 18"/>
          <p:cNvSpPr/>
          <p:nvPr/>
        </p:nvSpPr>
        <p:spPr>
          <a:xfrm>
            <a:off x="5401056" y="1993392"/>
            <a:ext cx="3270504" cy="169164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9" name="CardHead 19"/>
          <p:cNvSpPr/>
          <p:nvPr/>
        </p:nvSpPr>
        <p:spPr>
          <a:xfrm>
            <a:off x="5401056" y="1993392"/>
            <a:ext cx="3270504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关键成果</a:t>
            </a:r>
          </a:p>
        </p:txBody>
      </p:sp>
      <p:sp>
        <p:nvSpPr>
          <p:cNvPr id="20" name="CardBody 20"/>
          <p:cNvSpPr/>
          <p:nvPr/>
        </p:nvSpPr>
        <p:spPr>
          <a:xfrm>
            <a:off x="5483352" y="2350008"/>
            <a:ext cx="3105912" cy="1316736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三条，可衡量。</a:t>
            </a:r>
            <a:b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例：年新增 30 万以上直接客户 4 家；老客户品类数由 1.8 提升到 2.5；超期应收为零。</a:t>
            </a:r>
          </a:p>
        </p:txBody>
      </p:sp>
      <p:sp>
        <p:nvSpPr>
          <p:cNvPr id="21" name="Shape 21"/>
          <p:cNvSpPr/>
          <p:nvPr/>
        </p:nvSpPr>
        <p:spPr>
          <a:xfrm>
            <a:off x="8872728" y="1993392"/>
            <a:ext cx="3270504" cy="169164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2" name="CardHead 22"/>
          <p:cNvSpPr/>
          <p:nvPr/>
        </p:nvSpPr>
        <p:spPr>
          <a:xfrm>
            <a:off x="8872728" y="1993392"/>
            <a:ext cx="3270504" cy="347472"/>
          </a:xfrm>
          <a:prstGeom prst="rect">
            <a:avLst/>
          </a:prstGeom>
          <a:solidFill>
            <a:srgbClr val="E55E24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核心能力</a:t>
            </a:r>
          </a:p>
        </p:txBody>
      </p:sp>
      <p:sp>
        <p:nvSpPr>
          <p:cNvPr id="23" name="CardBody 23"/>
          <p:cNvSpPr/>
          <p:nvPr/>
        </p:nvSpPr>
        <p:spPr>
          <a:xfrm>
            <a:off x="8955024" y="2350008"/>
            <a:ext cx="3105912" cy="1316736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从六项胜任力里挑最关键的三项，写清 3 级行为。</a:t>
            </a:r>
            <a:b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例：工况洞察、技术转化、议价谈判。</a:t>
            </a:r>
          </a:p>
        </p:txBody>
      </p:sp>
      <p:sp>
        <p:nvSpPr>
          <p:cNvPr id="24" name="Shape 24"/>
          <p:cNvSpPr/>
          <p:nvPr/>
        </p:nvSpPr>
        <p:spPr>
          <a:xfrm>
            <a:off x="1929384" y="3849624"/>
            <a:ext cx="3270504" cy="169164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6A4C9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5" name="CardHead 25"/>
          <p:cNvSpPr/>
          <p:nvPr/>
        </p:nvSpPr>
        <p:spPr>
          <a:xfrm>
            <a:off x="1929384" y="3849624"/>
            <a:ext cx="3270504" cy="347472"/>
          </a:xfrm>
          <a:prstGeom prst="rect">
            <a:avLst/>
          </a:prstGeom>
          <a:solidFill>
            <a:srgbClr val="6A4C93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关键经验</a:t>
            </a:r>
          </a:p>
        </p:txBody>
      </p:sp>
      <p:sp>
        <p:nvSpPr>
          <p:cNvPr id="26" name="CardBody 26"/>
          <p:cNvSpPr/>
          <p:nvPr/>
        </p:nvSpPr>
        <p:spPr>
          <a:xfrm>
            <a:off x="2011680" y="4206240"/>
            <a:ext cx="3105912" cy="1316736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干过什么比会什么更可预测。</a:t>
            </a:r>
            <a:b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例：独立完成过一次进口替代导入；处理过一次批量客诉；跑过至少两个不同行业。</a:t>
            </a:r>
          </a:p>
        </p:txBody>
      </p:sp>
      <p:sp>
        <p:nvSpPr>
          <p:cNvPr id="27" name="Shape 27"/>
          <p:cNvSpPr/>
          <p:nvPr/>
        </p:nvSpPr>
        <p:spPr>
          <a:xfrm>
            <a:off x="5401056" y="3849624"/>
            <a:ext cx="3270504" cy="169164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11828C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8" name="CardHead 28"/>
          <p:cNvSpPr/>
          <p:nvPr/>
        </p:nvSpPr>
        <p:spPr>
          <a:xfrm>
            <a:off x="5401056" y="3849624"/>
            <a:ext cx="3270504" cy="347472"/>
          </a:xfrm>
          <a:prstGeom prst="rect">
            <a:avLst/>
          </a:prstGeom>
          <a:solidFill>
            <a:srgbClr val="11828C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⑤ 特质与动机</a:t>
            </a:r>
          </a:p>
        </p:txBody>
      </p:sp>
      <p:sp>
        <p:nvSpPr>
          <p:cNvPr id="29" name="CardBody 29"/>
          <p:cNvSpPr/>
          <p:nvPr/>
        </p:nvSpPr>
        <p:spPr>
          <a:xfrm>
            <a:off x="5483352" y="4206240"/>
            <a:ext cx="3105912" cy="1316736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84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冰山之下，用于筛选而非培养。</a:t>
            </a:r>
            <a:b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例：被拒之后还愿意第六次上门；对「赢」比对「稳」更有反应。</a:t>
            </a:r>
          </a:p>
        </p:txBody>
      </p:sp>
      <p:sp>
        <p:nvSpPr>
          <p:cNvPr id="30" name="Shape 30"/>
          <p:cNvSpPr/>
          <p:nvPr/>
        </p:nvSpPr>
        <p:spPr>
          <a:xfrm>
            <a:off x="8872728" y="3849624"/>
            <a:ext cx="3270504" cy="169164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1" name="CardHead 31"/>
          <p:cNvSpPr/>
          <p:nvPr/>
        </p:nvSpPr>
        <p:spPr>
          <a:xfrm>
            <a:off x="8872728" y="3849624"/>
            <a:ext cx="3270504" cy="347472"/>
          </a:xfrm>
          <a:prstGeom prst="rect">
            <a:avLst/>
          </a:prstGeom>
          <a:solidFill>
            <a:srgbClr val="C02F2B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⑥ 硬性门槛</a:t>
            </a:r>
          </a:p>
        </p:txBody>
      </p:sp>
      <p:sp>
        <p:nvSpPr>
          <p:cNvPr id="32" name="CardBody 32"/>
          <p:cNvSpPr/>
          <p:nvPr/>
        </p:nvSpPr>
        <p:spPr>
          <a:xfrm>
            <a:off x="8955024" y="4206240"/>
            <a:ext cx="3105912" cy="1316736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84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写清楚，不然面试时会被无限放宽。</a:t>
            </a:r>
            <a:b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例：本科以上、C1 驾照、可属地驻点、接受每周三天以上在客户现场。</a:t>
            </a:r>
          </a:p>
        </p:txBody>
      </p:sp>
      <p:sp>
        <p:nvSpPr>
          <p:cNvPr id="33" name="Shape 33"/>
          <p:cNvSpPr/>
          <p:nvPr/>
        </p:nvSpPr>
        <p:spPr>
          <a:xfrm>
            <a:off x="1929384" y="5687568"/>
            <a:ext cx="10213848" cy="566928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4" name="Banner 34"/>
          <p:cNvSpPr/>
          <p:nvPr/>
        </p:nvSpPr>
        <p:spPr>
          <a:xfrm>
            <a:off x="2075688" y="5687568"/>
            <a:ext cx="9921240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lnSpc>
                <a:spcPct val="82000"/>
              </a:lnSpc>
              <a:buNone/>
            </a:pPr>
            <a:r>
              <a:rPr lang="zh-CN" altLang="en-US" sz="18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现场任务（10 分钟）　</a:t>
            </a: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每组挑一个关键岗位把六格填满——填不出「关键经验」的岗位，招聘一定看走眼</a:t>
            </a:r>
          </a:p>
        </p:txBody>
      </p:sp>
      <p:sp>
        <p:nvSpPr>
          <p:cNvPr id="35" name="Note 35"/>
          <p:cNvSpPr/>
          <p:nvPr/>
        </p:nvSpPr>
        <p:spPr>
          <a:xfrm>
            <a:off x="1929384" y="6309360"/>
            <a:ext cx="10213848" cy="384048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ctr">
            <a:noAutofit/>
          </a:bodyPr>
          <a:lstStyle/>
          <a:p>
            <a:pPr algn="ctr">
              <a:buNone/>
            </a:pPr>
            <a:r>
              <a:rPr lang="zh-CN" altLang="en-US" sz="205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画像的检验标准：把它交给一个没见过这个岗位的人，他能不能据此淘汰掉八成简历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 &amp; 开发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第一讲 · 理解价值</a:t>
            </a:r>
          </a:p>
        </p:txBody>
      </p:sp>
      <p:sp>
        <p:nvSpPr>
          <p:cNvPr id="5" name="Nav 5"/>
          <p:cNvSpPr/>
          <p:nvPr/>
        </p:nvSpPr>
        <p:spPr>
          <a:xfrm>
            <a:off x="3153148" y="658368"/>
            <a:ext cx="2878828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第二讲 · 评估价值</a:t>
            </a:r>
          </a:p>
        </p:txBody>
      </p:sp>
      <p:sp>
        <p:nvSpPr>
          <p:cNvPr id="6" name="Nav 6"/>
          <p:cNvSpPr/>
          <p:nvPr/>
        </p:nvSpPr>
        <p:spPr>
          <a:xfrm>
            <a:off x="6159993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第三讲 · 开发价值</a:t>
            </a:r>
          </a:p>
        </p:txBody>
      </p:sp>
      <p:sp>
        <p:nvSpPr>
          <p:cNvPr id="7" name="Nav 7"/>
          <p:cNvSpPr/>
          <p:nvPr/>
        </p:nvSpPr>
        <p:spPr>
          <a:xfrm>
            <a:off x="9166837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第四讲 · 落地价值</a:t>
            </a:r>
          </a:p>
        </p:txBody>
      </p:sp>
      <p:cxnSp>
        <p:nvCxnSpPr>
          <p:cNvPr id="8" name="Connector 8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9" name="Connector 9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10" name="Side 10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目标设定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与过程跟踪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人才盘点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与九宫格</a:t>
            </a:r>
          </a:p>
        </p:txBody>
      </p:sp>
      <p:sp>
        <p:nvSpPr>
          <p:cNvPr id="12" name="Side 12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360 度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人才画像</a:t>
            </a:r>
          </a:p>
        </p:txBody>
      </p:sp>
      <p:sp>
        <p:nvSpPr>
          <p:cNvPr id="13" name="Chip 13"/>
          <p:cNvSpPr/>
          <p:nvPr/>
        </p:nvSpPr>
        <p:spPr>
          <a:xfrm>
            <a:off x="1929384" y="1243584"/>
            <a:ext cx="1517904" cy="512064"/>
          </a:xfrm>
          <a:prstGeom prst="roundRect">
            <a:avLst>
              <a:gd name="adj" fmla="val 22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情境 4</a:t>
            </a:r>
          </a:p>
        </p:txBody>
      </p:sp>
      <p:sp>
        <p:nvSpPr>
          <p:cNvPr id="14" name="ScTitle 14"/>
          <p:cNvSpPr/>
          <p:nvPr/>
        </p:nvSpPr>
        <p:spPr>
          <a:xfrm>
            <a:off x="3584448" y="1225296"/>
            <a:ext cx="8558784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buNone/>
            </a:pPr>
            <a:r>
              <a:rPr lang="zh-CN" altLang="en-US" sz="2400" b="1" dirty="0">
                <a:solidFill>
                  <a:srgbClr val="F5C8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360 度做完的第二个月，团队里最能干的那个人递了辞呈</a:t>
            </a:r>
          </a:p>
        </p:txBody>
      </p:sp>
      <p:sp>
        <p:nvSpPr>
          <p:cNvPr id="15" name="Shape 15"/>
          <p:cNvSpPr/>
          <p:nvPr/>
        </p:nvSpPr>
        <p:spPr>
          <a:xfrm>
            <a:off x="1929384" y="1847088"/>
            <a:ext cx="10213848" cy="3127248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2E7D3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6" name="ScHead 16"/>
          <p:cNvSpPr/>
          <p:nvPr/>
        </p:nvSpPr>
        <p:spPr>
          <a:xfrm>
            <a:off x="1929384" y="1847088"/>
            <a:ext cx="10213848" cy="42062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wrap="square" lIns="109728" tIns="18288" rIns="109728" bIns="18288" rtlCol="0" anchor="ctr">
            <a:noAutofit/>
          </a:bodyPr>
          <a:lstStyle/>
          <a:p>
            <a:pPr algn="ctr">
              <a:buNone/>
            </a:pPr>
            <a:r>
              <a:rPr lang="zh-CN" altLang="en-US" sz="2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  场  情  境</a:t>
            </a:r>
          </a:p>
        </p:txBody>
      </p:sp>
      <p:sp>
        <p:nvSpPr>
          <p:cNvPr id="17" name="ScBody 17"/>
          <p:cNvSpPr/>
          <p:nvPr/>
        </p:nvSpPr>
        <p:spPr>
          <a:xfrm>
            <a:off x="2075688" y="2304288"/>
            <a:ext cx="9921240" cy="2615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92000"/>
              </a:lnSpc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某营业部第一次做 360 度评估，覆盖 12 人，每人由主管、3 位同级、2 位协同部门同事评价。</a:t>
            </a:r>
          </a:p>
          <a:p>
            <a:pPr algn="l">
              <a:lnSpc>
                <a:spcPct val="92000"/>
              </a:lnSpc>
              <a:spcBef>
                <a:spcPts val="400"/>
              </a:spcBef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结果出来后，经理把每个人的报告打印好，在周会上一起发下去，并说了一句：「大家看看别人眼里的自己，回去想想。」</a:t>
            </a:r>
          </a:p>
          <a:p>
            <a:pPr algn="l">
              <a:lnSpc>
                <a:spcPct val="92000"/>
              </a:lnSpc>
              <a:spcBef>
                <a:spcPts val="400"/>
              </a:spcBef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骨干小李的报告里，协同部门有两条低分和一句评语：「配合意愿一般，经常临时提需求。」</a:t>
            </a:r>
          </a:p>
          <a:p>
            <a:pPr algn="l">
              <a:lnSpc>
                <a:spcPct val="92000"/>
              </a:lnSpc>
              <a:spcBef>
                <a:spcPts val="400"/>
              </a:spcBef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小李当天就开始推测这两条是谁写的——他只跟内勤和技术打过交道，范围很小。</a:t>
            </a:r>
          </a:p>
          <a:p>
            <a:pPr algn="l">
              <a:lnSpc>
                <a:spcPct val="92000"/>
              </a:lnSpc>
              <a:spcBef>
                <a:spcPts val="400"/>
              </a:spcBef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此后两周，他不再在群里协调，所有事情改成走邮件；技术申请陪访也改由经理转达。</a:t>
            </a:r>
          </a:p>
          <a:p>
            <a:pPr algn="l">
              <a:lnSpc>
                <a:spcPct val="92000"/>
              </a:lnSpc>
              <a:spcBef>
                <a:spcPts val="400"/>
              </a:spcBef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第六周，他提了辞职，理由写的是「个人发展」。他带走的三家客户，占营业部当年目标的 11%。</a:t>
            </a:r>
          </a:p>
        </p:txBody>
      </p:sp>
      <p:sp>
        <p:nvSpPr>
          <p:cNvPr id="18" name="ScAsk 18"/>
          <p:cNvSpPr/>
          <p:nvPr/>
        </p:nvSpPr>
        <p:spPr>
          <a:xfrm>
            <a:off x="1929384" y="5065776"/>
            <a:ext cx="10213848" cy="640080"/>
          </a:xfrm>
          <a:prstGeom prst="roundRect">
            <a:avLst>
              <a:gd name="adj" fmla="val 20000"/>
            </a:avLst>
          </a:prstGeom>
          <a:solidFill>
            <a:srgbClr val="2C6B53"/>
          </a:solidFill>
          <a:ln w="15875" cap="flat" cmpd="sng" algn="ctr">
            <a:solidFill>
              <a:srgbClr val="F5C842"/>
            </a:solidFill>
          </a:ln>
        </p:spPr>
        <p:txBody>
          <a:bodyPr wrap="square" lIns="164592" tIns="36576" rIns="146304" bIns="36576" rtlCol="0" anchor="ctr">
            <a:noAutofit/>
          </a:bodyPr>
          <a:lstStyle/>
          <a:p>
            <a:pPr algn="l">
              <a:buNone/>
            </a:pPr>
            <a:r>
              <a:rPr lang="zh-CN" altLang="en-US" sz="2250" b="1" dirty="0">
                <a:solidFill>
                  <a:srgbClr val="F5C8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讨 论　</a:t>
            </a:r>
            <a:r>
              <a:rPr lang="zh-CN" altLang="en-US" sz="22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这次 360 度错在哪几步？如果重来，从设计到反馈，你会改哪三件事？</a:t>
            </a:r>
          </a:p>
        </p:txBody>
      </p:sp>
      <p:sp>
        <p:nvSpPr>
          <p:cNvPr id="19" name="ScCommon 19"/>
          <p:cNvSpPr/>
          <p:nvPr/>
        </p:nvSpPr>
        <p:spPr>
          <a:xfrm>
            <a:off x="1929384" y="5779008"/>
            <a:ext cx="10213848" cy="749808"/>
          </a:xfrm>
          <a:prstGeom prst="roundRect">
            <a:avLst>
              <a:gd name="adj" fmla="val 16000"/>
            </a:avLst>
          </a:prstGeom>
          <a:solidFill>
            <a:srgbClr val="3A3A3A"/>
          </a:solidFill>
          <a:ln w="15875" cap="flat" cmpd="sng" algn="ctr">
            <a:solidFill>
              <a:srgbClr val="9A9A9A"/>
            </a:solidFill>
          </a:ln>
        </p:spPr>
        <p:txBody>
          <a:bodyPr wrap="square" lIns="164592" tIns="36576" rIns="146304" bIns="36576" rtlCol="0" anchor="ctr">
            <a:noAutofit/>
          </a:bodyPr>
          <a:lstStyle/>
          <a:p>
            <a:pPr algn="l">
              <a:buNone/>
            </a:pPr>
            <a:r>
              <a:rPr lang="zh-CN" altLang="en-US" sz="1950" b="1" dirty="0">
                <a:solidFill>
                  <a:srgbClr val="FFC9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普遍做法　</a:t>
            </a:r>
            <a:r>
              <a:rPr lang="zh-CN" altLang="en-US" sz="19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下次不做 360 了；或者改成完全匿名、扩大评价人范围、把结果只发给管理层不发给本人。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 &amp; 开发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第一讲 · 理解价值</a:t>
            </a:r>
          </a:p>
        </p:txBody>
      </p:sp>
      <p:sp>
        <p:nvSpPr>
          <p:cNvPr id="5" name="Nav 5"/>
          <p:cNvSpPr/>
          <p:nvPr/>
        </p:nvSpPr>
        <p:spPr>
          <a:xfrm>
            <a:off x="3153148" y="658368"/>
            <a:ext cx="2878828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第二讲 · 评估价值</a:t>
            </a:r>
          </a:p>
        </p:txBody>
      </p:sp>
      <p:sp>
        <p:nvSpPr>
          <p:cNvPr id="6" name="Nav 6"/>
          <p:cNvSpPr/>
          <p:nvPr/>
        </p:nvSpPr>
        <p:spPr>
          <a:xfrm>
            <a:off x="6159993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第三讲 · 开发价值</a:t>
            </a:r>
          </a:p>
        </p:txBody>
      </p:sp>
      <p:sp>
        <p:nvSpPr>
          <p:cNvPr id="7" name="Nav 7"/>
          <p:cNvSpPr/>
          <p:nvPr/>
        </p:nvSpPr>
        <p:spPr>
          <a:xfrm>
            <a:off x="9166837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第四讲 · 落地价值</a:t>
            </a:r>
          </a:p>
        </p:txBody>
      </p:sp>
      <p:cxnSp>
        <p:nvCxnSpPr>
          <p:cNvPr id="8" name="Connector 8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9" name="Connector 9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10" name="Side 10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目标设定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与过程跟踪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人才盘点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与九宫格</a:t>
            </a:r>
          </a:p>
        </p:txBody>
      </p:sp>
      <p:sp>
        <p:nvSpPr>
          <p:cNvPr id="12" name="Side 12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360 度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人才画像</a:t>
            </a:r>
          </a:p>
        </p:txBody>
      </p:sp>
      <p:sp>
        <p:nvSpPr>
          <p:cNvPr id="13" name="H1 13"/>
          <p:cNvSpPr/>
          <p:nvPr/>
        </p:nvSpPr>
        <p:spPr>
          <a:xfrm>
            <a:off x="1929384" y="1161288"/>
            <a:ext cx="10213848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9144" rIns="73152" bIns="9144" rtlCol="0" anchor="ctr">
            <a:noAutofit/>
          </a:bodyPr>
          <a:lstStyle/>
          <a:p>
            <a:pPr algn="l">
              <a:buNone/>
            </a:pPr>
            <a:r>
              <a:rPr lang="zh-CN" altLang="en-US" sz="27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第二讲小结：评估的目的不是评准，是让人动起来</a:t>
            </a:r>
          </a:p>
        </p:txBody>
      </p:sp>
      <p:sp>
        <p:nvSpPr>
          <p:cNvPr id="14" name="H2 14"/>
          <p:cNvSpPr/>
          <p:nvPr/>
        </p:nvSpPr>
        <p:spPr>
          <a:xfrm>
            <a:off x="1929384" y="1636776"/>
            <a:ext cx="10213848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9144" rIns="73152" bIns="9144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上午到此结束，下午我们把「量出来的差距」变成「长出来的能力」</a:t>
            </a:r>
          </a:p>
        </p:txBody>
      </p:sp>
      <p:sp>
        <p:nvSpPr>
          <p:cNvPr id="15" name="Shape 15"/>
          <p:cNvSpPr/>
          <p:nvPr/>
        </p:nvSpPr>
        <p:spPr>
          <a:xfrm>
            <a:off x="1929384" y="1993392"/>
            <a:ext cx="4988052" cy="170992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6" name="CardHead 16"/>
          <p:cNvSpPr/>
          <p:nvPr/>
        </p:nvSpPr>
        <p:spPr>
          <a:xfrm>
            <a:off x="1929384" y="1993392"/>
            <a:ext cx="4988052" cy="347472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</a:t>
            </a:r>
          </a:p>
        </p:txBody>
      </p:sp>
      <p:sp>
        <p:nvSpPr>
          <p:cNvPr id="17" name="CardBody 17"/>
          <p:cNvSpPr/>
          <p:nvPr/>
        </p:nvSpPr>
        <p:spPr>
          <a:xfrm>
            <a:off x="2011680" y="2350008"/>
            <a:ext cx="4823460" cy="1335024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106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可查的目标 = 基线 + 目标值 + 期限 + 过程指标。</a:t>
            </a:r>
            <a:b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带走：你写的那份季度目标，下周一发给你的主管确认。</a:t>
            </a:r>
          </a:p>
        </p:txBody>
      </p:sp>
      <p:sp>
        <p:nvSpPr>
          <p:cNvPr id="18" name="Shape 18"/>
          <p:cNvSpPr/>
          <p:nvPr/>
        </p:nvSpPr>
        <p:spPr>
          <a:xfrm>
            <a:off x="7155180" y="1993392"/>
            <a:ext cx="4988052" cy="170992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9" name="CardHead 19"/>
          <p:cNvSpPr/>
          <p:nvPr/>
        </p:nvSpPr>
        <p:spPr>
          <a:xfrm>
            <a:off x="7155180" y="1993392"/>
            <a:ext cx="4988052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过程</a:t>
            </a:r>
          </a:p>
        </p:txBody>
      </p:sp>
      <p:sp>
        <p:nvSpPr>
          <p:cNvPr id="20" name="CardBody 20"/>
          <p:cNvSpPr/>
          <p:nvPr/>
        </p:nvSpPr>
        <p:spPr>
          <a:xfrm>
            <a:off x="7237476" y="2350008"/>
            <a:ext cx="4823460" cy="1335024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106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考核客户侧的动作，不考核自己就能完成的动作。</a:t>
            </a:r>
            <a:b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带走：把周会的第一个问题换成「漏斗每一环各推进了几家」。</a:t>
            </a:r>
          </a:p>
        </p:txBody>
      </p:sp>
      <p:sp>
        <p:nvSpPr>
          <p:cNvPr id="21" name="Shape 21"/>
          <p:cNvSpPr/>
          <p:nvPr/>
        </p:nvSpPr>
        <p:spPr>
          <a:xfrm>
            <a:off x="1929384" y="3867912"/>
            <a:ext cx="4988052" cy="170992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2" name="CardHead 22"/>
          <p:cNvSpPr/>
          <p:nvPr/>
        </p:nvSpPr>
        <p:spPr>
          <a:xfrm>
            <a:off x="1929384" y="3867912"/>
            <a:ext cx="4988052" cy="347472"/>
          </a:xfrm>
          <a:prstGeom prst="rect">
            <a:avLst/>
          </a:prstGeom>
          <a:solidFill>
            <a:srgbClr val="E55E24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盘点</a:t>
            </a:r>
          </a:p>
        </p:txBody>
      </p:sp>
      <p:sp>
        <p:nvSpPr>
          <p:cNvPr id="23" name="CardBody 23"/>
          <p:cNvSpPr/>
          <p:nvPr/>
        </p:nvSpPr>
        <p:spPr>
          <a:xfrm>
            <a:off x="2011680" y="4224528"/>
            <a:ext cx="4823460" cy="1335024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106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绩效看三年、看结构、看质量；潜力看四条行为。</a:t>
            </a:r>
            <a:b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带走：本月内把团队贴进九宫格，并产出三张名单。</a:t>
            </a:r>
          </a:p>
        </p:txBody>
      </p:sp>
      <p:sp>
        <p:nvSpPr>
          <p:cNvPr id="24" name="Shape 24"/>
          <p:cNvSpPr/>
          <p:nvPr/>
        </p:nvSpPr>
        <p:spPr>
          <a:xfrm>
            <a:off x="7155180" y="3867912"/>
            <a:ext cx="4988052" cy="170992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6A4C9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5" name="CardHead 25"/>
          <p:cNvSpPr/>
          <p:nvPr/>
        </p:nvSpPr>
        <p:spPr>
          <a:xfrm>
            <a:off x="7155180" y="3867912"/>
            <a:ext cx="4988052" cy="347472"/>
          </a:xfrm>
          <a:prstGeom prst="rect">
            <a:avLst/>
          </a:prstGeom>
          <a:solidFill>
            <a:srgbClr val="6A4C93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反馈</a:t>
            </a:r>
          </a:p>
        </p:txBody>
      </p:sp>
      <p:sp>
        <p:nvSpPr>
          <p:cNvPr id="26" name="CardBody 26"/>
          <p:cNvSpPr/>
          <p:nvPr/>
        </p:nvSpPr>
        <p:spPr>
          <a:xfrm>
            <a:off x="7237476" y="4224528"/>
            <a:ext cx="4823460" cy="1335024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130000"/>
              </a:lnSpc>
              <a:buNone/>
            </a:pPr>
            <a:r>
              <a:rPr lang="zh-CN" altLang="en-US" sz="19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360 度只用于发展，只问行为，一对一谈，落到一个动作。</a:t>
            </a:r>
            <a:br>
              <a:rPr lang="zh-CN" altLang="en-US" sz="19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9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带走：选一位下属，本周用四步法谈一次。</a:t>
            </a:r>
          </a:p>
        </p:txBody>
      </p:sp>
      <p:sp>
        <p:nvSpPr>
          <p:cNvPr id="27" name="Shape 27"/>
          <p:cNvSpPr/>
          <p:nvPr/>
        </p:nvSpPr>
        <p:spPr>
          <a:xfrm>
            <a:off x="1929384" y="5724144"/>
            <a:ext cx="10213848" cy="566928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8" name="Banner 28"/>
          <p:cNvSpPr/>
          <p:nvPr/>
        </p:nvSpPr>
        <p:spPr>
          <a:xfrm>
            <a:off x="2075688" y="5724144"/>
            <a:ext cx="9921240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buNone/>
            </a:pPr>
            <a:r>
              <a:rPr lang="zh-CN" altLang="en-US" sz="18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下午预告　</a:t>
            </a: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尺子做好了，接下来是真正花钱的部分：怎么把一个人从「可用」推到「胜任愉快」</a:t>
            </a:r>
          </a:p>
        </p:txBody>
      </p:sp>
      <p:sp>
        <p:nvSpPr>
          <p:cNvPr id="29" name="Note 29"/>
          <p:cNvSpPr/>
          <p:nvPr/>
        </p:nvSpPr>
        <p:spPr>
          <a:xfrm>
            <a:off x="1929384" y="6309360"/>
            <a:ext cx="10213848" cy="384048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午休。下午第一件事，我们先看一组数字：培训投入和行为改变之间，到底有多大的落差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 &amp; 开发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第一讲 · 理解价值</a:t>
            </a:r>
          </a:p>
        </p:txBody>
      </p:sp>
      <p:sp>
        <p:nvSpPr>
          <p:cNvPr id="5" name="Nav 5"/>
          <p:cNvSpPr/>
          <p:nvPr/>
        </p:nvSpPr>
        <p:spPr>
          <a:xfrm>
            <a:off x="3153148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第二讲 · 评估价值</a:t>
            </a:r>
          </a:p>
        </p:txBody>
      </p:sp>
      <p:sp>
        <p:nvSpPr>
          <p:cNvPr id="6" name="Nav 6"/>
          <p:cNvSpPr/>
          <p:nvPr/>
        </p:nvSpPr>
        <p:spPr>
          <a:xfrm>
            <a:off x="6159993" y="658368"/>
            <a:ext cx="2878828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第三讲 · 开发价值</a:t>
            </a:r>
          </a:p>
        </p:txBody>
      </p:sp>
      <p:sp>
        <p:nvSpPr>
          <p:cNvPr id="7" name="Nav 7"/>
          <p:cNvSpPr/>
          <p:nvPr/>
        </p:nvSpPr>
        <p:spPr>
          <a:xfrm>
            <a:off x="9166837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第四讲 · 落地价值</a:t>
            </a:r>
          </a:p>
        </p:txBody>
      </p:sp>
      <p:cxnSp>
        <p:nvCxnSpPr>
          <p:cNvPr id="8" name="Connector 8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9" name="Connector 9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10" name="Side 10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为什么开发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三条路径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营业部人员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开发重点</a:t>
            </a:r>
          </a:p>
        </p:txBody>
      </p:sp>
      <p:sp>
        <p:nvSpPr>
          <p:cNvPr id="12" name="Side 12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管理者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开发重点</a:t>
            </a:r>
          </a:p>
        </p:txBody>
      </p:sp>
      <p:sp>
        <p:nvSpPr>
          <p:cNvPr id="13" name="H1 13"/>
          <p:cNvSpPr/>
          <p:nvPr/>
        </p:nvSpPr>
        <p:spPr>
          <a:xfrm>
            <a:off x="1929384" y="1161288"/>
            <a:ext cx="10213848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9144" rIns="73152" bIns="9144" rtlCol="0" anchor="ctr">
            <a:noAutofit/>
          </a:bodyPr>
          <a:lstStyle/>
          <a:p>
            <a:pPr algn="l">
              <a:buNone/>
            </a:pPr>
            <a:r>
              <a:rPr lang="zh-CN" altLang="en-US" sz="27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第三讲　开发价值：把人从「可用」推到「胜任愉快」</a:t>
            </a:r>
          </a:p>
        </p:txBody>
      </p:sp>
      <p:sp>
        <p:nvSpPr>
          <p:cNvPr id="14" name="H2 14"/>
          <p:cNvSpPr/>
          <p:nvPr/>
        </p:nvSpPr>
        <p:spPr>
          <a:xfrm>
            <a:off x="1929384" y="1636776"/>
            <a:ext cx="10213848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9144" rIns="73152" bIns="9144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开发不等于送去上课——四条路，成本差十倍，见效也差十倍</a:t>
            </a:r>
          </a:p>
        </p:txBody>
      </p:sp>
      <p:sp>
        <p:nvSpPr>
          <p:cNvPr id="15" name="Shape 15"/>
          <p:cNvSpPr/>
          <p:nvPr/>
        </p:nvSpPr>
        <p:spPr>
          <a:xfrm>
            <a:off x="1929384" y="1993392"/>
            <a:ext cx="2347722" cy="1316736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6" name="FlowHead 16"/>
          <p:cNvSpPr/>
          <p:nvPr/>
        </p:nvSpPr>
        <p:spPr>
          <a:xfrm>
            <a:off x="1929384" y="1993392"/>
            <a:ext cx="2347722" cy="384048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在岗 OJT</a:t>
            </a:r>
          </a:p>
        </p:txBody>
      </p:sp>
      <p:sp>
        <p:nvSpPr>
          <p:cNvPr id="17" name="FlowBody 17"/>
          <p:cNvSpPr/>
          <p:nvPr/>
        </p:nvSpPr>
        <p:spPr>
          <a:xfrm>
            <a:off x="1975104" y="2395728"/>
            <a:ext cx="2256282" cy="886968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>
              <a:lnSpc>
                <a:spcPct val="118000"/>
              </a:lnSpc>
              <a:buNone/>
            </a:pPr>
            <a:r>
              <a:rPr lang="zh-CN" altLang="en-US" sz="21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日常辅导</a:t>
            </a:r>
            <a:br>
              <a:rPr lang="zh-CN" altLang="en-US" sz="21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1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与任务委派</a:t>
            </a:r>
          </a:p>
        </p:txBody>
      </p:sp>
      <p:cxnSp>
        <p:nvCxnSpPr>
          <p:cNvPr id="18" name="Arrow 18"/>
          <p:cNvCxnSpPr/>
          <p:nvPr/>
        </p:nvCxnSpPr>
        <p:spPr>
          <a:xfrm>
            <a:off x="4313682" y="2651760"/>
            <a:ext cx="201168" cy="0"/>
          </a:xfrm>
          <a:prstGeom prst="straightConnector1">
            <a:avLst/>
          </a:prstGeom>
          <a:ln w="25400" cap="flat">
            <a:solidFill>
              <a:srgbClr val="FFFFFF"/>
            </a:solidFill>
            <a:tailEnd type="triangle" w="med" len="med"/>
          </a:ln>
        </p:spPr>
      </p:cxnSp>
      <p:sp>
        <p:nvSpPr>
          <p:cNvPr id="19" name="Shape 19"/>
          <p:cNvSpPr/>
          <p:nvPr/>
        </p:nvSpPr>
        <p:spPr>
          <a:xfrm>
            <a:off x="4551426" y="1993392"/>
            <a:ext cx="2347722" cy="1316736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0" name="FlowHead 20"/>
          <p:cNvSpPr/>
          <p:nvPr/>
        </p:nvSpPr>
        <p:spPr>
          <a:xfrm>
            <a:off x="4551426" y="1993392"/>
            <a:ext cx="2347722" cy="38404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脱岗培训</a:t>
            </a:r>
          </a:p>
        </p:txBody>
      </p:sp>
      <p:sp>
        <p:nvSpPr>
          <p:cNvPr id="21" name="FlowBody 21"/>
          <p:cNvSpPr/>
          <p:nvPr/>
        </p:nvSpPr>
        <p:spPr>
          <a:xfrm>
            <a:off x="4597146" y="2395728"/>
            <a:ext cx="2256282" cy="886968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>
              <a:lnSpc>
                <a:spcPct val="118000"/>
              </a:lnSpc>
              <a:buNone/>
            </a:pPr>
            <a:r>
              <a:rPr lang="zh-CN" altLang="en-US" sz="21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课程学习</a:t>
            </a:r>
            <a:br>
              <a:rPr lang="zh-CN" altLang="en-US" sz="21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1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与外部交流</a:t>
            </a:r>
          </a:p>
        </p:txBody>
      </p:sp>
      <p:cxnSp>
        <p:nvCxnSpPr>
          <p:cNvPr id="22" name="Arrow 22"/>
          <p:cNvCxnSpPr/>
          <p:nvPr/>
        </p:nvCxnSpPr>
        <p:spPr>
          <a:xfrm>
            <a:off x="6935724" y="2651760"/>
            <a:ext cx="201168" cy="0"/>
          </a:xfrm>
          <a:prstGeom prst="straightConnector1">
            <a:avLst/>
          </a:prstGeom>
          <a:ln w="25400" cap="flat">
            <a:solidFill>
              <a:srgbClr val="FFFFFF"/>
            </a:solidFill>
            <a:tailEnd type="triangle" w="med" len="med"/>
          </a:ln>
        </p:spPr>
      </p:cxnSp>
      <p:sp>
        <p:nvSpPr>
          <p:cNvPr id="23" name="Shape 23"/>
          <p:cNvSpPr/>
          <p:nvPr/>
        </p:nvSpPr>
        <p:spPr>
          <a:xfrm>
            <a:off x="7173468" y="1993392"/>
            <a:ext cx="2347722" cy="1316736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4" name="FlowHead 24"/>
          <p:cNvSpPr/>
          <p:nvPr/>
        </p:nvSpPr>
        <p:spPr>
          <a:xfrm>
            <a:off x="7173468" y="1993392"/>
            <a:ext cx="2347722" cy="384048"/>
          </a:xfrm>
          <a:prstGeom prst="rect">
            <a:avLst/>
          </a:prstGeom>
          <a:solidFill>
            <a:srgbClr val="E55E24"/>
          </a:solidFill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轮岗历练</a:t>
            </a:r>
          </a:p>
        </p:txBody>
      </p:sp>
      <p:sp>
        <p:nvSpPr>
          <p:cNvPr id="25" name="FlowBody 25"/>
          <p:cNvSpPr/>
          <p:nvPr/>
        </p:nvSpPr>
        <p:spPr>
          <a:xfrm>
            <a:off x="7219188" y="2395728"/>
            <a:ext cx="2256282" cy="886968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>
              <a:lnSpc>
                <a:spcPct val="118000"/>
              </a:lnSpc>
              <a:buNone/>
            </a:pPr>
            <a:r>
              <a:rPr lang="zh-CN" altLang="en-US" sz="21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换岗位</a:t>
            </a:r>
            <a:br>
              <a:rPr lang="zh-CN" altLang="en-US" sz="21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1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换行业</a:t>
            </a:r>
          </a:p>
        </p:txBody>
      </p:sp>
      <p:cxnSp>
        <p:nvCxnSpPr>
          <p:cNvPr id="26" name="Arrow 26"/>
          <p:cNvCxnSpPr/>
          <p:nvPr/>
        </p:nvCxnSpPr>
        <p:spPr>
          <a:xfrm>
            <a:off x="9557766" y="2651760"/>
            <a:ext cx="201168" cy="0"/>
          </a:xfrm>
          <a:prstGeom prst="straightConnector1">
            <a:avLst/>
          </a:prstGeom>
          <a:ln w="25400" cap="flat">
            <a:solidFill>
              <a:srgbClr val="FFFFFF"/>
            </a:solidFill>
            <a:tailEnd type="triangle" w="med" len="med"/>
          </a:ln>
        </p:spPr>
      </p:cxnSp>
      <p:sp>
        <p:nvSpPr>
          <p:cNvPr id="27" name="Shape 27"/>
          <p:cNvSpPr/>
          <p:nvPr/>
        </p:nvSpPr>
        <p:spPr>
          <a:xfrm>
            <a:off x="9795510" y="1993392"/>
            <a:ext cx="2347722" cy="1316736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 cap="flat" cmpd="sng" algn="ctr">
            <a:solidFill>
              <a:srgbClr val="6A4C9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8" name="FlowHead 28"/>
          <p:cNvSpPr/>
          <p:nvPr/>
        </p:nvSpPr>
        <p:spPr>
          <a:xfrm>
            <a:off x="9795510" y="1993392"/>
            <a:ext cx="2347722" cy="384048"/>
          </a:xfrm>
          <a:prstGeom prst="rect">
            <a:avLst/>
          </a:prstGeom>
          <a:solidFill>
            <a:srgbClr val="6A4C93"/>
          </a:solidFill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项目历练</a:t>
            </a:r>
          </a:p>
        </p:txBody>
      </p:sp>
      <p:sp>
        <p:nvSpPr>
          <p:cNvPr id="29" name="FlowBody 29"/>
          <p:cNvSpPr/>
          <p:nvPr/>
        </p:nvSpPr>
        <p:spPr>
          <a:xfrm>
            <a:off x="9841230" y="2395728"/>
            <a:ext cx="2256282" cy="886968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>
              <a:lnSpc>
                <a:spcPct val="118000"/>
              </a:lnSpc>
              <a:buNone/>
            </a:pPr>
            <a:r>
              <a:rPr lang="zh-CN" altLang="en-US" sz="21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跨部门</a:t>
            </a:r>
            <a:br>
              <a:rPr lang="zh-CN" altLang="en-US" sz="21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1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打硬仗</a:t>
            </a:r>
          </a:p>
        </p:txBody>
      </p:sp>
      <p:sp>
        <p:nvSpPr>
          <p:cNvPr id="30" name="Shape 30"/>
          <p:cNvSpPr/>
          <p:nvPr/>
        </p:nvSpPr>
        <p:spPr>
          <a:xfrm>
            <a:off x="1929384" y="3547872"/>
            <a:ext cx="4988052" cy="221284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1" name="CardHead 31"/>
          <p:cNvSpPr/>
          <p:nvPr/>
        </p:nvSpPr>
        <p:spPr>
          <a:xfrm>
            <a:off x="1929384" y="3547872"/>
            <a:ext cx="4988052" cy="347472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先分清：他缺的到底是什么</a:t>
            </a:r>
          </a:p>
        </p:txBody>
      </p:sp>
      <p:sp>
        <p:nvSpPr>
          <p:cNvPr id="32" name="CardBody 32"/>
          <p:cNvSpPr/>
          <p:nvPr/>
        </p:nvSpPr>
        <p:spPr>
          <a:xfrm>
            <a:off x="2011680" y="3904488"/>
            <a:ext cx="4823460" cy="1837944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84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不会 → 缺知识技能。最便宜也最快，陪练三个月就能变。</a:t>
            </a:r>
          </a:p>
          <a:p>
            <a:pPr algn="l">
              <a:lnSpc>
                <a:spcPct val="84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不敢 → 缺经验与信心。给「有点难但不致命」的任务，做成一次胜过讲十次。</a:t>
            </a:r>
          </a:p>
          <a:p>
            <a:pPr algn="l">
              <a:lnSpc>
                <a:spcPct val="84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不想 → 缺意义与舞台。加培训没用，加钱常也没用，要给名分和下一步。</a:t>
            </a:r>
          </a:p>
          <a:p>
            <a:pPr algn="l">
              <a:lnSpc>
                <a:spcPct val="84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不能 → 位置不对。要改的是安排，不是人。</a:t>
            </a:r>
          </a:p>
        </p:txBody>
      </p:sp>
      <p:sp>
        <p:nvSpPr>
          <p:cNvPr id="33" name="Shape 33"/>
          <p:cNvSpPr/>
          <p:nvPr/>
        </p:nvSpPr>
        <p:spPr>
          <a:xfrm>
            <a:off x="7155180" y="3547872"/>
            <a:ext cx="4988052" cy="221284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4" name="CardHead 34"/>
          <p:cNvSpPr/>
          <p:nvPr/>
        </p:nvSpPr>
        <p:spPr>
          <a:xfrm>
            <a:off x="7155180" y="3547872"/>
            <a:ext cx="4988052" cy="347472"/>
          </a:xfrm>
          <a:prstGeom prst="rect">
            <a:avLst/>
          </a:prstGeom>
          <a:solidFill>
            <a:srgbClr val="C02F2B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一个必须承认的现实</a:t>
            </a:r>
          </a:p>
        </p:txBody>
      </p:sp>
      <p:sp>
        <p:nvSpPr>
          <p:cNvPr id="35" name="CardBody 35"/>
          <p:cNvSpPr/>
          <p:nvPr/>
        </p:nvSpPr>
        <p:spPr>
          <a:xfrm>
            <a:off x="7237476" y="3904488"/>
            <a:ext cx="4823460" cy="1837944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82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多数销售团队并没有结构化的新人培养办法，靠的是「跟着老人看」和「干中学」，所以同一批新人的能力方差极大。</a:t>
            </a:r>
          </a:p>
          <a:p>
            <a:pPr algn="l">
              <a:lnSpc>
                <a:spcPct val="82000"/>
              </a:lnSpc>
              <a:spcBef>
                <a:spcPts val="300"/>
              </a:spcBef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工业品新人从入职到独立拿下第一单，行业经验值大约是三到六个月；完全独立作战通常要半年到一年。这段时间的长短，几乎完全取决于有没有人真的在带。</a:t>
            </a:r>
          </a:p>
        </p:txBody>
      </p:sp>
      <p:sp>
        <p:nvSpPr>
          <p:cNvPr id="36" name="Shape 36"/>
          <p:cNvSpPr/>
          <p:nvPr/>
        </p:nvSpPr>
        <p:spPr>
          <a:xfrm>
            <a:off x="1929384" y="5907024"/>
            <a:ext cx="10213848" cy="585216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7" name="Banner 37"/>
          <p:cNvSpPr/>
          <p:nvPr/>
        </p:nvSpPr>
        <p:spPr>
          <a:xfrm>
            <a:off x="2075688" y="5907024"/>
            <a:ext cx="9921240" cy="585216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lnSpc>
                <a:spcPct val="86000"/>
              </a:lnSpc>
              <a:buNone/>
            </a:pPr>
            <a:r>
              <a:rPr lang="zh-CN" altLang="en-US" sz="18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这一讲的底层判断　</a:t>
            </a: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开发的第一步不是安排培训，是判断这个人卡在「不会 / 不敢 / 不想 / 不能」的哪一格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 &amp; 开发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第一讲 · 理解价值</a:t>
            </a:r>
          </a:p>
        </p:txBody>
      </p:sp>
      <p:sp>
        <p:nvSpPr>
          <p:cNvPr id="5" name="Nav 5"/>
          <p:cNvSpPr/>
          <p:nvPr/>
        </p:nvSpPr>
        <p:spPr>
          <a:xfrm>
            <a:off x="3153148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第二讲 · 评估价值</a:t>
            </a:r>
          </a:p>
        </p:txBody>
      </p:sp>
      <p:sp>
        <p:nvSpPr>
          <p:cNvPr id="6" name="Nav 6"/>
          <p:cNvSpPr/>
          <p:nvPr/>
        </p:nvSpPr>
        <p:spPr>
          <a:xfrm>
            <a:off x="6159993" y="658368"/>
            <a:ext cx="2878828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第三讲 · 开发价值</a:t>
            </a:r>
          </a:p>
        </p:txBody>
      </p:sp>
      <p:sp>
        <p:nvSpPr>
          <p:cNvPr id="7" name="Nav 7"/>
          <p:cNvSpPr/>
          <p:nvPr/>
        </p:nvSpPr>
        <p:spPr>
          <a:xfrm>
            <a:off x="9166837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第四讲 · 落地价值</a:t>
            </a:r>
          </a:p>
        </p:txBody>
      </p:sp>
      <p:cxnSp>
        <p:nvCxnSpPr>
          <p:cNvPr id="8" name="Connector 8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9" name="Connector 9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10" name="Side 10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为什么开发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三条路径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营业部人员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开发重点</a:t>
            </a:r>
          </a:p>
        </p:txBody>
      </p:sp>
      <p:sp>
        <p:nvSpPr>
          <p:cNvPr id="12" name="Side 12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管理者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开发重点</a:t>
            </a:r>
          </a:p>
        </p:txBody>
      </p:sp>
      <p:sp>
        <p:nvSpPr>
          <p:cNvPr id="13" name="H1 13"/>
          <p:cNvSpPr/>
          <p:nvPr/>
        </p:nvSpPr>
        <p:spPr>
          <a:xfrm>
            <a:off x="1929384" y="1161288"/>
            <a:ext cx="10213848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9144" rIns="73152" bIns="9144" rtlCol="0" anchor="ctr">
            <a:noAutofit/>
          </a:bodyPr>
          <a:lstStyle/>
          <a:p>
            <a:pPr algn="l">
              <a:buNone/>
            </a:pPr>
            <a:r>
              <a:rPr lang="zh-CN" altLang="en-US" sz="27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为什么必须做人才开发：三笔账，你迟早要付其中一笔</a:t>
            </a:r>
          </a:p>
        </p:txBody>
      </p:sp>
      <p:sp>
        <p:nvSpPr>
          <p:cNvPr id="14" name="H2 14"/>
          <p:cNvSpPr/>
          <p:nvPr/>
        </p:nvSpPr>
        <p:spPr>
          <a:xfrm>
            <a:off x="1929384" y="1636776"/>
            <a:ext cx="10213848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9144" rIns="73152" bIns="9144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不开发的成本从来不是零，它只是被延后了</a:t>
            </a:r>
          </a:p>
        </p:txBody>
      </p:sp>
      <p:sp>
        <p:nvSpPr>
          <p:cNvPr id="15" name="Shape 15"/>
          <p:cNvSpPr/>
          <p:nvPr/>
        </p:nvSpPr>
        <p:spPr>
          <a:xfrm>
            <a:off x="1929384" y="1993392"/>
            <a:ext cx="3246120" cy="257860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6" name="CardHead 16"/>
          <p:cNvSpPr/>
          <p:nvPr/>
        </p:nvSpPr>
        <p:spPr>
          <a:xfrm>
            <a:off x="1929384" y="1993392"/>
            <a:ext cx="3246120" cy="347472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业务这边的账</a:t>
            </a:r>
          </a:p>
        </p:txBody>
      </p:sp>
      <p:sp>
        <p:nvSpPr>
          <p:cNvPr id="17" name="CardBody 17"/>
          <p:cNvSpPr/>
          <p:nvPr/>
        </p:nvSpPr>
        <p:spPr>
          <a:xfrm>
            <a:off x="2011680" y="2350008"/>
            <a:ext cx="3081528" cy="2203704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公司在推的方向——线轨、真空、电控、半导体与新能源——需要能讲工况、能算账、能做替代导入的销售。</a:t>
            </a:r>
            <a:b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不开发的结果：新品类推不动，只能继续卖标准气缸，而它恰恰最透明、最容易被比价。</a:t>
            </a:r>
          </a:p>
        </p:txBody>
      </p:sp>
      <p:sp>
        <p:nvSpPr>
          <p:cNvPr id="18" name="Shape 18"/>
          <p:cNvSpPr/>
          <p:nvPr/>
        </p:nvSpPr>
        <p:spPr>
          <a:xfrm>
            <a:off x="5413248" y="1993392"/>
            <a:ext cx="3246120" cy="257860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9" name="CardHead 19"/>
          <p:cNvSpPr/>
          <p:nvPr/>
        </p:nvSpPr>
        <p:spPr>
          <a:xfrm>
            <a:off x="5413248" y="1993392"/>
            <a:ext cx="3246120" cy="347472"/>
          </a:xfrm>
          <a:prstGeom prst="rect">
            <a:avLst/>
          </a:prstGeom>
          <a:solidFill>
            <a:srgbClr val="E55E24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组织这边的账</a:t>
            </a:r>
          </a:p>
        </p:txBody>
      </p:sp>
      <p:sp>
        <p:nvSpPr>
          <p:cNvPr id="20" name="CardBody 20"/>
          <p:cNvSpPr/>
          <p:nvPr/>
        </p:nvSpPr>
        <p:spPr>
          <a:xfrm>
            <a:off x="5495544" y="2350008"/>
            <a:ext cx="3081528" cy="2203704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一个人的经验留在他自己脑子里，就不是组织能力。客户信息在个人微信里、跟进全凭脑子记，人一走，客户跟着走。</a:t>
            </a:r>
            <a:b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不开发的结果：营业部的产出永远等于几个骨干的产出，换一个人就要重来一遍。</a:t>
            </a:r>
          </a:p>
        </p:txBody>
      </p:sp>
      <p:sp>
        <p:nvSpPr>
          <p:cNvPr id="21" name="Shape 21"/>
          <p:cNvSpPr/>
          <p:nvPr/>
        </p:nvSpPr>
        <p:spPr>
          <a:xfrm>
            <a:off x="8897112" y="1993392"/>
            <a:ext cx="3246120" cy="257860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2" name="CardHead 22"/>
          <p:cNvSpPr/>
          <p:nvPr/>
        </p:nvSpPr>
        <p:spPr>
          <a:xfrm>
            <a:off x="8897112" y="1993392"/>
            <a:ext cx="3246120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员工这边的账</a:t>
            </a:r>
          </a:p>
        </p:txBody>
      </p:sp>
      <p:sp>
        <p:nvSpPr>
          <p:cNvPr id="23" name="CardBody 23"/>
          <p:cNvSpPr/>
          <p:nvPr/>
        </p:nvSpPr>
        <p:spPr>
          <a:xfrm>
            <a:off x="8979408" y="2350008"/>
            <a:ext cx="3081528" cy="2203704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zh-CN" altLang="en-US" sz="19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看不到下一步的人会先在心里离职，再在系统里离职。尤其是卡在同一职级几年、收入没有明显跳升的那一段。</a:t>
            </a:r>
            <a:br>
              <a:rPr lang="zh-CN" altLang="en-US" sz="19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9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不开发的结果：好的人先走，因为他们最有得选。</a:t>
            </a:r>
          </a:p>
        </p:txBody>
      </p:sp>
      <p:sp>
        <p:nvSpPr>
          <p:cNvPr id="24" name="Shape 24"/>
          <p:cNvSpPr/>
          <p:nvPr/>
        </p:nvSpPr>
        <p:spPr>
          <a:xfrm>
            <a:off x="1929384" y="4791456"/>
            <a:ext cx="10213848" cy="1225296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67E2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5" name="CardHead 25"/>
          <p:cNvSpPr/>
          <p:nvPr/>
        </p:nvSpPr>
        <p:spPr>
          <a:xfrm>
            <a:off x="1929384" y="4791456"/>
            <a:ext cx="10213848" cy="3474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把账算给自己听</a:t>
            </a:r>
          </a:p>
        </p:txBody>
      </p:sp>
      <p:sp>
        <p:nvSpPr>
          <p:cNvPr id="26" name="CardBody 26"/>
          <p:cNvSpPr/>
          <p:nvPr/>
        </p:nvSpPr>
        <p:spPr>
          <a:xfrm>
            <a:off x="2011680" y="5148072"/>
            <a:ext cx="10049256" cy="850392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84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一个成熟销售离职，直接损失是他手上客户的一部分；间接损失是新人补位的三到六个月空窗，加上老客户重新建立信任的时间。</a:t>
            </a:r>
          </a:p>
          <a:p>
            <a:pPr algn="l">
              <a:lnSpc>
                <a:spcPct val="84000"/>
              </a:lnSpc>
              <a:spcBef>
                <a:spcPts val="300"/>
              </a:spcBef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这笔钱通常远大于「把他培养起来并留住」所需要的投入——只是前者不进预算，后者要签字。</a:t>
            </a:r>
          </a:p>
        </p:txBody>
      </p:sp>
      <p:sp>
        <p:nvSpPr>
          <p:cNvPr id="27" name="Shape 27"/>
          <p:cNvSpPr/>
          <p:nvPr/>
        </p:nvSpPr>
        <p:spPr>
          <a:xfrm>
            <a:off x="1929384" y="6144768"/>
            <a:ext cx="10213848" cy="530352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8" name="Banner 28"/>
          <p:cNvSpPr/>
          <p:nvPr/>
        </p:nvSpPr>
        <p:spPr>
          <a:xfrm>
            <a:off x="2075688" y="6144768"/>
            <a:ext cx="9921240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buNone/>
            </a:pPr>
            <a:r>
              <a:rPr lang="zh-CN" altLang="en-US" sz="23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一句话　</a:t>
            </a:r>
            <a:r>
              <a:rPr lang="zh-CN" altLang="en-US" sz="23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人才开发唯一的问题是：它的成本在当期，它的收益在下一任手里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 &amp; 开发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第一讲 · 理解价值</a:t>
            </a:r>
          </a:p>
        </p:txBody>
      </p:sp>
      <p:sp>
        <p:nvSpPr>
          <p:cNvPr id="5" name="Nav 5"/>
          <p:cNvSpPr/>
          <p:nvPr/>
        </p:nvSpPr>
        <p:spPr>
          <a:xfrm>
            <a:off x="3153148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第二讲 · 评估价值</a:t>
            </a:r>
          </a:p>
        </p:txBody>
      </p:sp>
      <p:sp>
        <p:nvSpPr>
          <p:cNvPr id="6" name="Nav 6"/>
          <p:cNvSpPr/>
          <p:nvPr/>
        </p:nvSpPr>
        <p:spPr>
          <a:xfrm>
            <a:off x="6159993" y="658368"/>
            <a:ext cx="2878828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第三讲 · 开发价值</a:t>
            </a:r>
          </a:p>
        </p:txBody>
      </p:sp>
      <p:sp>
        <p:nvSpPr>
          <p:cNvPr id="7" name="Nav 7"/>
          <p:cNvSpPr/>
          <p:nvPr/>
        </p:nvSpPr>
        <p:spPr>
          <a:xfrm>
            <a:off x="9166837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第四讲 · 落地价值</a:t>
            </a:r>
          </a:p>
        </p:txBody>
      </p:sp>
      <p:cxnSp>
        <p:nvCxnSpPr>
          <p:cNvPr id="8" name="Connector 8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9" name="Connector 9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10" name="Side 10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为什么开发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三条路径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营业部人员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开发重点</a:t>
            </a:r>
          </a:p>
        </p:txBody>
      </p:sp>
      <p:sp>
        <p:nvSpPr>
          <p:cNvPr id="12" name="Side 12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管理者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开发重点</a:t>
            </a:r>
          </a:p>
        </p:txBody>
      </p:sp>
      <p:pic>
        <p:nvPicPr>
          <p:cNvPr id="13" name="Art 13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1883664" y="1188720"/>
            <a:ext cx="10259568" cy="5522976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 &amp; 开发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第一讲 · 理解价值</a:t>
            </a:r>
          </a:p>
        </p:txBody>
      </p:sp>
      <p:sp>
        <p:nvSpPr>
          <p:cNvPr id="5" name="Nav 5"/>
          <p:cNvSpPr/>
          <p:nvPr/>
        </p:nvSpPr>
        <p:spPr>
          <a:xfrm>
            <a:off x="3153148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第二讲 · 评估价值</a:t>
            </a:r>
          </a:p>
        </p:txBody>
      </p:sp>
      <p:sp>
        <p:nvSpPr>
          <p:cNvPr id="6" name="Nav 6"/>
          <p:cNvSpPr/>
          <p:nvPr/>
        </p:nvSpPr>
        <p:spPr>
          <a:xfrm>
            <a:off x="6159993" y="658368"/>
            <a:ext cx="2878828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第三讲 · 开发价值</a:t>
            </a:r>
          </a:p>
        </p:txBody>
      </p:sp>
      <p:sp>
        <p:nvSpPr>
          <p:cNvPr id="7" name="Nav 7"/>
          <p:cNvSpPr/>
          <p:nvPr/>
        </p:nvSpPr>
        <p:spPr>
          <a:xfrm>
            <a:off x="9166837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第四讲 · 落地价值</a:t>
            </a:r>
          </a:p>
        </p:txBody>
      </p:sp>
      <p:cxnSp>
        <p:nvCxnSpPr>
          <p:cNvPr id="8" name="Connector 8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9" name="Connector 9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10" name="Side 10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为什么开发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三条路径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营业部人员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开发重点</a:t>
            </a:r>
          </a:p>
        </p:txBody>
      </p:sp>
      <p:sp>
        <p:nvSpPr>
          <p:cNvPr id="12" name="Side 12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管理者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开发重点</a:t>
            </a:r>
          </a:p>
        </p:txBody>
      </p:sp>
      <p:pic>
        <p:nvPicPr>
          <p:cNvPr id="13" name="Art 13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1883664" y="1188720"/>
            <a:ext cx="10259568" cy="5522976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 &amp; 开发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第一讲 · 理解价值</a:t>
            </a:r>
          </a:p>
        </p:txBody>
      </p:sp>
      <p:sp>
        <p:nvSpPr>
          <p:cNvPr id="5" name="Nav 5"/>
          <p:cNvSpPr/>
          <p:nvPr/>
        </p:nvSpPr>
        <p:spPr>
          <a:xfrm>
            <a:off x="3153148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第二讲 · 评估价值</a:t>
            </a:r>
          </a:p>
        </p:txBody>
      </p:sp>
      <p:sp>
        <p:nvSpPr>
          <p:cNvPr id="6" name="Nav 6"/>
          <p:cNvSpPr/>
          <p:nvPr/>
        </p:nvSpPr>
        <p:spPr>
          <a:xfrm>
            <a:off x="6159993" y="658368"/>
            <a:ext cx="2878828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第三讲 · 开发价值</a:t>
            </a:r>
          </a:p>
        </p:txBody>
      </p:sp>
      <p:sp>
        <p:nvSpPr>
          <p:cNvPr id="7" name="Nav 7"/>
          <p:cNvSpPr/>
          <p:nvPr/>
        </p:nvSpPr>
        <p:spPr>
          <a:xfrm>
            <a:off x="9166837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第四讲 · 落地价值</a:t>
            </a:r>
          </a:p>
        </p:txBody>
      </p:sp>
      <p:cxnSp>
        <p:nvCxnSpPr>
          <p:cNvPr id="8" name="Connector 8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9" name="Connector 9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10" name="Side 10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为什么开发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三条路径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营业部人员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开发重点</a:t>
            </a:r>
          </a:p>
        </p:txBody>
      </p:sp>
      <p:sp>
        <p:nvSpPr>
          <p:cNvPr id="12" name="Side 12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管理者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开发重点</a:t>
            </a:r>
          </a:p>
        </p:txBody>
      </p:sp>
      <p:sp>
        <p:nvSpPr>
          <p:cNvPr id="13" name="H1 13"/>
          <p:cNvSpPr/>
          <p:nvPr/>
        </p:nvSpPr>
        <p:spPr>
          <a:xfrm>
            <a:off x="1929384" y="1161288"/>
            <a:ext cx="10213848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9144" rIns="73152" bIns="9144" rtlCol="0" anchor="ctr">
            <a:noAutofit/>
          </a:bodyPr>
          <a:lstStyle/>
          <a:p>
            <a:pPr algn="l">
              <a:buNone/>
            </a:pPr>
            <a:r>
              <a:rPr lang="zh-CN" altLang="en-US" sz="27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脱岗培训：怎么让它不白上</a:t>
            </a:r>
          </a:p>
        </p:txBody>
      </p:sp>
      <p:sp>
        <p:nvSpPr>
          <p:cNvPr id="14" name="H2 14"/>
          <p:cNvSpPr/>
          <p:nvPr/>
        </p:nvSpPr>
        <p:spPr>
          <a:xfrm>
            <a:off x="1929384" y="1636776"/>
            <a:ext cx="10213848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9144" rIns="73152" bIns="9144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课程本身很少改变行为，改变行为的是回来之后那件真实的事</a:t>
            </a:r>
          </a:p>
        </p:txBody>
      </p:sp>
      <p:sp>
        <p:nvSpPr>
          <p:cNvPr id="15" name="Shape 15"/>
          <p:cNvSpPr/>
          <p:nvPr/>
        </p:nvSpPr>
        <p:spPr>
          <a:xfrm>
            <a:off x="1929384" y="1993392"/>
            <a:ext cx="4988052" cy="246888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6" name="CardHead 16"/>
          <p:cNvSpPr/>
          <p:nvPr/>
        </p:nvSpPr>
        <p:spPr>
          <a:xfrm>
            <a:off x="1929384" y="1993392"/>
            <a:ext cx="4988052" cy="347472"/>
          </a:xfrm>
          <a:prstGeom prst="rect">
            <a:avLst/>
          </a:prstGeom>
          <a:solidFill>
            <a:srgbClr val="C02F2B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培训白上的四个典型死法</a:t>
            </a:r>
          </a:p>
        </p:txBody>
      </p:sp>
      <p:sp>
        <p:nvSpPr>
          <p:cNvPr id="17" name="CardBody 17"/>
          <p:cNvSpPr/>
          <p:nvPr/>
        </p:nvSpPr>
        <p:spPr>
          <a:xfrm>
            <a:off x="2011680" y="2350008"/>
            <a:ext cx="4823460" cy="2093976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90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报名靠轮流：谁有空谁去，去的人自己都不知道为什么是他；</a:t>
            </a:r>
          </a:p>
          <a:p>
            <a:pPr algn="l">
              <a:lnSpc>
                <a:spcPct val="90000"/>
              </a:lnSpc>
              <a:spcBef>
                <a:spcPts val="300"/>
              </a:spcBef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学完没承接：回来还是原来那摊活，学的东西没有地方用；</a:t>
            </a:r>
          </a:p>
          <a:p>
            <a:pPr algn="l">
              <a:lnSpc>
                <a:spcPct val="90000"/>
              </a:lnSpc>
              <a:spcBef>
                <a:spcPts val="300"/>
              </a:spcBef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没有交付物：只有一份笔记和一张合影；</a:t>
            </a:r>
          </a:p>
          <a:p>
            <a:pPr algn="l">
              <a:lnSpc>
                <a:spcPct val="90000"/>
              </a:lnSpc>
              <a:spcBef>
                <a:spcPts val="300"/>
              </a:spcBef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主管不知道学了什么：他没法在日常里追问，于是也就没人追问。</a:t>
            </a:r>
          </a:p>
        </p:txBody>
      </p:sp>
      <p:sp>
        <p:nvSpPr>
          <p:cNvPr id="18" name="Shape 18"/>
          <p:cNvSpPr/>
          <p:nvPr/>
        </p:nvSpPr>
        <p:spPr>
          <a:xfrm>
            <a:off x="7155180" y="1993392"/>
            <a:ext cx="4988052" cy="246888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9" name="CardHead 19"/>
          <p:cNvSpPr/>
          <p:nvPr/>
        </p:nvSpPr>
        <p:spPr>
          <a:xfrm>
            <a:off x="7155180" y="1993392"/>
            <a:ext cx="4988052" cy="347472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让它有效的四件事（都在课外）</a:t>
            </a:r>
          </a:p>
        </p:txBody>
      </p:sp>
      <p:sp>
        <p:nvSpPr>
          <p:cNvPr id="20" name="CardBody 20"/>
          <p:cNvSpPr/>
          <p:nvPr/>
        </p:nvSpPr>
        <p:spPr>
          <a:xfrm>
            <a:off x="7237476" y="2350008"/>
            <a:ext cx="4823460" cy="2093976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84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课前：主管和学员定一个问题——「你带着哪个真实难题去」；</a:t>
            </a:r>
          </a:p>
          <a:p>
            <a:pPr algn="l">
              <a:lnSpc>
                <a:spcPct val="84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课中：只要求带回三条可执行的动作，不要求记全；</a:t>
            </a:r>
          </a:p>
          <a:p>
            <a:pPr algn="l">
              <a:lnSpc>
                <a:spcPct val="84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课后两周内：用一件真实的事把它跑一遍（一次真实的客户谈判、一次真实的辅导）；</a:t>
            </a:r>
          </a:p>
          <a:p>
            <a:pPr algn="l">
              <a:lnSpc>
                <a:spcPct val="84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课后一个月：在部门会上讲 10 分钟——讲不出来，说明还没学会。</a:t>
            </a:r>
          </a:p>
        </p:txBody>
      </p:sp>
      <p:sp>
        <p:nvSpPr>
          <p:cNvPr id="21" name="Shape 21"/>
          <p:cNvSpPr/>
          <p:nvPr/>
        </p:nvSpPr>
        <p:spPr>
          <a:xfrm>
            <a:off x="1929384" y="4681728"/>
            <a:ext cx="10213848" cy="120700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67E2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2" name="CardHead 22"/>
          <p:cNvSpPr/>
          <p:nvPr/>
        </p:nvSpPr>
        <p:spPr>
          <a:xfrm>
            <a:off x="1929384" y="4681728"/>
            <a:ext cx="10213848" cy="3474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今天这门课的承接安排（现在就定）</a:t>
            </a:r>
          </a:p>
        </p:txBody>
      </p:sp>
      <p:sp>
        <p:nvSpPr>
          <p:cNvPr id="23" name="CardBody 23"/>
          <p:cNvSpPr/>
          <p:nvPr/>
        </p:nvSpPr>
        <p:spPr>
          <a:xfrm>
            <a:off x="2011680" y="5038344"/>
            <a:ext cx="10049256" cy="832104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82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每人写下三个动作：一个关于客户（价值算账卡）、一个关于团队（九宫格或反馈谈话）、一个关于自己（季度目标或 IDP）。</a:t>
            </a:r>
          </a:p>
          <a:p>
            <a:pPr algn="l">
              <a:lnSpc>
                <a:spcPct val="82000"/>
              </a:lnSpc>
              <a:spcBef>
                <a:spcPts val="300"/>
              </a:spcBef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两周后的部门会上，每人用 3 分钟讲：我做了哪一个、发生了什么、卡在哪里。</a:t>
            </a:r>
          </a:p>
        </p:txBody>
      </p:sp>
      <p:sp>
        <p:nvSpPr>
          <p:cNvPr id="24" name="Shape 24"/>
          <p:cNvSpPr/>
          <p:nvPr/>
        </p:nvSpPr>
        <p:spPr>
          <a:xfrm>
            <a:off x="1929384" y="6035040"/>
            <a:ext cx="10213848" cy="566928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5" name="Banner 25"/>
          <p:cNvSpPr/>
          <p:nvPr/>
        </p:nvSpPr>
        <p:spPr>
          <a:xfrm>
            <a:off x="2075688" y="6035040"/>
            <a:ext cx="9921240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buNone/>
            </a:pPr>
            <a:r>
              <a:rPr lang="zh-CN" altLang="en-US" sz="20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给管理者　</a:t>
            </a: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你派谁去培训，本身就是一次激励信号——随机派人，等于宣布这件事不重要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 &amp; 开发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第一讲 · 理解价值</a:t>
            </a:r>
          </a:p>
        </p:txBody>
      </p:sp>
      <p:sp>
        <p:nvSpPr>
          <p:cNvPr id="5" name="Nav 5"/>
          <p:cNvSpPr/>
          <p:nvPr/>
        </p:nvSpPr>
        <p:spPr>
          <a:xfrm>
            <a:off x="3153148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第二讲 · 评估价值</a:t>
            </a:r>
          </a:p>
        </p:txBody>
      </p:sp>
      <p:sp>
        <p:nvSpPr>
          <p:cNvPr id="6" name="Nav 6"/>
          <p:cNvSpPr/>
          <p:nvPr/>
        </p:nvSpPr>
        <p:spPr>
          <a:xfrm>
            <a:off x="6159993" y="658368"/>
            <a:ext cx="2878828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第三讲 · 开发价值</a:t>
            </a:r>
          </a:p>
        </p:txBody>
      </p:sp>
      <p:sp>
        <p:nvSpPr>
          <p:cNvPr id="7" name="Nav 7"/>
          <p:cNvSpPr/>
          <p:nvPr/>
        </p:nvSpPr>
        <p:spPr>
          <a:xfrm>
            <a:off x="9166837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第四讲 · 落地价值</a:t>
            </a:r>
          </a:p>
        </p:txBody>
      </p:sp>
      <p:cxnSp>
        <p:nvCxnSpPr>
          <p:cNvPr id="8" name="Connector 8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9" name="Connector 9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10" name="Side 10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为什么开发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三条路径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营业部人员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开发重点</a:t>
            </a:r>
          </a:p>
        </p:txBody>
      </p:sp>
      <p:sp>
        <p:nvSpPr>
          <p:cNvPr id="12" name="Side 12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管理者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开发重点</a:t>
            </a:r>
          </a:p>
        </p:txBody>
      </p:sp>
      <p:sp>
        <p:nvSpPr>
          <p:cNvPr id="13" name="H1 13"/>
          <p:cNvSpPr/>
          <p:nvPr/>
        </p:nvSpPr>
        <p:spPr>
          <a:xfrm>
            <a:off x="1929384" y="1161288"/>
            <a:ext cx="10213848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9144" rIns="73152" bIns="9144" rtlCol="0" anchor="ctr">
            <a:noAutofit/>
          </a:bodyPr>
          <a:lstStyle/>
          <a:p>
            <a:pPr algn="l">
              <a:buNone/>
            </a:pPr>
            <a:r>
              <a:rPr lang="zh-CN" altLang="en-US" sz="27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轮岗与项目历练：给一块「有点难但不致命」的地方</a:t>
            </a:r>
          </a:p>
        </p:txBody>
      </p:sp>
      <p:sp>
        <p:nvSpPr>
          <p:cNvPr id="14" name="H2 14"/>
          <p:cNvSpPr/>
          <p:nvPr/>
        </p:nvSpPr>
        <p:spPr>
          <a:xfrm>
            <a:off x="1929384" y="1636776"/>
            <a:ext cx="10213848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9144" rIns="73152" bIns="9144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这是把「可用」推到「胜任」最快的一条路，也是最容易被拖成消耗的一条</a:t>
            </a:r>
          </a:p>
        </p:txBody>
      </p:sp>
      <p:sp>
        <p:nvSpPr>
          <p:cNvPr id="15" name="Shape 15"/>
          <p:cNvSpPr/>
          <p:nvPr/>
        </p:nvSpPr>
        <p:spPr>
          <a:xfrm>
            <a:off x="1929384" y="1993392"/>
            <a:ext cx="10213848" cy="102412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6" name="CardHead 16"/>
          <p:cNvSpPr/>
          <p:nvPr/>
        </p:nvSpPr>
        <p:spPr>
          <a:xfrm>
            <a:off x="1929384" y="1993392"/>
            <a:ext cx="10213848" cy="347472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横向轮岗：换客户类型或换行业</a:t>
            </a:r>
          </a:p>
        </p:txBody>
      </p:sp>
      <p:sp>
        <p:nvSpPr>
          <p:cNvPr id="17" name="CardBody 17"/>
          <p:cNvSpPr/>
          <p:nvPr/>
        </p:nvSpPr>
        <p:spPr>
          <a:xfrm>
            <a:off x="2011680" y="2350008"/>
            <a:ext cx="10049256" cy="649224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让只做机床的去接一块锂电，让只做经销商的去带两家直接客户。目的不是补人手，是把他从「熟练的重复」里拔出来。硬条件：有明确期限（通常 6~12 个月）、有回来的位置、原客户有人接。</a:t>
            </a:r>
          </a:p>
        </p:txBody>
      </p:sp>
      <p:sp>
        <p:nvSpPr>
          <p:cNvPr id="18" name="Shape 18"/>
          <p:cNvSpPr/>
          <p:nvPr/>
        </p:nvSpPr>
        <p:spPr>
          <a:xfrm>
            <a:off x="1929384" y="3163824"/>
            <a:ext cx="10213848" cy="102412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9" name="CardHead 19"/>
          <p:cNvSpPr/>
          <p:nvPr/>
        </p:nvSpPr>
        <p:spPr>
          <a:xfrm>
            <a:off x="1929384" y="3163824"/>
            <a:ext cx="10213848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纵向历练：给一个跨部门项目</a:t>
            </a:r>
          </a:p>
        </p:txBody>
      </p:sp>
      <p:sp>
        <p:nvSpPr>
          <p:cNvPr id="20" name="CardBody 20"/>
          <p:cNvSpPr/>
          <p:nvPr/>
        </p:nvSpPr>
        <p:spPr>
          <a:xfrm>
            <a:off x="2011680" y="3520440"/>
            <a:ext cx="10049256" cy="649224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一次行业开发试点、一次进口替代的整线导入、一次客诉的联合处理。这类任务的价值在于他必须去协调技术、仓储、财务——这正是从「销售」长成「经理」最缺的那一课。</a:t>
            </a:r>
          </a:p>
        </p:txBody>
      </p:sp>
      <p:sp>
        <p:nvSpPr>
          <p:cNvPr id="21" name="Shape 21"/>
          <p:cNvSpPr/>
          <p:nvPr/>
        </p:nvSpPr>
        <p:spPr>
          <a:xfrm>
            <a:off x="1929384" y="4334256"/>
            <a:ext cx="10213848" cy="102412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2" name="CardHead 22"/>
          <p:cNvSpPr/>
          <p:nvPr/>
        </p:nvSpPr>
        <p:spPr>
          <a:xfrm>
            <a:off x="1929384" y="4334256"/>
            <a:ext cx="10213848" cy="347472"/>
          </a:xfrm>
          <a:prstGeom prst="rect">
            <a:avLst/>
          </a:prstGeom>
          <a:solidFill>
            <a:srgbClr val="C02F2B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最常见的两个坑</a:t>
            </a:r>
          </a:p>
        </p:txBody>
      </p:sp>
      <p:sp>
        <p:nvSpPr>
          <p:cNvPr id="23" name="CardBody 23"/>
          <p:cNvSpPr/>
          <p:nvPr/>
        </p:nvSpPr>
        <p:spPr>
          <a:xfrm>
            <a:off x="2011680" y="4690872"/>
            <a:ext cx="10049256" cy="649224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坑一：「先去支援三个月」——三个月后发现那岗位一直缺人，轮岗变调岗，当事人觉得被骗。</a:t>
            </a:r>
            <a:b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坑二：只给活不给权。让他牵头却不告诉别人他能拍板什么，结果既扛责任又推不动。</a:t>
            </a:r>
          </a:p>
        </p:txBody>
      </p:sp>
      <p:sp>
        <p:nvSpPr>
          <p:cNvPr id="24" name="Shape 24"/>
          <p:cNvSpPr/>
          <p:nvPr/>
        </p:nvSpPr>
        <p:spPr>
          <a:xfrm>
            <a:off x="1929384" y="5468112"/>
            <a:ext cx="10213848" cy="120700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67E2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5" name="CardHead 25"/>
          <p:cNvSpPr/>
          <p:nvPr/>
        </p:nvSpPr>
        <p:spPr>
          <a:xfrm>
            <a:off x="1929384" y="5468112"/>
            <a:ext cx="10213848" cy="3474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轮岗前必须写清的四件事</a:t>
            </a:r>
          </a:p>
        </p:txBody>
      </p:sp>
      <p:sp>
        <p:nvSpPr>
          <p:cNvPr id="26" name="CardBody 26"/>
          <p:cNvSpPr/>
          <p:nvPr/>
        </p:nvSpPr>
        <p:spPr>
          <a:xfrm>
            <a:off x="2011680" y="5824728"/>
            <a:ext cx="10049256" cy="832104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zh-CN" altLang="en-US" sz="20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期限与回来的位置；　② 期间的考核口径（不能拿新岗位第一年的业绩跟老手比）；</a:t>
            </a:r>
          </a:p>
          <a:p>
            <a:pPr algn="l">
              <a:lnSpc>
                <a:spcPct val="108000"/>
              </a:lnSpc>
              <a:spcBef>
                <a:spcPts val="300"/>
              </a:spcBef>
              <a:buNone/>
            </a:pPr>
            <a:r>
              <a:rPr lang="zh-CN" altLang="en-US" sz="20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原客户的交接安排；　④ 结束时的评估标准——什么算成功，什么算不适合。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 &amp; 开发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第一讲 · 理解价值</a:t>
            </a:r>
          </a:p>
        </p:txBody>
      </p:sp>
      <p:sp>
        <p:nvSpPr>
          <p:cNvPr id="5" name="Nav 5"/>
          <p:cNvSpPr/>
          <p:nvPr/>
        </p:nvSpPr>
        <p:spPr>
          <a:xfrm>
            <a:off x="3153148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第二讲 · 评估价值</a:t>
            </a:r>
          </a:p>
        </p:txBody>
      </p:sp>
      <p:sp>
        <p:nvSpPr>
          <p:cNvPr id="6" name="Nav 6"/>
          <p:cNvSpPr/>
          <p:nvPr/>
        </p:nvSpPr>
        <p:spPr>
          <a:xfrm>
            <a:off x="6159993" y="658368"/>
            <a:ext cx="2878828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第三讲 · 开发价值</a:t>
            </a:r>
          </a:p>
        </p:txBody>
      </p:sp>
      <p:sp>
        <p:nvSpPr>
          <p:cNvPr id="7" name="Nav 7"/>
          <p:cNvSpPr/>
          <p:nvPr/>
        </p:nvSpPr>
        <p:spPr>
          <a:xfrm>
            <a:off x="9166837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第四讲 · 落地价值</a:t>
            </a:r>
          </a:p>
        </p:txBody>
      </p:sp>
      <p:cxnSp>
        <p:nvCxnSpPr>
          <p:cNvPr id="8" name="Connector 8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9" name="Connector 9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10" name="Side 10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为什么开发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三条路径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营业部人员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开发重点</a:t>
            </a:r>
          </a:p>
        </p:txBody>
      </p:sp>
      <p:sp>
        <p:nvSpPr>
          <p:cNvPr id="12" name="Side 12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管理者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开发重点</a:t>
            </a:r>
          </a:p>
        </p:txBody>
      </p:sp>
      <p:sp>
        <p:nvSpPr>
          <p:cNvPr id="13" name="Chip 13"/>
          <p:cNvSpPr/>
          <p:nvPr/>
        </p:nvSpPr>
        <p:spPr>
          <a:xfrm>
            <a:off x="1929384" y="1243584"/>
            <a:ext cx="1517904" cy="512064"/>
          </a:xfrm>
          <a:prstGeom prst="roundRect">
            <a:avLst>
              <a:gd name="adj" fmla="val 22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情境 5</a:t>
            </a:r>
          </a:p>
        </p:txBody>
      </p:sp>
      <p:sp>
        <p:nvSpPr>
          <p:cNvPr id="14" name="ScTitle 14"/>
          <p:cNvSpPr/>
          <p:nvPr/>
        </p:nvSpPr>
        <p:spPr>
          <a:xfrm>
            <a:off x="3584448" y="1225296"/>
            <a:ext cx="8558784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buNone/>
            </a:pPr>
            <a:r>
              <a:rPr lang="zh-CN" altLang="en-US" sz="2400" b="1" dirty="0">
                <a:solidFill>
                  <a:srgbClr val="F5C8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新人来了三个月，还是只会送样和催货</a:t>
            </a:r>
          </a:p>
        </p:txBody>
      </p:sp>
      <p:sp>
        <p:nvSpPr>
          <p:cNvPr id="15" name="Shape 15"/>
          <p:cNvSpPr/>
          <p:nvPr/>
        </p:nvSpPr>
        <p:spPr>
          <a:xfrm>
            <a:off x="1929384" y="1847088"/>
            <a:ext cx="10213848" cy="3127248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2E7D3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6" name="ScHead 16"/>
          <p:cNvSpPr/>
          <p:nvPr/>
        </p:nvSpPr>
        <p:spPr>
          <a:xfrm>
            <a:off x="1929384" y="1847088"/>
            <a:ext cx="10213848" cy="42062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wrap="square" lIns="109728" tIns="18288" rIns="109728" bIns="18288" rtlCol="0" anchor="ctr">
            <a:noAutofit/>
          </a:bodyPr>
          <a:lstStyle/>
          <a:p>
            <a:pPr algn="ctr">
              <a:buNone/>
            </a:pPr>
            <a:r>
              <a:rPr lang="zh-CN" altLang="en-US" sz="2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  场  情  境</a:t>
            </a:r>
          </a:p>
        </p:txBody>
      </p:sp>
      <p:sp>
        <p:nvSpPr>
          <p:cNvPr id="17" name="ScBody 17"/>
          <p:cNvSpPr/>
          <p:nvPr/>
        </p:nvSpPr>
        <p:spPr>
          <a:xfrm>
            <a:off x="2075688" y="2304288"/>
            <a:ext cx="9921240" cy="2615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94000"/>
              </a:lnSpc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营业部今年招了两个新人，安排跟着两位老销售。三个月过去，一位已经能独立拿到工况参数、报出标准品，另一位还是只会送样和催货。</a:t>
            </a:r>
          </a:p>
          <a:p>
            <a:pPr algn="l">
              <a:lnSpc>
                <a:spcPct val="94000"/>
              </a:lnSpc>
              <a:spcBef>
                <a:spcPts val="400"/>
              </a:spcBef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差别不在人。前一位的师傅每次跑完客户会在车上讲三句话：我为什么先问节拍不问预算、我为什么没接他那句降价、这一单我为什么宁可先不做。</a:t>
            </a:r>
          </a:p>
          <a:p>
            <a:pPr algn="l">
              <a:lnSpc>
                <a:spcPct val="94000"/>
              </a:lnSpc>
              <a:spcBef>
                <a:spcPts val="400"/>
              </a:spcBef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后一位的师傅带法是「你跟着我看」。新人问得多了，师傅说：「先看着，看多了自然就会。」</a:t>
            </a:r>
          </a:p>
          <a:p>
            <a:pPr algn="l">
              <a:lnSpc>
                <a:spcPct val="94000"/>
              </a:lnSpc>
              <a:spcBef>
                <a:spcPts val="400"/>
              </a:spcBef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找那位师傅谈，他说得也很实在：「带人不算业绩，我自己指标压着，而且教会了他，明年这块客户是不是就分给他了？」</a:t>
            </a:r>
          </a:p>
          <a:p>
            <a:pPr algn="l">
              <a:lnSpc>
                <a:spcPct val="94000"/>
              </a:lnSpc>
              <a:spcBef>
                <a:spcPts val="400"/>
              </a:spcBef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经理在会上强调了两次「要主动带新人」，没有任何变化。</a:t>
            </a:r>
          </a:p>
        </p:txBody>
      </p:sp>
      <p:sp>
        <p:nvSpPr>
          <p:cNvPr id="18" name="ScAsk 18"/>
          <p:cNvSpPr/>
          <p:nvPr/>
        </p:nvSpPr>
        <p:spPr>
          <a:xfrm>
            <a:off x="1929384" y="5065776"/>
            <a:ext cx="10213848" cy="640080"/>
          </a:xfrm>
          <a:prstGeom prst="roundRect">
            <a:avLst>
              <a:gd name="adj" fmla="val 20000"/>
            </a:avLst>
          </a:prstGeom>
          <a:solidFill>
            <a:srgbClr val="2C6B53"/>
          </a:solidFill>
          <a:ln w="15875" cap="flat" cmpd="sng" algn="ctr">
            <a:solidFill>
              <a:srgbClr val="F5C842"/>
            </a:solidFill>
          </a:ln>
        </p:spPr>
        <p:txBody>
          <a:bodyPr wrap="square" lIns="164592" tIns="36576" rIns="146304" bIns="36576" rtlCol="0" anchor="ctr">
            <a:noAutofit/>
          </a:bodyPr>
          <a:lstStyle/>
          <a:p>
            <a:pPr algn="l">
              <a:buNone/>
            </a:pPr>
            <a:r>
              <a:rPr lang="zh-CN" altLang="en-US" sz="2050" b="1" dirty="0">
                <a:solidFill>
                  <a:srgbClr val="F5C8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讨 论　</a:t>
            </a:r>
            <a:r>
              <a:rPr lang="zh-CN" altLang="en-US" sz="20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这是师傅的态度问题，还是我们的机制问题？如果只能改一件事，你改什么？</a:t>
            </a:r>
          </a:p>
        </p:txBody>
      </p:sp>
      <p:sp>
        <p:nvSpPr>
          <p:cNvPr id="19" name="ScCommon 19"/>
          <p:cNvSpPr/>
          <p:nvPr/>
        </p:nvSpPr>
        <p:spPr>
          <a:xfrm>
            <a:off x="1929384" y="5779008"/>
            <a:ext cx="10213848" cy="749808"/>
          </a:xfrm>
          <a:prstGeom prst="roundRect">
            <a:avLst>
              <a:gd name="adj" fmla="val 16000"/>
            </a:avLst>
          </a:prstGeom>
          <a:solidFill>
            <a:srgbClr val="3A3A3A"/>
          </a:solidFill>
          <a:ln w="15875" cap="flat" cmpd="sng" algn="ctr">
            <a:solidFill>
              <a:srgbClr val="9A9A9A"/>
            </a:solidFill>
          </a:ln>
        </p:spPr>
        <p:txBody>
          <a:bodyPr wrap="square" lIns="164592" tIns="36576" rIns="146304" bIns="36576" rtlCol="0" anchor="ctr">
            <a:noAutofit/>
          </a:bodyPr>
          <a:lstStyle/>
          <a:p>
            <a:pPr algn="l">
              <a:buNone/>
            </a:pPr>
            <a:r>
              <a:rPr lang="zh-CN" altLang="en-US" sz="1950" b="1" dirty="0">
                <a:solidFill>
                  <a:srgbClr val="FFC9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普遍做法　</a:t>
            </a:r>
            <a:r>
              <a:rPr lang="zh-CN" altLang="en-US" sz="19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在会上继续强调、把带教写进价值观考核、给新人换个师傅、或者干脆让新人自己摸索。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 &amp; 开发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第一讲 · 理解价值</a:t>
            </a:r>
          </a:p>
        </p:txBody>
      </p:sp>
      <p:sp>
        <p:nvSpPr>
          <p:cNvPr id="5" name="Nav 5"/>
          <p:cNvSpPr/>
          <p:nvPr/>
        </p:nvSpPr>
        <p:spPr>
          <a:xfrm>
            <a:off x="3153148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第二讲 · 评估价值</a:t>
            </a:r>
          </a:p>
        </p:txBody>
      </p:sp>
      <p:sp>
        <p:nvSpPr>
          <p:cNvPr id="6" name="Nav 6"/>
          <p:cNvSpPr/>
          <p:nvPr/>
        </p:nvSpPr>
        <p:spPr>
          <a:xfrm>
            <a:off x="6159993" y="658368"/>
            <a:ext cx="2878828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第三讲 · 开发价值</a:t>
            </a:r>
          </a:p>
        </p:txBody>
      </p:sp>
      <p:sp>
        <p:nvSpPr>
          <p:cNvPr id="7" name="Nav 7"/>
          <p:cNvSpPr/>
          <p:nvPr/>
        </p:nvSpPr>
        <p:spPr>
          <a:xfrm>
            <a:off x="9166837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第四讲 · 落地价值</a:t>
            </a:r>
          </a:p>
        </p:txBody>
      </p:sp>
      <p:cxnSp>
        <p:nvCxnSpPr>
          <p:cNvPr id="8" name="Connector 8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9" name="Connector 9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10" name="Side 10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为什么开发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三条路径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营业部人员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开发重点</a:t>
            </a:r>
          </a:p>
        </p:txBody>
      </p:sp>
      <p:sp>
        <p:nvSpPr>
          <p:cNvPr id="12" name="Side 12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管理者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开发重点</a:t>
            </a:r>
          </a:p>
        </p:txBody>
      </p:sp>
      <p:sp>
        <p:nvSpPr>
          <p:cNvPr id="13" name="H1 13"/>
          <p:cNvSpPr/>
          <p:nvPr/>
        </p:nvSpPr>
        <p:spPr>
          <a:xfrm>
            <a:off x="1929384" y="1161288"/>
            <a:ext cx="10213848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9144" rIns="73152" bIns="9144" rtlCol="0" anchor="ctr">
            <a:noAutofit/>
          </a:bodyPr>
          <a:lstStyle/>
          <a:p>
            <a:pPr algn="l">
              <a:buNone/>
            </a:pPr>
            <a:r>
              <a:rPr lang="zh-CN" altLang="en-US" sz="27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营业部开发重点 ①：市场洞察与客户关系</a:t>
            </a:r>
          </a:p>
        </p:txBody>
      </p:sp>
      <p:sp>
        <p:nvSpPr>
          <p:cNvPr id="14" name="H2 14"/>
          <p:cNvSpPr/>
          <p:nvPr/>
        </p:nvSpPr>
        <p:spPr>
          <a:xfrm>
            <a:off x="1929384" y="1636776"/>
            <a:ext cx="10213848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9144" rIns="73152" bIns="9144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洞察不是看行业报告，是知道「这条线上谁说了算、他在意什么」</a:t>
            </a:r>
          </a:p>
        </p:txBody>
      </p:sp>
      <p:sp>
        <p:nvSpPr>
          <p:cNvPr id="15" name="Shape 15"/>
          <p:cNvSpPr/>
          <p:nvPr/>
        </p:nvSpPr>
        <p:spPr>
          <a:xfrm>
            <a:off x="1929384" y="1993392"/>
            <a:ext cx="4988052" cy="257860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6" name="CardHead 16"/>
          <p:cNvSpPr/>
          <p:nvPr/>
        </p:nvSpPr>
        <p:spPr>
          <a:xfrm>
            <a:off x="1929384" y="1993392"/>
            <a:ext cx="4988052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行业该怎么看：跟着增速走，不跟着熟悉走</a:t>
            </a:r>
          </a:p>
        </p:txBody>
      </p:sp>
      <p:sp>
        <p:nvSpPr>
          <p:cNvPr id="17" name="CardBody 17"/>
          <p:cNvSpPr/>
          <p:nvPr/>
        </p:nvSpPr>
        <p:spPr>
          <a:xfrm>
            <a:off x="2011680" y="2350008"/>
            <a:ext cx="4823460" cy="2203704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96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集团口径的客户行业结构大致是：电子设备约 27%、电池约 14%、汽车约 10%，其余约一半分散在通用机械、机床、包装、光伏等。</a:t>
            </a:r>
          </a:p>
          <a:p>
            <a:pPr algn="l">
              <a:lnSpc>
                <a:spcPct val="96000"/>
              </a:lnSpc>
              <a:spcBef>
                <a:spcPts val="300"/>
              </a:spcBef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近两年长得最快的是锂电和汽车；半导体气动件基数还很小，属于要去开、不是去守的。</a:t>
            </a:r>
          </a:p>
          <a:p>
            <a:pPr algn="l">
              <a:lnSpc>
                <a:spcPct val="96000"/>
              </a:lnSpc>
              <a:spcBef>
                <a:spcPts val="300"/>
              </a:spcBef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含义：客户全在一个成熟行业的人，最该主动开一个新行业的口子——哪怕第一年只做成一家。</a:t>
            </a:r>
          </a:p>
        </p:txBody>
      </p:sp>
      <p:sp>
        <p:nvSpPr>
          <p:cNvPr id="18" name="Shape 18"/>
          <p:cNvSpPr/>
          <p:nvPr/>
        </p:nvSpPr>
        <p:spPr>
          <a:xfrm>
            <a:off x="7155180" y="1993392"/>
            <a:ext cx="4988052" cy="257860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9" name="CardHead 19"/>
          <p:cNvSpPr/>
          <p:nvPr/>
        </p:nvSpPr>
        <p:spPr>
          <a:xfrm>
            <a:off x="7155180" y="1993392"/>
            <a:ext cx="4988052" cy="347472"/>
          </a:xfrm>
          <a:prstGeom prst="rect">
            <a:avLst/>
          </a:prstGeom>
          <a:solidFill>
            <a:srgbClr val="E55E24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决策链：三个人，三本不同的账</a:t>
            </a:r>
          </a:p>
        </p:txBody>
      </p:sp>
      <p:sp>
        <p:nvSpPr>
          <p:cNvPr id="20" name="CardBody 20"/>
          <p:cNvSpPr/>
          <p:nvPr/>
        </p:nvSpPr>
        <p:spPr>
          <a:xfrm>
            <a:off x="7237476" y="2350008"/>
            <a:ext cx="4823460" cy="2203704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84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设备 / 工艺工程师：定选型。在意能不能用、会不会出问题、出了谁来。话语权常高于采购。</a:t>
            </a:r>
          </a:p>
          <a:p>
            <a:pPr algn="l">
              <a:lnSpc>
                <a:spcPct val="84000"/>
              </a:lnSpc>
              <a:spcBef>
                <a:spcPts val="300"/>
              </a:spcBef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采购：定价格与账期。他被考核降本，天然要制造比价。</a:t>
            </a:r>
          </a:p>
          <a:p>
            <a:pPr algn="l">
              <a:lnSpc>
                <a:spcPct val="84000"/>
              </a:lnSpc>
              <a:spcBef>
                <a:spcPts val="300"/>
              </a:spcBef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生产 / 设备主管：定停机容忍度。最怕半夜停线找不到备件——他最容易赢。</a:t>
            </a:r>
          </a:p>
          <a:p>
            <a:pPr algn="l">
              <a:lnSpc>
                <a:spcPct val="84000"/>
              </a:lnSpc>
              <a:spcBef>
                <a:spcPts val="300"/>
              </a:spcBef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只见采购，注定掉进纯比价；先拿下工程师和生产，采购只是流程。</a:t>
            </a:r>
          </a:p>
        </p:txBody>
      </p:sp>
      <p:sp>
        <p:nvSpPr>
          <p:cNvPr id="21" name="Shape 21"/>
          <p:cNvSpPr/>
          <p:nvPr/>
        </p:nvSpPr>
        <p:spPr>
          <a:xfrm>
            <a:off x="1929384" y="4681728"/>
            <a:ext cx="10213848" cy="118872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2" name="CardHead 22"/>
          <p:cNvSpPr/>
          <p:nvPr/>
        </p:nvSpPr>
        <p:spPr>
          <a:xfrm>
            <a:off x="1929384" y="4681728"/>
            <a:ext cx="10213848" cy="347472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两个当天就能用的动作</a:t>
            </a:r>
          </a:p>
        </p:txBody>
      </p:sp>
      <p:sp>
        <p:nvSpPr>
          <p:cNvPr id="23" name="CardBody 23"/>
          <p:cNvSpPr/>
          <p:nvPr/>
        </p:nvSpPr>
        <p:spPr>
          <a:xfrm>
            <a:off x="2011680" y="5038344"/>
            <a:ext cx="10049256" cy="813816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122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档案强制三栏：节拍与工况、现用品牌型号、三类关键人各是谁各在意什么。缺一栏不算建档。</a:t>
            </a:r>
          </a:p>
          <a:p>
            <a:pPr algn="l">
              <a:lnSpc>
                <a:spcPct val="122000"/>
              </a:lnSpc>
              <a:spcBef>
                <a:spcPts val="300"/>
              </a:spcBef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陌生开发别盲扫：按工业园做清单，先拿名单再排查，一个园区认真过一遍通常能筛出三家。</a:t>
            </a:r>
          </a:p>
        </p:txBody>
      </p:sp>
      <p:sp>
        <p:nvSpPr>
          <p:cNvPr id="24" name="Shape 24"/>
          <p:cNvSpPr/>
          <p:nvPr/>
        </p:nvSpPr>
        <p:spPr>
          <a:xfrm>
            <a:off x="1929384" y="5980176"/>
            <a:ext cx="10213848" cy="566928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5" name="Banner 25"/>
          <p:cNvSpPr/>
          <p:nvPr/>
        </p:nvSpPr>
        <p:spPr>
          <a:xfrm>
            <a:off x="2075688" y="5980176"/>
            <a:ext cx="9921240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buNone/>
            </a:pPr>
            <a:r>
              <a:rPr lang="zh-CN" altLang="en-US" sz="18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检验　</a:t>
            </a: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说不出客户三类关键人的名字和在意点，这家客户就还只是「有联系」，不是「有关系」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 &amp; 开发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第一讲 · 理解价值</a:t>
            </a:r>
          </a:p>
        </p:txBody>
      </p:sp>
      <p:sp>
        <p:nvSpPr>
          <p:cNvPr id="5" name="Nav 5"/>
          <p:cNvSpPr/>
          <p:nvPr/>
        </p:nvSpPr>
        <p:spPr>
          <a:xfrm>
            <a:off x="3153148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第二讲 · 评估价值</a:t>
            </a:r>
          </a:p>
        </p:txBody>
      </p:sp>
      <p:sp>
        <p:nvSpPr>
          <p:cNvPr id="6" name="Nav 6"/>
          <p:cNvSpPr/>
          <p:nvPr/>
        </p:nvSpPr>
        <p:spPr>
          <a:xfrm>
            <a:off x="6159993" y="658368"/>
            <a:ext cx="2878828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第三讲 · 开发价值</a:t>
            </a:r>
          </a:p>
        </p:txBody>
      </p:sp>
      <p:sp>
        <p:nvSpPr>
          <p:cNvPr id="7" name="Nav 7"/>
          <p:cNvSpPr/>
          <p:nvPr/>
        </p:nvSpPr>
        <p:spPr>
          <a:xfrm>
            <a:off x="9166837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第四讲 · 落地价值</a:t>
            </a:r>
          </a:p>
        </p:txBody>
      </p:sp>
      <p:cxnSp>
        <p:nvCxnSpPr>
          <p:cNvPr id="8" name="Connector 8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9" name="Connector 9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10" name="Side 10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为什么开发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三条路径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营业部人员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开发重点</a:t>
            </a:r>
          </a:p>
        </p:txBody>
      </p:sp>
      <p:sp>
        <p:nvSpPr>
          <p:cNvPr id="12" name="Side 12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管理者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开发重点</a:t>
            </a:r>
          </a:p>
        </p:txBody>
      </p:sp>
      <p:pic>
        <p:nvPicPr>
          <p:cNvPr id="13" name="Art 13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1883664" y="1188720"/>
            <a:ext cx="10259568" cy="5522976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 &amp; 开发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第一讲 · 理解价值</a:t>
            </a:r>
          </a:p>
        </p:txBody>
      </p:sp>
      <p:sp>
        <p:nvSpPr>
          <p:cNvPr id="5" name="Nav 5"/>
          <p:cNvSpPr/>
          <p:nvPr/>
        </p:nvSpPr>
        <p:spPr>
          <a:xfrm>
            <a:off x="3153148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第二讲 · 评估价值</a:t>
            </a:r>
          </a:p>
        </p:txBody>
      </p:sp>
      <p:sp>
        <p:nvSpPr>
          <p:cNvPr id="6" name="Nav 6"/>
          <p:cNvSpPr/>
          <p:nvPr/>
        </p:nvSpPr>
        <p:spPr>
          <a:xfrm>
            <a:off x="6159993" y="658368"/>
            <a:ext cx="2878828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第三讲 · 开发价值</a:t>
            </a:r>
          </a:p>
        </p:txBody>
      </p:sp>
      <p:sp>
        <p:nvSpPr>
          <p:cNvPr id="7" name="Nav 7"/>
          <p:cNvSpPr/>
          <p:nvPr/>
        </p:nvSpPr>
        <p:spPr>
          <a:xfrm>
            <a:off x="9166837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第四讲 · 落地价值</a:t>
            </a:r>
          </a:p>
        </p:txBody>
      </p:sp>
      <p:cxnSp>
        <p:nvCxnSpPr>
          <p:cNvPr id="8" name="Connector 8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9" name="Connector 9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10" name="Side 10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为什么开发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三条路径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营业部人员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开发重点</a:t>
            </a:r>
          </a:p>
        </p:txBody>
      </p:sp>
      <p:sp>
        <p:nvSpPr>
          <p:cNvPr id="12" name="Side 12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管理者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开发重点</a:t>
            </a:r>
          </a:p>
        </p:txBody>
      </p:sp>
      <p:sp>
        <p:nvSpPr>
          <p:cNvPr id="13" name="H1 13"/>
          <p:cNvSpPr/>
          <p:nvPr/>
        </p:nvSpPr>
        <p:spPr>
          <a:xfrm>
            <a:off x="1929384" y="1161288"/>
            <a:ext cx="10213848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9144" rIns="73152" bIns="9144" rtlCol="0" anchor="ctr">
            <a:noAutofit/>
          </a:bodyPr>
          <a:lstStyle/>
          <a:p>
            <a:pPr algn="l">
              <a:buNone/>
            </a:pPr>
            <a:r>
              <a:rPr lang="zh-CN" altLang="en-US" sz="27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营业部开发重点 ③：业绩驱动与目标达成心态</a:t>
            </a:r>
          </a:p>
        </p:txBody>
      </p:sp>
      <p:sp>
        <p:nvSpPr>
          <p:cNvPr id="14" name="H2 14"/>
          <p:cNvSpPr/>
          <p:nvPr/>
        </p:nvSpPr>
        <p:spPr>
          <a:xfrm>
            <a:off x="1929384" y="1636776"/>
            <a:ext cx="10213848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9144" rIns="73152" bIns="9144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心态不是打鸡血，是把「看不见的进展」变成看得见的</a:t>
            </a:r>
          </a:p>
        </p:txBody>
      </p:sp>
      <p:sp>
        <p:nvSpPr>
          <p:cNvPr id="15" name="Shape 15"/>
          <p:cNvSpPr/>
          <p:nvPr/>
        </p:nvSpPr>
        <p:spPr>
          <a:xfrm>
            <a:off x="1929384" y="1993392"/>
            <a:ext cx="10213848" cy="118872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6" name="CardHead 16"/>
          <p:cNvSpPr/>
          <p:nvPr/>
        </p:nvSpPr>
        <p:spPr>
          <a:xfrm>
            <a:off x="1929384" y="1993392"/>
            <a:ext cx="10213848" cy="347472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第一件事：先判断自己是主选还是陪标</a:t>
            </a:r>
          </a:p>
        </p:txBody>
      </p:sp>
      <p:sp>
        <p:nvSpPr>
          <p:cNvPr id="17" name="CardBody 17"/>
          <p:cNvSpPr/>
          <p:nvPr/>
        </p:nvSpPr>
        <p:spPr>
          <a:xfrm>
            <a:off x="2011680" y="2350008"/>
            <a:ext cx="10049256" cy="813816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84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正规采购普遍执行「至少三家报价」，所以「被叫去报价」本身不等于有机会。判断方法：技术规格是不是照着某一家的参数写的？对方愿不愿意让你见工程师？给不给试用工位？三个都是否 —— 你大概率在陪标，把时间挪走。</a:t>
            </a:r>
          </a:p>
        </p:txBody>
      </p:sp>
      <p:sp>
        <p:nvSpPr>
          <p:cNvPr id="18" name="Shape 18"/>
          <p:cNvSpPr/>
          <p:nvPr/>
        </p:nvSpPr>
        <p:spPr>
          <a:xfrm>
            <a:off x="1929384" y="3236976"/>
            <a:ext cx="10213848" cy="118872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9" name="CardHead 19"/>
          <p:cNvSpPr/>
          <p:nvPr/>
        </p:nvSpPr>
        <p:spPr>
          <a:xfrm>
            <a:off x="1929384" y="3236976"/>
            <a:ext cx="10213848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第二件事：把跟进次数当成纪律，而不是心情</a:t>
            </a:r>
          </a:p>
        </p:txBody>
      </p:sp>
      <p:sp>
        <p:nvSpPr>
          <p:cNvPr id="20" name="CardBody 20"/>
          <p:cNvSpPr/>
          <p:nvPr/>
        </p:nvSpPr>
        <p:spPr>
          <a:xfrm>
            <a:off x="2011680" y="3593592"/>
            <a:ext cx="10049256" cy="813816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84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业品从线索到成交平均要七次以上触达，而多数人第三次之后就停了。大量丢单不是输给对手，是自己先放弃了。做法：重点目标客户在判定关闭前必须触达六次，且每次要有新东西——一份工况建议、一个同行案例、一次试用邀请，而不是「王工在吗，考虑得怎么样了」。</a:t>
            </a:r>
          </a:p>
        </p:txBody>
      </p:sp>
      <p:sp>
        <p:nvSpPr>
          <p:cNvPr id="21" name="Shape 21"/>
          <p:cNvSpPr/>
          <p:nvPr/>
        </p:nvSpPr>
        <p:spPr>
          <a:xfrm>
            <a:off x="1929384" y="4480560"/>
            <a:ext cx="10213848" cy="1170432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2" name="CardHead 22"/>
          <p:cNvSpPr/>
          <p:nvPr/>
        </p:nvSpPr>
        <p:spPr>
          <a:xfrm>
            <a:off x="1929384" y="4480560"/>
            <a:ext cx="10213848" cy="347472"/>
          </a:xfrm>
          <a:prstGeom prst="rect">
            <a:avLst/>
          </a:prstGeom>
          <a:solidFill>
            <a:srgbClr val="E55E24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第三件事：把拒绝翻译成信息</a:t>
            </a:r>
          </a:p>
        </p:txBody>
      </p:sp>
      <p:sp>
        <p:nvSpPr>
          <p:cNvPr id="23" name="CardBody 23"/>
          <p:cNvSpPr/>
          <p:nvPr/>
        </p:nvSpPr>
        <p:spPr>
          <a:xfrm>
            <a:off x="2011680" y="4837176"/>
            <a:ext cx="10049256" cy="795528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82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样品送出去没回音，常见有六种：他只是中间商、只用于展示、需要长周期验证、在收集样品做替代对比、对样品满意但价格条件没谈拢、或者根本没人推进。行业经验是约三成客户不会主动反馈。做法：送样时就约定回访时间和判定标准，别等；电话比消息有效。</a:t>
            </a:r>
          </a:p>
        </p:txBody>
      </p:sp>
      <p:sp>
        <p:nvSpPr>
          <p:cNvPr id="24" name="Shape 24"/>
          <p:cNvSpPr/>
          <p:nvPr/>
        </p:nvSpPr>
        <p:spPr>
          <a:xfrm>
            <a:off x="1929384" y="5705856"/>
            <a:ext cx="10213848" cy="969264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67E2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5" name="CardHead 25"/>
          <p:cNvSpPr/>
          <p:nvPr/>
        </p:nvSpPr>
        <p:spPr>
          <a:xfrm>
            <a:off x="1929384" y="5705856"/>
            <a:ext cx="10213848" cy="3474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给管理者：怎么带心态</a:t>
            </a:r>
          </a:p>
        </p:txBody>
      </p:sp>
      <p:sp>
        <p:nvSpPr>
          <p:cNvPr id="26" name="CardBody 26"/>
          <p:cNvSpPr/>
          <p:nvPr/>
        </p:nvSpPr>
        <p:spPr>
          <a:xfrm>
            <a:off x="2011680" y="6062472"/>
            <a:ext cx="10049256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92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别喊口号。把「触达六次」写进流程、把「陪标判断」做成三个问题的检查表、把每次拒绝的原因归类统计——</a:t>
            </a: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当销售看到自己丢的单里有四成是同一个原因，他的心态自己就变了。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 &amp; 开发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第一讲 · 理解价值</a:t>
            </a:r>
          </a:p>
        </p:txBody>
      </p:sp>
      <p:sp>
        <p:nvSpPr>
          <p:cNvPr id="5" name="Nav 5"/>
          <p:cNvSpPr/>
          <p:nvPr/>
        </p:nvSpPr>
        <p:spPr>
          <a:xfrm>
            <a:off x="3153148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第二讲 · 评估价值</a:t>
            </a:r>
          </a:p>
        </p:txBody>
      </p:sp>
      <p:sp>
        <p:nvSpPr>
          <p:cNvPr id="6" name="Nav 6"/>
          <p:cNvSpPr/>
          <p:nvPr/>
        </p:nvSpPr>
        <p:spPr>
          <a:xfrm>
            <a:off x="6159993" y="658368"/>
            <a:ext cx="2878828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第三讲 · 开发价值</a:t>
            </a:r>
          </a:p>
        </p:txBody>
      </p:sp>
      <p:sp>
        <p:nvSpPr>
          <p:cNvPr id="7" name="Nav 7"/>
          <p:cNvSpPr/>
          <p:nvPr/>
        </p:nvSpPr>
        <p:spPr>
          <a:xfrm>
            <a:off x="9166837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第四讲 · 落地价值</a:t>
            </a:r>
          </a:p>
        </p:txBody>
      </p:sp>
      <p:cxnSp>
        <p:nvCxnSpPr>
          <p:cNvPr id="8" name="Connector 8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9" name="Connector 9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10" name="Side 10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为什么开发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三条路径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营业部人员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开发重点</a:t>
            </a:r>
          </a:p>
        </p:txBody>
      </p:sp>
      <p:sp>
        <p:nvSpPr>
          <p:cNvPr id="12" name="Side 12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管理者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开发重点</a:t>
            </a:r>
          </a:p>
        </p:txBody>
      </p:sp>
      <p:sp>
        <p:nvSpPr>
          <p:cNvPr id="13" name="H1 13"/>
          <p:cNvSpPr/>
          <p:nvPr/>
        </p:nvSpPr>
        <p:spPr>
          <a:xfrm>
            <a:off x="1929384" y="1161288"/>
            <a:ext cx="10213848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9144" rIns="73152" bIns="9144" rtlCol="0" anchor="ctr">
            <a:noAutofit/>
          </a:bodyPr>
          <a:lstStyle/>
          <a:p>
            <a:pPr algn="l">
              <a:buNone/>
            </a:pPr>
            <a:r>
              <a:rPr lang="zh-CN" altLang="en-US" sz="27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管理者开发重点 ①：从「自己能打」到「让别人能打」</a:t>
            </a:r>
          </a:p>
        </p:txBody>
      </p:sp>
      <p:sp>
        <p:nvSpPr>
          <p:cNvPr id="14" name="H2 14"/>
          <p:cNvSpPr/>
          <p:nvPr/>
        </p:nvSpPr>
        <p:spPr>
          <a:xfrm>
            <a:off x="1929384" y="1636776"/>
            <a:ext cx="10213848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9144" rIns="73152" bIns="9144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营业部经理最大的转身，是从加法变成乘法</a:t>
            </a:r>
          </a:p>
        </p:txBody>
      </p:sp>
      <p:sp>
        <p:nvSpPr>
          <p:cNvPr id="15" name="Shape 15"/>
          <p:cNvSpPr/>
          <p:nvPr/>
        </p:nvSpPr>
        <p:spPr>
          <a:xfrm>
            <a:off x="1929384" y="1993392"/>
            <a:ext cx="4988052" cy="2889504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6" name="CardHead 16"/>
          <p:cNvSpPr/>
          <p:nvPr/>
        </p:nvSpPr>
        <p:spPr>
          <a:xfrm>
            <a:off x="1929384" y="1993392"/>
            <a:ext cx="4988052" cy="347472"/>
          </a:xfrm>
          <a:prstGeom prst="rect">
            <a:avLst/>
          </a:prstGeom>
          <a:solidFill>
            <a:srgbClr val="C02F2B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三种典型的转身失败</a:t>
            </a:r>
          </a:p>
        </p:txBody>
      </p:sp>
      <p:sp>
        <p:nvSpPr>
          <p:cNvPr id="17" name="CardBody 17"/>
          <p:cNvSpPr/>
          <p:nvPr/>
        </p:nvSpPr>
        <p:spPr>
          <a:xfrm>
            <a:off x="2011680" y="2350008"/>
            <a:ext cx="4823460" cy="25146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98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一、自己冲最前：全部门最大的单是自己签的，团队其余人原地踏步。看起来业绩很好，其实组织能力为零。</a:t>
            </a:r>
          </a:p>
          <a:p>
            <a:pPr algn="l">
              <a:lnSpc>
                <a:spcPct val="98000"/>
              </a:lnSpc>
              <a:spcBef>
                <a:spcPts val="300"/>
              </a:spcBef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二、什么都管：从报价到发货全过程签字，自己成了瓶颈，下属越来越不敢决定。</a:t>
            </a:r>
          </a:p>
          <a:p>
            <a:pPr algn="l">
              <a:lnSpc>
                <a:spcPct val="98000"/>
              </a:lnSpc>
              <a:spcBef>
                <a:spcPts val="300"/>
              </a:spcBef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三、只管数字：周会只对指标，不问漏斗、不问卡点、不谈人。结果是所有问题都在月底才暴露。</a:t>
            </a:r>
          </a:p>
        </p:txBody>
      </p:sp>
      <p:sp>
        <p:nvSpPr>
          <p:cNvPr id="18" name="Shape 18"/>
          <p:cNvSpPr/>
          <p:nvPr/>
        </p:nvSpPr>
        <p:spPr>
          <a:xfrm>
            <a:off x="7155180" y="1993392"/>
            <a:ext cx="4988052" cy="2950769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9" name="CardHead 19"/>
          <p:cNvSpPr/>
          <p:nvPr/>
        </p:nvSpPr>
        <p:spPr>
          <a:xfrm>
            <a:off x="7155180" y="1993392"/>
            <a:ext cx="4988052" cy="347472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四件真正属于经理的事</a:t>
            </a:r>
          </a:p>
        </p:txBody>
      </p:sp>
      <p:sp>
        <p:nvSpPr>
          <p:cNvPr id="20" name="CardBody 20"/>
          <p:cNvSpPr/>
          <p:nvPr/>
        </p:nvSpPr>
        <p:spPr>
          <a:xfrm>
            <a:off x="7237476" y="2350008"/>
            <a:ext cx="4823460" cy="2575865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82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定方向：这个季度我们主攻哪个行业、哪一类客户、推哪些品类——写下来，让每个人能对上。</a:t>
            </a:r>
          </a:p>
          <a:p>
            <a:pPr algn="l">
              <a:lnSpc>
                <a:spcPct val="82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分资源：技术陪访、样品预算、经理出面的次数——这些是稀缺资源，要往赢面大的地方投，而不是往叫得响的地方投。</a:t>
            </a:r>
          </a:p>
          <a:p>
            <a:pPr algn="l">
              <a:lnSpc>
                <a:spcPct val="82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带人：每周至少两次一对一，每次只谈一件事。</a:t>
            </a:r>
          </a:p>
          <a:p>
            <a:pPr algn="l">
              <a:lnSpc>
                <a:spcPct val="82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守规矩：价格底线、账期审批、交期确认——这条不守住，前三条都白做。</a:t>
            </a:r>
          </a:p>
        </p:txBody>
      </p:sp>
      <p:sp>
        <p:nvSpPr>
          <p:cNvPr id="21" name="Shape 21"/>
          <p:cNvSpPr/>
          <p:nvPr/>
        </p:nvSpPr>
        <p:spPr>
          <a:xfrm>
            <a:off x="1929384" y="5010912"/>
            <a:ext cx="10213848" cy="100584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67E2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2" name="CardHead 22"/>
          <p:cNvSpPr/>
          <p:nvPr/>
        </p:nvSpPr>
        <p:spPr>
          <a:xfrm>
            <a:off x="1929384" y="5010912"/>
            <a:ext cx="10213848" cy="3474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一个可以马上换掉的习惯</a:t>
            </a:r>
          </a:p>
        </p:txBody>
      </p:sp>
      <p:sp>
        <p:nvSpPr>
          <p:cNvPr id="23" name="CardBody 23"/>
          <p:cNvSpPr/>
          <p:nvPr/>
        </p:nvSpPr>
        <p:spPr>
          <a:xfrm>
            <a:off x="2011680" y="5367528"/>
            <a:ext cx="10049256" cy="630936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92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把周会的第一个问题从「这周做了多少」换成「漏斗每一环各推进了几家、卡在哪一环」。</a:t>
            </a:r>
          </a:p>
          <a:p>
            <a:pPr algn="l">
              <a:lnSpc>
                <a:spcPct val="92000"/>
              </a:lnSpc>
              <a:spcBef>
                <a:spcPts val="300"/>
              </a:spcBef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前者只能得到解释，后者能得到线索——而线索是唯一能被管理的东西。</a:t>
            </a:r>
          </a:p>
        </p:txBody>
      </p:sp>
      <p:sp>
        <p:nvSpPr>
          <p:cNvPr id="24" name="Shape 24"/>
          <p:cNvSpPr/>
          <p:nvPr/>
        </p:nvSpPr>
        <p:spPr>
          <a:xfrm>
            <a:off x="1929384" y="6089904"/>
            <a:ext cx="10213848" cy="566928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5" name="Banner 25"/>
          <p:cNvSpPr/>
          <p:nvPr/>
        </p:nvSpPr>
        <p:spPr>
          <a:xfrm>
            <a:off x="2075688" y="6089904"/>
            <a:ext cx="9921240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buNone/>
            </a:pPr>
            <a:r>
              <a:rPr lang="zh-CN" altLang="en-US" sz="23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一句话　</a:t>
            </a:r>
            <a:r>
              <a:rPr lang="zh-CN" altLang="en-US" sz="23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你签的单越多，团队能签的就越少——因为最好的机会都到你手上了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 &amp; 开发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第一讲 · 理解价值</a:t>
            </a:r>
          </a:p>
        </p:txBody>
      </p:sp>
      <p:sp>
        <p:nvSpPr>
          <p:cNvPr id="5" name="Nav 5"/>
          <p:cNvSpPr/>
          <p:nvPr/>
        </p:nvSpPr>
        <p:spPr>
          <a:xfrm>
            <a:off x="3153148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第二讲 · 评估价值</a:t>
            </a:r>
          </a:p>
        </p:txBody>
      </p:sp>
      <p:sp>
        <p:nvSpPr>
          <p:cNvPr id="6" name="Nav 6"/>
          <p:cNvSpPr/>
          <p:nvPr/>
        </p:nvSpPr>
        <p:spPr>
          <a:xfrm>
            <a:off x="6159993" y="658368"/>
            <a:ext cx="2878828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第三讲 · 开发价值</a:t>
            </a:r>
          </a:p>
        </p:txBody>
      </p:sp>
      <p:sp>
        <p:nvSpPr>
          <p:cNvPr id="7" name="Nav 7"/>
          <p:cNvSpPr/>
          <p:nvPr/>
        </p:nvSpPr>
        <p:spPr>
          <a:xfrm>
            <a:off x="9166837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第四讲 · 落地价值</a:t>
            </a:r>
          </a:p>
        </p:txBody>
      </p:sp>
      <p:cxnSp>
        <p:nvCxnSpPr>
          <p:cNvPr id="8" name="Connector 8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9" name="Connector 9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10" name="Side 10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为什么开发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三条路径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营业部人员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开发重点</a:t>
            </a:r>
          </a:p>
        </p:txBody>
      </p:sp>
      <p:sp>
        <p:nvSpPr>
          <p:cNvPr id="12" name="Side 12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管理者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开发重点</a:t>
            </a:r>
          </a:p>
        </p:txBody>
      </p:sp>
      <p:sp>
        <p:nvSpPr>
          <p:cNvPr id="13" name="H1 13"/>
          <p:cNvSpPr/>
          <p:nvPr/>
        </p:nvSpPr>
        <p:spPr>
          <a:xfrm>
            <a:off x="1929384" y="1161288"/>
            <a:ext cx="10213848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9144" rIns="73152" bIns="9144" rtlCol="0" anchor="ctr">
            <a:noAutofit/>
          </a:bodyPr>
          <a:lstStyle/>
          <a:p>
            <a:pPr algn="l">
              <a:buNone/>
            </a:pPr>
            <a:r>
              <a:rPr lang="zh-CN" altLang="en-US" sz="27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管理者开发重点 ②：决策与问题解决</a:t>
            </a:r>
          </a:p>
        </p:txBody>
      </p:sp>
      <p:sp>
        <p:nvSpPr>
          <p:cNvPr id="14" name="H2 14"/>
          <p:cNvSpPr/>
          <p:nvPr/>
        </p:nvSpPr>
        <p:spPr>
          <a:xfrm>
            <a:off x="1929384" y="1636776"/>
            <a:ext cx="10213848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9144" rIns="73152" bIns="9144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营业部经理每天做的决定，大多是在信息不全的时候做的</a:t>
            </a:r>
          </a:p>
        </p:txBody>
      </p:sp>
      <p:sp>
        <p:nvSpPr>
          <p:cNvPr id="15" name="Shape 15"/>
          <p:cNvSpPr/>
          <p:nvPr/>
        </p:nvSpPr>
        <p:spPr>
          <a:xfrm>
            <a:off x="1929384" y="1993392"/>
            <a:ext cx="10213848" cy="1182624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6" name="CardHead 16"/>
          <p:cNvSpPr/>
          <p:nvPr/>
        </p:nvSpPr>
        <p:spPr>
          <a:xfrm>
            <a:off x="1929384" y="1993392"/>
            <a:ext cx="10213848" cy="347472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决策一：这个价格批不批</a:t>
            </a:r>
          </a:p>
        </p:txBody>
      </p:sp>
      <p:sp>
        <p:nvSpPr>
          <p:cNvPr id="17" name="CardBody 17"/>
          <p:cNvSpPr/>
          <p:nvPr/>
        </p:nvSpPr>
        <p:spPr>
          <a:xfrm>
            <a:off x="2011680" y="2350008"/>
            <a:ext cx="10049256" cy="8077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84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错误做法：凭这单大不大、凭谁来申请。做法是先问三句——让出去这几个点换回了什么（框架、账期、试用工位、写进图纸）？这个客户明年的量有没有增长？如果这次批了，同一个客户下次会不会照此办理？三句答不上来的申请，退回去重写。</a:t>
            </a:r>
          </a:p>
        </p:txBody>
      </p:sp>
      <p:sp>
        <p:nvSpPr>
          <p:cNvPr id="18" name="Shape 18"/>
          <p:cNvSpPr/>
          <p:nvPr/>
        </p:nvSpPr>
        <p:spPr>
          <a:xfrm>
            <a:off x="1929384" y="3230880"/>
            <a:ext cx="10213848" cy="1182624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9" name="CardHead 19"/>
          <p:cNvSpPr/>
          <p:nvPr/>
        </p:nvSpPr>
        <p:spPr>
          <a:xfrm>
            <a:off x="1929384" y="3230880"/>
            <a:ext cx="10213848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决策二：这个人要不要动</a:t>
            </a:r>
          </a:p>
        </p:txBody>
      </p:sp>
      <p:sp>
        <p:nvSpPr>
          <p:cNvPr id="20" name="CardBody 20"/>
          <p:cNvSpPr/>
          <p:nvPr/>
        </p:nvSpPr>
        <p:spPr>
          <a:xfrm>
            <a:off x="2011680" y="3587496"/>
            <a:ext cx="10049256" cy="8077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84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先分清是「不会 / 不敢 / 不想 / 不能」。高绩效突然下滑并且刚好赶上换主管、换区域、换客户类型的，先看安排再看人。真要动，就给明确标准和明确期限，到期必须有结论——拖着不处理，伤的是留下来那些人的判断力。</a:t>
            </a:r>
          </a:p>
        </p:txBody>
      </p:sp>
      <p:sp>
        <p:nvSpPr>
          <p:cNvPr id="21" name="Shape 21"/>
          <p:cNvSpPr/>
          <p:nvPr/>
        </p:nvSpPr>
        <p:spPr>
          <a:xfrm>
            <a:off x="1929384" y="4468368"/>
            <a:ext cx="10213848" cy="1164336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2" name="CardHead 22"/>
          <p:cNvSpPr/>
          <p:nvPr/>
        </p:nvSpPr>
        <p:spPr>
          <a:xfrm>
            <a:off x="1929384" y="4468368"/>
            <a:ext cx="10213848" cy="347472"/>
          </a:xfrm>
          <a:prstGeom prst="rect">
            <a:avLst/>
          </a:prstGeom>
          <a:solidFill>
            <a:srgbClr val="E55E24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决策三：这块资源投哪里</a:t>
            </a:r>
          </a:p>
        </p:txBody>
      </p:sp>
      <p:sp>
        <p:nvSpPr>
          <p:cNvPr id="23" name="CardBody 23"/>
          <p:cNvSpPr/>
          <p:nvPr/>
        </p:nvSpPr>
        <p:spPr>
          <a:xfrm>
            <a:off x="2011680" y="4824984"/>
            <a:ext cx="10049256" cy="789432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82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陪访、样品、经理出面都是有限的。判断口径：这家客户处在漏斗哪一环、决策链三类人见全了没有、是不是主选还是陪标、行业是不是公司当期方向。四条里中两条以上才投——不然资源永远被最会叫的人拿走。</a:t>
            </a:r>
          </a:p>
        </p:txBody>
      </p:sp>
      <p:sp>
        <p:nvSpPr>
          <p:cNvPr id="24" name="Shape 24"/>
          <p:cNvSpPr/>
          <p:nvPr/>
        </p:nvSpPr>
        <p:spPr>
          <a:xfrm>
            <a:off x="1929384" y="5687568"/>
            <a:ext cx="10213848" cy="987552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67E2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5" name="CardHead 25"/>
          <p:cNvSpPr/>
          <p:nvPr/>
        </p:nvSpPr>
        <p:spPr>
          <a:xfrm>
            <a:off x="1929384" y="5687568"/>
            <a:ext cx="10213848" cy="3474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一条通用纪律</a:t>
            </a:r>
          </a:p>
        </p:txBody>
      </p:sp>
      <p:sp>
        <p:nvSpPr>
          <p:cNvPr id="26" name="CardBody 26"/>
          <p:cNvSpPr/>
          <p:nvPr/>
        </p:nvSpPr>
        <p:spPr>
          <a:xfrm>
            <a:off x="2011680" y="6044184"/>
            <a:ext cx="10049256" cy="612648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88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重复出现三次以上的问题，就不要再当个案处理——它是流程或规则的问题。</a:t>
            </a:r>
          </a:p>
          <a:p>
            <a:pPr algn="l">
              <a:lnSpc>
                <a:spcPct val="88000"/>
              </a:lnSpc>
              <a:spcBef>
                <a:spcPts val="300"/>
              </a:spcBef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同一类客诉第三次、同一理由的特价申请第三次，该改的是表单、审批线或考核口径。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 &amp; 开发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第一讲 · 理解价值</a:t>
            </a:r>
          </a:p>
        </p:txBody>
      </p:sp>
      <p:sp>
        <p:nvSpPr>
          <p:cNvPr id="5" name="Nav 5"/>
          <p:cNvSpPr/>
          <p:nvPr/>
        </p:nvSpPr>
        <p:spPr>
          <a:xfrm>
            <a:off x="3153148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第二讲 · 评估价值</a:t>
            </a:r>
          </a:p>
        </p:txBody>
      </p:sp>
      <p:sp>
        <p:nvSpPr>
          <p:cNvPr id="6" name="Nav 6"/>
          <p:cNvSpPr/>
          <p:nvPr/>
        </p:nvSpPr>
        <p:spPr>
          <a:xfrm>
            <a:off x="6159993" y="658368"/>
            <a:ext cx="2878828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第三讲 · 开发价值</a:t>
            </a:r>
          </a:p>
        </p:txBody>
      </p:sp>
      <p:sp>
        <p:nvSpPr>
          <p:cNvPr id="7" name="Nav 7"/>
          <p:cNvSpPr/>
          <p:nvPr/>
        </p:nvSpPr>
        <p:spPr>
          <a:xfrm>
            <a:off x="9166837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第四讲 · 落地价值</a:t>
            </a:r>
          </a:p>
        </p:txBody>
      </p:sp>
      <p:cxnSp>
        <p:nvCxnSpPr>
          <p:cNvPr id="8" name="Connector 8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9" name="Connector 9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10" name="Side 10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为什么开发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三条路径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营业部人员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开发重点</a:t>
            </a:r>
          </a:p>
        </p:txBody>
      </p:sp>
      <p:sp>
        <p:nvSpPr>
          <p:cNvPr id="12" name="Side 12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管理者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开发重点</a:t>
            </a:r>
          </a:p>
        </p:txBody>
      </p:sp>
      <p:sp>
        <p:nvSpPr>
          <p:cNvPr id="13" name="H1 13"/>
          <p:cNvSpPr/>
          <p:nvPr/>
        </p:nvSpPr>
        <p:spPr>
          <a:xfrm>
            <a:off x="1929384" y="1161288"/>
            <a:ext cx="10213848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9144" rIns="73152" bIns="9144" rtlCol="0" anchor="ctr">
            <a:noAutofit/>
          </a:bodyPr>
          <a:lstStyle/>
          <a:p>
            <a:pPr algn="l">
              <a:buNone/>
            </a:pPr>
            <a:r>
              <a:rPr lang="zh-CN" altLang="en-US" sz="27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管理者开发重点 ③：激励与辅导，是同一件事的两面</a:t>
            </a:r>
          </a:p>
        </p:txBody>
      </p:sp>
      <p:sp>
        <p:nvSpPr>
          <p:cNvPr id="14" name="H2 14"/>
          <p:cNvSpPr/>
          <p:nvPr/>
        </p:nvSpPr>
        <p:spPr>
          <a:xfrm>
            <a:off x="1929384" y="1636776"/>
            <a:ext cx="10213848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9144" rIns="73152" bIns="9144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激励解决「想不想」，辅导解决「会不会」，两个都得对症</a:t>
            </a:r>
          </a:p>
        </p:txBody>
      </p:sp>
      <p:sp>
        <p:nvSpPr>
          <p:cNvPr id="15" name="Shape 15"/>
          <p:cNvSpPr/>
          <p:nvPr/>
        </p:nvSpPr>
        <p:spPr>
          <a:xfrm>
            <a:off x="1929384" y="1993392"/>
            <a:ext cx="4988052" cy="2688336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6" name="CardHead 16"/>
          <p:cNvSpPr/>
          <p:nvPr/>
        </p:nvSpPr>
        <p:spPr>
          <a:xfrm>
            <a:off x="1929384" y="1993392"/>
            <a:ext cx="4988052" cy="347472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你手上真正能用的激励（不用批预算）</a:t>
            </a:r>
          </a:p>
        </p:txBody>
      </p:sp>
      <p:sp>
        <p:nvSpPr>
          <p:cNvPr id="17" name="CardBody 17"/>
          <p:cNvSpPr/>
          <p:nvPr/>
        </p:nvSpPr>
        <p:spPr>
          <a:xfrm>
            <a:off x="2011680" y="2350008"/>
            <a:ext cx="4823460" cy="2313432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82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分配权：好客户、新行业、重点项目给谁——这是最硬的激励信号；</a:t>
            </a:r>
          </a:p>
          <a:p>
            <a:pPr algn="l">
              <a:lnSpc>
                <a:spcPct val="82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推荐权：谁去参加公司级项目、谁去做行业开发试点、谁去总部交流；</a:t>
            </a:r>
          </a:p>
          <a:p>
            <a:pPr algn="l">
              <a:lnSpc>
                <a:spcPct val="82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署名权：把他的做法整理成部门标准并写上他的名字；</a:t>
            </a:r>
          </a:p>
          <a:p>
            <a:pPr algn="l">
              <a:lnSpc>
                <a:spcPct val="82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即时认可：当天、具体、当着人说。「这次你把工况问全了」比年底一句「表现不错」有用十倍。</a:t>
            </a:r>
          </a:p>
        </p:txBody>
      </p:sp>
      <p:sp>
        <p:nvSpPr>
          <p:cNvPr id="18" name="Shape 18"/>
          <p:cNvSpPr/>
          <p:nvPr/>
        </p:nvSpPr>
        <p:spPr>
          <a:xfrm>
            <a:off x="7155180" y="1993392"/>
            <a:ext cx="4988052" cy="2688336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9" name="CardHead 19"/>
          <p:cNvSpPr/>
          <p:nvPr/>
        </p:nvSpPr>
        <p:spPr>
          <a:xfrm>
            <a:off x="7155180" y="1993392"/>
            <a:ext cx="4988052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一对一辅导的五步（每周两次，每次 20 分钟）</a:t>
            </a:r>
          </a:p>
        </p:txBody>
      </p:sp>
      <p:sp>
        <p:nvSpPr>
          <p:cNvPr id="20" name="CardBody 20"/>
          <p:cNvSpPr/>
          <p:nvPr/>
        </p:nvSpPr>
        <p:spPr>
          <a:xfrm>
            <a:off x="7237476" y="2350008"/>
            <a:ext cx="4823460" cy="2313432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82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他先说：这周哪一件事最卡？（让他先讲，你才知道他真正卡在哪）</a:t>
            </a:r>
          </a:p>
          <a:p>
            <a:pPr algn="l">
              <a:lnSpc>
                <a:spcPct val="82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一起看数：漏斗哪一环没动？为什么？</a:t>
            </a:r>
          </a:p>
          <a:p>
            <a:pPr algn="l">
              <a:lnSpc>
                <a:spcPct val="82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只挑一件：这周只解决一个问题，多了等于没有。</a:t>
            </a:r>
          </a:p>
          <a:p>
            <a:pPr algn="l">
              <a:lnSpc>
                <a:spcPct val="82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他给动作：「那你打算怎么做、什么时候做完」——由他说出口。</a:t>
            </a:r>
          </a:p>
          <a:p>
            <a:pPr algn="l">
              <a:lnSpc>
                <a:spcPct val="82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⑤ 你给支持：需要我做什么？（陪访、出面、批样品）</a:t>
            </a:r>
          </a:p>
        </p:txBody>
      </p:sp>
      <p:sp>
        <p:nvSpPr>
          <p:cNvPr id="21" name="Shape 21"/>
          <p:cNvSpPr/>
          <p:nvPr/>
        </p:nvSpPr>
        <p:spPr>
          <a:xfrm>
            <a:off x="1929384" y="4736592"/>
            <a:ext cx="10213848" cy="120700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2" name="CardHead 22"/>
          <p:cNvSpPr/>
          <p:nvPr/>
        </p:nvSpPr>
        <p:spPr>
          <a:xfrm>
            <a:off x="1929384" y="4736592"/>
            <a:ext cx="10213848" cy="347472"/>
          </a:xfrm>
          <a:prstGeom prst="rect">
            <a:avLst/>
          </a:prstGeom>
          <a:solidFill>
            <a:srgbClr val="C02F2B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最容易出错的一点</a:t>
            </a:r>
          </a:p>
        </p:txBody>
      </p:sp>
      <p:sp>
        <p:nvSpPr>
          <p:cNvPr id="23" name="CardBody 23"/>
          <p:cNvSpPr/>
          <p:nvPr/>
        </p:nvSpPr>
        <p:spPr>
          <a:xfrm>
            <a:off x="2011680" y="5093208"/>
            <a:ext cx="10049256" cy="832104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82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多数经理的一对一，最后都变成了自己讲 18 分钟、下属讲 2 分钟。判断标准很简单：谈完之后，说话时间谁多，谁就是那个被辅导的人。</a:t>
            </a:r>
          </a:p>
          <a:p>
            <a:pPr algn="l">
              <a:lnSpc>
                <a:spcPct val="82000"/>
              </a:lnSpc>
              <a:spcBef>
                <a:spcPts val="300"/>
              </a:spcBef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把比例倒过来——你问，他说，你只在最后确认动作。</a:t>
            </a:r>
          </a:p>
        </p:txBody>
      </p:sp>
      <p:sp>
        <p:nvSpPr>
          <p:cNvPr id="24" name="Shape 24"/>
          <p:cNvSpPr/>
          <p:nvPr/>
        </p:nvSpPr>
        <p:spPr>
          <a:xfrm>
            <a:off x="1929384" y="6071616"/>
            <a:ext cx="10213848" cy="548640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5" name="Banner 25"/>
          <p:cNvSpPr/>
          <p:nvPr/>
        </p:nvSpPr>
        <p:spPr>
          <a:xfrm>
            <a:off x="2075688" y="6071616"/>
            <a:ext cx="992124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buNone/>
            </a:pPr>
            <a:r>
              <a:rPr lang="zh-CN" altLang="en-US" sz="23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下一页　</a:t>
            </a:r>
            <a:r>
              <a:rPr lang="zh-CN" altLang="en-US" sz="23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GROW 模型就是把这五步做成一套可以照着走的问句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 &amp; 开发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第一讲 · 理解价值</a:t>
            </a:r>
          </a:p>
        </p:txBody>
      </p:sp>
      <p:sp>
        <p:nvSpPr>
          <p:cNvPr id="5" name="Nav 5"/>
          <p:cNvSpPr/>
          <p:nvPr/>
        </p:nvSpPr>
        <p:spPr>
          <a:xfrm>
            <a:off x="3153148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第二讲 · 评估价值</a:t>
            </a:r>
          </a:p>
        </p:txBody>
      </p:sp>
      <p:sp>
        <p:nvSpPr>
          <p:cNvPr id="6" name="Nav 6"/>
          <p:cNvSpPr/>
          <p:nvPr/>
        </p:nvSpPr>
        <p:spPr>
          <a:xfrm>
            <a:off x="6159993" y="658368"/>
            <a:ext cx="2878828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第三讲 · 开发价值</a:t>
            </a:r>
          </a:p>
        </p:txBody>
      </p:sp>
      <p:sp>
        <p:nvSpPr>
          <p:cNvPr id="7" name="Nav 7"/>
          <p:cNvSpPr/>
          <p:nvPr/>
        </p:nvSpPr>
        <p:spPr>
          <a:xfrm>
            <a:off x="9166837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第四讲 · 落地价值</a:t>
            </a:r>
          </a:p>
        </p:txBody>
      </p:sp>
      <p:cxnSp>
        <p:nvCxnSpPr>
          <p:cNvPr id="8" name="Connector 8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9" name="Connector 9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10" name="Side 10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为什么开发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三条路径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营业部人员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开发重点</a:t>
            </a:r>
          </a:p>
        </p:txBody>
      </p:sp>
      <p:sp>
        <p:nvSpPr>
          <p:cNvPr id="12" name="Side 12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管理者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开发重点</a:t>
            </a:r>
          </a:p>
        </p:txBody>
      </p:sp>
      <p:sp>
        <p:nvSpPr>
          <p:cNvPr id="13" name="H1 13"/>
          <p:cNvSpPr/>
          <p:nvPr/>
        </p:nvSpPr>
        <p:spPr>
          <a:xfrm>
            <a:off x="1929384" y="1161288"/>
            <a:ext cx="10213848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9144" rIns="73152" bIns="9144" rtlCol="0" anchor="ctr">
            <a:noAutofit/>
          </a:bodyPr>
          <a:lstStyle/>
          <a:p>
            <a:pPr algn="l">
              <a:buNone/>
            </a:pPr>
            <a:r>
              <a:rPr lang="zh-CN" altLang="en-US" sz="27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第三讲小结：开发不是安排培训，是设计经历</a:t>
            </a:r>
          </a:p>
        </p:txBody>
      </p:sp>
      <p:sp>
        <p:nvSpPr>
          <p:cNvPr id="14" name="H2 14"/>
          <p:cNvSpPr/>
          <p:nvPr/>
        </p:nvSpPr>
        <p:spPr>
          <a:xfrm>
            <a:off x="1929384" y="1636776"/>
            <a:ext cx="10213848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9144" rIns="73152" bIns="9144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把人放到「有点难但不致命」的地方，然后陪他复盘</a:t>
            </a:r>
          </a:p>
        </p:txBody>
      </p:sp>
      <p:sp>
        <p:nvSpPr>
          <p:cNvPr id="15" name="Shape 15"/>
          <p:cNvSpPr/>
          <p:nvPr/>
        </p:nvSpPr>
        <p:spPr>
          <a:xfrm>
            <a:off x="1929384" y="1993392"/>
            <a:ext cx="4988052" cy="170992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6" name="CardHead 16"/>
          <p:cNvSpPr/>
          <p:nvPr/>
        </p:nvSpPr>
        <p:spPr>
          <a:xfrm>
            <a:off x="1929384" y="1993392"/>
            <a:ext cx="4988052" cy="347472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先诊断</a:t>
            </a:r>
          </a:p>
        </p:txBody>
      </p:sp>
      <p:sp>
        <p:nvSpPr>
          <p:cNvPr id="17" name="CardBody 17"/>
          <p:cNvSpPr/>
          <p:nvPr/>
        </p:nvSpPr>
        <p:spPr>
          <a:xfrm>
            <a:off x="2011680" y="2350008"/>
            <a:ext cx="4823460" cy="1335024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130000"/>
              </a:lnSpc>
              <a:buNone/>
            </a:pPr>
            <a:r>
              <a:rPr lang="zh-CN" altLang="en-US" sz="19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不会 / 不敢 / 不想 / 不能——四格对应四种完全不同的处方。</a:t>
            </a:r>
            <a:br>
              <a:rPr lang="zh-CN" altLang="en-US" sz="19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9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带走：给团队每个人贴一格，本周内完成。</a:t>
            </a:r>
          </a:p>
        </p:txBody>
      </p:sp>
      <p:sp>
        <p:nvSpPr>
          <p:cNvPr id="18" name="Shape 18"/>
          <p:cNvSpPr/>
          <p:nvPr/>
        </p:nvSpPr>
        <p:spPr>
          <a:xfrm>
            <a:off x="7155180" y="1993392"/>
            <a:ext cx="4988052" cy="170992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9" name="CardHead 19"/>
          <p:cNvSpPr/>
          <p:nvPr/>
        </p:nvSpPr>
        <p:spPr>
          <a:xfrm>
            <a:off x="7155180" y="1993392"/>
            <a:ext cx="4988052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主战场在现场</a:t>
            </a:r>
          </a:p>
        </p:txBody>
      </p:sp>
      <p:sp>
        <p:nvSpPr>
          <p:cNvPr id="20" name="CardBody 20"/>
          <p:cNvSpPr/>
          <p:nvPr/>
        </p:nvSpPr>
        <p:spPr>
          <a:xfrm>
            <a:off x="7237476" y="2350008"/>
            <a:ext cx="4823460" cy="1335024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106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七成的成长发生在做事里，两成在带教里，上课只占一成。</a:t>
            </a:r>
            <a:b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带走：给一个人一件有交付物、有边界、有复盘时间的任务。</a:t>
            </a:r>
          </a:p>
        </p:txBody>
      </p:sp>
      <p:sp>
        <p:nvSpPr>
          <p:cNvPr id="21" name="Shape 21"/>
          <p:cNvSpPr/>
          <p:nvPr/>
        </p:nvSpPr>
        <p:spPr>
          <a:xfrm>
            <a:off x="1929384" y="3867912"/>
            <a:ext cx="4988052" cy="170992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2" name="CardHead 22"/>
          <p:cNvSpPr/>
          <p:nvPr/>
        </p:nvSpPr>
        <p:spPr>
          <a:xfrm>
            <a:off x="1929384" y="3867912"/>
            <a:ext cx="4988052" cy="347472"/>
          </a:xfrm>
          <a:prstGeom prst="rect">
            <a:avLst/>
          </a:prstGeom>
          <a:solidFill>
            <a:srgbClr val="E55E24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销售的三条线</a:t>
            </a:r>
          </a:p>
        </p:txBody>
      </p:sp>
      <p:sp>
        <p:nvSpPr>
          <p:cNvPr id="23" name="CardBody 23"/>
          <p:cNvSpPr/>
          <p:nvPr/>
        </p:nvSpPr>
        <p:spPr>
          <a:xfrm>
            <a:off x="2011680" y="4224528"/>
            <a:ext cx="4823460" cy="1335024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106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市场洞察与关系（三类关键人）、价值谈判（四个算账锚点）、目标心态（触达六次、判断陪标）。</a:t>
            </a:r>
            <a:b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带走：四个锚点抄进手机，下次拜访就用。</a:t>
            </a:r>
          </a:p>
        </p:txBody>
      </p:sp>
      <p:sp>
        <p:nvSpPr>
          <p:cNvPr id="24" name="Shape 24"/>
          <p:cNvSpPr/>
          <p:nvPr/>
        </p:nvSpPr>
        <p:spPr>
          <a:xfrm>
            <a:off x="7155180" y="3867912"/>
            <a:ext cx="4988052" cy="170992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6A4C9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5" name="CardHead 25"/>
          <p:cNvSpPr/>
          <p:nvPr/>
        </p:nvSpPr>
        <p:spPr>
          <a:xfrm>
            <a:off x="7155180" y="3867912"/>
            <a:ext cx="4988052" cy="347472"/>
          </a:xfrm>
          <a:prstGeom prst="rect">
            <a:avLst/>
          </a:prstGeom>
          <a:solidFill>
            <a:srgbClr val="6A4C93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管理者的三条线</a:t>
            </a:r>
          </a:p>
        </p:txBody>
      </p:sp>
      <p:sp>
        <p:nvSpPr>
          <p:cNvPr id="26" name="CardBody 26"/>
          <p:cNvSpPr/>
          <p:nvPr/>
        </p:nvSpPr>
        <p:spPr>
          <a:xfrm>
            <a:off x="7237476" y="4224528"/>
            <a:ext cx="4823460" cy="1335024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132000"/>
              </a:lnSpc>
              <a:buNone/>
            </a:pPr>
            <a:r>
              <a:rPr lang="zh-CN" altLang="en-US" sz="18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让别人能打、在信息不全时做决定、激励与辅导对症。</a:t>
            </a:r>
            <a:br>
              <a:rPr lang="zh-CN" altLang="en-US" sz="18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8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带走：把周会第一个问题换成漏斗推进情况。</a:t>
            </a:r>
          </a:p>
        </p:txBody>
      </p:sp>
      <p:sp>
        <p:nvSpPr>
          <p:cNvPr id="27" name="Shape 27"/>
          <p:cNvSpPr/>
          <p:nvPr/>
        </p:nvSpPr>
        <p:spPr>
          <a:xfrm>
            <a:off x="1929384" y="5724144"/>
            <a:ext cx="10213848" cy="566928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8" name="Banner 28"/>
          <p:cNvSpPr/>
          <p:nvPr/>
        </p:nvSpPr>
        <p:spPr>
          <a:xfrm>
            <a:off x="2075688" y="5724144"/>
            <a:ext cx="9921240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buNone/>
            </a:pPr>
            <a:r>
              <a:rPr lang="zh-CN" altLang="en-US" sz="21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最后一讲预告　</a:t>
            </a:r>
            <a:r>
              <a:rPr lang="zh-CN" altLang="en-US" sz="21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方法都有了，剩下的问题只有一个：怎么让它在三个月之后还活着</a:t>
            </a:r>
          </a:p>
        </p:txBody>
      </p:sp>
      <p:sp>
        <p:nvSpPr>
          <p:cNvPr id="29" name="Note 29"/>
          <p:cNvSpPr/>
          <p:nvPr/>
        </p:nvSpPr>
        <p:spPr>
          <a:xfrm>
            <a:off x="1929384" y="6309360"/>
            <a:ext cx="10213848" cy="384048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ctr">
            <a:noAutofit/>
          </a:bodyPr>
          <a:lstStyle/>
          <a:p>
            <a:pPr algn="ctr">
              <a:buNone/>
            </a:pPr>
            <a:r>
              <a:rPr lang="zh-CN" altLang="en-US" sz="205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休息 10 分钟。回来我们写今天最重要的一份东西——你自己的 IDP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 &amp; 开发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第一讲 · 理解价值</a:t>
            </a:r>
          </a:p>
        </p:txBody>
      </p:sp>
      <p:sp>
        <p:nvSpPr>
          <p:cNvPr id="5" name="Nav 5"/>
          <p:cNvSpPr/>
          <p:nvPr/>
        </p:nvSpPr>
        <p:spPr>
          <a:xfrm>
            <a:off x="3153148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第二讲 · 评估价值</a:t>
            </a:r>
          </a:p>
        </p:txBody>
      </p:sp>
      <p:sp>
        <p:nvSpPr>
          <p:cNvPr id="6" name="Nav 6"/>
          <p:cNvSpPr/>
          <p:nvPr/>
        </p:nvSpPr>
        <p:spPr>
          <a:xfrm>
            <a:off x="6159993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第三讲 · 开发价值</a:t>
            </a:r>
          </a:p>
        </p:txBody>
      </p:sp>
      <p:sp>
        <p:nvSpPr>
          <p:cNvPr id="7" name="Nav 7"/>
          <p:cNvSpPr/>
          <p:nvPr/>
        </p:nvSpPr>
        <p:spPr>
          <a:xfrm>
            <a:off x="9166837" y="658368"/>
            <a:ext cx="2878828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第四讲 · 落地价值</a:t>
            </a:r>
          </a:p>
        </p:txBody>
      </p:sp>
      <p:cxnSp>
        <p:nvCxnSpPr>
          <p:cNvPr id="8" name="Connector 8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9" name="Connector 9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10" name="Side 10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IDP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个人发展计划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GROW 辅导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与反馈</a:t>
            </a:r>
          </a:p>
        </p:txBody>
      </p:sp>
      <p:sp>
        <p:nvSpPr>
          <p:cNvPr id="12" name="Side 12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学习型团队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持续改进</a:t>
            </a:r>
          </a:p>
        </p:txBody>
      </p:sp>
      <p:sp>
        <p:nvSpPr>
          <p:cNvPr id="13" name="H1 13"/>
          <p:cNvSpPr/>
          <p:nvPr/>
        </p:nvSpPr>
        <p:spPr>
          <a:xfrm>
            <a:off x="1929384" y="1161288"/>
            <a:ext cx="10213848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9144" rIns="73152" bIns="9144" rtlCol="0" anchor="ctr">
            <a:noAutofit/>
          </a:bodyPr>
          <a:lstStyle/>
          <a:p>
            <a:pPr algn="l">
              <a:buNone/>
            </a:pPr>
            <a:r>
              <a:rPr lang="zh-CN" altLang="en-US" sz="27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第四讲　落地价值：让今天的东西三个月后还活着</a:t>
            </a:r>
          </a:p>
        </p:txBody>
      </p:sp>
      <p:sp>
        <p:nvSpPr>
          <p:cNvPr id="14" name="H2 14"/>
          <p:cNvSpPr/>
          <p:nvPr/>
        </p:nvSpPr>
        <p:spPr>
          <a:xfrm>
            <a:off x="1929384" y="1636776"/>
            <a:ext cx="10213848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9144" rIns="73152" bIns="9144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这一讲不讲新理论，只做三件事：写、练、定时间</a:t>
            </a:r>
          </a:p>
        </p:txBody>
      </p:sp>
      <p:sp>
        <p:nvSpPr>
          <p:cNvPr id="15" name="Shape 15"/>
          <p:cNvSpPr/>
          <p:nvPr/>
        </p:nvSpPr>
        <p:spPr>
          <a:xfrm>
            <a:off x="1929384" y="1993392"/>
            <a:ext cx="2347722" cy="1316736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6" name="FlowHead 16"/>
          <p:cNvSpPr/>
          <p:nvPr/>
        </p:nvSpPr>
        <p:spPr>
          <a:xfrm>
            <a:off x="1929384" y="1993392"/>
            <a:ext cx="2347722" cy="384048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 IDP</a:t>
            </a:r>
          </a:p>
        </p:txBody>
      </p:sp>
      <p:sp>
        <p:nvSpPr>
          <p:cNvPr id="17" name="FlowBody 17"/>
          <p:cNvSpPr/>
          <p:nvPr/>
        </p:nvSpPr>
        <p:spPr>
          <a:xfrm>
            <a:off x="1975104" y="2395728"/>
            <a:ext cx="2256282" cy="886968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>
              <a:lnSpc>
                <a:spcPct val="118000"/>
              </a:lnSpc>
              <a:buNone/>
            </a:pPr>
            <a:r>
              <a:rPr lang="zh-CN" altLang="en-US" sz="21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把差距写成</a:t>
            </a:r>
            <a:br>
              <a:rPr lang="zh-CN" altLang="en-US" sz="21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1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三件具体的事</a:t>
            </a:r>
          </a:p>
        </p:txBody>
      </p:sp>
      <p:cxnSp>
        <p:nvCxnSpPr>
          <p:cNvPr id="18" name="Arrow 18"/>
          <p:cNvCxnSpPr/>
          <p:nvPr/>
        </p:nvCxnSpPr>
        <p:spPr>
          <a:xfrm>
            <a:off x="4313682" y="2651760"/>
            <a:ext cx="201168" cy="0"/>
          </a:xfrm>
          <a:prstGeom prst="straightConnector1">
            <a:avLst/>
          </a:prstGeom>
          <a:ln w="25400" cap="flat">
            <a:solidFill>
              <a:srgbClr val="FFFFFF"/>
            </a:solidFill>
            <a:tailEnd type="triangle" w="med" len="med"/>
          </a:ln>
        </p:spPr>
      </p:cxnSp>
      <p:sp>
        <p:nvSpPr>
          <p:cNvPr id="19" name="Shape 19"/>
          <p:cNvSpPr/>
          <p:nvPr/>
        </p:nvSpPr>
        <p:spPr>
          <a:xfrm>
            <a:off x="4551426" y="1993392"/>
            <a:ext cx="2347722" cy="1316736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0" name="FlowHead 20"/>
          <p:cNvSpPr/>
          <p:nvPr/>
        </p:nvSpPr>
        <p:spPr>
          <a:xfrm>
            <a:off x="4551426" y="1993392"/>
            <a:ext cx="2347722" cy="38404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练 GROW</a:t>
            </a:r>
          </a:p>
        </p:txBody>
      </p:sp>
      <p:sp>
        <p:nvSpPr>
          <p:cNvPr id="21" name="FlowBody 21"/>
          <p:cNvSpPr/>
          <p:nvPr/>
        </p:nvSpPr>
        <p:spPr>
          <a:xfrm>
            <a:off x="4597146" y="2395728"/>
            <a:ext cx="2256282" cy="886968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>
              <a:lnSpc>
                <a:spcPct val="118000"/>
              </a:lnSpc>
              <a:buNone/>
            </a:pPr>
            <a:r>
              <a:rPr lang="zh-CN" altLang="en-US" sz="21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把辅导谈到</a:t>
            </a:r>
            <a:br>
              <a:rPr lang="zh-CN" altLang="en-US" sz="21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1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对方说出动作</a:t>
            </a:r>
          </a:p>
        </p:txBody>
      </p:sp>
      <p:cxnSp>
        <p:nvCxnSpPr>
          <p:cNvPr id="22" name="Arrow 22"/>
          <p:cNvCxnSpPr/>
          <p:nvPr/>
        </p:nvCxnSpPr>
        <p:spPr>
          <a:xfrm>
            <a:off x="6935724" y="2651760"/>
            <a:ext cx="201168" cy="0"/>
          </a:xfrm>
          <a:prstGeom prst="straightConnector1">
            <a:avLst/>
          </a:prstGeom>
          <a:ln w="25400" cap="flat">
            <a:solidFill>
              <a:srgbClr val="FFFFFF"/>
            </a:solidFill>
            <a:tailEnd type="triangle" w="med" len="med"/>
          </a:ln>
        </p:spPr>
      </p:cxnSp>
      <p:sp>
        <p:nvSpPr>
          <p:cNvPr id="23" name="Shape 23"/>
          <p:cNvSpPr/>
          <p:nvPr/>
        </p:nvSpPr>
        <p:spPr>
          <a:xfrm>
            <a:off x="7173468" y="1993392"/>
            <a:ext cx="2347722" cy="1316736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4" name="FlowHead 24"/>
          <p:cNvSpPr/>
          <p:nvPr/>
        </p:nvSpPr>
        <p:spPr>
          <a:xfrm>
            <a:off x="7173468" y="1993392"/>
            <a:ext cx="2347722" cy="384048"/>
          </a:xfrm>
          <a:prstGeom prst="rect">
            <a:avLst/>
          </a:prstGeom>
          <a:solidFill>
            <a:srgbClr val="E55E24"/>
          </a:solidFill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建机制</a:t>
            </a:r>
          </a:p>
        </p:txBody>
      </p:sp>
      <p:sp>
        <p:nvSpPr>
          <p:cNvPr id="25" name="FlowBody 25"/>
          <p:cNvSpPr/>
          <p:nvPr/>
        </p:nvSpPr>
        <p:spPr>
          <a:xfrm>
            <a:off x="7219188" y="2395728"/>
            <a:ext cx="2256282" cy="886968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>
              <a:lnSpc>
                <a:spcPct val="118000"/>
              </a:lnSpc>
              <a:buNone/>
            </a:pPr>
            <a:r>
              <a:rPr lang="zh-CN" altLang="en-US" sz="21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知识留下来</a:t>
            </a:r>
            <a:br>
              <a:rPr lang="zh-CN" altLang="en-US" sz="21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1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不随人走</a:t>
            </a:r>
          </a:p>
        </p:txBody>
      </p:sp>
      <p:cxnSp>
        <p:nvCxnSpPr>
          <p:cNvPr id="26" name="Arrow 26"/>
          <p:cNvCxnSpPr/>
          <p:nvPr/>
        </p:nvCxnSpPr>
        <p:spPr>
          <a:xfrm>
            <a:off x="9557766" y="2651760"/>
            <a:ext cx="201168" cy="0"/>
          </a:xfrm>
          <a:prstGeom prst="straightConnector1">
            <a:avLst/>
          </a:prstGeom>
          <a:ln w="25400" cap="flat">
            <a:solidFill>
              <a:srgbClr val="FFFFFF"/>
            </a:solidFill>
            <a:tailEnd type="triangle" w="med" len="med"/>
          </a:ln>
        </p:spPr>
      </p:cxnSp>
      <p:sp>
        <p:nvSpPr>
          <p:cNvPr id="27" name="Shape 27"/>
          <p:cNvSpPr/>
          <p:nvPr/>
        </p:nvSpPr>
        <p:spPr>
          <a:xfrm>
            <a:off x="9795510" y="1993392"/>
            <a:ext cx="2347722" cy="1316736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 cap="flat" cmpd="sng" algn="ctr">
            <a:solidFill>
              <a:srgbClr val="6A4C9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8" name="FlowHead 28"/>
          <p:cNvSpPr/>
          <p:nvPr/>
        </p:nvSpPr>
        <p:spPr>
          <a:xfrm>
            <a:off x="9795510" y="1993392"/>
            <a:ext cx="2347722" cy="384048"/>
          </a:xfrm>
          <a:prstGeom prst="rect">
            <a:avLst/>
          </a:prstGeom>
          <a:solidFill>
            <a:srgbClr val="6A4C93"/>
          </a:solidFill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定回顾</a:t>
            </a:r>
          </a:p>
        </p:txBody>
      </p:sp>
      <p:sp>
        <p:nvSpPr>
          <p:cNvPr id="29" name="FlowBody 29"/>
          <p:cNvSpPr/>
          <p:nvPr/>
        </p:nvSpPr>
        <p:spPr>
          <a:xfrm>
            <a:off x="9841230" y="2395728"/>
            <a:ext cx="2256282" cy="886968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>
              <a:lnSpc>
                <a:spcPct val="118000"/>
              </a:lnSpc>
              <a:buNone/>
            </a:pPr>
            <a:r>
              <a:rPr lang="zh-CN" altLang="en-US" sz="21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三个月一次</a:t>
            </a:r>
            <a:br>
              <a:rPr lang="zh-CN" altLang="en-US" sz="21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1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看变化不看态度</a:t>
            </a:r>
          </a:p>
        </p:txBody>
      </p:sp>
      <p:sp>
        <p:nvSpPr>
          <p:cNvPr id="30" name="Shape 30"/>
          <p:cNvSpPr/>
          <p:nvPr/>
        </p:nvSpPr>
        <p:spPr>
          <a:xfrm>
            <a:off x="1929384" y="3547872"/>
            <a:ext cx="4988052" cy="221284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1" name="CardHead 31"/>
          <p:cNvSpPr/>
          <p:nvPr/>
        </p:nvSpPr>
        <p:spPr>
          <a:xfrm>
            <a:off x="1929384" y="3547872"/>
            <a:ext cx="4988052" cy="347472"/>
          </a:xfrm>
          <a:prstGeom prst="rect">
            <a:avLst/>
          </a:prstGeom>
          <a:solidFill>
            <a:srgbClr val="C02F2B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一个残酷的观察</a:t>
            </a:r>
          </a:p>
        </p:txBody>
      </p:sp>
      <p:sp>
        <p:nvSpPr>
          <p:cNvPr id="32" name="CardBody 32"/>
          <p:cNvSpPr/>
          <p:nvPr/>
        </p:nvSpPr>
        <p:spPr>
          <a:xfrm>
            <a:off x="2011680" y="3904488"/>
            <a:ext cx="4823460" cy="1837944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96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几乎所有培训结束时大家都很有感觉，两周后剩下三成，三个月后剩下的通常是零——除非中间发生了一件真实的事。</a:t>
            </a:r>
          </a:p>
          <a:p>
            <a:pPr algn="l">
              <a:lnSpc>
                <a:spcPct val="96000"/>
              </a:lnSpc>
              <a:spcBef>
                <a:spcPts val="300"/>
              </a:spcBef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所以这一讲的全部目的，就是让每个人带走三件已经写好时间和交付物的事，而不是带走一份笔记。</a:t>
            </a:r>
          </a:p>
        </p:txBody>
      </p:sp>
      <p:sp>
        <p:nvSpPr>
          <p:cNvPr id="33" name="Shape 33"/>
          <p:cNvSpPr/>
          <p:nvPr/>
        </p:nvSpPr>
        <p:spPr>
          <a:xfrm>
            <a:off x="7155180" y="3547872"/>
            <a:ext cx="4988052" cy="221284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4" name="CardHead 34"/>
          <p:cNvSpPr/>
          <p:nvPr/>
        </p:nvSpPr>
        <p:spPr>
          <a:xfrm>
            <a:off x="7155180" y="3547872"/>
            <a:ext cx="4988052" cy="347472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散课时你手上会有</a:t>
            </a:r>
          </a:p>
        </p:txBody>
      </p:sp>
      <p:sp>
        <p:nvSpPr>
          <p:cNvPr id="35" name="CardBody 35"/>
          <p:cNvSpPr/>
          <p:nvPr/>
        </p:nvSpPr>
        <p:spPr>
          <a:xfrm>
            <a:off x="7237476" y="3904488"/>
            <a:ext cx="4823460" cy="1837944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94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一份写给自己的简版 IDP（三个月，三件事，有交付物）；</a:t>
            </a:r>
          </a:p>
          <a:p>
            <a:pPr algn="l">
              <a:lnSpc>
                <a:spcPct val="94000"/>
              </a:lnSpc>
              <a:spcBef>
                <a:spcPts val="300"/>
              </a:spcBef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一段 GROW 辅导脚本，下周就能对某个下属用；</a:t>
            </a:r>
          </a:p>
          <a:p>
            <a:pPr algn="l">
              <a:lnSpc>
                <a:spcPct val="94000"/>
              </a:lnSpc>
              <a:spcBef>
                <a:spcPts val="300"/>
              </a:spcBef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一张团队知识沉淀清单：哪些东西现在只在某个人脑子里，要在多久内变成部门的。</a:t>
            </a:r>
          </a:p>
        </p:txBody>
      </p:sp>
      <p:sp>
        <p:nvSpPr>
          <p:cNvPr id="36" name="Shape 36"/>
          <p:cNvSpPr/>
          <p:nvPr/>
        </p:nvSpPr>
        <p:spPr>
          <a:xfrm>
            <a:off x="1929384" y="5907024"/>
            <a:ext cx="10213848" cy="585216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7" name="Banner 37"/>
          <p:cNvSpPr/>
          <p:nvPr/>
        </p:nvSpPr>
        <p:spPr>
          <a:xfrm>
            <a:off x="2075688" y="5907024"/>
            <a:ext cx="9921240" cy="585216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buNone/>
            </a:pPr>
            <a:r>
              <a:rPr lang="zh-CN" altLang="en-US" sz="205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这一讲的底层判断　</a:t>
            </a:r>
            <a:r>
              <a:rPr lang="zh-CN" altLang="en-US" sz="20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计划不会因为写得好而被执行，只会因为「有人会问」而被执行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 &amp; 开发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第一讲 · 理解价值</a:t>
            </a:r>
          </a:p>
        </p:txBody>
      </p:sp>
      <p:sp>
        <p:nvSpPr>
          <p:cNvPr id="5" name="Nav 5"/>
          <p:cNvSpPr/>
          <p:nvPr/>
        </p:nvSpPr>
        <p:spPr>
          <a:xfrm>
            <a:off x="3153148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第二讲 · 评估价值</a:t>
            </a:r>
          </a:p>
        </p:txBody>
      </p:sp>
      <p:sp>
        <p:nvSpPr>
          <p:cNvPr id="6" name="Nav 6"/>
          <p:cNvSpPr/>
          <p:nvPr/>
        </p:nvSpPr>
        <p:spPr>
          <a:xfrm>
            <a:off x="6159993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第三讲 · 开发价值</a:t>
            </a:r>
          </a:p>
        </p:txBody>
      </p:sp>
      <p:sp>
        <p:nvSpPr>
          <p:cNvPr id="7" name="Nav 7"/>
          <p:cNvSpPr/>
          <p:nvPr/>
        </p:nvSpPr>
        <p:spPr>
          <a:xfrm>
            <a:off x="9166837" y="658368"/>
            <a:ext cx="2878828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第四讲 · 落地价值</a:t>
            </a:r>
          </a:p>
        </p:txBody>
      </p:sp>
      <p:cxnSp>
        <p:nvCxnSpPr>
          <p:cNvPr id="8" name="Connector 8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9" name="Connector 9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10" name="Side 10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IDP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个人发展计划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GROW 辅导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与反馈</a:t>
            </a:r>
          </a:p>
        </p:txBody>
      </p:sp>
      <p:sp>
        <p:nvSpPr>
          <p:cNvPr id="12" name="Side 12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学习型团队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持续改进</a:t>
            </a:r>
          </a:p>
        </p:txBody>
      </p:sp>
      <p:sp>
        <p:nvSpPr>
          <p:cNvPr id="13" name="H1 13"/>
          <p:cNvSpPr/>
          <p:nvPr/>
        </p:nvSpPr>
        <p:spPr>
          <a:xfrm>
            <a:off x="1929384" y="1161288"/>
            <a:ext cx="10213848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9144" rIns="73152" bIns="9144" rtlCol="0" anchor="ctr">
            <a:noAutofit/>
          </a:bodyPr>
          <a:lstStyle/>
          <a:p>
            <a:pPr algn="l">
              <a:buNone/>
            </a:pPr>
            <a:r>
              <a:rPr lang="zh-CN" altLang="en-US" sz="27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IDP：为什么大部分个人发展计划活不过一个季度</a:t>
            </a:r>
          </a:p>
        </p:txBody>
      </p:sp>
      <p:sp>
        <p:nvSpPr>
          <p:cNvPr id="14" name="H2 14"/>
          <p:cNvSpPr/>
          <p:nvPr/>
        </p:nvSpPr>
        <p:spPr>
          <a:xfrm>
            <a:off x="1929384" y="1636776"/>
            <a:ext cx="10213848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9144" rIns="73152" bIns="9144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先看清死法，再谈怎么写</a:t>
            </a:r>
          </a:p>
        </p:txBody>
      </p:sp>
      <p:sp>
        <p:nvSpPr>
          <p:cNvPr id="15" name="Shape 15"/>
          <p:cNvSpPr/>
          <p:nvPr/>
        </p:nvSpPr>
        <p:spPr>
          <a:xfrm>
            <a:off x="1929384" y="1993392"/>
            <a:ext cx="4988052" cy="248716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6" name="CardHead 16"/>
          <p:cNvSpPr/>
          <p:nvPr/>
        </p:nvSpPr>
        <p:spPr>
          <a:xfrm>
            <a:off x="1929384" y="1993392"/>
            <a:ext cx="4988052" cy="347472"/>
          </a:xfrm>
          <a:prstGeom prst="rect">
            <a:avLst/>
          </a:prstGeom>
          <a:solidFill>
            <a:srgbClr val="C02F2B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四种典型死法</a:t>
            </a:r>
          </a:p>
        </p:txBody>
      </p:sp>
      <p:sp>
        <p:nvSpPr>
          <p:cNvPr id="17" name="CardBody 17"/>
          <p:cNvSpPr/>
          <p:nvPr/>
        </p:nvSpPr>
        <p:spPr>
          <a:xfrm>
            <a:off x="2011680" y="2350008"/>
            <a:ext cx="4823460" cy="2112264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84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目标太大：「提升沟通能力」「成为行业专家」——大到无法开始，也无法验收。</a:t>
            </a:r>
          </a:p>
          <a:p>
            <a:pPr algn="l">
              <a:lnSpc>
                <a:spcPct val="84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全是学习动作：报三门课、读两本书。学完之后没有任何一件真实的事在等着它。</a:t>
            </a:r>
          </a:p>
          <a:p>
            <a:pPr algn="l">
              <a:lnSpc>
                <a:spcPct val="84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只有本人知道：主管没参与写，也就不会问；没人问的计划不会被执行。</a:t>
            </a:r>
          </a:p>
          <a:p>
            <a:pPr algn="l">
              <a:lnSpc>
                <a:spcPct val="84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没有时间：所有动作都排在「有空的时候」，而销售永远没有空。</a:t>
            </a:r>
          </a:p>
        </p:txBody>
      </p:sp>
      <p:sp>
        <p:nvSpPr>
          <p:cNvPr id="18" name="Shape 18"/>
          <p:cNvSpPr/>
          <p:nvPr/>
        </p:nvSpPr>
        <p:spPr>
          <a:xfrm>
            <a:off x="7155180" y="1993392"/>
            <a:ext cx="4988052" cy="248716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9" name="CardHead 19"/>
          <p:cNvSpPr/>
          <p:nvPr/>
        </p:nvSpPr>
        <p:spPr>
          <a:xfrm>
            <a:off x="7155180" y="1993392"/>
            <a:ext cx="4988052" cy="347472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一份能活下来的 IDP，只需要满足四条</a:t>
            </a:r>
          </a:p>
        </p:txBody>
      </p:sp>
      <p:sp>
        <p:nvSpPr>
          <p:cNvPr id="20" name="CardBody 20"/>
          <p:cNvSpPr/>
          <p:nvPr/>
        </p:nvSpPr>
        <p:spPr>
          <a:xfrm>
            <a:off x="7237476" y="2350008"/>
            <a:ext cx="4823460" cy="2112264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84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只写三件事，且都指向同一个差距（来自九宫格或胜任力自评）；</a:t>
            </a:r>
          </a:p>
          <a:p>
            <a:pPr algn="l">
              <a:lnSpc>
                <a:spcPct val="84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每件事都有交付物：一份对照表、一次独立完成的谈判、一个新行业的第一家客户；</a:t>
            </a:r>
          </a:p>
          <a:p>
            <a:pPr algn="l">
              <a:lnSpc>
                <a:spcPct val="84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每件事都有日期，且第一个动作在两周之内；</a:t>
            </a:r>
          </a:p>
          <a:p>
            <a:pPr algn="l">
              <a:lnSpc>
                <a:spcPct val="84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主管签字，并约定每月一次 20 分钟回顾——写进双方日程。</a:t>
            </a:r>
          </a:p>
        </p:txBody>
      </p:sp>
      <p:sp>
        <p:nvSpPr>
          <p:cNvPr id="21" name="Shape 21"/>
          <p:cNvSpPr/>
          <p:nvPr/>
        </p:nvSpPr>
        <p:spPr>
          <a:xfrm>
            <a:off x="1929384" y="4700016"/>
            <a:ext cx="10213848" cy="1225296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67E2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2" name="CardHead 22"/>
          <p:cNvSpPr/>
          <p:nvPr/>
        </p:nvSpPr>
        <p:spPr>
          <a:xfrm>
            <a:off x="1929384" y="4700016"/>
            <a:ext cx="10213848" cy="3474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一条硬规则</a:t>
            </a:r>
          </a:p>
        </p:txBody>
      </p:sp>
      <p:sp>
        <p:nvSpPr>
          <p:cNvPr id="23" name="CardBody 23"/>
          <p:cNvSpPr/>
          <p:nvPr/>
        </p:nvSpPr>
        <p:spPr>
          <a:xfrm>
            <a:off x="2011680" y="5056632"/>
            <a:ext cx="10049256" cy="850392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84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IDP 里的「学习」动作不能超过三分之一。剩下三分之二必须是「做事」和「被带」——因为行为改变主要发生在工作现场。</a:t>
            </a:r>
          </a:p>
          <a:p>
            <a:pPr algn="l">
              <a:lnSpc>
                <a:spcPct val="84000"/>
              </a:lnSpc>
              <a:spcBef>
                <a:spcPts val="300"/>
              </a:spcBef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一份全是课程和书单的 IDP，本质上是一份愿望清单。</a:t>
            </a:r>
          </a:p>
        </p:txBody>
      </p:sp>
      <p:sp>
        <p:nvSpPr>
          <p:cNvPr id="24" name="Shape 24"/>
          <p:cNvSpPr/>
          <p:nvPr/>
        </p:nvSpPr>
        <p:spPr>
          <a:xfrm>
            <a:off x="1929384" y="6053328"/>
            <a:ext cx="10213848" cy="566928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5" name="Banner 25"/>
          <p:cNvSpPr/>
          <p:nvPr/>
        </p:nvSpPr>
        <p:spPr>
          <a:xfrm>
            <a:off x="2075688" y="6053328"/>
            <a:ext cx="9921240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buNone/>
            </a:pPr>
            <a:r>
              <a:rPr lang="zh-CN" altLang="en-US" sz="23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一句话　</a:t>
            </a:r>
            <a:r>
              <a:rPr lang="zh-CN" altLang="en-US" sz="23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IDP 不是给 HR 交的作业，是你和你主管之间的一份三个月合同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 &amp; 开发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第一讲 · 理解价值</a:t>
            </a:r>
          </a:p>
        </p:txBody>
      </p:sp>
      <p:sp>
        <p:nvSpPr>
          <p:cNvPr id="5" name="Nav 5"/>
          <p:cNvSpPr/>
          <p:nvPr/>
        </p:nvSpPr>
        <p:spPr>
          <a:xfrm>
            <a:off x="3153148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第二讲 · 评估价值</a:t>
            </a:r>
          </a:p>
        </p:txBody>
      </p:sp>
      <p:sp>
        <p:nvSpPr>
          <p:cNvPr id="6" name="Nav 6"/>
          <p:cNvSpPr/>
          <p:nvPr/>
        </p:nvSpPr>
        <p:spPr>
          <a:xfrm>
            <a:off x="6159993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第三讲 · 开发价值</a:t>
            </a:r>
          </a:p>
        </p:txBody>
      </p:sp>
      <p:sp>
        <p:nvSpPr>
          <p:cNvPr id="7" name="Nav 7"/>
          <p:cNvSpPr/>
          <p:nvPr/>
        </p:nvSpPr>
        <p:spPr>
          <a:xfrm>
            <a:off x="9166837" y="658368"/>
            <a:ext cx="2878828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第四讲 · 落地价值</a:t>
            </a:r>
          </a:p>
        </p:txBody>
      </p:sp>
      <p:cxnSp>
        <p:nvCxnSpPr>
          <p:cNvPr id="8" name="Connector 8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9" name="Connector 9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10" name="Side 10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IDP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个人发展计划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GROW 辅导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与反馈</a:t>
            </a:r>
          </a:p>
        </p:txBody>
      </p:sp>
      <p:sp>
        <p:nvSpPr>
          <p:cNvPr id="12" name="Side 12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学习型团队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持续改进</a:t>
            </a:r>
          </a:p>
        </p:txBody>
      </p:sp>
      <p:sp>
        <p:nvSpPr>
          <p:cNvPr id="13" name="H1 13"/>
          <p:cNvSpPr/>
          <p:nvPr/>
        </p:nvSpPr>
        <p:spPr>
          <a:xfrm>
            <a:off x="1929384" y="1161288"/>
            <a:ext cx="10213848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9144" rIns="73152" bIns="9144" rtlCol="0" anchor="ctr">
            <a:noAutofit/>
          </a:bodyPr>
          <a:lstStyle/>
          <a:p>
            <a:pPr algn="l">
              <a:buNone/>
            </a:pPr>
            <a:r>
              <a:rPr lang="zh-CN" altLang="en-US" sz="27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IDP 模板：六格填满，就是一份能执行的计划</a:t>
            </a:r>
          </a:p>
        </p:txBody>
      </p:sp>
      <p:sp>
        <p:nvSpPr>
          <p:cNvPr id="14" name="H2 14"/>
          <p:cNvSpPr/>
          <p:nvPr/>
        </p:nvSpPr>
        <p:spPr>
          <a:xfrm>
            <a:off x="1929384" y="1636776"/>
            <a:ext cx="10213848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9144" rIns="73152" bIns="9144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现在填，20 分钟后我们互查</a:t>
            </a:r>
          </a:p>
        </p:txBody>
      </p:sp>
      <p:sp>
        <p:nvSpPr>
          <p:cNvPr id="15" name="Shape 15"/>
          <p:cNvSpPr/>
          <p:nvPr/>
        </p:nvSpPr>
        <p:spPr>
          <a:xfrm>
            <a:off x="1929384" y="1993392"/>
            <a:ext cx="3282696" cy="1946026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6" name="CardHead 16"/>
          <p:cNvSpPr/>
          <p:nvPr/>
        </p:nvSpPr>
        <p:spPr>
          <a:xfrm>
            <a:off x="1929384" y="1993392"/>
            <a:ext cx="3282696" cy="347472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起点（差距）</a:t>
            </a:r>
          </a:p>
        </p:txBody>
      </p:sp>
      <p:sp>
        <p:nvSpPr>
          <p:cNvPr id="17" name="CardBody 17"/>
          <p:cNvSpPr/>
          <p:nvPr/>
        </p:nvSpPr>
        <p:spPr>
          <a:xfrm>
            <a:off x="2011680" y="2350008"/>
            <a:ext cx="3118104" cy="1571122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82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来自九宫格位置 + 六项胜任力里最低的一项。</a:t>
            </a:r>
            <a:b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写法：我目前在「潜力新秀」格，最弱的是「技术转化」——客户问到参数换算时答不上来。</a:t>
            </a:r>
          </a:p>
        </p:txBody>
      </p:sp>
      <p:sp>
        <p:nvSpPr>
          <p:cNvPr id="18" name="Shape 18"/>
          <p:cNvSpPr/>
          <p:nvPr/>
        </p:nvSpPr>
        <p:spPr>
          <a:xfrm>
            <a:off x="5394960" y="1993392"/>
            <a:ext cx="3282696" cy="1856232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9" name="CardHead 19"/>
          <p:cNvSpPr/>
          <p:nvPr/>
        </p:nvSpPr>
        <p:spPr>
          <a:xfrm>
            <a:off x="5394960" y="1993392"/>
            <a:ext cx="3282696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三个月后的样子</a:t>
            </a:r>
          </a:p>
        </p:txBody>
      </p:sp>
      <p:sp>
        <p:nvSpPr>
          <p:cNvPr id="20" name="CardBody 20"/>
          <p:cNvSpPr/>
          <p:nvPr/>
        </p:nvSpPr>
        <p:spPr>
          <a:xfrm>
            <a:off x="5477256" y="2350008"/>
            <a:ext cx="3118104" cy="1481328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106000"/>
              </a:lnSpc>
              <a:buNone/>
            </a:pPr>
            <a:r>
              <a:rPr lang="zh-CN" altLang="en-US" sz="20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一句话，可验证。</a:t>
            </a:r>
            <a:br>
              <a:rPr lang="zh-CN" altLang="en-US" sz="20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0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写法：能独立用四个算账锚点，为两家客户做出书面的 TCO 对比说明。</a:t>
            </a:r>
          </a:p>
        </p:txBody>
      </p:sp>
      <p:sp>
        <p:nvSpPr>
          <p:cNvPr id="21" name="Shape 21"/>
          <p:cNvSpPr/>
          <p:nvPr/>
        </p:nvSpPr>
        <p:spPr>
          <a:xfrm>
            <a:off x="8860536" y="1993392"/>
            <a:ext cx="3282696" cy="1856232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2" name="CardHead 22"/>
          <p:cNvSpPr/>
          <p:nvPr/>
        </p:nvSpPr>
        <p:spPr>
          <a:xfrm>
            <a:off x="8860536" y="1993392"/>
            <a:ext cx="3282696" cy="347472"/>
          </a:xfrm>
          <a:prstGeom prst="rect">
            <a:avLst/>
          </a:prstGeom>
          <a:solidFill>
            <a:srgbClr val="E55E24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做事（占一半以上）</a:t>
            </a:r>
          </a:p>
        </p:txBody>
      </p:sp>
      <p:sp>
        <p:nvSpPr>
          <p:cNvPr id="23" name="CardBody 23"/>
          <p:cNvSpPr/>
          <p:nvPr/>
        </p:nvSpPr>
        <p:spPr>
          <a:xfrm>
            <a:off x="8942832" y="2350008"/>
            <a:ext cx="3118104" cy="1481328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106000"/>
              </a:lnSpc>
              <a:buNone/>
            </a:pPr>
            <a:r>
              <a:rPr lang="zh-CN" altLang="en-US" sz="20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真实任务，有交付物。</a:t>
            </a:r>
            <a:br>
              <a:rPr lang="zh-CN" altLang="en-US" sz="20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0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写法：本季度独立跟进 3 家锂电设备厂，每家产出一份工况与算账表。</a:t>
            </a:r>
          </a:p>
        </p:txBody>
      </p:sp>
      <p:sp>
        <p:nvSpPr>
          <p:cNvPr id="24" name="Shape 24"/>
          <p:cNvSpPr/>
          <p:nvPr/>
        </p:nvSpPr>
        <p:spPr>
          <a:xfrm>
            <a:off x="1929384" y="3995928"/>
            <a:ext cx="3282696" cy="1856232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6A4C9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5" name="CardHead 25"/>
          <p:cNvSpPr/>
          <p:nvPr/>
        </p:nvSpPr>
        <p:spPr>
          <a:xfrm>
            <a:off x="1929384" y="3995928"/>
            <a:ext cx="3282696" cy="347472"/>
          </a:xfrm>
          <a:prstGeom prst="rect">
            <a:avLst/>
          </a:prstGeom>
          <a:solidFill>
            <a:srgbClr val="6A4C93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被带（约三成）</a:t>
            </a:r>
          </a:p>
        </p:txBody>
      </p:sp>
      <p:sp>
        <p:nvSpPr>
          <p:cNvPr id="26" name="CardBody 26"/>
          <p:cNvSpPr/>
          <p:nvPr/>
        </p:nvSpPr>
        <p:spPr>
          <a:xfrm>
            <a:off x="2011680" y="4352544"/>
            <a:ext cx="3118104" cy="1481328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zh-CN" altLang="en-US" sz="19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谁带、怎么带、多久一次。</a:t>
            </a:r>
            <a:br>
              <a:rPr lang="zh-CN" altLang="en-US" sz="19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9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写法：请老李陪访 4 次，每次结束当天做 15 分钟复盘，重点听他的判断而非动作。</a:t>
            </a:r>
          </a:p>
        </p:txBody>
      </p:sp>
      <p:sp>
        <p:nvSpPr>
          <p:cNvPr id="27" name="Shape 27"/>
          <p:cNvSpPr/>
          <p:nvPr/>
        </p:nvSpPr>
        <p:spPr>
          <a:xfrm>
            <a:off x="5394960" y="3995928"/>
            <a:ext cx="3282696" cy="1856232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11828C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8" name="CardHead 28"/>
          <p:cNvSpPr/>
          <p:nvPr/>
        </p:nvSpPr>
        <p:spPr>
          <a:xfrm>
            <a:off x="5394960" y="3995928"/>
            <a:ext cx="3282696" cy="347472"/>
          </a:xfrm>
          <a:prstGeom prst="rect">
            <a:avLst/>
          </a:prstGeom>
          <a:solidFill>
            <a:srgbClr val="11828C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⑤ 学习（不超过三成）</a:t>
            </a:r>
          </a:p>
        </p:txBody>
      </p:sp>
      <p:sp>
        <p:nvSpPr>
          <p:cNvPr id="29" name="CardBody 29"/>
          <p:cNvSpPr/>
          <p:nvPr/>
        </p:nvSpPr>
        <p:spPr>
          <a:xfrm>
            <a:off x="5477256" y="4352544"/>
            <a:ext cx="3118104" cy="1481328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106000"/>
              </a:lnSpc>
              <a:buNone/>
            </a:pPr>
            <a:r>
              <a:rPr lang="zh-CN" altLang="en-US" sz="20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有明确用途才写。</a:t>
            </a:r>
            <a:br>
              <a:rPr lang="zh-CN" altLang="en-US" sz="20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0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写法：把线性滑轨选型手册过一遍，两周内在一家现有客户身上试着提出方案。</a:t>
            </a:r>
          </a:p>
        </p:txBody>
      </p:sp>
      <p:sp>
        <p:nvSpPr>
          <p:cNvPr id="30" name="Shape 30"/>
          <p:cNvSpPr/>
          <p:nvPr/>
        </p:nvSpPr>
        <p:spPr>
          <a:xfrm>
            <a:off x="8860536" y="3995928"/>
            <a:ext cx="3282696" cy="1856232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1" name="CardHead 31"/>
          <p:cNvSpPr/>
          <p:nvPr/>
        </p:nvSpPr>
        <p:spPr>
          <a:xfrm>
            <a:off x="8860536" y="3995928"/>
            <a:ext cx="3282696" cy="347472"/>
          </a:xfrm>
          <a:prstGeom prst="rect">
            <a:avLst/>
          </a:prstGeom>
          <a:solidFill>
            <a:srgbClr val="C02F2B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⑥ 时间与回顾</a:t>
            </a:r>
          </a:p>
        </p:txBody>
      </p:sp>
      <p:sp>
        <p:nvSpPr>
          <p:cNvPr id="32" name="CardBody 32"/>
          <p:cNvSpPr/>
          <p:nvPr/>
        </p:nvSpPr>
        <p:spPr>
          <a:xfrm>
            <a:off x="8942832" y="4352544"/>
            <a:ext cx="3118104" cy="1481328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94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第一个动作的日期 + 每月回顾时间。</a:t>
            </a:r>
            <a:b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写法：本周五前约老李排陪访；每月最后一个周三 16:00 与主管回顾 20 分钟。</a:t>
            </a:r>
          </a:p>
        </p:txBody>
      </p:sp>
      <p:sp>
        <p:nvSpPr>
          <p:cNvPr id="33" name="Shape 33"/>
          <p:cNvSpPr/>
          <p:nvPr/>
        </p:nvSpPr>
        <p:spPr>
          <a:xfrm>
            <a:off x="1929384" y="5980176"/>
            <a:ext cx="10213848" cy="694944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4" name="Banner 34"/>
          <p:cNvSpPr/>
          <p:nvPr/>
        </p:nvSpPr>
        <p:spPr>
          <a:xfrm>
            <a:off x="2075688" y="5980176"/>
            <a:ext cx="9921240" cy="69494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buNone/>
            </a:pPr>
            <a:r>
              <a:rPr lang="zh-CN" altLang="en-US" sz="185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填表纪律　</a:t>
            </a:r>
            <a:r>
              <a:rPr lang="zh-CN" altLang="en-US" sz="18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不许出现「提升」「加强」「多学习」；每一格都要能被第三个人验收——管理者请同时准备：你打算和谁先谈，为什么是他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 &amp; 开发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第一讲 · 理解价值</a:t>
            </a:r>
          </a:p>
        </p:txBody>
      </p:sp>
      <p:sp>
        <p:nvSpPr>
          <p:cNvPr id="5" name="Nav 5"/>
          <p:cNvSpPr/>
          <p:nvPr/>
        </p:nvSpPr>
        <p:spPr>
          <a:xfrm>
            <a:off x="3153148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第二讲 · 评估价值</a:t>
            </a:r>
          </a:p>
        </p:txBody>
      </p:sp>
      <p:sp>
        <p:nvSpPr>
          <p:cNvPr id="6" name="Nav 6"/>
          <p:cNvSpPr/>
          <p:nvPr/>
        </p:nvSpPr>
        <p:spPr>
          <a:xfrm>
            <a:off x="6159993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第三讲 · 开发价值</a:t>
            </a:r>
          </a:p>
        </p:txBody>
      </p:sp>
      <p:sp>
        <p:nvSpPr>
          <p:cNvPr id="7" name="Nav 7"/>
          <p:cNvSpPr/>
          <p:nvPr/>
        </p:nvSpPr>
        <p:spPr>
          <a:xfrm>
            <a:off x="9166837" y="658368"/>
            <a:ext cx="2878828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第四讲 · 落地价值</a:t>
            </a:r>
          </a:p>
        </p:txBody>
      </p:sp>
      <p:cxnSp>
        <p:nvCxnSpPr>
          <p:cNvPr id="8" name="Connector 8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9" name="Connector 9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10" name="Side 10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IDP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个人发展计划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GROW 辅导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与反馈</a:t>
            </a:r>
          </a:p>
        </p:txBody>
      </p:sp>
      <p:sp>
        <p:nvSpPr>
          <p:cNvPr id="12" name="Side 12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学习型团队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持续改进</a:t>
            </a:r>
          </a:p>
        </p:txBody>
      </p:sp>
      <p:sp>
        <p:nvSpPr>
          <p:cNvPr id="13" name="H1 13"/>
          <p:cNvSpPr/>
          <p:nvPr/>
        </p:nvSpPr>
        <p:spPr>
          <a:xfrm>
            <a:off x="1929384" y="1161288"/>
            <a:ext cx="10213848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9144" rIns="73152" bIns="9144" rtlCol="0" anchor="ctr">
            <a:noAutofit/>
          </a:bodyPr>
          <a:lstStyle/>
          <a:p>
            <a:pPr algn="l">
              <a:buNone/>
            </a:pPr>
            <a:r>
              <a:rPr lang="zh-CN" altLang="en-US" sz="27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现场演练（25 分钟）：写完 + 互查 + 认领</a:t>
            </a:r>
          </a:p>
        </p:txBody>
      </p:sp>
      <p:sp>
        <p:nvSpPr>
          <p:cNvPr id="14" name="H2 14"/>
          <p:cNvSpPr/>
          <p:nvPr/>
        </p:nvSpPr>
        <p:spPr>
          <a:xfrm>
            <a:off x="1929384" y="1636776"/>
            <a:ext cx="10213848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9144" rIns="73152" bIns="9144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这是全天唯一必须带走纸质产出的环节</a:t>
            </a:r>
          </a:p>
        </p:txBody>
      </p:sp>
      <p:sp>
        <p:nvSpPr>
          <p:cNvPr id="15" name="Shape 15"/>
          <p:cNvSpPr/>
          <p:nvPr/>
        </p:nvSpPr>
        <p:spPr>
          <a:xfrm>
            <a:off x="1929384" y="1993392"/>
            <a:ext cx="10213848" cy="103632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6" name="CardHead 16"/>
          <p:cNvSpPr/>
          <p:nvPr/>
        </p:nvSpPr>
        <p:spPr>
          <a:xfrm>
            <a:off x="1929384" y="1993392"/>
            <a:ext cx="10213848" cy="347472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第一步　独立写（12 分钟）</a:t>
            </a:r>
          </a:p>
        </p:txBody>
      </p:sp>
      <p:sp>
        <p:nvSpPr>
          <p:cNvPr id="17" name="CardBody 17"/>
          <p:cNvSpPr/>
          <p:nvPr/>
        </p:nvSpPr>
        <p:spPr>
          <a:xfrm>
            <a:off x="2011680" y="2350008"/>
            <a:ext cx="10049256" cy="661416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102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用上午的两份材料：六项胜任力自评里最低的一项，和你在九宫格里的位置。销售写自己的；管理者写两份——一份自己的，一份给团队里那位「潜力新秀」的。</a:t>
            </a:r>
          </a:p>
        </p:txBody>
      </p:sp>
      <p:sp>
        <p:nvSpPr>
          <p:cNvPr id="18" name="Shape 18"/>
          <p:cNvSpPr/>
          <p:nvPr/>
        </p:nvSpPr>
        <p:spPr>
          <a:xfrm>
            <a:off x="1929384" y="3176016"/>
            <a:ext cx="10213848" cy="103632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9" name="CardHead 19"/>
          <p:cNvSpPr/>
          <p:nvPr/>
        </p:nvSpPr>
        <p:spPr>
          <a:xfrm>
            <a:off x="1929384" y="3176016"/>
            <a:ext cx="10213848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第二步　两两互查（8 分钟）</a:t>
            </a:r>
          </a:p>
        </p:txBody>
      </p:sp>
      <p:sp>
        <p:nvSpPr>
          <p:cNvPr id="20" name="CardBody 20"/>
          <p:cNvSpPr/>
          <p:nvPr/>
        </p:nvSpPr>
        <p:spPr>
          <a:xfrm>
            <a:off x="2011680" y="3532632"/>
            <a:ext cx="10049256" cy="661416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102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互查只问三个问题：这三件事指向的是同一个差距吗？第 ③ 格是真任务还是学习动作伪装的？第一个动作的日期是哪一天？三个里有一个答不上来，就退回去改。</a:t>
            </a:r>
          </a:p>
        </p:txBody>
      </p:sp>
      <p:sp>
        <p:nvSpPr>
          <p:cNvPr id="21" name="Shape 21"/>
          <p:cNvSpPr/>
          <p:nvPr/>
        </p:nvSpPr>
        <p:spPr>
          <a:xfrm>
            <a:off x="1929384" y="4358640"/>
            <a:ext cx="10213848" cy="103632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2" name="CardHead 22"/>
          <p:cNvSpPr/>
          <p:nvPr/>
        </p:nvSpPr>
        <p:spPr>
          <a:xfrm>
            <a:off x="1929384" y="4358640"/>
            <a:ext cx="10213848" cy="347472"/>
          </a:xfrm>
          <a:prstGeom prst="rect">
            <a:avLst/>
          </a:prstGeom>
          <a:solidFill>
            <a:srgbClr val="E55E24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第三步　当众认领（5 分钟）</a:t>
            </a:r>
          </a:p>
        </p:txBody>
      </p:sp>
      <p:sp>
        <p:nvSpPr>
          <p:cNvPr id="23" name="CardBody 23"/>
          <p:cNvSpPr/>
          <p:nvPr/>
        </p:nvSpPr>
        <p:spPr>
          <a:xfrm>
            <a:off x="2011680" y="4715256"/>
            <a:ext cx="10049256" cy="661416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102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每组派一人念出自己的第一个动作和日期。念出来这件事本身就有约束力——这也是为什么我们不采用「回去自己写」的方式。</a:t>
            </a:r>
          </a:p>
        </p:txBody>
      </p:sp>
      <p:sp>
        <p:nvSpPr>
          <p:cNvPr id="24" name="Shape 24"/>
          <p:cNvSpPr/>
          <p:nvPr/>
        </p:nvSpPr>
        <p:spPr>
          <a:xfrm>
            <a:off x="1929384" y="5504688"/>
            <a:ext cx="10213848" cy="1170432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67E2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5" name="CardHead 25"/>
          <p:cNvSpPr/>
          <p:nvPr/>
        </p:nvSpPr>
        <p:spPr>
          <a:xfrm>
            <a:off x="1929384" y="5504688"/>
            <a:ext cx="10213848" cy="3474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带回去之后（这一段决定成败）</a:t>
            </a:r>
          </a:p>
        </p:txBody>
      </p:sp>
      <p:sp>
        <p:nvSpPr>
          <p:cNvPr id="26" name="CardBody 26"/>
          <p:cNvSpPr/>
          <p:nvPr/>
        </p:nvSpPr>
        <p:spPr>
          <a:xfrm>
            <a:off x="2011680" y="5861304"/>
            <a:ext cx="10049256" cy="795528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82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一周之内把 IDP 发给你的主管，请他回一句「同意」——有回执的计划才算生效；</a:t>
            </a:r>
          </a:p>
          <a:p>
            <a:pPr algn="l">
              <a:lnSpc>
                <a:spcPct val="82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把每月回顾的 20 分钟直接放进双方日历，重复提醒；</a:t>
            </a:r>
          </a:p>
          <a:p>
            <a:pPr algn="l">
              <a:lnSpc>
                <a:spcPct val="82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两周后的部门会上，讲你的第一个动作做了没有、发生了什么。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 &amp; 开发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第一讲 · 理解价值</a:t>
            </a:r>
          </a:p>
        </p:txBody>
      </p:sp>
      <p:sp>
        <p:nvSpPr>
          <p:cNvPr id="5" name="Nav 5"/>
          <p:cNvSpPr/>
          <p:nvPr/>
        </p:nvSpPr>
        <p:spPr>
          <a:xfrm>
            <a:off x="3153148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第二讲 · 评估价值</a:t>
            </a:r>
          </a:p>
        </p:txBody>
      </p:sp>
      <p:sp>
        <p:nvSpPr>
          <p:cNvPr id="6" name="Nav 6"/>
          <p:cNvSpPr/>
          <p:nvPr/>
        </p:nvSpPr>
        <p:spPr>
          <a:xfrm>
            <a:off x="6159993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第三讲 · 开发价值</a:t>
            </a:r>
          </a:p>
        </p:txBody>
      </p:sp>
      <p:sp>
        <p:nvSpPr>
          <p:cNvPr id="7" name="Nav 7"/>
          <p:cNvSpPr/>
          <p:nvPr/>
        </p:nvSpPr>
        <p:spPr>
          <a:xfrm>
            <a:off x="9166837" y="658368"/>
            <a:ext cx="2878828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第四讲 · 落地价值</a:t>
            </a:r>
          </a:p>
        </p:txBody>
      </p:sp>
      <p:cxnSp>
        <p:nvCxnSpPr>
          <p:cNvPr id="8" name="Connector 8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9" name="Connector 9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10" name="Side 10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IDP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个人发展计划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GROW 辅导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与反馈</a:t>
            </a:r>
          </a:p>
        </p:txBody>
      </p:sp>
      <p:sp>
        <p:nvSpPr>
          <p:cNvPr id="12" name="Side 12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学习型团队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持续改进</a:t>
            </a:r>
          </a:p>
        </p:txBody>
      </p:sp>
      <p:pic>
        <p:nvPicPr>
          <p:cNvPr id="13" name="Art 13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1883664" y="1188720"/>
            <a:ext cx="10259568" cy="5522976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 &amp; 开发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第一讲 · 理解价值</a:t>
            </a:r>
          </a:p>
        </p:txBody>
      </p:sp>
      <p:sp>
        <p:nvSpPr>
          <p:cNvPr id="5" name="Nav 5"/>
          <p:cNvSpPr/>
          <p:nvPr/>
        </p:nvSpPr>
        <p:spPr>
          <a:xfrm>
            <a:off x="3153148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第二讲 · 评估价值</a:t>
            </a:r>
          </a:p>
        </p:txBody>
      </p:sp>
      <p:sp>
        <p:nvSpPr>
          <p:cNvPr id="6" name="Nav 6"/>
          <p:cNvSpPr/>
          <p:nvPr/>
        </p:nvSpPr>
        <p:spPr>
          <a:xfrm>
            <a:off x="6159993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第三讲 · 开发价值</a:t>
            </a:r>
          </a:p>
        </p:txBody>
      </p:sp>
      <p:sp>
        <p:nvSpPr>
          <p:cNvPr id="7" name="Nav 7"/>
          <p:cNvSpPr/>
          <p:nvPr/>
        </p:nvSpPr>
        <p:spPr>
          <a:xfrm>
            <a:off x="9166837" y="658368"/>
            <a:ext cx="2878828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第四讲 · 落地价值</a:t>
            </a:r>
          </a:p>
        </p:txBody>
      </p:sp>
      <p:cxnSp>
        <p:nvCxnSpPr>
          <p:cNvPr id="8" name="Connector 8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9" name="Connector 9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10" name="Side 10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IDP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个人发展计划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GROW 辅导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与反馈</a:t>
            </a:r>
          </a:p>
        </p:txBody>
      </p:sp>
      <p:sp>
        <p:nvSpPr>
          <p:cNvPr id="12" name="Side 12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学习型团队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持续改进</a:t>
            </a:r>
          </a:p>
        </p:txBody>
      </p:sp>
      <p:sp>
        <p:nvSpPr>
          <p:cNvPr id="13" name="H1 13"/>
          <p:cNvSpPr/>
          <p:nvPr/>
        </p:nvSpPr>
        <p:spPr>
          <a:xfrm>
            <a:off x="1929384" y="1161288"/>
            <a:ext cx="10213848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9144" rIns="73152" bIns="9144" rtlCol="0" anchor="ctr">
            <a:noAutofit/>
          </a:bodyPr>
          <a:lstStyle/>
          <a:p>
            <a:pPr algn="l">
              <a:buNone/>
            </a:pPr>
            <a:r>
              <a:rPr lang="zh-CN" altLang="en-US" sz="27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建设性反馈：让人愿意改，而不是让人愿意辩</a:t>
            </a:r>
          </a:p>
        </p:txBody>
      </p:sp>
      <p:sp>
        <p:nvSpPr>
          <p:cNvPr id="14" name="H2 14"/>
          <p:cNvSpPr/>
          <p:nvPr/>
        </p:nvSpPr>
        <p:spPr>
          <a:xfrm>
            <a:off x="1929384" y="1636776"/>
            <a:ext cx="10213848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9144" rIns="73152" bIns="9144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同样一句话，换个结构，结果完全不同</a:t>
            </a:r>
          </a:p>
        </p:txBody>
      </p:sp>
      <p:sp>
        <p:nvSpPr>
          <p:cNvPr id="15" name="Shape 15"/>
          <p:cNvSpPr/>
          <p:nvPr/>
        </p:nvSpPr>
        <p:spPr>
          <a:xfrm>
            <a:off x="1929384" y="1993392"/>
            <a:ext cx="4988052" cy="246888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6" name="CardHead 16"/>
          <p:cNvSpPr/>
          <p:nvPr/>
        </p:nvSpPr>
        <p:spPr>
          <a:xfrm>
            <a:off x="1929384" y="1993392"/>
            <a:ext cx="4988052" cy="347472"/>
          </a:xfrm>
          <a:prstGeom prst="rect">
            <a:avLst/>
          </a:prstGeom>
          <a:solidFill>
            <a:srgbClr val="C02F2B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四条会让人立刻关门的说法</a:t>
            </a:r>
          </a:p>
        </p:txBody>
      </p:sp>
      <p:sp>
        <p:nvSpPr>
          <p:cNvPr id="17" name="CardBody 17"/>
          <p:cNvSpPr/>
          <p:nvPr/>
        </p:nvSpPr>
        <p:spPr>
          <a:xfrm>
            <a:off x="2011680" y="2350008"/>
            <a:ext cx="4823460" cy="2093976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84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上标签：「你就是太急了。」——评价的是人，人只能防御。</a:t>
            </a:r>
          </a:p>
          <a:p>
            <a:pPr algn="l">
              <a:lnSpc>
                <a:spcPct val="84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攒着一起说：「其实上次、上上次我也想说……」——变成清算。</a:t>
            </a:r>
          </a:p>
          <a:p>
            <a:pPr algn="l">
              <a:lnSpc>
                <a:spcPct val="84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拿别人比：「你看小李怎么做的。」——他记住的只有小李，不是方法。</a:t>
            </a:r>
          </a:p>
          <a:p>
            <a:pPr algn="l">
              <a:lnSpc>
                <a:spcPct val="84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用「但是」：「这次不错，但是……」——前半句直接作废。</a:t>
            </a:r>
          </a:p>
        </p:txBody>
      </p:sp>
      <p:sp>
        <p:nvSpPr>
          <p:cNvPr id="18" name="Shape 18"/>
          <p:cNvSpPr/>
          <p:nvPr/>
        </p:nvSpPr>
        <p:spPr>
          <a:xfrm>
            <a:off x="7155180" y="1993392"/>
            <a:ext cx="4988052" cy="246888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9" name="CardHead 19"/>
          <p:cNvSpPr/>
          <p:nvPr/>
        </p:nvSpPr>
        <p:spPr>
          <a:xfrm>
            <a:off x="7155180" y="1993392"/>
            <a:ext cx="4988052" cy="347472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四条会让人愿意改的说法</a:t>
            </a:r>
          </a:p>
        </p:txBody>
      </p:sp>
      <p:sp>
        <p:nvSpPr>
          <p:cNvPr id="20" name="CardBody 20"/>
          <p:cNvSpPr/>
          <p:nvPr/>
        </p:nvSpPr>
        <p:spPr>
          <a:xfrm>
            <a:off x="7237476" y="2350008"/>
            <a:ext cx="4823460" cy="2093976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90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说事：「上周三 XX 电子那次，客户问到寿命次数。」</a:t>
            </a:r>
          </a:p>
          <a:p>
            <a:pPr algn="l">
              <a:lnSpc>
                <a:spcPct val="90000"/>
              </a:lnSpc>
              <a:spcBef>
                <a:spcPts val="300"/>
              </a:spcBef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说影响：「他当场就转去问另一家了。」</a:t>
            </a:r>
          </a:p>
          <a:p>
            <a:pPr algn="l">
              <a:lnSpc>
                <a:spcPct val="90000"/>
              </a:lnSpc>
              <a:spcBef>
                <a:spcPts val="300"/>
              </a:spcBef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问他：「你怎么看这件事？」——先听，往往他自己已经知道。</a:t>
            </a:r>
          </a:p>
          <a:p>
            <a:pPr algn="l">
              <a:lnSpc>
                <a:spcPct val="90000"/>
              </a:lnSpc>
              <a:spcBef>
                <a:spcPts val="300"/>
              </a:spcBef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要动作：「下次遇到答不上来的问题，你打算怎么处理？」——他说的，他才会做。</a:t>
            </a:r>
          </a:p>
        </p:txBody>
      </p:sp>
      <p:sp>
        <p:nvSpPr>
          <p:cNvPr id="21" name="Shape 21"/>
          <p:cNvSpPr/>
          <p:nvPr/>
        </p:nvSpPr>
        <p:spPr>
          <a:xfrm>
            <a:off x="1929384" y="4681728"/>
            <a:ext cx="10213848" cy="1225296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67E2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2" name="CardHead 22"/>
          <p:cNvSpPr/>
          <p:nvPr/>
        </p:nvSpPr>
        <p:spPr>
          <a:xfrm>
            <a:off x="1929384" y="4681728"/>
            <a:ext cx="10213848" cy="3474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正面反馈同样要具体（而且更被低估）</a:t>
            </a:r>
          </a:p>
        </p:txBody>
      </p:sp>
      <p:sp>
        <p:nvSpPr>
          <p:cNvPr id="23" name="CardBody 23"/>
          <p:cNvSpPr/>
          <p:nvPr/>
        </p:nvSpPr>
        <p:spPr>
          <a:xfrm>
            <a:off x="2011680" y="5038344"/>
            <a:ext cx="10049256" cy="850392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84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× 「这个月表现不错，继续保持。」　√ 「你这次把节拍和负载率都问全了才报价，所以客户没往折扣上带——这一步做得对。」</a:t>
            </a:r>
          </a:p>
          <a:p>
            <a:pPr algn="l">
              <a:lnSpc>
                <a:spcPct val="84000"/>
              </a:lnSpc>
              <a:spcBef>
                <a:spcPts val="300"/>
              </a:spcBef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具体的表扬才能被复制；笼统的表扬只能被感谢。</a:t>
            </a:r>
          </a:p>
        </p:txBody>
      </p:sp>
      <p:sp>
        <p:nvSpPr>
          <p:cNvPr id="24" name="Shape 24"/>
          <p:cNvSpPr/>
          <p:nvPr/>
        </p:nvSpPr>
        <p:spPr>
          <a:xfrm>
            <a:off x="1929384" y="6035040"/>
            <a:ext cx="10213848" cy="585216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5" name="Banner 25"/>
          <p:cNvSpPr/>
          <p:nvPr/>
        </p:nvSpPr>
        <p:spPr>
          <a:xfrm>
            <a:off x="2075688" y="6035040"/>
            <a:ext cx="9921240" cy="585216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lnSpc>
                <a:spcPct val="86000"/>
              </a:lnSpc>
              <a:buNone/>
            </a:pPr>
            <a:r>
              <a:rPr lang="zh-CN" altLang="en-US" sz="18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现场演练（10 分钟）　</a:t>
            </a: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两两一组：用你团队里真实发生过的一件事，按「说事—说影响—问他—要动作」讲一遍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 &amp; 开发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第一讲 · 理解价值</a:t>
            </a:r>
          </a:p>
        </p:txBody>
      </p:sp>
      <p:sp>
        <p:nvSpPr>
          <p:cNvPr id="5" name="Nav 5"/>
          <p:cNvSpPr/>
          <p:nvPr/>
        </p:nvSpPr>
        <p:spPr>
          <a:xfrm>
            <a:off x="3153148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第二讲 · 评估价值</a:t>
            </a:r>
          </a:p>
        </p:txBody>
      </p:sp>
      <p:sp>
        <p:nvSpPr>
          <p:cNvPr id="6" name="Nav 6"/>
          <p:cNvSpPr/>
          <p:nvPr/>
        </p:nvSpPr>
        <p:spPr>
          <a:xfrm>
            <a:off x="6159993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第三讲 · 开发价值</a:t>
            </a:r>
          </a:p>
        </p:txBody>
      </p:sp>
      <p:sp>
        <p:nvSpPr>
          <p:cNvPr id="7" name="Nav 7"/>
          <p:cNvSpPr/>
          <p:nvPr/>
        </p:nvSpPr>
        <p:spPr>
          <a:xfrm>
            <a:off x="9166837" y="658368"/>
            <a:ext cx="2878828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第四讲 · 落地价值</a:t>
            </a:r>
          </a:p>
        </p:txBody>
      </p:sp>
      <p:cxnSp>
        <p:nvCxnSpPr>
          <p:cNvPr id="8" name="Connector 8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9" name="Connector 9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10" name="Side 10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IDP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个人发展计划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GROW 辅导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与反馈</a:t>
            </a:r>
          </a:p>
        </p:txBody>
      </p:sp>
      <p:sp>
        <p:nvSpPr>
          <p:cNvPr id="12" name="Side 12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学习型团队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持续改进</a:t>
            </a:r>
          </a:p>
        </p:txBody>
      </p:sp>
      <p:sp>
        <p:nvSpPr>
          <p:cNvPr id="13" name="Chip 13"/>
          <p:cNvSpPr/>
          <p:nvPr/>
        </p:nvSpPr>
        <p:spPr>
          <a:xfrm>
            <a:off x="1929384" y="1243584"/>
            <a:ext cx="1517904" cy="512064"/>
          </a:xfrm>
          <a:prstGeom prst="roundRect">
            <a:avLst>
              <a:gd name="adj" fmla="val 22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情境 6</a:t>
            </a:r>
          </a:p>
        </p:txBody>
      </p:sp>
      <p:sp>
        <p:nvSpPr>
          <p:cNvPr id="14" name="ScTitle 14"/>
          <p:cNvSpPr/>
          <p:nvPr/>
        </p:nvSpPr>
        <p:spPr>
          <a:xfrm>
            <a:off x="3584448" y="1225296"/>
            <a:ext cx="8558784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buNone/>
            </a:pPr>
            <a:r>
              <a:rPr lang="zh-CN" altLang="en-US" sz="2400" b="1" dirty="0">
                <a:solidFill>
                  <a:srgbClr val="F5C8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骨干离职当天，我们才发现客户全在他手机里</a:t>
            </a:r>
          </a:p>
        </p:txBody>
      </p:sp>
      <p:sp>
        <p:nvSpPr>
          <p:cNvPr id="15" name="Shape 15"/>
          <p:cNvSpPr/>
          <p:nvPr/>
        </p:nvSpPr>
        <p:spPr>
          <a:xfrm>
            <a:off x="1929384" y="1847088"/>
            <a:ext cx="10213848" cy="3127248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2E7D3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6" name="ScHead 16"/>
          <p:cNvSpPr/>
          <p:nvPr/>
        </p:nvSpPr>
        <p:spPr>
          <a:xfrm>
            <a:off x="1929384" y="1847088"/>
            <a:ext cx="10213848" cy="42062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wrap="square" lIns="109728" tIns="18288" rIns="109728" bIns="18288" rtlCol="0" anchor="ctr">
            <a:noAutofit/>
          </a:bodyPr>
          <a:lstStyle/>
          <a:p>
            <a:pPr algn="ctr">
              <a:buNone/>
            </a:pPr>
            <a:r>
              <a:rPr lang="zh-CN" altLang="en-US" sz="2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  场  情  境</a:t>
            </a:r>
          </a:p>
        </p:txBody>
      </p:sp>
      <p:sp>
        <p:nvSpPr>
          <p:cNvPr id="17" name="ScBody 17"/>
          <p:cNvSpPr/>
          <p:nvPr/>
        </p:nvSpPr>
        <p:spPr>
          <a:xfrm>
            <a:off x="2075688" y="2304288"/>
            <a:ext cx="9921240" cy="2615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92000"/>
              </a:lnSpc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小赵是营业部业绩第二、口碑第一的销售，做了五年。上个月他提出离职，去了竞品。</a:t>
            </a:r>
          </a:p>
          <a:p>
            <a:pPr algn="l">
              <a:lnSpc>
                <a:spcPct val="92000"/>
              </a:lnSpc>
              <a:spcBef>
                <a:spcPts val="400"/>
              </a:spcBef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交接那天才发现：他跟进的 23 家客户里，只有 9 家在系统里有完整档案；关键联系人的手机号大多存在他个人微信里，谈判进度和客户偏好「都在他脑子里」。</a:t>
            </a:r>
          </a:p>
          <a:p>
            <a:pPr algn="l">
              <a:lnSpc>
                <a:spcPct val="92000"/>
              </a:lnSpc>
              <a:spcBef>
                <a:spcPts val="400"/>
              </a:spcBef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接手的新人第一次拜访最大的一家客户，对方技术主管问：「上次说好的那个替代方案，你们内部评估结论是什么？」新人答不上来。</a:t>
            </a:r>
          </a:p>
          <a:p>
            <a:pPr algn="l">
              <a:lnSpc>
                <a:spcPct val="92000"/>
              </a:lnSpc>
              <a:spcBef>
                <a:spcPts val="400"/>
              </a:spcBef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三个月后，这家客户的订单份额从七成降到三成。</a:t>
            </a:r>
          </a:p>
          <a:p>
            <a:pPr algn="l">
              <a:lnSpc>
                <a:spcPct val="92000"/>
              </a:lnSpc>
              <a:spcBef>
                <a:spcPts val="400"/>
              </a:spcBef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复盘会上有人说：「以后签保密和竞业协议吧。」也有人说：「早知道就多给他加点钱。」</a:t>
            </a:r>
          </a:p>
          <a:p>
            <a:pPr algn="l">
              <a:lnSpc>
                <a:spcPct val="92000"/>
              </a:lnSpc>
              <a:spcBef>
                <a:spcPts val="400"/>
              </a:spcBef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但从头到尾，没有人提过一件事：这五年里，我们从来没有要求过他把东西留下来。</a:t>
            </a:r>
          </a:p>
        </p:txBody>
      </p:sp>
      <p:sp>
        <p:nvSpPr>
          <p:cNvPr id="18" name="ScAsk 18"/>
          <p:cNvSpPr/>
          <p:nvPr/>
        </p:nvSpPr>
        <p:spPr>
          <a:xfrm>
            <a:off x="1929384" y="5065776"/>
            <a:ext cx="10213848" cy="640080"/>
          </a:xfrm>
          <a:prstGeom prst="roundRect">
            <a:avLst>
              <a:gd name="adj" fmla="val 20000"/>
            </a:avLst>
          </a:prstGeom>
          <a:solidFill>
            <a:srgbClr val="2C6B53"/>
          </a:solidFill>
          <a:ln w="15875" cap="flat" cmpd="sng" algn="ctr">
            <a:solidFill>
              <a:srgbClr val="F5C842"/>
            </a:solidFill>
          </a:ln>
        </p:spPr>
        <p:txBody>
          <a:bodyPr wrap="square" lIns="164592" tIns="36576" rIns="146304" bIns="36576" rtlCol="0" anchor="ctr">
            <a:noAutofit/>
          </a:bodyPr>
          <a:lstStyle/>
          <a:p>
            <a:pPr algn="l">
              <a:buNone/>
            </a:pPr>
            <a:r>
              <a:rPr lang="zh-CN" altLang="en-US" sz="2200" b="1" dirty="0">
                <a:solidFill>
                  <a:srgbClr val="F5C8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讨 论　</a:t>
            </a:r>
            <a:r>
              <a:rPr lang="zh-CN" altLang="en-US" sz="2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这是留人的问题，还是留知识的问题？如果只能做三件事，你做哪三件？</a:t>
            </a:r>
          </a:p>
        </p:txBody>
      </p:sp>
      <p:sp>
        <p:nvSpPr>
          <p:cNvPr id="19" name="ScCommon 19"/>
          <p:cNvSpPr/>
          <p:nvPr/>
        </p:nvSpPr>
        <p:spPr>
          <a:xfrm>
            <a:off x="1929384" y="5779008"/>
            <a:ext cx="10213848" cy="749808"/>
          </a:xfrm>
          <a:prstGeom prst="roundRect">
            <a:avLst>
              <a:gd name="adj" fmla="val 16000"/>
            </a:avLst>
          </a:prstGeom>
          <a:solidFill>
            <a:srgbClr val="3A3A3A"/>
          </a:solidFill>
          <a:ln w="15875" cap="flat" cmpd="sng" algn="ctr">
            <a:solidFill>
              <a:srgbClr val="9A9A9A"/>
            </a:solidFill>
          </a:ln>
        </p:spPr>
        <p:txBody>
          <a:bodyPr wrap="square" lIns="164592" tIns="36576" rIns="146304" bIns="36576" rtlCol="0" anchor="ctr">
            <a:noAutofit/>
          </a:bodyPr>
          <a:lstStyle/>
          <a:p>
            <a:pPr algn="l">
              <a:buNone/>
            </a:pPr>
            <a:r>
              <a:rPr lang="zh-CN" altLang="en-US" sz="1950" b="1" dirty="0">
                <a:solidFill>
                  <a:srgbClr val="FFC9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普遍做法　</a:t>
            </a:r>
            <a:r>
              <a:rPr lang="zh-CN" altLang="en-US" sz="19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加薪挽留、签竞业协议、要求离职时做详细交接、把客户资料强制上传系统。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 &amp; 开发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第一讲 · 理解价值</a:t>
            </a:r>
          </a:p>
        </p:txBody>
      </p:sp>
      <p:sp>
        <p:nvSpPr>
          <p:cNvPr id="5" name="Nav 5"/>
          <p:cNvSpPr/>
          <p:nvPr/>
        </p:nvSpPr>
        <p:spPr>
          <a:xfrm>
            <a:off x="3153148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第二讲 · 评估价值</a:t>
            </a:r>
          </a:p>
        </p:txBody>
      </p:sp>
      <p:sp>
        <p:nvSpPr>
          <p:cNvPr id="6" name="Nav 6"/>
          <p:cNvSpPr/>
          <p:nvPr/>
        </p:nvSpPr>
        <p:spPr>
          <a:xfrm>
            <a:off x="6159993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第三讲 · 开发价值</a:t>
            </a:r>
          </a:p>
        </p:txBody>
      </p:sp>
      <p:sp>
        <p:nvSpPr>
          <p:cNvPr id="7" name="Nav 7"/>
          <p:cNvSpPr/>
          <p:nvPr/>
        </p:nvSpPr>
        <p:spPr>
          <a:xfrm>
            <a:off x="9166837" y="658368"/>
            <a:ext cx="2878828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第四讲 · 落地价值</a:t>
            </a:r>
          </a:p>
        </p:txBody>
      </p:sp>
      <p:cxnSp>
        <p:nvCxnSpPr>
          <p:cNvPr id="8" name="Connector 8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9" name="Connector 9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10" name="Side 10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IDP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个人发展计划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GROW 辅导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与反馈</a:t>
            </a:r>
          </a:p>
        </p:txBody>
      </p:sp>
      <p:sp>
        <p:nvSpPr>
          <p:cNvPr id="12" name="Side 12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学习型团队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持续改进</a:t>
            </a:r>
          </a:p>
        </p:txBody>
      </p:sp>
      <p:sp>
        <p:nvSpPr>
          <p:cNvPr id="13" name="H1 13"/>
          <p:cNvSpPr/>
          <p:nvPr/>
        </p:nvSpPr>
        <p:spPr>
          <a:xfrm>
            <a:off x="1929384" y="1161288"/>
            <a:ext cx="10213848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9144" rIns="73152" bIns="9144" rtlCol="0" anchor="ctr">
            <a:noAutofit/>
          </a:bodyPr>
          <a:lstStyle/>
          <a:p>
            <a:pPr algn="l">
              <a:buNone/>
            </a:pPr>
            <a:r>
              <a:rPr lang="zh-CN" altLang="en-US" sz="27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学习型团队：让经验从个人脑子里搬到部门账上</a:t>
            </a:r>
          </a:p>
        </p:txBody>
      </p:sp>
      <p:sp>
        <p:nvSpPr>
          <p:cNvPr id="14" name="H2 14"/>
          <p:cNvSpPr/>
          <p:nvPr/>
        </p:nvSpPr>
        <p:spPr>
          <a:xfrm>
            <a:off x="1929384" y="1636776"/>
            <a:ext cx="10213848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9144" rIns="73152" bIns="9144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不靠自觉，靠三个不额外占时间的机制</a:t>
            </a:r>
          </a:p>
        </p:txBody>
      </p:sp>
      <p:sp>
        <p:nvSpPr>
          <p:cNvPr id="15" name="Shape 15"/>
          <p:cNvSpPr/>
          <p:nvPr/>
        </p:nvSpPr>
        <p:spPr>
          <a:xfrm>
            <a:off x="1929384" y="1993392"/>
            <a:ext cx="10213848" cy="103632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6" name="CardHead 16"/>
          <p:cNvSpPr/>
          <p:nvPr/>
        </p:nvSpPr>
        <p:spPr>
          <a:xfrm>
            <a:off x="1929384" y="1993392"/>
            <a:ext cx="10213848" cy="347472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机制一：周会最后 10 分钟——一人一案</a:t>
            </a:r>
          </a:p>
        </p:txBody>
      </p:sp>
      <p:sp>
        <p:nvSpPr>
          <p:cNvPr id="17" name="CardBody 17"/>
          <p:cNvSpPr/>
          <p:nvPr/>
        </p:nvSpPr>
        <p:spPr>
          <a:xfrm>
            <a:off x="2011680" y="2350008"/>
            <a:ext cx="10049256" cy="661416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102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轮流讲一件本周真实发生的事：赢的怎么赢的、丢的怎么丢的。规则是只讲事实和判断，不讲感想。一年下来就是五十个真实案例，比任何外部课程都值钱。</a:t>
            </a:r>
          </a:p>
        </p:txBody>
      </p:sp>
      <p:sp>
        <p:nvSpPr>
          <p:cNvPr id="18" name="Shape 18"/>
          <p:cNvSpPr/>
          <p:nvPr/>
        </p:nvSpPr>
        <p:spPr>
          <a:xfrm>
            <a:off x="1929384" y="3176016"/>
            <a:ext cx="10213848" cy="103632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9" name="CardHead 19"/>
          <p:cNvSpPr/>
          <p:nvPr/>
        </p:nvSpPr>
        <p:spPr>
          <a:xfrm>
            <a:off x="1929384" y="3176016"/>
            <a:ext cx="10213848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机制二：把重复的问题做成一页纸</a:t>
            </a:r>
          </a:p>
        </p:txBody>
      </p:sp>
      <p:sp>
        <p:nvSpPr>
          <p:cNvPr id="20" name="CardBody 20"/>
          <p:cNvSpPr/>
          <p:nvPr/>
        </p:nvSpPr>
        <p:spPr>
          <a:xfrm>
            <a:off x="2011680" y="3532632"/>
            <a:ext cx="10049256" cy="661416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102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同一个问题被问到第三次，就必须变成一份可复用的东西：常见工况选型对照表、四句高频异议应答、进口型号互换四要素检查表。谁整理谁署名，并计入带教与晋升。</a:t>
            </a:r>
          </a:p>
        </p:txBody>
      </p:sp>
      <p:sp>
        <p:nvSpPr>
          <p:cNvPr id="21" name="Shape 21"/>
          <p:cNvSpPr/>
          <p:nvPr/>
        </p:nvSpPr>
        <p:spPr>
          <a:xfrm>
            <a:off x="1929384" y="4358640"/>
            <a:ext cx="10213848" cy="103632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2" name="CardHead 22"/>
          <p:cNvSpPr/>
          <p:nvPr/>
        </p:nvSpPr>
        <p:spPr>
          <a:xfrm>
            <a:off x="1929384" y="4358640"/>
            <a:ext cx="10213848" cy="347472"/>
          </a:xfrm>
          <a:prstGeom prst="rect">
            <a:avLst/>
          </a:prstGeom>
          <a:solidFill>
            <a:srgbClr val="E55E24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机制三：赢单和丢单都要复盘，且丢单优先</a:t>
            </a:r>
          </a:p>
        </p:txBody>
      </p:sp>
      <p:sp>
        <p:nvSpPr>
          <p:cNvPr id="23" name="CardBody 23"/>
          <p:cNvSpPr/>
          <p:nvPr/>
        </p:nvSpPr>
        <p:spPr>
          <a:xfrm>
            <a:off x="2011680" y="4715256"/>
            <a:ext cx="10049256" cy="661416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102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赢单复盘只问一句：这一单可复制的是哪一步？丢单复盘问三句：卡在漏斗哪一环？决策链哪个人没见到？如果重来，最早可以在哪一步改变结果？丢单复盘不追责——一旦追责，下次就没有真话了。</a:t>
            </a:r>
          </a:p>
        </p:txBody>
      </p:sp>
      <p:sp>
        <p:nvSpPr>
          <p:cNvPr id="24" name="Shape 24"/>
          <p:cNvSpPr/>
          <p:nvPr/>
        </p:nvSpPr>
        <p:spPr>
          <a:xfrm>
            <a:off x="1929384" y="5504688"/>
            <a:ext cx="10213848" cy="1170432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67E2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5" name="CardHead 25"/>
          <p:cNvSpPr/>
          <p:nvPr/>
        </p:nvSpPr>
        <p:spPr>
          <a:xfrm>
            <a:off x="1929384" y="5504688"/>
            <a:ext cx="10213848" cy="3474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判断一个团队是不是在学习，只看一件事</a:t>
            </a:r>
          </a:p>
        </p:txBody>
      </p:sp>
      <p:sp>
        <p:nvSpPr>
          <p:cNvPr id="26" name="CardBody 26"/>
          <p:cNvSpPr/>
          <p:nvPr/>
        </p:nvSpPr>
        <p:spPr>
          <a:xfrm>
            <a:off x="2011680" y="5861304"/>
            <a:ext cx="10049256" cy="795528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zh-CN" altLang="en-US" sz="19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新人独立拿下第一单的时间，是不是在缩短。</a:t>
            </a:r>
          </a:p>
          <a:p>
            <a:pPr algn="l">
              <a:lnSpc>
                <a:spcPct val="108000"/>
              </a:lnSpc>
              <a:spcBef>
                <a:spcPts val="300"/>
              </a:spcBef>
              <a:buNone/>
            </a:pPr>
            <a:r>
              <a:rPr lang="zh-CN" altLang="en-US" sz="19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如果三年前是六个月，今天还是六个月，说明这三年的经验一次都没有沉淀下来。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 &amp; 开发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第一讲 · 理解价值</a:t>
            </a:r>
          </a:p>
        </p:txBody>
      </p:sp>
      <p:sp>
        <p:nvSpPr>
          <p:cNvPr id="5" name="Nav 5"/>
          <p:cNvSpPr/>
          <p:nvPr/>
        </p:nvSpPr>
        <p:spPr>
          <a:xfrm>
            <a:off x="3153148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第二讲 · 评估价值</a:t>
            </a:r>
          </a:p>
        </p:txBody>
      </p:sp>
      <p:sp>
        <p:nvSpPr>
          <p:cNvPr id="6" name="Nav 6"/>
          <p:cNvSpPr/>
          <p:nvPr/>
        </p:nvSpPr>
        <p:spPr>
          <a:xfrm>
            <a:off x="6159993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第三讲 · 开发价值</a:t>
            </a:r>
          </a:p>
        </p:txBody>
      </p:sp>
      <p:sp>
        <p:nvSpPr>
          <p:cNvPr id="7" name="Nav 7"/>
          <p:cNvSpPr/>
          <p:nvPr/>
        </p:nvSpPr>
        <p:spPr>
          <a:xfrm>
            <a:off x="9166837" y="658368"/>
            <a:ext cx="2878828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第四讲 · 落地价值</a:t>
            </a:r>
          </a:p>
        </p:txBody>
      </p:sp>
      <p:cxnSp>
        <p:nvCxnSpPr>
          <p:cNvPr id="8" name="Connector 8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9" name="Connector 9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10" name="Side 10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IDP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个人发展计划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GROW 辅导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与反馈</a:t>
            </a:r>
          </a:p>
        </p:txBody>
      </p:sp>
      <p:sp>
        <p:nvSpPr>
          <p:cNvPr id="12" name="Side 12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学习型团队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持续改进</a:t>
            </a:r>
          </a:p>
        </p:txBody>
      </p:sp>
      <p:sp>
        <p:nvSpPr>
          <p:cNvPr id="13" name="H1 13"/>
          <p:cNvSpPr/>
          <p:nvPr/>
        </p:nvSpPr>
        <p:spPr>
          <a:xfrm>
            <a:off x="1929384" y="1161288"/>
            <a:ext cx="10213848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9144" rIns="73152" bIns="9144" rtlCol="0" anchor="ctr">
            <a:noAutofit/>
          </a:bodyPr>
          <a:lstStyle/>
          <a:p>
            <a:pPr algn="l">
              <a:buNone/>
            </a:pPr>
            <a:r>
              <a:rPr lang="zh-CN" altLang="en-US" sz="27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价值开发的持续改进：三个月看一次，看变化不看态度</a:t>
            </a:r>
          </a:p>
        </p:txBody>
      </p:sp>
      <p:sp>
        <p:nvSpPr>
          <p:cNvPr id="14" name="H2 14"/>
          <p:cNvSpPr/>
          <p:nvPr/>
        </p:nvSpPr>
        <p:spPr>
          <a:xfrm>
            <a:off x="1929384" y="1636776"/>
            <a:ext cx="10213848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9144" rIns="73152" bIns="9144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回顾会只需要四个问题，二十分钟</a:t>
            </a:r>
          </a:p>
        </p:txBody>
      </p:sp>
      <p:sp>
        <p:nvSpPr>
          <p:cNvPr id="15" name="Shape 15"/>
          <p:cNvSpPr/>
          <p:nvPr/>
        </p:nvSpPr>
        <p:spPr>
          <a:xfrm>
            <a:off x="1929384" y="1993392"/>
            <a:ext cx="4988052" cy="248716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6" name="CardHead 16"/>
          <p:cNvSpPr/>
          <p:nvPr/>
        </p:nvSpPr>
        <p:spPr>
          <a:xfrm>
            <a:off x="1929384" y="1993392"/>
            <a:ext cx="4988052" cy="347472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季度回顾的四个问题</a:t>
            </a:r>
          </a:p>
        </p:txBody>
      </p:sp>
      <p:sp>
        <p:nvSpPr>
          <p:cNvPr id="17" name="CardBody 17"/>
          <p:cNvSpPr/>
          <p:nvPr/>
        </p:nvSpPr>
        <p:spPr>
          <a:xfrm>
            <a:off x="2011680" y="2350008"/>
            <a:ext cx="4823460" cy="2112264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84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IDP 里的三件事，做完了哪几件？没做的，卡在哪（不是「为什么没做」，是「卡在哪」）？</a:t>
            </a:r>
          </a:p>
          <a:p>
            <a:pPr algn="l">
              <a:lnSpc>
                <a:spcPct val="84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有没有可观察的行为变化？举一个例子——说不出例子就等于没变化。</a:t>
            </a:r>
          </a:p>
          <a:p>
            <a:pPr algn="l">
              <a:lnSpc>
                <a:spcPct val="84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九宫格位置有没有移动？往哪个方向？</a:t>
            </a:r>
          </a:p>
          <a:p>
            <a:pPr algn="l">
              <a:lnSpc>
                <a:spcPct val="84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下一个季度换哪一个差距？（一次只攻一个）</a:t>
            </a:r>
          </a:p>
        </p:txBody>
      </p:sp>
      <p:sp>
        <p:nvSpPr>
          <p:cNvPr id="18" name="Shape 18"/>
          <p:cNvSpPr/>
          <p:nvPr/>
        </p:nvSpPr>
        <p:spPr>
          <a:xfrm>
            <a:off x="7155180" y="1993392"/>
            <a:ext cx="4988052" cy="248716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9" name="CardHead 19"/>
          <p:cNvSpPr/>
          <p:nvPr/>
        </p:nvSpPr>
        <p:spPr>
          <a:xfrm>
            <a:off x="7155180" y="1993392"/>
            <a:ext cx="4988052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什么时候该调整开发策略</a:t>
            </a:r>
          </a:p>
        </p:txBody>
      </p:sp>
      <p:sp>
        <p:nvSpPr>
          <p:cNvPr id="20" name="CardBody 20"/>
          <p:cNvSpPr/>
          <p:nvPr/>
        </p:nvSpPr>
        <p:spPr>
          <a:xfrm>
            <a:off x="7237476" y="2350008"/>
            <a:ext cx="4823460" cy="2112264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92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业务方向变了：公司主推的行业或品类变了，能力要求跟着变——例如从卖标准气缸转向整包执行单元，需要的是方案能力而不是报价速度；</a:t>
            </a:r>
          </a:p>
          <a:p>
            <a:pPr algn="l">
              <a:lnSpc>
                <a:spcPct val="92000"/>
              </a:lnSpc>
              <a:spcBef>
                <a:spcPts val="300"/>
              </a:spcBef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人的位置变了：晋升、轮岗、换行业之后，原来的 IDP 立即作废，重写；</a:t>
            </a:r>
          </a:p>
          <a:p>
            <a:pPr algn="l">
              <a:lnSpc>
                <a:spcPct val="92000"/>
              </a:lnSpc>
              <a:spcBef>
                <a:spcPts val="300"/>
              </a:spcBef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三个月毫无变化：不是加码，是先查诊断——很可能一开始就把「不敢」误判成了「不想」。</a:t>
            </a:r>
          </a:p>
        </p:txBody>
      </p:sp>
      <p:sp>
        <p:nvSpPr>
          <p:cNvPr id="21" name="Shape 21"/>
          <p:cNvSpPr/>
          <p:nvPr/>
        </p:nvSpPr>
        <p:spPr>
          <a:xfrm>
            <a:off x="1929384" y="4700016"/>
            <a:ext cx="10213848" cy="1225296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67E2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2" name="CardHead 22"/>
          <p:cNvSpPr/>
          <p:nvPr/>
        </p:nvSpPr>
        <p:spPr>
          <a:xfrm>
            <a:off x="1929384" y="4700016"/>
            <a:ext cx="10213848" cy="3474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一个衡量整体成效的口径（营业部级）</a:t>
            </a:r>
          </a:p>
        </p:txBody>
      </p:sp>
      <p:sp>
        <p:nvSpPr>
          <p:cNvPr id="23" name="CardBody 23"/>
          <p:cNvSpPr/>
          <p:nvPr/>
        </p:nvSpPr>
        <p:spPr>
          <a:xfrm>
            <a:off x="2011680" y="5056632"/>
            <a:ext cx="10049256" cy="850392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84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不要用「培训场次」「学时」这类投入指标。用三个产出指标：新人独立首单的平均天数、团队里能独立做替代导入的人数、客户档案完整率（三类关键人齐全的客户占比）。</a:t>
            </a:r>
          </a:p>
          <a:p>
            <a:pPr algn="l">
              <a:lnSpc>
                <a:spcPct val="84000"/>
              </a:lnSpc>
              <a:spcBef>
                <a:spcPts val="300"/>
              </a:spcBef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这三个数每季度看一次，三个季度就能看出这套东西有没有真的在起作用。</a:t>
            </a:r>
          </a:p>
        </p:txBody>
      </p:sp>
      <p:sp>
        <p:nvSpPr>
          <p:cNvPr id="24" name="Shape 24"/>
          <p:cNvSpPr/>
          <p:nvPr/>
        </p:nvSpPr>
        <p:spPr>
          <a:xfrm>
            <a:off x="1929384" y="6053328"/>
            <a:ext cx="10213848" cy="566928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5" name="Banner 25"/>
          <p:cNvSpPr/>
          <p:nvPr/>
        </p:nvSpPr>
        <p:spPr>
          <a:xfrm>
            <a:off x="2075688" y="6053328"/>
            <a:ext cx="9921240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buNone/>
            </a:pPr>
            <a:r>
              <a:rPr lang="zh-CN" altLang="en-US" sz="23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一句话　</a:t>
            </a:r>
            <a:r>
              <a:rPr lang="zh-CN" altLang="en-US" sz="23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没有回顾日期的开发计划，等于没有开发计划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 &amp; 开发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第一讲 · 理解价值</a:t>
            </a:r>
          </a:p>
        </p:txBody>
      </p:sp>
      <p:sp>
        <p:nvSpPr>
          <p:cNvPr id="5" name="Nav 5"/>
          <p:cNvSpPr/>
          <p:nvPr/>
        </p:nvSpPr>
        <p:spPr>
          <a:xfrm>
            <a:off x="3153148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第二讲 · 评估价值</a:t>
            </a:r>
          </a:p>
        </p:txBody>
      </p:sp>
      <p:sp>
        <p:nvSpPr>
          <p:cNvPr id="6" name="Nav 6"/>
          <p:cNvSpPr/>
          <p:nvPr/>
        </p:nvSpPr>
        <p:spPr>
          <a:xfrm>
            <a:off x="6159993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第三讲 · 开发价值</a:t>
            </a:r>
          </a:p>
        </p:txBody>
      </p:sp>
      <p:sp>
        <p:nvSpPr>
          <p:cNvPr id="7" name="Nav 7"/>
          <p:cNvSpPr/>
          <p:nvPr/>
        </p:nvSpPr>
        <p:spPr>
          <a:xfrm>
            <a:off x="9166837" y="658368"/>
            <a:ext cx="2878828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第四讲 · 落地价值</a:t>
            </a:r>
          </a:p>
        </p:txBody>
      </p:sp>
      <p:cxnSp>
        <p:nvCxnSpPr>
          <p:cNvPr id="8" name="Connector 8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9" name="Connector 9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10" name="Side 10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IDP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个人发展计划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GROW 辅导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与反馈</a:t>
            </a:r>
          </a:p>
        </p:txBody>
      </p:sp>
      <p:sp>
        <p:nvSpPr>
          <p:cNvPr id="12" name="Side 12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学习型团队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持续改进</a:t>
            </a:r>
          </a:p>
        </p:txBody>
      </p:sp>
      <p:sp>
        <p:nvSpPr>
          <p:cNvPr id="13" name="H1 13"/>
          <p:cNvSpPr/>
          <p:nvPr/>
        </p:nvSpPr>
        <p:spPr>
          <a:xfrm>
            <a:off x="1929384" y="1161288"/>
            <a:ext cx="10213848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9144" rIns="73152" bIns="9144" rtlCol="0" anchor="ctr">
            <a:noAutofit/>
          </a:bodyPr>
          <a:lstStyle/>
          <a:p>
            <a:pPr algn="l">
              <a:buNone/>
            </a:pPr>
            <a:r>
              <a:rPr lang="zh-CN" altLang="en-US" sz="27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第四讲小结：让改变留下来，靠的是「有人会问」</a:t>
            </a:r>
          </a:p>
        </p:txBody>
      </p:sp>
      <p:sp>
        <p:nvSpPr>
          <p:cNvPr id="14" name="H2 14"/>
          <p:cNvSpPr/>
          <p:nvPr/>
        </p:nvSpPr>
        <p:spPr>
          <a:xfrm>
            <a:off x="1929384" y="1636776"/>
            <a:ext cx="10213848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9144" rIns="73152" bIns="9144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三件事，都已经写好了时间</a:t>
            </a:r>
          </a:p>
        </p:txBody>
      </p:sp>
      <p:sp>
        <p:nvSpPr>
          <p:cNvPr id="15" name="Shape 15"/>
          <p:cNvSpPr/>
          <p:nvPr/>
        </p:nvSpPr>
        <p:spPr>
          <a:xfrm>
            <a:off x="1929384" y="1993392"/>
            <a:ext cx="4988052" cy="170992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6" name="CardHead 16"/>
          <p:cNvSpPr/>
          <p:nvPr/>
        </p:nvSpPr>
        <p:spPr>
          <a:xfrm>
            <a:off x="1929384" y="1993392"/>
            <a:ext cx="4988052" cy="347472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IDP</a:t>
            </a:r>
          </a:p>
        </p:txBody>
      </p:sp>
      <p:sp>
        <p:nvSpPr>
          <p:cNvPr id="17" name="CardBody 17"/>
          <p:cNvSpPr/>
          <p:nvPr/>
        </p:nvSpPr>
        <p:spPr>
          <a:xfrm>
            <a:off x="2011680" y="2350008"/>
            <a:ext cx="4823460" cy="1335024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132000"/>
              </a:lnSpc>
              <a:buNone/>
            </a:pPr>
            <a:r>
              <a:rPr lang="zh-CN" altLang="en-US" sz="18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三件事、有交付物、第一个动作在两周内、主管签字、每月回顾 20 分钟。</a:t>
            </a:r>
            <a:br>
              <a:rPr lang="zh-CN" altLang="en-US" sz="18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8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带走：一周内发给主管，拿到一句「同意」。</a:t>
            </a:r>
          </a:p>
        </p:txBody>
      </p:sp>
      <p:sp>
        <p:nvSpPr>
          <p:cNvPr id="18" name="Shape 18"/>
          <p:cNvSpPr/>
          <p:nvPr/>
        </p:nvSpPr>
        <p:spPr>
          <a:xfrm>
            <a:off x="7155180" y="1993392"/>
            <a:ext cx="4988052" cy="170992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9" name="CardHead 19"/>
          <p:cNvSpPr/>
          <p:nvPr/>
        </p:nvSpPr>
        <p:spPr>
          <a:xfrm>
            <a:off x="7155180" y="1993392"/>
            <a:ext cx="4988052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GROW</a:t>
            </a:r>
          </a:p>
        </p:txBody>
      </p:sp>
      <p:sp>
        <p:nvSpPr>
          <p:cNvPr id="20" name="CardBody 20"/>
          <p:cNvSpPr/>
          <p:nvPr/>
        </p:nvSpPr>
        <p:spPr>
          <a:xfrm>
            <a:off x="7237476" y="2350008"/>
            <a:ext cx="4823460" cy="1335024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106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Goal 收窄 → Reality 只问事实 → Options 逼出三个 → Will 落到日期。</a:t>
            </a:r>
            <a:b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带走：下周对一位下属用一次，全程不给答案。</a:t>
            </a:r>
          </a:p>
        </p:txBody>
      </p:sp>
      <p:sp>
        <p:nvSpPr>
          <p:cNvPr id="21" name="Shape 21"/>
          <p:cNvSpPr/>
          <p:nvPr/>
        </p:nvSpPr>
        <p:spPr>
          <a:xfrm>
            <a:off x="1929384" y="3867912"/>
            <a:ext cx="4988052" cy="170992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2" name="CardHead 22"/>
          <p:cNvSpPr/>
          <p:nvPr/>
        </p:nvSpPr>
        <p:spPr>
          <a:xfrm>
            <a:off x="1929384" y="3867912"/>
            <a:ext cx="4988052" cy="347472"/>
          </a:xfrm>
          <a:prstGeom prst="rect">
            <a:avLst/>
          </a:prstGeom>
          <a:solidFill>
            <a:srgbClr val="E55E24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沉淀</a:t>
            </a:r>
          </a:p>
        </p:txBody>
      </p:sp>
      <p:sp>
        <p:nvSpPr>
          <p:cNvPr id="23" name="CardBody 23"/>
          <p:cNvSpPr/>
          <p:nvPr/>
        </p:nvSpPr>
        <p:spPr>
          <a:xfrm>
            <a:off x="2011680" y="4224528"/>
            <a:ext cx="4823460" cy="1335024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132000"/>
              </a:lnSpc>
              <a:buNone/>
            </a:pPr>
            <a:r>
              <a:rPr lang="zh-CN" altLang="en-US" sz="18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周会一人一案、重复问题做成一页纸、丢单复盘不追责。</a:t>
            </a:r>
            <a:br>
              <a:rPr lang="zh-CN" altLang="en-US" sz="18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8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带走：本月定下第一个「一页纸」由谁来写。</a:t>
            </a:r>
          </a:p>
        </p:txBody>
      </p:sp>
      <p:sp>
        <p:nvSpPr>
          <p:cNvPr id="24" name="Shape 24"/>
          <p:cNvSpPr/>
          <p:nvPr/>
        </p:nvSpPr>
        <p:spPr>
          <a:xfrm>
            <a:off x="7155180" y="3867912"/>
            <a:ext cx="4988052" cy="170992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6A4C9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5" name="CardHead 25"/>
          <p:cNvSpPr/>
          <p:nvPr/>
        </p:nvSpPr>
        <p:spPr>
          <a:xfrm>
            <a:off x="7155180" y="3867912"/>
            <a:ext cx="4988052" cy="347472"/>
          </a:xfrm>
          <a:prstGeom prst="rect">
            <a:avLst/>
          </a:prstGeom>
          <a:solidFill>
            <a:srgbClr val="6A4C93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回顾</a:t>
            </a:r>
          </a:p>
        </p:txBody>
      </p:sp>
      <p:sp>
        <p:nvSpPr>
          <p:cNvPr id="26" name="CardBody 26"/>
          <p:cNvSpPr/>
          <p:nvPr/>
        </p:nvSpPr>
        <p:spPr>
          <a:xfrm>
            <a:off x="7237476" y="4224528"/>
            <a:ext cx="4823460" cy="1335024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130000"/>
              </a:lnSpc>
              <a:buNone/>
            </a:pPr>
            <a:r>
              <a:rPr lang="zh-CN" altLang="en-US" sz="19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三个月一次，四个问题，看变化不看态度。</a:t>
            </a:r>
            <a:br>
              <a:rPr lang="zh-CN" altLang="en-US" sz="19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95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带走：现在就把三个月后的回顾时间放进日历。</a:t>
            </a:r>
          </a:p>
        </p:txBody>
      </p:sp>
      <p:sp>
        <p:nvSpPr>
          <p:cNvPr id="27" name="Shape 27"/>
          <p:cNvSpPr/>
          <p:nvPr/>
        </p:nvSpPr>
        <p:spPr>
          <a:xfrm>
            <a:off x="1929384" y="5724144"/>
            <a:ext cx="10213848" cy="566928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8" name="Banner 28"/>
          <p:cNvSpPr/>
          <p:nvPr/>
        </p:nvSpPr>
        <p:spPr>
          <a:xfrm>
            <a:off x="2075688" y="5724144"/>
            <a:ext cx="9921240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buNone/>
            </a:pPr>
            <a:r>
              <a:rPr lang="zh-CN" altLang="en-US" sz="185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全课收尾预告　</a:t>
            </a:r>
            <a:r>
              <a:rPr lang="zh-CN" altLang="en-US" sz="18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接下来是工具包总览、九十天行动清单，最后一个综合情境交给你们自己分析</a:t>
            </a:r>
          </a:p>
        </p:txBody>
      </p:sp>
      <p:sp>
        <p:nvSpPr>
          <p:cNvPr id="29" name="Note 29"/>
          <p:cNvSpPr/>
          <p:nvPr/>
        </p:nvSpPr>
        <p:spPr>
          <a:xfrm>
            <a:off x="1929384" y="6309360"/>
            <a:ext cx="10213848" cy="384048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ctr">
            <a:noAutofit/>
          </a:bodyPr>
          <a:lstStyle/>
          <a:p>
            <a:pPr algn="ctr">
              <a:buNone/>
            </a:pPr>
            <a:r>
              <a:rPr lang="zh-CN" altLang="en-US" sz="205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请把你今天写下的所有动作汇总到一张纸上——下一页我们统一编号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 &amp; 开发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第一讲 · 理解价值</a:t>
            </a:r>
          </a:p>
        </p:txBody>
      </p:sp>
      <p:sp>
        <p:nvSpPr>
          <p:cNvPr id="5" name="Nav 5"/>
          <p:cNvSpPr/>
          <p:nvPr/>
        </p:nvSpPr>
        <p:spPr>
          <a:xfrm>
            <a:off x="3153148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第二讲 · 评估价值</a:t>
            </a:r>
          </a:p>
        </p:txBody>
      </p:sp>
      <p:sp>
        <p:nvSpPr>
          <p:cNvPr id="6" name="Nav 6"/>
          <p:cNvSpPr/>
          <p:nvPr/>
        </p:nvSpPr>
        <p:spPr>
          <a:xfrm>
            <a:off x="6159993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第三讲 · 开发价值</a:t>
            </a:r>
          </a:p>
        </p:txBody>
      </p:sp>
      <p:sp>
        <p:nvSpPr>
          <p:cNvPr id="7" name="Nav 7"/>
          <p:cNvSpPr/>
          <p:nvPr/>
        </p:nvSpPr>
        <p:spPr>
          <a:xfrm>
            <a:off x="9166837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第四讲 · 落地价值</a:t>
            </a:r>
          </a:p>
        </p:txBody>
      </p:sp>
      <p:cxnSp>
        <p:nvCxnSpPr>
          <p:cNvPr id="8" name="Connector 8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9" name="Connector 9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10" name="Side 10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全天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工具包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十件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带得走</a:t>
            </a:r>
          </a:p>
        </p:txBody>
      </p:sp>
      <p:sp>
        <p:nvSpPr>
          <p:cNvPr id="12" name="Side 12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照着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就能用</a:t>
            </a:r>
          </a:p>
        </p:txBody>
      </p:sp>
      <p:sp>
        <p:nvSpPr>
          <p:cNvPr id="13" name="H1 13"/>
          <p:cNvSpPr/>
          <p:nvPr/>
        </p:nvSpPr>
        <p:spPr>
          <a:xfrm>
            <a:off x="1929384" y="1161288"/>
            <a:ext cx="10213848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9144" rIns="73152" bIns="9144" rtlCol="0" anchor="ctr">
            <a:noAutofit/>
          </a:bodyPr>
          <a:lstStyle/>
          <a:p>
            <a:pPr algn="l">
              <a:buNone/>
            </a:pPr>
            <a:r>
              <a:rPr lang="zh-CN" altLang="en-US" sz="27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全天工具包：十件带得走的东西</a:t>
            </a:r>
          </a:p>
        </p:txBody>
      </p:sp>
      <p:sp>
        <p:nvSpPr>
          <p:cNvPr id="14" name="H2 14"/>
          <p:cNvSpPr/>
          <p:nvPr/>
        </p:nvSpPr>
        <p:spPr>
          <a:xfrm>
            <a:off x="1929384" y="1636776"/>
            <a:ext cx="10213848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9144" rIns="73152" bIns="9144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每一件后面都写着它解决哪个问题</a:t>
            </a:r>
          </a:p>
        </p:txBody>
      </p:sp>
      <p:sp>
        <p:nvSpPr>
          <p:cNvPr id="15" name="Shape 15"/>
          <p:cNvSpPr/>
          <p:nvPr/>
        </p:nvSpPr>
        <p:spPr>
          <a:xfrm>
            <a:off x="1929384" y="1993392"/>
            <a:ext cx="4988052" cy="702259"/>
          </a:xfrm>
          <a:prstGeom prst="roundRect">
            <a:avLst>
              <a:gd name="adj" fmla="val 8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6" name="TKN 16"/>
          <p:cNvSpPr/>
          <p:nvPr/>
        </p:nvSpPr>
        <p:spPr>
          <a:xfrm>
            <a:off x="2039112" y="1993392"/>
            <a:ext cx="1572768" cy="702259"/>
          </a:xfrm>
          <a:prstGeom prst="rect">
            <a:avLst/>
          </a:prstGeom>
          <a:noFill/>
          <a:ln>
            <a:noFill/>
          </a:ln>
        </p:spPr>
        <p:txBody>
          <a:bodyPr wrap="square" lIns="36576" tIns="45720" rIns="36576" bIns="45720" rtlCol="0" anchor="ctr">
            <a:noAutofit/>
          </a:bodyPr>
          <a:lstStyle/>
          <a:p>
            <a:pPr algn="l">
              <a:lnSpc>
                <a:spcPct val="98000"/>
              </a:lnSpc>
              <a:buNone/>
            </a:pPr>
            <a:r>
              <a:rPr lang="zh-CN" altLang="en-US" sz="1800" b="1" dirty="0">
                <a:solidFill>
                  <a:srgbClr val="2C6B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客户价值算账卡</a:t>
            </a:r>
          </a:p>
        </p:txBody>
      </p:sp>
      <p:sp>
        <p:nvSpPr>
          <p:cNvPr id="17" name="TKD 17"/>
          <p:cNvSpPr/>
          <p:nvPr/>
        </p:nvSpPr>
        <p:spPr>
          <a:xfrm>
            <a:off x="3648456" y="1993392"/>
            <a:ext cx="3159252" cy="702259"/>
          </a:xfrm>
          <a:prstGeom prst="rect">
            <a:avLst/>
          </a:prstGeom>
          <a:noFill/>
          <a:ln>
            <a:noFill/>
          </a:ln>
        </p:spPr>
        <p:txBody>
          <a:bodyPr wrap="square" lIns="36576" tIns="45720" rIns="54864" bIns="45720" rtlCol="0" anchor="ctr">
            <a:noAutofit/>
          </a:bodyPr>
          <a:lstStyle/>
          <a:p>
            <a:pPr algn="l">
              <a:lnSpc>
                <a:spcPct val="98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四个问题＋四个锚点，把价格谈判掰成价值谈判</a:t>
            </a:r>
          </a:p>
        </p:txBody>
      </p:sp>
      <p:sp>
        <p:nvSpPr>
          <p:cNvPr id="18" name="Shape 18"/>
          <p:cNvSpPr/>
          <p:nvPr/>
        </p:nvSpPr>
        <p:spPr>
          <a:xfrm>
            <a:off x="7155180" y="1993392"/>
            <a:ext cx="4988052" cy="702259"/>
          </a:xfrm>
          <a:prstGeom prst="roundRect">
            <a:avLst>
              <a:gd name="adj" fmla="val 8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9" name="TKN 19"/>
          <p:cNvSpPr/>
          <p:nvPr/>
        </p:nvSpPr>
        <p:spPr>
          <a:xfrm>
            <a:off x="7264908" y="1993392"/>
            <a:ext cx="1572768" cy="702259"/>
          </a:xfrm>
          <a:prstGeom prst="rect">
            <a:avLst/>
          </a:prstGeom>
          <a:noFill/>
          <a:ln>
            <a:noFill/>
          </a:ln>
        </p:spPr>
        <p:txBody>
          <a:bodyPr wrap="square" lIns="36576" tIns="45720" rIns="36576" bIns="45720" rtlCol="0" anchor="ctr">
            <a:noAutofit/>
          </a:bodyPr>
          <a:lstStyle/>
          <a:p>
            <a:pPr algn="l">
              <a:buNone/>
            </a:pPr>
            <a:r>
              <a:rPr lang="zh-CN" altLang="en-US" sz="2100" b="1" dirty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价值台账</a:t>
            </a:r>
          </a:p>
        </p:txBody>
      </p:sp>
      <p:sp>
        <p:nvSpPr>
          <p:cNvPr id="20" name="TKD 20"/>
          <p:cNvSpPr/>
          <p:nvPr/>
        </p:nvSpPr>
        <p:spPr>
          <a:xfrm>
            <a:off x="8874252" y="1993392"/>
            <a:ext cx="3159252" cy="702259"/>
          </a:xfrm>
          <a:prstGeom prst="rect">
            <a:avLst/>
          </a:prstGeom>
          <a:noFill/>
          <a:ln>
            <a:noFill/>
          </a:ln>
        </p:spPr>
        <p:txBody>
          <a:bodyPr wrap="square" lIns="36576" tIns="45720" rIns="54864" bIns="45720" rtlCol="0" anchor="ctr">
            <a:noAutofit/>
          </a:bodyPr>
          <a:lstStyle/>
          <a:p>
            <a:pPr algn="l">
              <a:lnSpc>
                <a:spcPct val="98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每月三行，让非量化的贡献留下痕迹</a:t>
            </a:r>
          </a:p>
        </p:txBody>
      </p:sp>
      <p:sp>
        <p:nvSpPr>
          <p:cNvPr id="21" name="Shape 21"/>
          <p:cNvSpPr/>
          <p:nvPr/>
        </p:nvSpPr>
        <p:spPr>
          <a:xfrm>
            <a:off x="1929384" y="2805379"/>
            <a:ext cx="4988052" cy="702259"/>
          </a:xfrm>
          <a:prstGeom prst="roundRect">
            <a:avLst>
              <a:gd name="adj" fmla="val 8000"/>
            </a:avLst>
          </a:prstGeom>
          <a:solidFill>
            <a:srgbClr val="FFF7E8"/>
          </a:solidFill>
          <a:ln w="15875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2" name="TKN 22"/>
          <p:cNvSpPr/>
          <p:nvPr/>
        </p:nvSpPr>
        <p:spPr>
          <a:xfrm>
            <a:off x="2039112" y="2805379"/>
            <a:ext cx="1572768" cy="702259"/>
          </a:xfrm>
          <a:prstGeom prst="rect">
            <a:avLst/>
          </a:prstGeom>
          <a:noFill/>
          <a:ln>
            <a:noFill/>
          </a:ln>
        </p:spPr>
        <p:txBody>
          <a:bodyPr wrap="square" lIns="36576" tIns="45720" rIns="36576" bIns="45720" rtlCol="0" anchor="ctr">
            <a:noAutofit/>
          </a:bodyPr>
          <a:lstStyle/>
          <a:p>
            <a:pPr algn="l">
              <a:lnSpc>
                <a:spcPct val="98000"/>
              </a:lnSpc>
              <a:buNone/>
            </a:pPr>
            <a:r>
              <a:rPr lang="zh-CN" altLang="en-US" sz="1800" b="1" dirty="0">
                <a:solidFill>
                  <a:srgbClr val="E55E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六项胜任力自评表</a:t>
            </a:r>
          </a:p>
        </p:txBody>
      </p:sp>
      <p:sp>
        <p:nvSpPr>
          <p:cNvPr id="23" name="TKD 23"/>
          <p:cNvSpPr/>
          <p:nvPr/>
        </p:nvSpPr>
        <p:spPr>
          <a:xfrm>
            <a:off x="3648456" y="2805379"/>
            <a:ext cx="3159252" cy="702259"/>
          </a:xfrm>
          <a:prstGeom prst="rect">
            <a:avLst/>
          </a:prstGeom>
          <a:noFill/>
          <a:ln>
            <a:noFill/>
          </a:ln>
        </p:spPr>
        <p:txBody>
          <a:bodyPr wrap="square" lIns="36576" tIns="45720" rIns="54864" bIns="45720" rtlCol="0" anchor="ctr">
            <a:noAutofit/>
          </a:bodyPr>
          <a:lstStyle/>
          <a:p>
            <a:pPr algn="l">
              <a:lnSpc>
                <a:spcPct val="98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自评＋主管评，差距最大的一项就是本季主题</a:t>
            </a:r>
          </a:p>
        </p:txBody>
      </p:sp>
      <p:sp>
        <p:nvSpPr>
          <p:cNvPr id="24" name="Shape 24"/>
          <p:cNvSpPr/>
          <p:nvPr/>
        </p:nvSpPr>
        <p:spPr>
          <a:xfrm>
            <a:off x="7155180" y="2805379"/>
            <a:ext cx="4988052" cy="702259"/>
          </a:xfrm>
          <a:prstGeom prst="roundRect">
            <a:avLst>
              <a:gd name="adj" fmla="val 8000"/>
            </a:avLst>
          </a:prstGeom>
          <a:solidFill>
            <a:srgbClr val="FFF7E8"/>
          </a:solidFill>
          <a:ln w="15875" cap="flat" cmpd="sng" algn="ctr">
            <a:solidFill>
              <a:srgbClr val="6A4C9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5" name="TKN 25"/>
          <p:cNvSpPr/>
          <p:nvPr/>
        </p:nvSpPr>
        <p:spPr>
          <a:xfrm>
            <a:off x="7264908" y="2805379"/>
            <a:ext cx="1572768" cy="702259"/>
          </a:xfrm>
          <a:prstGeom prst="rect">
            <a:avLst/>
          </a:prstGeom>
          <a:noFill/>
          <a:ln>
            <a:noFill/>
          </a:ln>
        </p:spPr>
        <p:txBody>
          <a:bodyPr wrap="square" lIns="36576" tIns="45720" rIns="36576" bIns="45720" rtlCol="0" anchor="ctr">
            <a:noAutofit/>
          </a:bodyPr>
          <a:lstStyle/>
          <a:p>
            <a:pPr algn="l">
              <a:lnSpc>
                <a:spcPct val="98000"/>
              </a:lnSpc>
              <a:buNone/>
            </a:pPr>
            <a:r>
              <a:rPr lang="zh-CN" altLang="en-US" sz="1800" b="1" dirty="0">
                <a:solidFill>
                  <a:srgbClr val="6A4C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提成四开关自查</a:t>
            </a:r>
          </a:p>
        </p:txBody>
      </p:sp>
      <p:sp>
        <p:nvSpPr>
          <p:cNvPr id="26" name="TKD 26"/>
          <p:cNvSpPr/>
          <p:nvPr/>
        </p:nvSpPr>
        <p:spPr>
          <a:xfrm>
            <a:off x="8874252" y="2805379"/>
            <a:ext cx="3159252" cy="702259"/>
          </a:xfrm>
          <a:prstGeom prst="rect">
            <a:avLst/>
          </a:prstGeom>
          <a:noFill/>
          <a:ln>
            <a:noFill/>
          </a:ln>
        </p:spPr>
        <p:txBody>
          <a:bodyPr wrap="square" lIns="36576" tIns="45720" rIns="54864" bIns="45720" rtlCol="0" anchor="ctr">
            <a:noAutofit/>
          </a:bodyPr>
          <a:lstStyle/>
          <a:p>
            <a:pPr algn="l">
              <a:lnSpc>
                <a:spcPct val="98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回款/毛利/新客/结构，看清规则在鼓励什么</a:t>
            </a:r>
          </a:p>
        </p:txBody>
      </p:sp>
      <p:sp>
        <p:nvSpPr>
          <p:cNvPr id="27" name="Shape 27"/>
          <p:cNvSpPr/>
          <p:nvPr/>
        </p:nvSpPr>
        <p:spPr>
          <a:xfrm>
            <a:off x="1929384" y="3617366"/>
            <a:ext cx="4988052" cy="702259"/>
          </a:xfrm>
          <a:prstGeom prst="roundRect">
            <a:avLst>
              <a:gd name="adj" fmla="val 8000"/>
            </a:avLst>
          </a:prstGeom>
          <a:solidFill>
            <a:srgbClr val="FFF7E8"/>
          </a:solidFill>
          <a:ln w="15875" cap="flat" cmpd="sng" algn="ctr">
            <a:solidFill>
              <a:srgbClr val="11828C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8" name="TKN 28"/>
          <p:cNvSpPr/>
          <p:nvPr/>
        </p:nvSpPr>
        <p:spPr>
          <a:xfrm>
            <a:off x="2039112" y="3617366"/>
            <a:ext cx="1572768" cy="702259"/>
          </a:xfrm>
          <a:prstGeom prst="rect">
            <a:avLst/>
          </a:prstGeom>
          <a:noFill/>
          <a:ln>
            <a:noFill/>
          </a:ln>
        </p:spPr>
        <p:txBody>
          <a:bodyPr wrap="square" lIns="36576" tIns="45720" rIns="36576" bIns="45720" rtlCol="0" anchor="ctr">
            <a:noAutofit/>
          </a:bodyPr>
          <a:lstStyle/>
          <a:p>
            <a:pPr algn="l">
              <a:buNone/>
            </a:pPr>
            <a:r>
              <a:rPr lang="zh-CN" altLang="en-US" sz="1950" b="1" dirty="0">
                <a:solidFill>
                  <a:srgbClr val="1182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可查目标模板</a:t>
            </a:r>
          </a:p>
        </p:txBody>
      </p:sp>
      <p:sp>
        <p:nvSpPr>
          <p:cNvPr id="29" name="TKD 29"/>
          <p:cNvSpPr/>
          <p:nvPr/>
        </p:nvSpPr>
        <p:spPr>
          <a:xfrm>
            <a:off x="3648456" y="3617366"/>
            <a:ext cx="3159252" cy="702259"/>
          </a:xfrm>
          <a:prstGeom prst="rect">
            <a:avLst/>
          </a:prstGeom>
          <a:noFill/>
          <a:ln>
            <a:noFill/>
          </a:ln>
        </p:spPr>
        <p:txBody>
          <a:bodyPr wrap="square" lIns="36576" tIns="45720" rIns="54864" bIns="45720" rtlCol="0" anchor="ctr">
            <a:noAutofit/>
          </a:bodyPr>
          <a:lstStyle/>
          <a:p>
            <a:pPr algn="l">
              <a:lnSpc>
                <a:spcPct val="98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基线＋目标值＋期限＋过程指标＋中间节点</a:t>
            </a:r>
          </a:p>
        </p:txBody>
      </p:sp>
      <p:sp>
        <p:nvSpPr>
          <p:cNvPr id="30" name="Shape 30"/>
          <p:cNvSpPr/>
          <p:nvPr/>
        </p:nvSpPr>
        <p:spPr>
          <a:xfrm>
            <a:off x="7155180" y="3617366"/>
            <a:ext cx="4988052" cy="702259"/>
          </a:xfrm>
          <a:prstGeom prst="roundRect">
            <a:avLst>
              <a:gd name="adj" fmla="val 8000"/>
            </a:avLst>
          </a:prstGeom>
          <a:solidFill>
            <a:srgbClr val="FFF7E8"/>
          </a:solidFill>
          <a:ln w="15875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1" name="TKN 31"/>
          <p:cNvSpPr/>
          <p:nvPr/>
        </p:nvSpPr>
        <p:spPr>
          <a:xfrm>
            <a:off x="7264908" y="3617366"/>
            <a:ext cx="1572768" cy="702259"/>
          </a:xfrm>
          <a:prstGeom prst="rect">
            <a:avLst/>
          </a:prstGeom>
          <a:noFill/>
          <a:ln>
            <a:noFill/>
          </a:ln>
        </p:spPr>
        <p:txBody>
          <a:bodyPr wrap="square" lIns="36576" tIns="45720" rIns="36576" bIns="45720" rtlCol="0" anchor="ctr">
            <a:noAutofit/>
          </a:bodyPr>
          <a:lstStyle/>
          <a:p>
            <a:pPr algn="l">
              <a:lnSpc>
                <a:spcPct val="98000"/>
              </a:lnSpc>
              <a:buNone/>
            </a:pPr>
            <a:r>
              <a:rPr lang="zh-CN" altLang="en-US" sz="1800" b="1" dirty="0">
                <a:solidFill>
                  <a:srgbClr val="C02F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销售漏斗过程指标</a:t>
            </a:r>
          </a:p>
        </p:txBody>
      </p:sp>
      <p:sp>
        <p:nvSpPr>
          <p:cNvPr id="32" name="TKD 32"/>
          <p:cNvSpPr/>
          <p:nvPr/>
        </p:nvSpPr>
        <p:spPr>
          <a:xfrm>
            <a:off x="8874252" y="3617366"/>
            <a:ext cx="3159252" cy="702259"/>
          </a:xfrm>
          <a:prstGeom prst="rect">
            <a:avLst/>
          </a:prstGeom>
          <a:noFill/>
          <a:ln>
            <a:noFill/>
          </a:ln>
        </p:spPr>
        <p:txBody>
          <a:bodyPr wrap="square" lIns="36576" tIns="45720" rIns="54864" bIns="45720" rtlCol="0" anchor="ctr">
            <a:noAutofit/>
          </a:bodyPr>
          <a:lstStyle/>
          <a:p>
            <a:pPr algn="l">
              <a:lnSpc>
                <a:spcPct val="98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只考核客户侧动作，不考核自己能完成的动作</a:t>
            </a:r>
          </a:p>
        </p:txBody>
      </p:sp>
      <p:sp>
        <p:nvSpPr>
          <p:cNvPr id="33" name="Shape 33"/>
          <p:cNvSpPr/>
          <p:nvPr/>
        </p:nvSpPr>
        <p:spPr>
          <a:xfrm>
            <a:off x="1929384" y="4429354"/>
            <a:ext cx="4988052" cy="702259"/>
          </a:xfrm>
          <a:prstGeom prst="roundRect">
            <a:avLst>
              <a:gd name="adj" fmla="val 8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4" name="TKN 34"/>
          <p:cNvSpPr/>
          <p:nvPr/>
        </p:nvSpPr>
        <p:spPr>
          <a:xfrm>
            <a:off x="2039112" y="4429354"/>
            <a:ext cx="1572768" cy="702259"/>
          </a:xfrm>
          <a:prstGeom prst="rect">
            <a:avLst/>
          </a:prstGeom>
          <a:noFill/>
          <a:ln>
            <a:noFill/>
          </a:ln>
        </p:spPr>
        <p:txBody>
          <a:bodyPr wrap="square" lIns="36576" tIns="45720" rIns="36576" bIns="45720" rtlCol="0" anchor="ctr">
            <a:noAutofit/>
          </a:bodyPr>
          <a:lstStyle/>
          <a:p>
            <a:pPr algn="l">
              <a:lnSpc>
                <a:spcPct val="98000"/>
              </a:lnSpc>
              <a:buNone/>
            </a:pPr>
            <a:r>
              <a:rPr lang="zh-CN" altLang="en-US" sz="1800" b="1" dirty="0">
                <a:solidFill>
                  <a:srgbClr val="2C6B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九宫格与三张名单</a:t>
            </a:r>
          </a:p>
        </p:txBody>
      </p:sp>
      <p:sp>
        <p:nvSpPr>
          <p:cNvPr id="35" name="TKD 35"/>
          <p:cNvSpPr/>
          <p:nvPr/>
        </p:nvSpPr>
        <p:spPr>
          <a:xfrm>
            <a:off x="3648456" y="4429354"/>
            <a:ext cx="3159252" cy="702259"/>
          </a:xfrm>
          <a:prstGeom prst="rect">
            <a:avLst/>
          </a:prstGeom>
          <a:noFill/>
          <a:ln>
            <a:noFill/>
          </a:ln>
        </p:spPr>
        <p:txBody>
          <a:bodyPr wrap="square" lIns="36576" tIns="45720" rIns="54864" bIns="45720" rtlCol="0" anchor="ctr">
            <a:noAutofit/>
          </a:bodyPr>
          <a:lstStyle/>
          <a:p>
            <a:pPr algn="l">
              <a:lnSpc>
                <a:spcPct val="98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人岗调整、重点培养、限期改进</a:t>
            </a:r>
          </a:p>
        </p:txBody>
      </p:sp>
      <p:sp>
        <p:nvSpPr>
          <p:cNvPr id="36" name="Shape 36"/>
          <p:cNvSpPr/>
          <p:nvPr/>
        </p:nvSpPr>
        <p:spPr>
          <a:xfrm>
            <a:off x="7155180" y="4429354"/>
            <a:ext cx="4988052" cy="702259"/>
          </a:xfrm>
          <a:prstGeom prst="roundRect">
            <a:avLst>
              <a:gd name="adj" fmla="val 8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7" name="TKN 37"/>
          <p:cNvSpPr/>
          <p:nvPr/>
        </p:nvSpPr>
        <p:spPr>
          <a:xfrm>
            <a:off x="7264908" y="4429354"/>
            <a:ext cx="1572768" cy="702259"/>
          </a:xfrm>
          <a:prstGeom prst="rect">
            <a:avLst/>
          </a:prstGeom>
          <a:noFill/>
          <a:ln>
            <a:noFill/>
          </a:ln>
        </p:spPr>
        <p:txBody>
          <a:bodyPr wrap="square" lIns="36576" tIns="45720" rIns="36576" bIns="45720" rtlCol="0" anchor="ctr">
            <a:noAutofit/>
          </a:bodyPr>
          <a:lstStyle/>
          <a:p>
            <a:pPr algn="l">
              <a:lnSpc>
                <a:spcPct val="98000"/>
              </a:lnSpc>
              <a:buNone/>
            </a:pPr>
            <a:r>
              <a:rPr lang="zh-CN" altLang="en-US" sz="1800" b="1" dirty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360 度四步沟通脚本</a:t>
            </a:r>
          </a:p>
        </p:txBody>
      </p:sp>
      <p:sp>
        <p:nvSpPr>
          <p:cNvPr id="38" name="TKD 38"/>
          <p:cNvSpPr/>
          <p:nvPr/>
        </p:nvSpPr>
        <p:spPr>
          <a:xfrm>
            <a:off x="8874252" y="4429354"/>
            <a:ext cx="3159252" cy="702259"/>
          </a:xfrm>
          <a:prstGeom prst="rect">
            <a:avLst/>
          </a:prstGeom>
          <a:noFill/>
          <a:ln>
            <a:noFill/>
          </a:ln>
        </p:spPr>
        <p:txBody>
          <a:bodyPr wrap="square" lIns="36576" tIns="45720" rIns="54864" bIns="45720" rtlCol="0" anchor="ctr">
            <a:noAutofit/>
          </a:bodyPr>
          <a:lstStyle/>
          <a:p>
            <a:pPr algn="l">
              <a:lnSpc>
                <a:spcPct val="98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底色→一致→分歧→动作，只用于发展</a:t>
            </a:r>
          </a:p>
        </p:txBody>
      </p:sp>
      <p:sp>
        <p:nvSpPr>
          <p:cNvPr id="39" name="Shape 39"/>
          <p:cNvSpPr/>
          <p:nvPr/>
        </p:nvSpPr>
        <p:spPr>
          <a:xfrm>
            <a:off x="1929384" y="5241341"/>
            <a:ext cx="4988052" cy="702259"/>
          </a:xfrm>
          <a:prstGeom prst="roundRect">
            <a:avLst>
              <a:gd name="adj" fmla="val 8000"/>
            </a:avLst>
          </a:prstGeom>
          <a:solidFill>
            <a:srgbClr val="FFF7E8"/>
          </a:solidFill>
          <a:ln w="15875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40" name="TKN 40"/>
          <p:cNvSpPr/>
          <p:nvPr/>
        </p:nvSpPr>
        <p:spPr>
          <a:xfrm>
            <a:off x="2039112" y="5241341"/>
            <a:ext cx="1572768" cy="702259"/>
          </a:xfrm>
          <a:prstGeom prst="rect">
            <a:avLst/>
          </a:prstGeom>
          <a:noFill/>
          <a:ln>
            <a:noFill/>
          </a:ln>
        </p:spPr>
        <p:txBody>
          <a:bodyPr wrap="square" lIns="36576" tIns="45720" rIns="36576" bIns="45720" rtlCol="0" anchor="ctr">
            <a:noAutofit/>
          </a:bodyPr>
          <a:lstStyle/>
          <a:p>
            <a:pPr algn="l">
              <a:buNone/>
            </a:pPr>
            <a:r>
              <a:rPr lang="zh-CN" altLang="en-US" sz="1950" b="1" dirty="0">
                <a:solidFill>
                  <a:srgbClr val="E55E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IDP 六格模板</a:t>
            </a:r>
          </a:p>
        </p:txBody>
      </p:sp>
      <p:sp>
        <p:nvSpPr>
          <p:cNvPr id="41" name="TKD 41"/>
          <p:cNvSpPr/>
          <p:nvPr/>
        </p:nvSpPr>
        <p:spPr>
          <a:xfrm>
            <a:off x="3648456" y="5241341"/>
            <a:ext cx="3159252" cy="702259"/>
          </a:xfrm>
          <a:prstGeom prst="rect">
            <a:avLst/>
          </a:prstGeom>
          <a:noFill/>
          <a:ln>
            <a:noFill/>
          </a:ln>
        </p:spPr>
        <p:txBody>
          <a:bodyPr wrap="square" lIns="36576" tIns="45720" rIns="54864" bIns="45720" rtlCol="0" anchor="ctr">
            <a:noAutofit/>
          </a:bodyPr>
          <a:lstStyle/>
          <a:p>
            <a:pPr algn="l">
              <a:lnSpc>
                <a:spcPct val="98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三件事、有交付物、两周内启动、每月回顾</a:t>
            </a:r>
          </a:p>
        </p:txBody>
      </p:sp>
      <p:sp>
        <p:nvSpPr>
          <p:cNvPr id="42" name="Shape 42"/>
          <p:cNvSpPr/>
          <p:nvPr/>
        </p:nvSpPr>
        <p:spPr>
          <a:xfrm>
            <a:off x="7155180" y="5241341"/>
            <a:ext cx="4988052" cy="702259"/>
          </a:xfrm>
          <a:prstGeom prst="roundRect">
            <a:avLst>
              <a:gd name="adj" fmla="val 8000"/>
            </a:avLst>
          </a:prstGeom>
          <a:solidFill>
            <a:srgbClr val="FFF7E8"/>
          </a:solidFill>
          <a:ln w="15875" cap="flat" cmpd="sng" algn="ctr">
            <a:solidFill>
              <a:srgbClr val="6A4C9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43" name="TKN 43"/>
          <p:cNvSpPr/>
          <p:nvPr/>
        </p:nvSpPr>
        <p:spPr>
          <a:xfrm>
            <a:off x="7264908" y="5241341"/>
            <a:ext cx="1572768" cy="702259"/>
          </a:xfrm>
          <a:prstGeom prst="rect">
            <a:avLst/>
          </a:prstGeom>
          <a:noFill/>
          <a:ln>
            <a:noFill/>
          </a:ln>
        </p:spPr>
        <p:txBody>
          <a:bodyPr wrap="square" lIns="36576" tIns="45720" rIns="36576" bIns="45720" rtlCol="0" anchor="ctr">
            <a:noAutofit/>
          </a:bodyPr>
          <a:lstStyle/>
          <a:p>
            <a:pPr algn="l">
              <a:lnSpc>
                <a:spcPct val="98000"/>
              </a:lnSpc>
              <a:buNone/>
            </a:pPr>
            <a:r>
              <a:rPr lang="zh-CN" altLang="en-US" sz="1800" b="1" dirty="0">
                <a:solidFill>
                  <a:srgbClr val="6A4C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GROW 辅导问句表</a:t>
            </a:r>
          </a:p>
        </p:txBody>
      </p:sp>
      <p:sp>
        <p:nvSpPr>
          <p:cNvPr id="44" name="TKD 44"/>
          <p:cNvSpPr/>
          <p:nvPr/>
        </p:nvSpPr>
        <p:spPr>
          <a:xfrm>
            <a:off x="8874252" y="5241341"/>
            <a:ext cx="3159252" cy="702259"/>
          </a:xfrm>
          <a:prstGeom prst="rect">
            <a:avLst/>
          </a:prstGeom>
          <a:noFill/>
          <a:ln>
            <a:noFill/>
          </a:ln>
        </p:spPr>
        <p:txBody>
          <a:bodyPr wrap="square" lIns="36576" tIns="45720" rIns="54864" bIns="45720" rtlCol="0" anchor="ctr">
            <a:noAutofit/>
          </a:bodyPr>
          <a:lstStyle/>
          <a:p>
            <a:pPr algn="l">
              <a:lnSpc>
                <a:spcPct val="98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 收窄、R 只问事实、O 逼三个、W 落日期</a:t>
            </a:r>
          </a:p>
        </p:txBody>
      </p:sp>
      <p:sp>
        <p:nvSpPr>
          <p:cNvPr id="45" name="Shape 45"/>
          <p:cNvSpPr/>
          <p:nvPr/>
        </p:nvSpPr>
        <p:spPr>
          <a:xfrm>
            <a:off x="1929384" y="6071616"/>
            <a:ext cx="10213848" cy="603504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46" name="Banner 46"/>
          <p:cNvSpPr/>
          <p:nvPr/>
        </p:nvSpPr>
        <p:spPr>
          <a:xfrm>
            <a:off x="2075688" y="6071616"/>
            <a:ext cx="9921240" cy="60350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buNone/>
            </a:pPr>
            <a:r>
              <a:rPr lang="zh-CN" altLang="en-US" sz="23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使用建议　</a:t>
            </a:r>
            <a:r>
              <a:rPr lang="zh-CN" altLang="en-US" sz="23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不要十件一起上。挑三件，做满九十天，再回来看第四件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91440" y="0"/>
            <a:ext cx="1200909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 &amp; 开发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146304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第一讲 · 理解价值</a:t>
            </a:r>
          </a:p>
        </p:txBody>
      </p:sp>
      <p:sp>
        <p:nvSpPr>
          <p:cNvPr id="5" name="Nav 5"/>
          <p:cNvSpPr/>
          <p:nvPr/>
        </p:nvSpPr>
        <p:spPr>
          <a:xfrm>
            <a:off x="3153148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第二讲 · 评估价值</a:t>
            </a:r>
          </a:p>
        </p:txBody>
      </p:sp>
      <p:sp>
        <p:nvSpPr>
          <p:cNvPr id="6" name="Nav 6"/>
          <p:cNvSpPr/>
          <p:nvPr/>
        </p:nvSpPr>
        <p:spPr>
          <a:xfrm>
            <a:off x="6159993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第三讲 · 开发价值</a:t>
            </a:r>
          </a:p>
        </p:txBody>
      </p:sp>
      <p:sp>
        <p:nvSpPr>
          <p:cNvPr id="7" name="Nav 7"/>
          <p:cNvSpPr/>
          <p:nvPr/>
        </p:nvSpPr>
        <p:spPr>
          <a:xfrm>
            <a:off x="9166837" y="658368"/>
            <a:ext cx="287882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第四讲 · 落地价值</a:t>
            </a:r>
          </a:p>
        </p:txBody>
      </p:sp>
      <p:cxnSp>
        <p:nvCxnSpPr>
          <p:cNvPr id="8" name="Connector 8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9" name="Connector 9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10" name="Side 10"/>
          <p:cNvSpPr/>
          <p:nvPr/>
        </p:nvSpPr>
        <p:spPr>
          <a:xfrm>
            <a:off x="36576" y="1956816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九十天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行动清单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3218688"/>
            <a:ext cx="1691640" cy="713232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时间窗</a:t>
            </a:r>
          </a:p>
        </p:txBody>
      </p:sp>
      <p:sp>
        <p:nvSpPr>
          <p:cNvPr id="12" name="Side 12"/>
          <p:cNvSpPr/>
          <p:nvPr/>
        </p:nvSpPr>
        <p:spPr>
          <a:xfrm>
            <a:off x="36576" y="4480560"/>
            <a:ext cx="1691640" cy="713232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有日期</a:t>
            </a:r>
          </a:p>
          <a:p>
            <a:pPr algn="ctr">
              <a:buNone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才算数</a:t>
            </a:r>
          </a:p>
        </p:txBody>
      </p:sp>
      <p:sp>
        <p:nvSpPr>
          <p:cNvPr id="13" name="H1 13"/>
          <p:cNvSpPr/>
          <p:nvPr/>
        </p:nvSpPr>
        <p:spPr>
          <a:xfrm>
            <a:off x="1929384" y="1161288"/>
            <a:ext cx="10213848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9144" rIns="73152" bIns="9144" rtlCol="0" anchor="ctr">
            <a:noAutofit/>
          </a:bodyPr>
          <a:lstStyle/>
          <a:p>
            <a:pPr algn="l">
              <a:buNone/>
            </a:pPr>
            <a:r>
              <a:rPr lang="zh-CN" altLang="en-US" sz="27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九十天行动清单：把今天写的东西排进日历</a:t>
            </a:r>
          </a:p>
        </p:txBody>
      </p:sp>
      <p:sp>
        <p:nvSpPr>
          <p:cNvPr id="14" name="H2 14"/>
          <p:cNvSpPr/>
          <p:nvPr/>
        </p:nvSpPr>
        <p:spPr>
          <a:xfrm>
            <a:off x="1929384" y="1636776"/>
            <a:ext cx="10213848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9144" rIns="73152" bIns="9144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现在就填日期，散课前交给你旁边的人做见证</a:t>
            </a:r>
          </a:p>
        </p:txBody>
      </p:sp>
      <p:sp>
        <p:nvSpPr>
          <p:cNvPr id="15" name="Shape 15"/>
          <p:cNvSpPr/>
          <p:nvPr/>
        </p:nvSpPr>
        <p:spPr>
          <a:xfrm>
            <a:off x="1929384" y="1993392"/>
            <a:ext cx="10213848" cy="1192469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6" name="CardHead 16"/>
          <p:cNvSpPr/>
          <p:nvPr/>
        </p:nvSpPr>
        <p:spPr>
          <a:xfrm>
            <a:off x="1929384" y="1993392"/>
            <a:ext cx="10213848" cy="347472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1～2 周　做一件小而确定的事</a:t>
            </a:r>
          </a:p>
        </p:txBody>
      </p:sp>
      <p:sp>
        <p:nvSpPr>
          <p:cNvPr id="17" name="CardBody 17"/>
          <p:cNvSpPr/>
          <p:nvPr/>
        </p:nvSpPr>
        <p:spPr>
          <a:xfrm>
            <a:off x="2011680" y="2350008"/>
            <a:ext cx="10049256" cy="817565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84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销售：带着四个问题跑一家客户，把算账卡填完，回来讲给同事听。管理者：把周会第一个问题换成漏斗推进情况；选一位下属用 SBI＋下一步谈一次。共同：把 IDP 发给主管，拿到一句「同意」。</a:t>
            </a:r>
          </a:p>
        </p:txBody>
      </p:sp>
      <p:sp>
        <p:nvSpPr>
          <p:cNvPr id="18" name="Shape 18"/>
          <p:cNvSpPr/>
          <p:nvPr/>
        </p:nvSpPr>
        <p:spPr>
          <a:xfrm>
            <a:off x="1929384" y="3261360"/>
            <a:ext cx="10213848" cy="1192469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9" name="CardHead 19"/>
          <p:cNvSpPr/>
          <p:nvPr/>
        </p:nvSpPr>
        <p:spPr>
          <a:xfrm>
            <a:off x="1929384" y="3261360"/>
            <a:ext cx="10213848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3～6 周　做一件需要别人配合的事</a:t>
            </a:r>
          </a:p>
        </p:txBody>
      </p:sp>
      <p:sp>
        <p:nvSpPr>
          <p:cNvPr id="20" name="CardBody 20"/>
          <p:cNvSpPr/>
          <p:nvPr/>
        </p:nvSpPr>
        <p:spPr>
          <a:xfrm>
            <a:off x="2011680" y="3617976"/>
            <a:ext cx="10049256" cy="817565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84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销售：对一个重点目标客户完成第 4~6 次触达，每次带新东西去；把决策链三类人补齐。管理者：完成团队九宫格，产出三张名单；和「潜力新秀」谈一次 IDP。共同：部门会上讲 3 分钟——第一个动作做了没有、发生了什么。</a:t>
            </a:r>
          </a:p>
        </p:txBody>
      </p:sp>
      <p:sp>
        <p:nvSpPr>
          <p:cNvPr id="21" name="Shape 21"/>
          <p:cNvSpPr/>
          <p:nvPr/>
        </p:nvSpPr>
        <p:spPr>
          <a:xfrm>
            <a:off x="1929384" y="4529328"/>
            <a:ext cx="10213848" cy="1192469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2" name="CardHead 22"/>
          <p:cNvSpPr/>
          <p:nvPr/>
        </p:nvSpPr>
        <p:spPr>
          <a:xfrm>
            <a:off x="1929384" y="4529328"/>
            <a:ext cx="10213848" cy="347472"/>
          </a:xfrm>
          <a:prstGeom prst="rect">
            <a:avLst/>
          </a:prstGeom>
          <a:solidFill>
            <a:srgbClr val="E55E24"/>
          </a:solidFill>
          <a:ln>
            <a:noFill/>
          </a:ln>
        </p:spPr>
        <p:txBody>
          <a:bodyPr wrap="square" lIns="91440" tIns="18288" rIns="91440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7～12 周　做一件会留下痕迹的事</a:t>
            </a:r>
          </a:p>
        </p:txBody>
      </p:sp>
      <p:sp>
        <p:nvSpPr>
          <p:cNvPr id="23" name="CardBody 23"/>
          <p:cNvSpPr/>
          <p:nvPr/>
        </p:nvSpPr>
        <p:spPr>
          <a:xfrm>
            <a:off x="2011680" y="4885944"/>
            <a:ext cx="10049256" cy="817565"/>
          </a:xfrm>
          <a:prstGeom prst="rect">
            <a:avLst/>
          </a:prstGeom>
          <a:noFill/>
          <a:ln>
            <a:noFill/>
          </a:ln>
        </p:spPr>
        <p:txBody>
          <a:bodyPr wrap="square" lIns="45720" tIns="13716" rIns="45720" bIns="13716" rtlCol="0" anchor="t">
            <a:noAutofit/>
          </a:bodyPr>
          <a:lstStyle/>
          <a:p>
            <a:pPr algn="l">
              <a:lnSpc>
                <a:spcPct val="84000"/>
              </a:lnSpc>
              <a:buNone/>
            </a:pP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销售：完成一次完整的价值谈判（不靠降价拿下或体面放弃），写成一页案例。管理者：定下第一份「一页纸」由谁来写；组织一次丢单复盘（不追责）。共同：季度回顾 20 分钟，四个问题过一遍，换下一个差距。</a:t>
            </a:r>
          </a:p>
        </p:txBody>
      </p:sp>
      <p:sp>
        <p:nvSpPr>
          <p:cNvPr id="24" name="Witness 24"/>
          <p:cNvSpPr/>
          <p:nvPr/>
        </p:nvSpPr>
        <p:spPr>
          <a:xfrm>
            <a:off x="1929384" y="5961888"/>
            <a:ext cx="10213848" cy="676656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5875" cap="flat" cmpd="sng" algn="ctr">
            <a:solidFill>
              <a:srgbClr val="F5C842"/>
            </a:solidFill>
          </a:ln>
        </p:spPr>
        <p:txBody>
          <a:bodyPr wrap="square" lIns="164592" tIns="36576" rIns="146304" bIns="36576" rtlCol="0" anchor="ctr">
            <a:noAutofit/>
          </a:bodyPr>
          <a:lstStyle/>
          <a:p>
            <a:pPr algn="l">
              <a:lnSpc>
                <a:spcPct val="98000"/>
              </a:lnSpc>
              <a:buNone/>
            </a:pPr>
            <a:r>
              <a:rPr lang="zh-CN" altLang="en-US" sz="18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见证人　</a:t>
            </a: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把这张清单拍照发给主管和旁边这位同事——被两个人知道的计划，执行率完全不同；三个月后我们用同一张纸回看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 2"/>
          <p:cNvSpPr/>
          <p:nvPr/>
        </p:nvSpPr>
        <p:spPr>
          <a:xfrm>
            <a:off x="365760" y="384048"/>
            <a:ext cx="1828800" cy="548640"/>
          </a:xfrm>
          <a:prstGeom prst="roundRect">
            <a:avLst>
              <a:gd name="adj" fmla="val 22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buNone/>
            </a:pPr>
            <a:r>
              <a:rPr lang="zh-CN" altLang="en-US" sz="23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结课任务</a:t>
            </a:r>
          </a:p>
        </p:txBody>
      </p:sp>
      <p:sp>
        <p:nvSpPr>
          <p:cNvPr id="3" name="TTTitle 3"/>
          <p:cNvSpPr/>
          <p:nvPr/>
        </p:nvSpPr>
        <p:spPr>
          <a:xfrm>
            <a:off x="2340864" y="365760"/>
            <a:ext cx="9509760" cy="585216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buNone/>
            </a:pPr>
            <a:r>
              <a:rPr lang="zh-CN" altLang="en-US" sz="22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综合演练：华东 3 区营业部，请用今天的全套方法给出一份诊断与行动方案</a:t>
            </a:r>
          </a:p>
        </p:txBody>
      </p:sp>
      <p:sp>
        <p:nvSpPr>
          <p:cNvPr id="4" name="Shape 4"/>
          <p:cNvSpPr/>
          <p:nvPr/>
        </p:nvSpPr>
        <p:spPr>
          <a:xfrm>
            <a:off x="365760" y="1060704"/>
            <a:ext cx="11475720" cy="269748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2E7D3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5" name="TTSitHead 5"/>
          <p:cNvSpPr/>
          <p:nvPr/>
        </p:nvSpPr>
        <p:spPr>
          <a:xfrm>
            <a:off x="365760" y="1060704"/>
            <a:ext cx="1188720" cy="26974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buNone/>
            </a:pPr>
            <a:r>
              <a:rPr lang="zh-CN" altLang="en-US" sz="2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  境</a:t>
            </a:r>
          </a:p>
        </p:txBody>
      </p:sp>
      <p:sp>
        <p:nvSpPr>
          <p:cNvPr id="6" name="TTSit 6"/>
          <p:cNvSpPr/>
          <p:nvPr/>
        </p:nvSpPr>
        <p:spPr>
          <a:xfrm>
            <a:off x="1682496" y="1097280"/>
            <a:ext cx="10049256" cy="262432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lnSpc>
                <a:spcPct val="94000"/>
              </a:lnSpc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华东 3 区营业部 9 人：经理 1、销售 6、技术支持 1、内勤 1。去年完成率 96%，今年上半年只完成 41%。</a:t>
            </a:r>
          </a:p>
          <a:p>
            <a:pPr algn="l">
              <a:lnSpc>
                <a:spcPct val="94000"/>
              </a:lnSpc>
              <a:spcBef>
                <a:spcPts val="500"/>
              </a:spcBef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人：老王连续三年第一，92% 业绩来自 5 家老客户、88% 是标准气缸，不愿带人；小李入职 4 年、客户 21 家，已导入真空与线轨，年初主动申请做锂电开发；两个新人入职 5 个月，一个能独立报价，另一个仍只会送样催货；技术支持小陈被临时选型占满。</a:t>
            </a:r>
          </a:p>
          <a:p>
            <a:pPr algn="l">
              <a:lnSpc>
                <a:spcPct val="94000"/>
              </a:lnSpc>
              <a:spcBef>
                <a:spcPts val="500"/>
              </a:spcBef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业务：最大客户被竞品以整线方案切走三成；经销商库存周转由 5.2 降到 3.1，季末出货占全季 34%；超期应收集中在两人身上；今年新开客户 3 家，去年同期 11 家。</a:t>
            </a:r>
          </a:p>
          <a:p>
            <a:pPr algn="l">
              <a:lnSpc>
                <a:spcPct val="94000"/>
              </a:lnSpc>
              <a:spcBef>
                <a:spcPts val="500"/>
              </a:spcBef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规则：提成按开票额算、新老客户同系数、不分产品结构；带教不计考核；盘点是两年前做的。</a:t>
            </a:r>
          </a:p>
        </p:txBody>
      </p:sp>
      <p:sp>
        <p:nvSpPr>
          <p:cNvPr id="7" name="Shape 7"/>
          <p:cNvSpPr/>
          <p:nvPr/>
        </p:nvSpPr>
        <p:spPr>
          <a:xfrm>
            <a:off x="365760" y="3922776"/>
            <a:ext cx="11475720" cy="2752344"/>
          </a:xfrm>
          <a:prstGeom prst="rect">
            <a:avLst/>
          </a:prstGeom>
          <a:solidFill>
            <a:srgbClr val="FFF7E8"/>
          </a:solidFill>
          <a:ln w="22225" cap="flat" cmpd="sng" algn="ctr">
            <a:solidFill>
              <a:srgbClr val="E67E2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8" name="TTHead 8"/>
          <p:cNvSpPr/>
          <p:nvPr/>
        </p:nvSpPr>
        <p:spPr>
          <a:xfrm>
            <a:off x="365760" y="3922776"/>
            <a:ext cx="11475720" cy="43891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wrap="square" lIns="109728" tIns="18288" rIns="109728" bIns="18288" rtlCol="0" anchor="ctr">
            <a:noAutofit/>
          </a:bodyPr>
          <a:lstStyle/>
          <a:p>
            <a:pPr algn="ctr">
              <a:buNone/>
            </a:pPr>
            <a:r>
              <a:rPr lang="zh-CN" altLang="en-US" sz="23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团  队  任  务</a:t>
            </a:r>
          </a:p>
        </p:txBody>
      </p:sp>
      <p:sp>
        <p:nvSpPr>
          <p:cNvPr id="9" name="TTTasks 9"/>
          <p:cNvSpPr/>
          <p:nvPr/>
        </p:nvSpPr>
        <p:spPr>
          <a:xfrm>
            <a:off x="548640" y="4398264"/>
            <a:ext cx="11109960" cy="184708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94000"/>
              </a:lnSpc>
              <a:buNone/>
            </a:pPr>
            <a:r>
              <a:rPr lang="zh-CN" altLang="en-US" sz="1800" b="1" dirty="0">
                <a:solidFill>
                  <a:srgbClr val="2C6B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</a:t>
            </a: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　用「三本账」判断：个人账、团队账、组织账各是什么状况</a:t>
            </a:r>
          </a:p>
          <a:p>
            <a:pPr algn="l">
              <a:lnSpc>
                <a:spcPct val="94000"/>
              </a:lnSpc>
              <a:buNone/>
            </a:pPr>
            <a:r>
              <a:rPr lang="zh-CN" altLang="en-US" sz="1800" b="1" dirty="0">
                <a:solidFill>
                  <a:srgbClr val="2C6B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</a:t>
            </a: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　把 9 个人贴进九宫格，指出分歧最大的一位并说明依据</a:t>
            </a:r>
          </a:p>
          <a:p>
            <a:pPr algn="l">
              <a:lnSpc>
                <a:spcPct val="94000"/>
              </a:lnSpc>
              <a:buNone/>
            </a:pPr>
            <a:r>
              <a:rPr lang="zh-CN" altLang="en-US" sz="1800" b="1" dirty="0">
                <a:solidFill>
                  <a:srgbClr val="2C6B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</a:t>
            </a: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　用「四个开关」诊断提成方案，它在制造哪三个问题</a:t>
            </a:r>
          </a:p>
          <a:p>
            <a:pPr algn="l">
              <a:lnSpc>
                <a:spcPct val="94000"/>
              </a:lnSpc>
              <a:buNone/>
            </a:pPr>
            <a:r>
              <a:rPr lang="zh-CN" altLang="en-US" sz="1800" b="1" dirty="0">
                <a:solidFill>
                  <a:srgbClr val="2C6B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</a:t>
            </a: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　为老王和没上手的新人各写 IDP 前三格：差距 / 目标 / 做事</a:t>
            </a:r>
          </a:p>
          <a:p>
            <a:pPr algn="l">
              <a:lnSpc>
                <a:spcPct val="94000"/>
              </a:lnSpc>
              <a:buNone/>
            </a:pPr>
            <a:r>
              <a:rPr lang="zh-CN" altLang="en-US" sz="1800" b="1" dirty="0">
                <a:solidFill>
                  <a:srgbClr val="2C6B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⑤</a:t>
            </a: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　为「大客户被切走三成」写算账提纲：问哪四个问题、用哪些锚点</a:t>
            </a:r>
          </a:p>
          <a:p>
            <a:pPr algn="l">
              <a:lnSpc>
                <a:spcPct val="94000"/>
              </a:lnSpc>
              <a:buNone/>
            </a:pPr>
            <a:r>
              <a:rPr lang="zh-CN" altLang="en-US" sz="1800" b="1" dirty="0">
                <a:solidFill>
                  <a:srgbClr val="2C6B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⑥</a:t>
            </a:r>
            <a:r>
              <a:rPr lang="zh-CN" altLang="en-US" sz="18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　给经理排出九十天里最重要的三个动作，说明为什么</a:t>
            </a:r>
          </a:p>
        </p:txBody>
      </p:sp>
      <p:sp>
        <p:nvSpPr>
          <p:cNvPr id="10" name="TTScore 10"/>
          <p:cNvSpPr/>
          <p:nvPr/>
        </p:nvSpPr>
        <p:spPr>
          <a:xfrm>
            <a:off x="365760" y="6254496"/>
            <a:ext cx="11475720" cy="42062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wrap="square" lIns="164592" tIns="36576" rIns="146304" bIns="36576" rtlCol="0" anchor="ctr">
            <a:noAutofit/>
          </a:bodyPr>
          <a:lstStyle/>
          <a:p>
            <a:pPr algn="l">
              <a:buNone/>
            </a:pPr>
            <a:r>
              <a:rPr lang="zh-CN" altLang="en-US" sz="20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产　出　</a:t>
            </a: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每组一份《华东 3 区诊断与九十天行动方案》，12 分钟汇报：诊断 + 三张名单 + 三个动作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ags/tag33.xml><?xml version="1.0" encoding="utf-8"?>
<p:tagLst xmlns:p="http://schemas.openxmlformats.org/presentationml/2006/main">
  <p:tag name="OFFICEPLUS.IMAGE" val="New_Batches_0919_Outline/20231113/images_object_12001_13000/68dcff1f-4e56-4a09-acbf-ec98754c93f1-2.source.default.zh-Hans.jpg"/>
  <p:tag name="OFFICEPLUS.THEME" val="New_Batches_0919_Outline/20231113/images_object_12001_13000/68dcff1f-4e56-4a09-acbf-ec98754c93f1-2.source.default.zh-Hans-6.pptx"/>
  <p:tag name="OFFICEPLUS.OUTLINE" val="306872"/>
  <p:tag name="OFFICEPLUS.OUTLINEEXTERNAL" val="e3b788c9-9a19-a3a8-51f5-3a4d4f4b9ed9"/>
</p:tagLst>
</file>

<file path=ppt/theme/theme1.xml><?xml version="1.0" encoding="utf-8"?>
<a:theme xmlns:a="http://schemas.openxmlformats.org/drawingml/2006/main" name="Designed by OfficePLUS">
  <a:themeElements>
    <a:clrScheme name="OfficePLUS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0A6191"/>
      </a:accent1>
      <a:accent2>
        <a:srgbClr val="36A5DE"/>
      </a:accent2>
      <a:accent3>
        <a:srgbClr val="009FC3"/>
      </a:accent3>
      <a:accent4>
        <a:srgbClr val="86C0F0"/>
      </a:accent4>
      <a:accent5>
        <a:srgbClr val="6C6C6C"/>
      </a:accent5>
      <a:accent6>
        <a:srgbClr val="8C8C8C"/>
      </a:accent6>
      <a:hlink>
        <a:srgbClr val="4472C4"/>
      </a:hlink>
      <a:folHlink>
        <a:srgbClr val="BFBFBF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PLUS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13865</Words>
  <Application>WPS 演示</Application>
  <PresentationFormat>宽屏</PresentationFormat>
  <Paragraphs>1838</Paragraphs>
  <Slides>60</Slides>
  <Notes>29</Notes>
  <HiddenSlides>0</HiddenSlides>
  <MMClips>0</MMClips>
  <ScaleCrop>false</ScaleCrop>
  <Company>OfficePLUS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价值 &amp; 开发｜亚德客企业内训</dc:title>
  <dc:creator>嘉兴大学商学院</dc:creator>
  <cp:lastModifiedBy>蔡鑫宇</cp:lastModifiedBy>
  <cp:revision>170</cp:revision>
  <dcterms:created xsi:type="dcterms:W3CDTF">2023-07-20T03:04:00Z</dcterms:created>
  <dcterms:modified xsi:type="dcterms:W3CDTF">2026-05-29T15:21:53Z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EF00F6A2EFC24B28BC681254F09E400E_12</vt:lpwstr>
  </property>
  <property fmtid="{D5CDD505-2E9C-101B-9397-08002B2CF9AE}" pid="3" name="KSOProductBuildVer">
    <vt:lpwstr>2052-12.1.0.24031</vt:lpwstr>
  </property>
</Properties>
</file>